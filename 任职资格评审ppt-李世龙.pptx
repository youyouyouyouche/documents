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ags/tag2.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style3.xml" ContentType="application/vnd.ms-office.chartstyle+xml"/>
  <Override PartName="/ppt/charts/colors3.xml" ContentType="application/vnd.ms-office.chartcolorstyle+xml"/>
  <Override PartName="/ppt/charts/chart7.xml" ContentType="application/vnd.openxmlformats-officedocument.drawingml.chart+xml"/>
  <Override PartName="/ppt/charts/style4.xml" ContentType="application/vnd.ms-office.chartstyle+xml"/>
  <Override PartName="/ppt/charts/colors4.xml" ContentType="application/vnd.ms-office.chartcolorstyle+xml"/>
  <Override PartName="/ppt/charts/chart8.xml" ContentType="application/vnd.openxmlformats-officedocument.drawingml.chart+xml"/>
  <Override PartName="/ppt/charts/style5.xml" ContentType="application/vnd.ms-office.chartstyle+xml"/>
  <Override PartName="/ppt/charts/colors5.xml" ContentType="application/vnd.ms-office.chartcolorstyle+xml"/>
  <Override PartName="/ppt/charts/chart9.xml" ContentType="application/vnd.openxmlformats-officedocument.drawingml.chart+xml"/>
  <Override PartName="/ppt/charts/style6.xml" ContentType="application/vnd.ms-office.chartstyle+xml"/>
  <Override PartName="/ppt/charts/colors6.xml" ContentType="application/vnd.ms-office.chartcolorstyle+xml"/>
  <Override PartName="/ppt/charts/chart10.xml" ContentType="application/vnd.openxmlformats-officedocument.drawingml.chart+xml"/>
  <Override PartName="/ppt/charts/style7.xml" ContentType="application/vnd.ms-office.chartstyle+xml"/>
  <Override PartName="/ppt/charts/colors7.xml" ContentType="application/vnd.ms-office.chartcolorstyl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charts/chart11.xml" ContentType="application/vnd.openxmlformats-officedocument.drawingml.chart+xml"/>
  <Override PartName="/ppt/charts/style8.xml" ContentType="application/vnd.ms-office.chartstyle+xml"/>
  <Override PartName="/ppt/charts/colors8.xml" ContentType="application/vnd.ms-office.chartcolorstyle+xml"/>
  <Override PartName="/ppt/charts/chart12.xml" ContentType="application/vnd.openxmlformats-officedocument.drawingml.chart+xml"/>
  <Override PartName="/ppt/charts/style9.xml" ContentType="application/vnd.ms-office.chartstyle+xml"/>
  <Override PartName="/ppt/charts/colors9.xml" ContentType="application/vnd.ms-office.chartcolorstyl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7.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8.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9.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20.xml" ContentType="application/vnd.openxmlformats-officedocument.drawingml.chart+xml"/>
  <Override PartName="/ppt/charts/style14.xml" ContentType="application/vnd.ms-office.chartstyle+xml"/>
  <Override PartName="/ppt/charts/colors14.xml" ContentType="application/vnd.ms-office.chartcolorstyl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theme/theme3.xml" ContentType="application/vnd.openxmlformats-officedocument.theme+xml"/>
  <Override PartName="/ppt/tags/tag4.xml" ContentType="application/vnd.openxmlformats-officedocument.presentationml.tags+xml"/>
  <Override PartName="/ppt/charts/chart21.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22.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27.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28.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9.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30.xml" ContentType="application/vnd.openxmlformats-officedocument.drawingml.chart+xml"/>
  <Override PartName="/ppt/charts/style21.xml" ContentType="application/vnd.ms-office.chartstyle+xml"/>
  <Override PartName="/ppt/charts/colors21.xml" ContentType="application/vnd.ms-office.chartcolorstyle+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theme/theme4.xml" ContentType="application/vnd.openxmlformats-officedocument.theme+xml"/>
  <Override PartName="/ppt/tags/tag5.xml" ContentType="application/vnd.openxmlformats-officedocument.presentationml.tags+xml"/>
  <Override PartName="/ppt/charts/chart31.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32.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37.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38.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39.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40.xml" ContentType="application/vnd.openxmlformats-officedocument.drawingml.chart+xml"/>
  <Override PartName="/ppt/charts/style28.xml" ContentType="application/vnd.ms-office.chartstyle+xml"/>
  <Override PartName="/ppt/charts/colors28.xml" ContentType="application/vnd.ms-office.chartcolorstyle+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theme/theme5.xml" ContentType="application/vnd.openxmlformats-officedocument.theme+xml"/>
  <Override PartName="/ppt/tags/tag6.xml" ContentType="application/vnd.openxmlformats-officedocument.presentationml.tags+xml"/>
  <Override PartName="/ppt/charts/chart41.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42.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47.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48.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49.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50.xml" ContentType="application/vnd.openxmlformats-officedocument.drawingml.chart+xml"/>
  <Override PartName="/ppt/charts/style35.xml" ContentType="application/vnd.ms-office.chartstyle+xml"/>
  <Override PartName="/ppt/charts/colors35.xml" ContentType="application/vnd.ms-office.chartcolorstyl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 id="2147483678" r:id="rId2"/>
    <p:sldMasterId id="2147483708" r:id="rId3"/>
    <p:sldMasterId id="2147483738" r:id="rId4"/>
    <p:sldMasterId id="2147483768" r:id="rId5"/>
  </p:sldMasterIdLst>
  <p:notesMasterIdLst>
    <p:notesMasterId r:id="rId37"/>
  </p:notesMasterIdLst>
  <p:sldIdLst>
    <p:sldId id="352" r:id="rId6"/>
    <p:sldId id="284" r:id="rId7"/>
    <p:sldId id="397" r:id="rId8"/>
    <p:sldId id="385" r:id="rId9"/>
    <p:sldId id="386" r:id="rId10"/>
    <p:sldId id="398" r:id="rId11"/>
    <p:sldId id="399" r:id="rId12"/>
    <p:sldId id="401" r:id="rId13"/>
    <p:sldId id="402" r:id="rId14"/>
    <p:sldId id="404" r:id="rId15"/>
    <p:sldId id="405" r:id="rId16"/>
    <p:sldId id="394" r:id="rId17"/>
    <p:sldId id="395" r:id="rId18"/>
    <p:sldId id="407" r:id="rId19"/>
    <p:sldId id="410" r:id="rId20"/>
    <p:sldId id="409" r:id="rId21"/>
    <p:sldId id="408" r:id="rId22"/>
    <p:sldId id="411" r:id="rId23"/>
    <p:sldId id="412" r:id="rId24"/>
    <p:sldId id="413" r:id="rId25"/>
    <p:sldId id="414" r:id="rId26"/>
    <p:sldId id="418" r:id="rId27"/>
    <p:sldId id="420" r:id="rId28"/>
    <p:sldId id="421" r:id="rId29"/>
    <p:sldId id="422" r:id="rId30"/>
    <p:sldId id="423" r:id="rId31"/>
    <p:sldId id="406" r:id="rId32"/>
    <p:sldId id="396" r:id="rId33"/>
    <p:sldId id="387" r:id="rId34"/>
    <p:sldId id="393" r:id="rId35"/>
    <p:sldId id="346" r:id="rId36"/>
  </p:sldIdLst>
  <p:sldSz cx="12192000" cy="6858000"/>
  <p:notesSz cx="6858000" cy="9144000"/>
  <p:custDataLst>
    <p:tags r:id="rId38"/>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5A58"/>
    <a:srgbClr val="383736"/>
    <a:srgbClr val="FF6600"/>
    <a:srgbClr val="97AED1"/>
    <a:srgbClr val="124796"/>
    <a:srgbClr val="5C7FB7"/>
    <a:srgbClr val="FFA753"/>
    <a:srgbClr val="F3F6F5"/>
    <a:srgbClr val="4FBAFF"/>
    <a:srgbClr val="8FD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265" autoAdjust="0"/>
    <p:restoredTop sz="96360" autoAdjust="0"/>
  </p:normalViewPr>
  <p:slideViewPr>
    <p:cSldViewPr snapToGrid="0">
      <p:cViewPr varScale="1">
        <p:scale>
          <a:sx n="109" d="100"/>
          <a:sy n="109" d="100"/>
        </p:scale>
        <p:origin x="450" y="102"/>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75" d="100"/>
        <a:sy n="75"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presProps" Target="presProps.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tableStyles" Target="tableStyles.xml"/><Relationship Id="rId7" Type="http://schemas.openxmlformats.org/officeDocument/2006/relationships/slide" Target="slides/slide2.xml"/><Relationship Id="rId2" Type="http://schemas.openxmlformats.org/officeDocument/2006/relationships/slideMaster" Target="slideMasters/slideMaster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slideMaster" Target="slideMasters/slideMaster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8" Type="http://schemas.openxmlformats.org/officeDocument/2006/relationships/slide" Target="slides/slide3.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tags" Target="tags/tag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1" Type="http://schemas.openxmlformats.org/officeDocument/2006/relationships/oleObject" Target="../embeddings/oleObject1.bin"/></Relationships>
</file>

<file path=ppt/charts/_rels/chart4.xml.rels><?xml version="1.0" encoding="UTF-8" standalone="yes"?>
<Relationships xmlns="http://schemas.openxmlformats.org/package/2006/relationships"><Relationship Id="rId1" Type="http://schemas.openxmlformats.org/officeDocument/2006/relationships/oleObject" Target="../embeddings/oleObject2.bin"/></Relationships>
</file>

<file path=ppt/charts/_rels/chart5.xml.rels><?xml version="1.0" encoding="UTF-8" standalone="yes"?>
<Relationships xmlns="http://schemas.openxmlformats.org/package/2006/relationships"><Relationship Id="rId1" Type="http://schemas.openxmlformats.org/officeDocument/2006/relationships/oleObject" Target="../embeddings/oleObject3.bin"/></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3.xml.rels><?xml version="1.0" encoding="UTF-8" standalone="yes"?>
<Relationships xmlns="http://schemas.openxmlformats.org/package/2006/relationships"><Relationship Id="rId1" Type="http://schemas.openxmlformats.org/officeDocument/2006/relationships/oleObject" Target="../embeddings/oleObject4.bin"/></Relationships>
</file>

<file path=ppt/charts/_rels/chart14.xml.rels><?xml version="1.0" encoding="UTF-8" standalone="yes"?>
<Relationships xmlns="http://schemas.openxmlformats.org/package/2006/relationships"><Relationship Id="rId1" Type="http://schemas.openxmlformats.org/officeDocument/2006/relationships/oleObject" Target="../embeddings/oleObject5.bin"/></Relationships>
</file>

<file path=ppt/charts/_rels/chart15.xml.rels><?xml version="1.0" encoding="UTF-8" standalone="yes"?>
<Relationships xmlns="http://schemas.openxmlformats.org/package/2006/relationships"><Relationship Id="rId1" Type="http://schemas.openxmlformats.org/officeDocument/2006/relationships/oleObject" Target="../embeddings/oleObject6.bin"/></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8.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9.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_rels/chart20.xml.rels><?xml version="1.0" encoding="UTF-8" standalone="yes"?>
<Relationships xmlns="http://schemas.openxmlformats.org/package/2006/relationships"><Relationship Id="rId3" Type="http://schemas.openxmlformats.org/officeDocument/2006/relationships/package" Target="../embeddings/Microsoft_Excel_Worksheet13.xlsx"/><Relationship Id="rId2" Type="http://schemas.microsoft.com/office/2011/relationships/chartColorStyle" Target="colors14.xml"/><Relationship Id="rId1" Type="http://schemas.microsoft.com/office/2011/relationships/chartStyle" Target="style14.xml"/></Relationships>
</file>

<file path=ppt/charts/_rels/chart21.xml.rels><?xml version="1.0" encoding="UTF-8" standalone="yes"?>
<Relationships xmlns="http://schemas.openxmlformats.org/package/2006/relationships"><Relationship Id="rId3" Type="http://schemas.openxmlformats.org/officeDocument/2006/relationships/package" Target="../embeddings/Microsoft_Excel_Worksheet14.xlsx"/><Relationship Id="rId2" Type="http://schemas.microsoft.com/office/2011/relationships/chartColorStyle" Target="colors15.xml"/><Relationship Id="rId1" Type="http://schemas.microsoft.com/office/2011/relationships/chartStyle" Target="style15.xml"/></Relationships>
</file>

<file path=ppt/charts/_rels/chart22.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microsoft.com/office/2011/relationships/chartColorStyle" Target="colors16.xml"/><Relationship Id="rId1" Type="http://schemas.microsoft.com/office/2011/relationships/chartStyle" Target="style16.xml"/></Relationships>
</file>

<file path=ppt/charts/_rels/chart23.xml.rels><?xml version="1.0" encoding="UTF-8" standalone="yes"?>
<Relationships xmlns="http://schemas.openxmlformats.org/package/2006/relationships"><Relationship Id="rId1" Type="http://schemas.openxmlformats.org/officeDocument/2006/relationships/oleObject" Target="../embeddings/oleObject7.bin"/></Relationships>
</file>

<file path=ppt/charts/_rels/chart24.xml.rels><?xml version="1.0" encoding="UTF-8" standalone="yes"?>
<Relationships xmlns="http://schemas.openxmlformats.org/package/2006/relationships"><Relationship Id="rId1" Type="http://schemas.openxmlformats.org/officeDocument/2006/relationships/oleObject" Target="../embeddings/oleObject8.bin"/></Relationships>
</file>

<file path=ppt/charts/_rels/chart25.xml.rels><?xml version="1.0" encoding="UTF-8" standalone="yes"?>
<Relationships xmlns="http://schemas.openxmlformats.org/package/2006/relationships"><Relationship Id="rId1" Type="http://schemas.openxmlformats.org/officeDocument/2006/relationships/oleObject" Target="../embeddings/oleObject9.bin"/></Relationships>
</file>

<file path=ppt/charts/_rels/chart26.xml.rels><?xml version="1.0" encoding="UTF-8" standalone="yes"?>
<Relationships xmlns="http://schemas.openxmlformats.org/package/2006/relationships"><Relationship Id="rId3" Type="http://schemas.openxmlformats.org/officeDocument/2006/relationships/package" Target="../embeddings/Microsoft_Excel_Worksheet16.xlsx"/><Relationship Id="rId2" Type="http://schemas.microsoft.com/office/2011/relationships/chartColorStyle" Target="colors17.xml"/><Relationship Id="rId1" Type="http://schemas.microsoft.com/office/2011/relationships/chartStyle" Target="style17.xml"/></Relationships>
</file>

<file path=ppt/charts/_rels/chart27.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microsoft.com/office/2011/relationships/chartColorStyle" Target="colors18.xml"/><Relationship Id="rId1" Type="http://schemas.microsoft.com/office/2011/relationships/chartStyle" Target="style18.xml"/></Relationships>
</file>

<file path=ppt/charts/_rels/chart28.xml.rels><?xml version="1.0" encoding="UTF-8" standalone="yes"?>
<Relationships xmlns="http://schemas.openxmlformats.org/package/2006/relationships"><Relationship Id="rId3" Type="http://schemas.openxmlformats.org/officeDocument/2006/relationships/package" Target="../embeddings/Microsoft_Excel_Worksheet18.xlsx"/><Relationship Id="rId2" Type="http://schemas.microsoft.com/office/2011/relationships/chartColorStyle" Target="colors19.xml"/><Relationship Id="rId1" Type="http://schemas.microsoft.com/office/2011/relationships/chartStyle" Target="style19.xml"/></Relationships>
</file>

<file path=ppt/charts/_rels/chart29.xml.rels><?xml version="1.0" encoding="UTF-8" standalone="yes"?>
<Relationships xmlns="http://schemas.openxmlformats.org/package/2006/relationships"><Relationship Id="rId3" Type="http://schemas.openxmlformats.org/officeDocument/2006/relationships/package" Target="../embeddings/Microsoft_Excel_Worksheet19.xlsx"/><Relationship Id="rId2" Type="http://schemas.microsoft.com/office/2011/relationships/chartColorStyle" Target="colors20.xml"/><Relationship Id="rId1" Type="http://schemas.microsoft.com/office/2011/relationships/chartStyle" Target="style20.xml"/></Relationships>
</file>

<file path=ppt/charts/_rels/chart30.xml.rels><?xml version="1.0" encoding="UTF-8" standalone="yes"?>
<Relationships xmlns="http://schemas.openxmlformats.org/package/2006/relationships"><Relationship Id="rId3" Type="http://schemas.openxmlformats.org/officeDocument/2006/relationships/package" Target="../embeddings/Microsoft_Excel_Worksheet20.xlsx"/><Relationship Id="rId2" Type="http://schemas.microsoft.com/office/2011/relationships/chartColorStyle" Target="colors21.xml"/><Relationship Id="rId1" Type="http://schemas.microsoft.com/office/2011/relationships/chartStyle" Target="style21.xml"/></Relationships>
</file>

<file path=ppt/charts/_rels/chart31.xml.rels><?xml version="1.0" encoding="UTF-8" standalone="yes"?>
<Relationships xmlns="http://schemas.openxmlformats.org/package/2006/relationships"><Relationship Id="rId3" Type="http://schemas.openxmlformats.org/officeDocument/2006/relationships/package" Target="../embeddings/Microsoft_Excel_Worksheet21.xlsx"/><Relationship Id="rId2" Type="http://schemas.microsoft.com/office/2011/relationships/chartColorStyle" Target="colors22.xml"/><Relationship Id="rId1" Type="http://schemas.microsoft.com/office/2011/relationships/chartStyle" Target="style22.xml"/></Relationships>
</file>

<file path=ppt/charts/_rels/chart32.xml.rels><?xml version="1.0" encoding="UTF-8" standalone="yes"?>
<Relationships xmlns="http://schemas.openxmlformats.org/package/2006/relationships"><Relationship Id="rId3" Type="http://schemas.openxmlformats.org/officeDocument/2006/relationships/package" Target="../embeddings/Microsoft_Excel_Worksheet22.xlsx"/><Relationship Id="rId2" Type="http://schemas.microsoft.com/office/2011/relationships/chartColorStyle" Target="colors23.xml"/><Relationship Id="rId1" Type="http://schemas.microsoft.com/office/2011/relationships/chartStyle" Target="style23.xml"/></Relationships>
</file>

<file path=ppt/charts/_rels/chart33.xml.rels><?xml version="1.0" encoding="UTF-8" standalone="yes"?>
<Relationships xmlns="http://schemas.openxmlformats.org/package/2006/relationships"><Relationship Id="rId1" Type="http://schemas.openxmlformats.org/officeDocument/2006/relationships/oleObject" Target="../embeddings/oleObject10.bin"/></Relationships>
</file>

<file path=ppt/charts/_rels/chart34.xml.rels><?xml version="1.0" encoding="UTF-8" standalone="yes"?>
<Relationships xmlns="http://schemas.openxmlformats.org/package/2006/relationships"><Relationship Id="rId1" Type="http://schemas.openxmlformats.org/officeDocument/2006/relationships/oleObject" Target="../embeddings/oleObject11.bin"/></Relationships>
</file>

<file path=ppt/charts/_rels/chart35.xml.rels><?xml version="1.0" encoding="UTF-8" standalone="yes"?>
<Relationships xmlns="http://schemas.openxmlformats.org/package/2006/relationships"><Relationship Id="rId1" Type="http://schemas.openxmlformats.org/officeDocument/2006/relationships/oleObject" Target="../embeddings/oleObject12.bin"/></Relationships>
</file>

<file path=ppt/charts/_rels/chart36.xml.rels><?xml version="1.0" encoding="UTF-8" standalone="yes"?>
<Relationships xmlns="http://schemas.openxmlformats.org/package/2006/relationships"><Relationship Id="rId3" Type="http://schemas.openxmlformats.org/officeDocument/2006/relationships/package" Target="../embeddings/Microsoft_Excel_Worksheet23.xlsx"/><Relationship Id="rId2" Type="http://schemas.microsoft.com/office/2011/relationships/chartColorStyle" Target="colors24.xml"/><Relationship Id="rId1" Type="http://schemas.microsoft.com/office/2011/relationships/chartStyle" Target="style24.xml"/></Relationships>
</file>

<file path=ppt/charts/_rels/chart37.xml.rels><?xml version="1.0" encoding="UTF-8" standalone="yes"?>
<Relationships xmlns="http://schemas.openxmlformats.org/package/2006/relationships"><Relationship Id="rId3" Type="http://schemas.openxmlformats.org/officeDocument/2006/relationships/package" Target="../embeddings/Microsoft_Excel_Worksheet24.xlsx"/><Relationship Id="rId2" Type="http://schemas.microsoft.com/office/2011/relationships/chartColorStyle" Target="colors25.xml"/><Relationship Id="rId1" Type="http://schemas.microsoft.com/office/2011/relationships/chartStyle" Target="style25.xml"/></Relationships>
</file>

<file path=ppt/charts/_rels/chart38.xml.rels><?xml version="1.0" encoding="UTF-8" standalone="yes"?>
<Relationships xmlns="http://schemas.openxmlformats.org/package/2006/relationships"><Relationship Id="rId3" Type="http://schemas.openxmlformats.org/officeDocument/2006/relationships/package" Target="../embeddings/Microsoft_Excel_Worksheet25.xlsx"/><Relationship Id="rId2" Type="http://schemas.microsoft.com/office/2011/relationships/chartColorStyle" Target="colors26.xml"/><Relationship Id="rId1" Type="http://schemas.microsoft.com/office/2011/relationships/chartStyle" Target="style26.xml"/></Relationships>
</file>

<file path=ppt/charts/_rels/chart39.xml.rels><?xml version="1.0" encoding="UTF-8" standalone="yes"?>
<Relationships xmlns="http://schemas.openxmlformats.org/package/2006/relationships"><Relationship Id="rId3" Type="http://schemas.openxmlformats.org/officeDocument/2006/relationships/package" Target="../embeddings/Microsoft_Excel_Worksheet26.xlsx"/><Relationship Id="rId2" Type="http://schemas.microsoft.com/office/2011/relationships/chartColorStyle" Target="colors27.xml"/><Relationship Id="rId1" Type="http://schemas.microsoft.com/office/2011/relationships/chartStyle" Target="style27.xml"/></Relationships>
</file>

<file path=ppt/charts/_rels/chart40.xml.rels><?xml version="1.0" encoding="UTF-8" standalone="yes"?>
<Relationships xmlns="http://schemas.openxmlformats.org/package/2006/relationships"><Relationship Id="rId3" Type="http://schemas.openxmlformats.org/officeDocument/2006/relationships/package" Target="../embeddings/Microsoft_Excel_Worksheet27.xlsx"/><Relationship Id="rId2" Type="http://schemas.microsoft.com/office/2011/relationships/chartColorStyle" Target="colors28.xml"/><Relationship Id="rId1" Type="http://schemas.microsoft.com/office/2011/relationships/chartStyle" Target="style28.xml"/></Relationships>
</file>

<file path=ppt/charts/_rels/chart41.xml.rels><?xml version="1.0" encoding="UTF-8" standalone="yes"?>
<Relationships xmlns="http://schemas.openxmlformats.org/package/2006/relationships"><Relationship Id="rId3" Type="http://schemas.openxmlformats.org/officeDocument/2006/relationships/package" Target="../embeddings/Microsoft_Excel_Worksheet28.xlsx"/><Relationship Id="rId2" Type="http://schemas.microsoft.com/office/2011/relationships/chartColorStyle" Target="colors29.xml"/><Relationship Id="rId1" Type="http://schemas.microsoft.com/office/2011/relationships/chartStyle" Target="style29.xml"/></Relationships>
</file>

<file path=ppt/charts/_rels/chart42.xml.rels><?xml version="1.0" encoding="UTF-8" standalone="yes"?>
<Relationships xmlns="http://schemas.openxmlformats.org/package/2006/relationships"><Relationship Id="rId3" Type="http://schemas.openxmlformats.org/officeDocument/2006/relationships/package" Target="../embeddings/Microsoft_Excel_Worksheet29.xlsx"/><Relationship Id="rId2" Type="http://schemas.microsoft.com/office/2011/relationships/chartColorStyle" Target="colors30.xml"/><Relationship Id="rId1" Type="http://schemas.microsoft.com/office/2011/relationships/chartStyle" Target="style30.xml"/></Relationships>
</file>

<file path=ppt/charts/_rels/chart43.xml.rels><?xml version="1.0" encoding="UTF-8" standalone="yes"?>
<Relationships xmlns="http://schemas.openxmlformats.org/package/2006/relationships"><Relationship Id="rId1" Type="http://schemas.openxmlformats.org/officeDocument/2006/relationships/oleObject" Target="../embeddings/oleObject13.bin"/></Relationships>
</file>

<file path=ppt/charts/_rels/chart44.xml.rels><?xml version="1.0" encoding="UTF-8" standalone="yes"?>
<Relationships xmlns="http://schemas.openxmlformats.org/package/2006/relationships"><Relationship Id="rId1" Type="http://schemas.openxmlformats.org/officeDocument/2006/relationships/oleObject" Target="../embeddings/oleObject14.bin"/></Relationships>
</file>

<file path=ppt/charts/_rels/chart45.xml.rels><?xml version="1.0" encoding="UTF-8" standalone="yes"?>
<Relationships xmlns="http://schemas.openxmlformats.org/package/2006/relationships"><Relationship Id="rId1" Type="http://schemas.openxmlformats.org/officeDocument/2006/relationships/oleObject" Target="../embeddings/oleObject15.bin"/></Relationships>
</file>

<file path=ppt/charts/_rels/chart46.xml.rels><?xml version="1.0" encoding="UTF-8" standalone="yes"?>
<Relationships xmlns="http://schemas.openxmlformats.org/package/2006/relationships"><Relationship Id="rId3" Type="http://schemas.openxmlformats.org/officeDocument/2006/relationships/package" Target="../embeddings/Microsoft_Excel_Worksheet30.xlsx"/><Relationship Id="rId2" Type="http://schemas.microsoft.com/office/2011/relationships/chartColorStyle" Target="colors31.xml"/><Relationship Id="rId1" Type="http://schemas.microsoft.com/office/2011/relationships/chartStyle" Target="style31.xml"/></Relationships>
</file>

<file path=ppt/charts/_rels/chart47.xml.rels><?xml version="1.0" encoding="UTF-8" standalone="yes"?>
<Relationships xmlns="http://schemas.openxmlformats.org/package/2006/relationships"><Relationship Id="rId3" Type="http://schemas.openxmlformats.org/officeDocument/2006/relationships/package" Target="../embeddings/Microsoft_Excel_Worksheet31.xlsx"/><Relationship Id="rId2" Type="http://schemas.microsoft.com/office/2011/relationships/chartColorStyle" Target="colors32.xml"/><Relationship Id="rId1" Type="http://schemas.microsoft.com/office/2011/relationships/chartStyle" Target="style32.xml"/></Relationships>
</file>

<file path=ppt/charts/_rels/chart48.xml.rels><?xml version="1.0" encoding="UTF-8" standalone="yes"?>
<Relationships xmlns="http://schemas.openxmlformats.org/package/2006/relationships"><Relationship Id="rId3" Type="http://schemas.openxmlformats.org/officeDocument/2006/relationships/package" Target="../embeddings/Microsoft_Excel_Worksheet32.xlsx"/><Relationship Id="rId2" Type="http://schemas.microsoft.com/office/2011/relationships/chartColorStyle" Target="colors33.xml"/><Relationship Id="rId1" Type="http://schemas.microsoft.com/office/2011/relationships/chartStyle" Target="style33.xml"/></Relationships>
</file>

<file path=ppt/charts/_rels/chart49.xml.rels><?xml version="1.0" encoding="UTF-8" standalone="yes"?>
<Relationships xmlns="http://schemas.openxmlformats.org/package/2006/relationships"><Relationship Id="rId3" Type="http://schemas.openxmlformats.org/officeDocument/2006/relationships/package" Target="../embeddings/Microsoft_Excel_Worksheet33.xlsx"/><Relationship Id="rId2" Type="http://schemas.microsoft.com/office/2011/relationships/chartColorStyle" Target="colors34.xml"/><Relationship Id="rId1" Type="http://schemas.microsoft.com/office/2011/relationships/chartStyle" Target="style34.xml"/></Relationships>
</file>

<file path=ppt/charts/_rels/chart50.xml.rels><?xml version="1.0" encoding="UTF-8" standalone="yes"?>
<Relationships xmlns="http://schemas.openxmlformats.org/package/2006/relationships"><Relationship Id="rId3" Type="http://schemas.openxmlformats.org/officeDocument/2006/relationships/package" Target="../embeddings/Microsoft_Excel_Worksheet34.xlsx"/><Relationship Id="rId2" Type="http://schemas.microsoft.com/office/2011/relationships/chartColorStyle" Target="colors35.xml"/><Relationship Id="rId1" Type="http://schemas.microsoft.com/office/2011/relationships/chartStyle" Target="style3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D4B1-499D-9473-C5784141F829}"/>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4B1-499D-9473-C5784141F829}"/>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4B1-499D-9473-C5784141F829}"/>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D4B1-499D-9473-C5784141F829}"/>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4B1-499D-9473-C5784141F829}"/>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4B1-499D-9473-C5784141F829}"/>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4B1-499D-9473-C5784141F829}"/>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D4B1-499D-9473-C5784141F829}"/>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D4B1-499D-9473-C5784141F829}"/>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D4B1-499D-9473-C5784141F829}"/>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D4B1-499D-9473-C5784141F829}"/>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D4B1-499D-9473-C5784141F829}"/>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D4B1-499D-9473-C5784141F829}"/>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766B-4EFE-B06A-0C7DED66DBEB}"/>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66B-4EFE-B06A-0C7DED66DBEB}"/>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66B-4EFE-B06A-0C7DED66DBEB}"/>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66B-4EFE-B06A-0C7DED66DBEB}"/>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766B-4EFE-B06A-0C7DED66DBEB}"/>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66B-4EFE-B06A-0C7DED66DBEB}"/>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766B-4EFE-B06A-0C7DED66DBEB}"/>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66B-4EFE-B06A-0C7DED66DBEB}"/>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66B-4EFE-B06A-0C7DED66DBEB}"/>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766B-4EFE-B06A-0C7DED66DBEB}"/>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85F-4D00-97D7-F62718522D0F}"/>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85F-4D00-97D7-F62718522D0F}"/>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1CE0-4715-89C1-5B08B32E22F6}"/>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1CE0-4715-89C1-5B08B32E22F6}"/>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E1BD-4B07-BFCF-A33138F33E54}"/>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E1BD-4B07-BFCF-A33138F33E54}"/>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F8E1-4D2A-844A-157B3DA7774B}"/>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F8E1-4D2A-844A-157B3DA7774B}"/>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F8E1-4D2A-844A-157B3DA7774B}"/>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EBE1-4150-B1C4-5665F8D3D82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EBE1-4150-B1C4-5665F8D3D82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EBE1-4150-B1C4-5665F8D3D82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DD4D-4894-8AB0-AE24335BFFD6}"/>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DD4D-4894-8AB0-AE24335BFFD6}"/>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DD4D-4894-8AB0-AE24335BFFD6}"/>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B23C-4C41-AF64-1B0B7229AD15}"/>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B23C-4C41-AF64-1B0B7229AD15}"/>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B23C-4C41-AF64-1B0B7229AD15}"/>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2B4B-41E7-B8AD-3A2FD2DA0E07}"/>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2B4B-41E7-B8AD-3A2FD2DA0E0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B4B-41E7-B8AD-3A2FD2DA0E0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3901-44AB-B299-99A34917A6BE}"/>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901-44AB-B299-99A34917A6BE}"/>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901-44AB-B299-99A34917A6BE}"/>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3901-44AB-B299-99A34917A6BE}"/>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901-44AB-B299-99A34917A6BE}"/>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901-44AB-B299-99A34917A6BE}"/>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901-44AB-B299-99A34917A6BE}"/>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3901-44AB-B299-99A34917A6BE}"/>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3901-44AB-B299-99A34917A6BE}"/>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3901-44AB-B299-99A34917A6BE}"/>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3901-44AB-B299-99A34917A6BE}"/>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3901-44AB-B299-99A34917A6BE}"/>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3901-44AB-B299-99A34917A6BE}"/>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189-4C58-937A-51A26F8EDF1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189-4C58-937A-51A26F8EDF1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189-4C58-937A-51A26F8EDF1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189-4C58-937A-51A26F8EDF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D189-4C58-937A-51A26F8EDF1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189-4C58-937A-51A26F8EDF1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189-4C58-937A-51A26F8EDF1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189-4C58-937A-51A26F8EDF1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D189-4C58-937A-51A26F8EDF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D189-4C58-937A-51A26F8EDF1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D3D-4AB1-B5C0-6EBBD6CA0AA1}"/>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D3D-4AB1-B5C0-6EBBD6CA0AA1}"/>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857C-442C-ABE3-ABE2604963B3}"/>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857C-442C-ABE3-ABE2604963B3}"/>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0E87-4A1B-8ABC-A464208288D1}"/>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0E87-4A1B-8ABC-A464208288D1}"/>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21D7-44B4-9DCB-0B7E107C0B45}"/>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21D7-44B4-9DCB-0B7E107C0B45}"/>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1D7-44B4-9DCB-0B7E107C0B45}"/>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C94-4E8A-A791-96331BFBB57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C94-4E8A-A791-96331BFBB57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C94-4E8A-A791-96331BFBB57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73E-47C6-8713-AA2917F8C705}"/>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73E-47C6-8713-AA2917F8C705}"/>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73E-47C6-8713-AA2917F8C705}"/>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53B-4B74-A015-D9C252FBE869}"/>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53B-4B74-A015-D9C252FBE869}"/>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553B-4B74-A015-D9C252FBE869}"/>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B28-4405-A84D-A4C19C5F4FC7}"/>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B28-4405-A84D-A4C19C5F4FC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6B28-4405-A84D-A4C19C5F4FC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77D0-4D9A-8A30-023D80856C50}"/>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D0-4D9A-8A30-023D80856C50}"/>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77D0-4D9A-8A30-023D80856C50}"/>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77D0-4D9A-8A30-023D80856C50}"/>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7D0-4D9A-8A30-023D80856C50}"/>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77D0-4D9A-8A30-023D80856C50}"/>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7D0-4D9A-8A30-023D80856C50}"/>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77D0-4D9A-8A30-023D80856C50}"/>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77D0-4D9A-8A30-023D80856C50}"/>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7D0-4D9A-8A30-023D80856C50}"/>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77D0-4D9A-8A30-023D80856C50}"/>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77D0-4D9A-8A30-023D80856C50}"/>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77D0-4D9A-8A30-023D80856C50}"/>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D7C-4315-90C2-F83E4C6D72D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D7C-4315-90C2-F83E4C6D72D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D7C-4315-90C2-F83E4C6D72D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D7C-4315-90C2-F83E4C6D72D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3D7C-4315-90C2-F83E4C6D72D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D7C-4315-90C2-F83E4C6D72D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D7C-4315-90C2-F83E4C6D72D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D7C-4315-90C2-F83E4C6D72D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D7C-4315-90C2-F83E4C6D72D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3D7C-4315-90C2-F83E4C6D72D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FE6E-461B-8530-F4B1D7810510}"/>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FE6E-461B-8530-F4B1D7810510}"/>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B623-4046-8268-C44EB36BE931}"/>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B623-4046-8268-C44EB36BE931}"/>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AE98-436E-A6C7-337E9F9A6F3B}"/>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AE98-436E-A6C7-337E9F9A6F3B}"/>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3623-4C62-A7D8-F230F68DD736}"/>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3623-4C62-A7D8-F230F68DD736}"/>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3623-4C62-A7D8-F230F68DD736}"/>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D904-4C4E-B800-9E56A9FC9B54}"/>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D904-4C4E-B800-9E56A9FC9B54}"/>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D904-4C4E-B800-9E56A9FC9B54}"/>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243E-4DC9-8CC5-210A0942E52D}"/>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243E-4DC9-8CC5-210A0942E52D}"/>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243E-4DC9-8CC5-210A0942E52D}"/>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929E-49CE-9221-1C6EF04F03E2}"/>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929E-49CE-9221-1C6EF04F03E2}"/>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29E-49CE-9221-1C6EF04F03E2}"/>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82FB-4AB6-A3A5-6B5EDEB36482}"/>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82FB-4AB6-A3A5-6B5EDEB36482}"/>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82FB-4AB6-A3A5-6B5EDEB36482}"/>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4A03-4D5C-AD36-1CAF6A2098C1}"/>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4A03-4D5C-AD36-1CAF6A2098C1}"/>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4A03-4D5C-AD36-1CAF6A2098C1}"/>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4A03-4D5C-AD36-1CAF6A2098C1}"/>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4A03-4D5C-AD36-1CAF6A2098C1}"/>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4A03-4D5C-AD36-1CAF6A2098C1}"/>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4A03-4D5C-AD36-1CAF6A2098C1}"/>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4A03-4D5C-AD36-1CAF6A2098C1}"/>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4A03-4D5C-AD36-1CAF6A2098C1}"/>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4A03-4D5C-AD36-1CAF6A2098C1}"/>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4A03-4D5C-AD36-1CAF6A2098C1}"/>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4A03-4D5C-AD36-1CAF6A2098C1}"/>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4A03-4D5C-AD36-1CAF6A2098C1}"/>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EE9C-47AA-82E7-50E1D95AA973}"/>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E9C-47AA-82E7-50E1D95AA973}"/>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EE9C-47AA-82E7-50E1D95AA973}"/>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E9C-47AA-82E7-50E1D95AA973}"/>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EE9C-47AA-82E7-50E1D95AA973}"/>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EE9C-47AA-82E7-50E1D95AA973}"/>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EE9C-47AA-82E7-50E1D95AA973}"/>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EE9C-47AA-82E7-50E1D95AA973}"/>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EE9C-47AA-82E7-50E1D95AA973}"/>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EE9C-47AA-82E7-50E1D95AA973}"/>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A00-4F55-998A-232D7957F6D4}"/>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A00-4F55-998A-232D7957F6D4}"/>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11E7-4108-A3C9-C6702E5B963F}"/>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11E7-4108-A3C9-C6702E5B963F}"/>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C92F-4DC5-803F-22C22EB9B1F2}"/>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C92F-4DC5-803F-22C22EB9B1F2}"/>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263-4EED-9ACF-11C7F554FFB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263-4EED-9ACF-11C7F554FFB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263-4EED-9ACF-11C7F554FFB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9422-4C2C-A4A8-E6DAC27056D0}"/>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9422-4C2C-A4A8-E6DAC27056D0}"/>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422-4C2C-A4A8-E6DAC27056D0}"/>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75F3-43EF-8A3C-196D2DE6D6B9}"/>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75F3-43EF-8A3C-196D2DE6D6B9}"/>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75F3-43EF-8A3C-196D2DE6D6B9}"/>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BE3-4C4F-8848-85A46697FC07}"/>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BE3-4C4F-8848-85A46697FC07}"/>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0BE3-4C4F-8848-85A46697FC07}"/>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09C-45F6-83BB-9DA921BBA94A}"/>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09C-45F6-83BB-9DA921BBA94A}"/>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409C-45F6-83BB-9DA921BBA94A}"/>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dLbl>
              <c:idx val="0"/>
              <c:layout>
                <c:manualLayout>
                  <c:x val="0"/>
                  <c:y val="-4.08199413495161E-3"/>
                </c:manualLayout>
              </c:layout>
              <c:dLblPos val="outEnd"/>
              <c:showLegendKey val="0"/>
              <c:showVal val="1"/>
              <c:showCatName val="0"/>
              <c:showSerName val="0"/>
              <c:showPercent val="0"/>
              <c:showBubbleSize val="0"/>
              <c:separator>, </c:separator>
              <c:extLst>
                <c:ext xmlns:c15="http://schemas.microsoft.com/office/drawing/2012/chart" uri="{CE6537A1-D6FC-4f65-9D91-7224C49458BB}"/>
                <c:ext xmlns:c16="http://schemas.microsoft.com/office/drawing/2014/chart" uri="{C3380CC4-5D6E-409C-BE32-E72D297353CC}">
                  <c16:uniqueId val="{00000000-1721-405C-9E8E-64029A62059C}"/>
                </c:ext>
              </c:extLst>
            </c:dLbl>
            <c:dLbl>
              <c:idx val="1"/>
              <c:layout>
                <c:manualLayout>
                  <c:x val="-7.1784850042090901E-17"/>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1721-405C-9E8E-64029A62059C}"/>
                </c:ext>
              </c:extLst>
            </c:dLbl>
            <c:dLbl>
              <c:idx val="2"/>
              <c:layout>
                <c:manualLayout>
                  <c:x val="-7.1784850042090901E-17"/>
                  <c:y val="4.7280651491166097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1721-405C-9E8E-64029A62059C}"/>
                </c:ext>
              </c:extLst>
            </c:dLbl>
            <c:dLbl>
              <c:idx val="3"/>
              <c:layout>
                <c:manualLayout>
                  <c:x val="1.95779125382193E-3"/>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1721-405C-9E8E-64029A62059C}"/>
            </c:ext>
          </c:extLst>
        </c:ser>
        <c:ser>
          <c:idx val="1"/>
          <c:order val="1"/>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721-405C-9E8E-64029A62059C}"/>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1721-405C-9E8E-64029A62059C}"/>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721-405C-9E8E-64029A62059C}"/>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9-1721-405C-9E8E-64029A62059C}"/>
            </c:ext>
          </c:extLst>
        </c:ser>
        <c:ser>
          <c:idx val="2"/>
          <c:order val="2"/>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1721-405C-9E8E-64029A62059C}"/>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1721-405C-9E8E-64029A62059C}"/>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1721-405C-9E8E-64029A62059C}"/>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1721-405C-9E8E-64029A62059C}"/>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E-1721-405C-9E8E-64029A62059C}"/>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r>
              <a:rPr lang="zh-CN"/>
              <a:t>图表标题</a:t>
            </a:r>
          </a:p>
        </c:rich>
      </c:tx>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1"/>
          <c:order val="0"/>
          <c:tx>
            <c:strRef>
              <c:f>Sheet1!$C$1</c:f>
              <c:strCache>
                <c:ptCount val="1"/>
                <c:pt idx="0">
                  <c:v>系列 2</c:v>
                </c:pt>
              </c:strCache>
            </c:strRef>
          </c:tx>
          <c:spPr>
            <a:solidFill>
              <a:schemeClr val="accent2"/>
            </a:solidFill>
            <a:ln>
              <a:noFill/>
            </a:ln>
            <a:effectLst/>
          </c:spPr>
          <c:invertIfNegative val="0"/>
          <c:dLbls>
            <c:dLbl>
              <c:idx val="0"/>
              <c:layout>
                <c:manualLayout>
                  <c:x val="0"/>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C66-4CC6-A7AA-71CBCED60818}"/>
                </c:ext>
              </c:extLst>
            </c:dLbl>
            <c:dLbl>
              <c:idx val="1"/>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C66-4CC6-A7AA-71CBCED60818}"/>
                </c:ext>
              </c:extLst>
            </c:dLbl>
            <c:dLbl>
              <c:idx val="2"/>
              <c:layout>
                <c:manualLayout>
                  <c:x val="0"/>
                  <c:y val="7.664751577139350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C66-4CC6-A7AA-71CBCED60818}"/>
                </c:ext>
              </c:extLst>
            </c:dLbl>
            <c:dLbl>
              <c:idx val="3"/>
              <c:layout>
                <c:manualLayout>
                  <c:x val="0"/>
                  <c:y val="4.7280651491165603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C66-4CC6-A7AA-71CBCED608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3C66-4CC6-A7AA-71CBCED60818}"/>
            </c:ext>
          </c:extLst>
        </c:ser>
        <c:ser>
          <c:idx val="2"/>
          <c:order val="1"/>
          <c:tx>
            <c:strRef>
              <c:f>Sheet1!$D$1</c:f>
              <c:strCache>
                <c:ptCount val="1"/>
                <c:pt idx="0">
                  <c:v>系列 3</c:v>
                </c:pt>
              </c:strCache>
            </c:strRef>
          </c:tx>
          <c:spPr>
            <a:solidFill>
              <a:schemeClr val="accent3"/>
            </a:solidFill>
            <a:ln>
              <a:noFill/>
            </a:ln>
            <a:effectLst/>
          </c:spPr>
          <c:invertIfNegative val="0"/>
          <c:dLbls>
            <c:dLbl>
              <c:idx val="0"/>
              <c:layout>
                <c:manualLayout>
                  <c:x val="-3.5892425021045401E-17"/>
                  <c:y val="1.7913787210937599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C66-4CC6-A7AA-71CBCED60818}"/>
                </c:ext>
              </c:extLst>
            </c:dLbl>
            <c:dLbl>
              <c:idx val="1"/>
              <c:layout>
                <c:manualLayout>
                  <c:x val="-7.1784850042090901E-17"/>
                  <c:y val="4.7280651491164996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C66-4CC6-A7AA-71CBCED60818}"/>
                </c:ext>
              </c:extLst>
            </c:dLbl>
            <c:dLbl>
              <c:idx val="2"/>
              <c:layout>
                <c:manualLayout>
                  <c:x val="0"/>
                  <c:y val="1.79137872109382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C66-4CC6-A7AA-71CBCED60818}"/>
                </c:ext>
              </c:extLst>
            </c:dLbl>
            <c:dLbl>
              <c:idx val="3"/>
              <c:layout>
                <c:manualLayout>
                  <c:x val="-1.43569700084182E-16"/>
                  <c:y val="1.79137872109384E-3"/>
                </c:manualLayout>
              </c:layout>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C66-4CC6-A7AA-71CBCED60818}"/>
                </c:ext>
              </c:extLst>
            </c:dLbl>
            <c:spPr>
              <a:noFill/>
              <a:ln>
                <a:noFill/>
              </a:ln>
              <a:effectLst/>
            </c:spPr>
            <c:txPr>
              <a:bodyPr rot="0" spcFirstLastPara="1" vertOverflow="ellipsis" vert="horz" wrap="square" lIns="38100" tIns="19050" rIns="38100" bIns="19050" anchor="ctr" anchorCtr="1">
                <a:spAutoFit/>
              </a:bodyPr>
              <a:lstStyle/>
              <a:p>
                <a:pPr>
                  <a:defRPr lang="zh-CN" sz="1195" b="0" i="0" u="none" strike="noStrike" kern="1200" baseline="0">
                    <a:solidFill>
                      <a:srgbClr val="383736"/>
                    </a:solidFill>
                    <a:latin typeface="+mn-lt"/>
                    <a:ea typeface="+mn-ea"/>
                    <a:cs typeface="+mn-cs"/>
                  </a:defRPr>
                </a:pPr>
                <a:endParaRPr lang="zh-CN"/>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9-3C66-4CC6-A7AA-71CBCED60818}"/>
            </c:ext>
          </c:extLst>
        </c:ser>
        <c:dLbls>
          <c:showLegendKey val="0"/>
          <c:showVal val="1"/>
          <c:showCatName val="0"/>
          <c:showSerName val="0"/>
          <c:showPercent val="0"/>
          <c:showBubbleSize val="0"/>
        </c:dLbls>
        <c:gapWidth val="219"/>
        <c:overlap val="-27"/>
        <c:axId val="1163914175"/>
        <c:axId val="1163915807"/>
      </c:barChart>
      <c:catAx>
        <c:axId val="11639141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5807"/>
        <c:crosses val="autoZero"/>
        <c:auto val="1"/>
        <c:lblAlgn val="ctr"/>
        <c:lblOffset val="100"/>
        <c:noMultiLvlLbl val="0"/>
      </c:catAx>
      <c:valAx>
        <c:axId val="11639158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163914175"/>
        <c:crosses val="autoZero"/>
        <c:crossBetween val="between"/>
      </c:valAx>
      <c:spPr>
        <a:noFill/>
        <a:ln w="25400">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E647-45CB-9E2C-A2C396DB0B19}"/>
            </c:ext>
          </c:extLst>
        </c:ser>
        <c:ser>
          <c:idx val="1"/>
          <c:order val="1"/>
          <c:tx>
            <c:strRef>
              <c:f>Sheet1!$C$1</c:f>
              <c:strCache>
                <c:ptCount val="1"/>
                <c:pt idx="0">
                  <c:v>Series 2</c:v>
                </c:pt>
              </c:strCache>
            </c:strRef>
          </c:tx>
          <c:spPr>
            <a:solidFill>
              <a:schemeClr val="accent2"/>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E647-45CB-9E2C-A2C396DB0B19}"/>
            </c:ext>
          </c:extLst>
        </c:ser>
        <c:dLbls>
          <c:showLegendKey val="0"/>
          <c:showVal val="0"/>
          <c:showCatName val="0"/>
          <c:showSerName val="0"/>
          <c:showPercent val="0"/>
          <c:showBubbleSize val="0"/>
        </c:dLbls>
        <c:gapWidth val="150"/>
        <c:axId val="534021000"/>
        <c:axId val="534019432"/>
      </c:barChart>
      <c:catAx>
        <c:axId val="534021000"/>
        <c:scaling>
          <c:orientation val="minMax"/>
        </c:scaling>
        <c:delete val="1"/>
        <c:axPos val="b"/>
        <c:numFmt formatCode="General" sourceLinked="0"/>
        <c:majorTickMark val="out"/>
        <c:minorTickMark val="none"/>
        <c:tickLblPos val="nextTo"/>
        <c:crossAx val="534019432"/>
        <c:crosses val="autoZero"/>
        <c:auto val="1"/>
        <c:lblAlgn val="ctr"/>
        <c:lblOffset val="100"/>
        <c:noMultiLvlLbl val="0"/>
      </c:catAx>
      <c:valAx>
        <c:axId val="534019432"/>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00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4"/>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2</c:v>
                </c:pt>
                <c:pt idx="1">
                  <c:v>2.5</c:v>
                </c:pt>
                <c:pt idx="2">
                  <c:v>3.5</c:v>
                </c:pt>
                <c:pt idx="3">
                  <c:v>4.5</c:v>
                </c:pt>
              </c:numCache>
            </c:numRef>
          </c:val>
          <c:extLst>
            <c:ext xmlns:c16="http://schemas.microsoft.com/office/drawing/2014/chart" uri="{C3380CC4-5D6E-409C-BE32-E72D297353CC}">
              <c16:uniqueId val="{00000000-D0F8-4C75-94BF-A9E4EA850972}"/>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4</c:v>
                </c:pt>
                <c:pt idx="1">
                  <c:v>4.4000000000000004</c:v>
                </c:pt>
                <c:pt idx="2">
                  <c:v>1.8</c:v>
                </c:pt>
                <c:pt idx="3">
                  <c:v>2.8</c:v>
                </c:pt>
              </c:numCache>
            </c:numRef>
          </c:val>
          <c:extLst>
            <c:ext xmlns:c16="http://schemas.microsoft.com/office/drawing/2014/chart" uri="{C3380CC4-5D6E-409C-BE32-E72D297353CC}">
              <c16:uniqueId val="{00000001-D0F8-4C75-94BF-A9E4EA850972}"/>
            </c:ext>
          </c:extLst>
        </c:ser>
        <c:dLbls>
          <c:showLegendKey val="0"/>
          <c:showVal val="0"/>
          <c:showCatName val="0"/>
          <c:showSerName val="0"/>
          <c:showPercent val="0"/>
          <c:showBubbleSize val="0"/>
        </c:dLbls>
        <c:gapWidth val="150"/>
        <c:axId val="534021784"/>
        <c:axId val="534019040"/>
      </c:barChart>
      <c:catAx>
        <c:axId val="534021784"/>
        <c:scaling>
          <c:orientation val="minMax"/>
        </c:scaling>
        <c:delete val="1"/>
        <c:axPos val="b"/>
        <c:numFmt formatCode="General" sourceLinked="0"/>
        <c:majorTickMark val="out"/>
        <c:minorTickMark val="none"/>
        <c:tickLblPos val="nextTo"/>
        <c:crossAx val="534019040"/>
        <c:crosses val="autoZero"/>
        <c:auto val="1"/>
        <c:lblAlgn val="ctr"/>
        <c:lblOffset val="100"/>
        <c:noMultiLvlLbl val="0"/>
      </c:catAx>
      <c:valAx>
        <c:axId val="534019040"/>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21784"/>
        <c:crosses val="autoZero"/>
        <c:crossBetween val="between"/>
      </c:valAx>
      <c:spPr>
        <a:noFill/>
        <a:ln w="25400">
          <a:noFill/>
        </a:ln>
      </c:spPr>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rgbClr val="4FBAFF"/>
            </a:solidFill>
          </c:spPr>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3</c:v>
                </c:pt>
                <c:pt idx="2">
                  <c:v>3.5</c:v>
                </c:pt>
                <c:pt idx="3">
                  <c:v>4.5</c:v>
                </c:pt>
              </c:numCache>
            </c:numRef>
          </c:val>
          <c:extLst>
            <c:ext xmlns:c16="http://schemas.microsoft.com/office/drawing/2014/chart" uri="{C3380CC4-5D6E-409C-BE32-E72D297353CC}">
              <c16:uniqueId val="{00000000-5544-4B6A-A889-3034504492BA}"/>
            </c:ext>
          </c:extLst>
        </c:ser>
        <c:ser>
          <c:idx val="1"/>
          <c:order val="1"/>
          <c:tx>
            <c:strRef>
              <c:f>Sheet1!$C$1</c:f>
              <c:strCache>
                <c:ptCount val="1"/>
                <c:pt idx="0">
                  <c:v>Series 2</c:v>
                </c:pt>
              </c:strCache>
            </c:strRef>
          </c:tx>
          <c:spPr>
            <a:solidFill>
              <a:schemeClr val="accent3"/>
            </a:solidFill>
          </c:spPr>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c:v>
                </c:pt>
                <c:pt idx="2">
                  <c:v>1.8</c:v>
                </c:pt>
                <c:pt idx="3">
                  <c:v>2.8</c:v>
                </c:pt>
              </c:numCache>
            </c:numRef>
          </c:val>
          <c:extLst>
            <c:ext xmlns:c16="http://schemas.microsoft.com/office/drawing/2014/chart" uri="{C3380CC4-5D6E-409C-BE32-E72D297353CC}">
              <c16:uniqueId val="{00000001-5544-4B6A-A889-3034504492BA}"/>
            </c:ext>
          </c:extLst>
        </c:ser>
        <c:dLbls>
          <c:showLegendKey val="0"/>
          <c:showVal val="0"/>
          <c:showCatName val="0"/>
          <c:showSerName val="0"/>
          <c:showPercent val="0"/>
          <c:showBubbleSize val="0"/>
        </c:dLbls>
        <c:gapWidth val="150"/>
        <c:axId val="534017080"/>
        <c:axId val="534018256"/>
      </c:barChart>
      <c:catAx>
        <c:axId val="534017080"/>
        <c:scaling>
          <c:orientation val="minMax"/>
        </c:scaling>
        <c:delete val="1"/>
        <c:axPos val="b"/>
        <c:numFmt formatCode="General" sourceLinked="0"/>
        <c:majorTickMark val="out"/>
        <c:minorTickMark val="none"/>
        <c:tickLblPos val="nextTo"/>
        <c:crossAx val="534018256"/>
        <c:crosses val="autoZero"/>
        <c:auto val="1"/>
        <c:lblAlgn val="ctr"/>
        <c:lblOffset val="100"/>
        <c:noMultiLvlLbl val="0"/>
      </c:catAx>
      <c:valAx>
        <c:axId val="534018256"/>
        <c:scaling>
          <c:orientation val="minMax"/>
        </c:scaling>
        <c:delete val="0"/>
        <c:axPos val="l"/>
        <c:majorGridlines/>
        <c:numFmt formatCode="General" sourceLinked="1"/>
        <c:majorTickMark val="out"/>
        <c:minorTickMark val="none"/>
        <c:tickLblPos val="nextTo"/>
        <c:txPr>
          <a:bodyPr rot="-60000000" spcFirstLastPara="0" vertOverflow="ellipsis" vert="horz" wrap="square" anchor="ctr" anchorCtr="1"/>
          <a:lstStyle/>
          <a:p>
            <a:pPr>
              <a:defRPr lang="zh-CN" sz="1800" b="0" i="0" u="none" strike="noStrike" kern="1200" baseline="0">
                <a:solidFill>
                  <a:schemeClr val="tx1"/>
                </a:solidFill>
                <a:latin typeface="Lato Regular"/>
                <a:ea typeface="+mn-ea"/>
                <a:cs typeface="Lato Regular"/>
              </a:defRPr>
            </a:pPr>
            <a:endParaRPr lang="zh-CN"/>
          </a:p>
        </c:txPr>
        <c:crossAx val="534017080"/>
        <c:crosses val="autoZero"/>
        <c:crossBetween val="between"/>
      </c:valAx>
    </c:plotArea>
    <c:plotVisOnly val="1"/>
    <c:dispBlanksAs val="gap"/>
    <c:showDLblsOverMax val="0"/>
  </c:chart>
  <c:txPr>
    <a:bodyPr/>
    <a:lstStyle/>
    <a:p>
      <a:pPr>
        <a:defRPr lang="zh-CN" sz="1800">
          <a:latin typeface="Lato Regular"/>
          <a:cs typeface="Lato Regular"/>
        </a:defRPr>
      </a:pPr>
      <a:endParaRPr lang="zh-CN"/>
    </a:p>
  </c:tx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1A56-4045-B7C0-0406A6D2CDA7}"/>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1A56-4045-B7C0-0406A6D2CDA7}"/>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1A56-4045-B7C0-0406A6D2CDA7}"/>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4D22-4611-9B54-FE1F53220561}"/>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4D22-4611-9B54-FE1F53220561}"/>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4D22-4611-9B54-FE1F53220561}"/>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lineChart>
        <c:grouping val="standard"/>
        <c:varyColors val="0"/>
        <c:ser>
          <c:idx val="0"/>
          <c:order val="0"/>
          <c:tx>
            <c:strRef>
              <c:f>Sheet1!$B$1</c:f>
              <c:strCache>
                <c:ptCount val="1"/>
                <c:pt idx="0">
                  <c:v>系列 1</c:v>
                </c:pt>
              </c:strCache>
            </c:strRef>
          </c:tx>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9B46-4860-898B-31C759875D3E}"/>
            </c:ext>
          </c:extLst>
        </c:ser>
        <c:ser>
          <c:idx val="1"/>
          <c:order val="1"/>
          <c:tx>
            <c:strRef>
              <c:f>Sheet1!$C$1</c:f>
              <c:strCache>
                <c:ptCount val="1"/>
                <c:pt idx="0">
                  <c:v>系列 2</c:v>
                </c:pt>
              </c:strCache>
            </c:strRef>
          </c:tx>
          <c:spPr>
            <a:ln w="28575" cap="rnd">
              <a:solidFill>
                <a:srgbClr val="8FD6FF"/>
              </a:solidFill>
              <a:round/>
            </a:ln>
            <a:effectLst/>
          </c:spPr>
          <c:marker>
            <c:symbol val="circle"/>
            <c:size val="5"/>
            <c:spPr>
              <a:solidFill>
                <a:srgbClr val="8FD6FF"/>
              </a:solidFill>
              <a:ln w="9525">
                <a:solidFill>
                  <a:schemeClr val="accent2"/>
                </a:solidFill>
              </a:ln>
              <a:effectLst/>
            </c:spPr>
          </c:marker>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smooth val="0"/>
          <c:extLst>
            <c:ext xmlns:c16="http://schemas.microsoft.com/office/drawing/2014/chart" uri="{C3380CC4-5D6E-409C-BE32-E72D297353CC}">
              <c16:uniqueId val="{00000001-9B46-4860-898B-31C759875D3E}"/>
            </c:ext>
          </c:extLst>
        </c:ser>
        <c:ser>
          <c:idx val="2"/>
          <c:order val="2"/>
          <c:tx>
            <c:strRef>
              <c:f>Sheet1!$D$1</c:f>
              <c:strCache>
                <c:ptCount val="1"/>
                <c:pt idx="0">
                  <c:v>系列 3</c:v>
                </c:pt>
              </c:strCache>
            </c:strRef>
          </c:tx>
          <c:spPr>
            <a:ln w="28575" cap="rnd">
              <a:solidFill>
                <a:schemeClr val="accent3"/>
              </a:solidFill>
              <a:round/>
            </a:ln>
            <a:effectLst/>
          </c:spPr>
          <c:marker>
            <c:symbol val="circle"/>
            <c:size val="5"/>
            <c:spPr>
              <a:solidFill>
                <a:schemeClr val="accent3"/>
              </a:solidFill>
              <a:ln w="9525">
                <a:solidFill>
                  <a:schemeClr val="accent3"/>
                </a:solidFill>
              </a:ln>
              <a:effectLst/>
            </c:spPr>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9B46-4860-898B-31C759875D3E}"/>
            </c:ext>
          </c:extLst>
        </c:ser>
        <c:dLbls>
          <c:showLegendKey val="0"/>
          <c:showVal val="0"/>
          <c:showCatName val="0"/>
          <c:showSerName val="0"/>
          <c:showPercent val="0"/>
          <c:showBubbleSize val="0"/>
        </c:dLbls>
        <c:marker val="1"/>
        <c:smooth val="0"/>
        <c:axId val="558095712"/>
        <c:axId val="263011712"/>
      </c:lineChart>
      <c:catAx>
        <c:axId val="5580957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63011712"/>
        <c:crosses val="autoZero"/>
        <c:auto val="1"/>
        <c:lblAlgn val="ctr"/>
        <c:lblOffset val="100"/>
        <c:noMultiLvlLbl val="0"/>
      </c:catAx>
      <c:valAx>
        <c:axId val="2630117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558095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EFA-4549-80DA-059ED84C391E}"/>
            </c:ext>
          </c:extLst>
        </c:ser>
        <c:ser>
          <c:idx val="1"/>
          <c:order val="1"/>
          <c:tx>
            <c:strRef>
              <c:f>Sheet1!$C$1</c:f>
              <c:strCache>
                <c:ptCount val="1"/>
                <c:pt idx="0">
                  <c:v>系列 2</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6EFA-4549-80DA-059ED84C391E}"/>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4FBAFF"/>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6EFA-4549-80DA-059ED84C391E}"/>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zh-CN" sz="186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barChart>
        <c:barDir val="col"/>
        <c:grouping val="clustered"/>
        <c:varyColors val="0"/>
        <c:ser>
          <c:idx val="0"/>
          <c:order val="0"/>
          <c:tx>
            <c:strRef>
              <c:f>Sheet1!$B$1</c:f>
              <c:strCache>
                <c:ptCount val="1"/>
                <c:pt idx="0">
                  <c:v>系列 1</c:v>
                </c:pt>
              </c:strCache>
            </c:strRef>
          </c:tx>
          <c:spPr>
            <a:solidFill>
              <a:srgbClr val="0089FF"/>
            </a:solidFill>
            <a:ln>
              <a:solidFill>
                <a:srgbClr val="0089FF"/>
              </a:solid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0558-4179-AFC5-874636C9BF6A}"/>
            </c:ext>
          </c:extLst>
        </c:ser>
        <c:ser>
          <c:idx val="1"/>
          <c:order val="1"/>
          <c:tx>
            <c:strRef>
              <c:f>Sheet1!$C$1</c:f>
              <c:strCache>
                <c:ptCount val="1"/>
                <c:pt idx="0">
                  <c:v>系列 2</c:v>
                </c:pt>
              </c:strCache>
            </c:strRef>
          </c:tx>
          <c:spPr>
            <a:solidFill>
              <a:srgbClr val="8FD6FF"/>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0558-4179-AFC5-874636C9BF6A}"/>
            </c:ext>
          </c:extLst>
        </c:ser>
        <c:dLbls>
          <c:showLegendKey val="0"/>
          <c:showVal val="0"/>
          <c:showCatName val="0"/>
          <c:showSerName val="0"/>
          <c:showPercent val="0"/>
          <c:showBubbleSize val="0"/>
        </c:dLbls>
        <c:gapWidth val="150"/>
        <c:axId val="2144267487"/>
        <c:axId val="2143833599"/>
      </c:barChart>
      <c:lineChart>
        <c:grouping val="standard"/>
        <c:varyColors val="0"/>
        <c:ser>
          <c:idx val="2"/>
          <c:order val="2"/>
          <c:tx>
            <c:strRef>
              <c:f>Sheet1!$D$1</c:f>
              <c:strCache>
                <c:ptCount val="1"/>
                <c:pt idx="0">
                  <c:v>系列 3</c:v>
                </c:pt>
              </c:strCache>
            </c:strRef>
          </c:tx>
          <c:spPr>
            <a:ln w="28575" cap="rnd">
              <a:solidFill>
                <a:srgbClr val="124796"/>
              </a:solidFill>
              <a:round/>
            </a:ln>
            <a:effectLst/>
          </c:spPr>
          <c:marker>
            <c:symbol val="none"/>
          </c:marker>
          <c:cat>
            <c:strRef>
              <c:f>Sheet1!$A$2:$A$5</c:f>
              <c:strCache>
                <c:ptCount val="4"/>
                <c:pt idx="0">
                  <c:v>类别 1</c:v>
                </c:pt>
                <c:pt idx="1">
                  <c:v>类别 2</c:v>
                </c:pt>
                <c:pt idx="2">
                  <c:v>类别 3</c:v>
                </c:pt>
                <c:pt idx="3">
                  <c:v>类别 4</c:v>
                </c:pt>
              </c:strCache>
            </c:strRef>
          </c:cat>
          <c:val>
            <c:numRef>
              <c:f>Sheet1!$D$2:$D$5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0558-4179-AFC5-874636C9BF6A}"/>
            </c:ext>
          </c:extLst>
        </c:ser>
        <c:dLbls>
          <c:showLegendKey val="0"/>
          <c:showVal val="0"/>
          <c:showCatName val="0"/>
          <c:showSerName val="0"/>
          <c:showPercent val="0"/>
          <c:showBubbleSize val="0"/>
        </c:dLbls>
        <c:marker val="1"/>
        <c:smooth val="0"/>
        <c:axId val="18592992"/>
        <c:axId val="2142807919"/>
      </c:lineChart>
      <c:catAx>
        <c:axId val="21442674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3833599"/>
        <c:crosses val="autoZero"/>
        <c:auto val="1"/>
        <c:lblAlgn val="ctr"/>
        <c:lblOffset val="100"/>
        <c:noMultiLvlLbl val="0"/>
      </c:catAx>
      <c:valAx>
        <c:axId val="21438335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2144267487"/>
        <c:crosses val="autoZero"/>
        <c:crossBetween val="between"/>
      </c:valAx>
      <c:catAx>
        <c:axId val="18592992"/>
        <c:scaling>
          <c:orientation val="minMax"/>
        </c:scaling>
        <c:delete val="1"/>
        <c:axPos val="b"/>
        <c:numFmt formatCode="General" sourceLinked="1"/>
        <c:majorTickMark val="none"/>
        <c:minorTickMark val="none"/>
        <c:tickLblPos val="nextTo"/>
        <c:crossAx val="2142807919"/>
        <c:crosses val="autoZero"/>
        <c:auto val="1"/>
        <c:lblAlgn val="ctr"/>
        <c:lblOffset val="100"/>
        <c:noMultiLvlLbl val="0"/>
      </c:catAx>
      <c:valAx>
        <c:axId val="2142807919"/>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crossAx val="18592992"/>
        <c:crosses val="max"/>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lang="zh-CN" sz="1195"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6D8963-CFCD-4740-AF60-049850373CDF}" type="datetimeFigureOut">
              <a:rPr lang="zh-CN" altLang="en-US" smtClean="0"/>
              <a:t>2026/3/26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9E6FDB6-6D2B-46C1-9FA1-D82906A37C3A}"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5</a:t>
            </a:fld>
            <a:endParaRPr lang="zh-CN" altLang="en-US"/>
          </a:p>
        </p:txBody>
      </p:sp>
    </p:spTree>
    <p:extLst>
      <p:ext uri="{BB962C8B-B14F-4D97-AF65-F5344CB8AC3E}">
        <p14:creationId xmlns:p14="http://schemas.microsoft.com/office/powerpoint/2010/main" val="39623123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12</a:t>
            </a:fld>
            <a:endParaRPr lang="zh-CN" altLang="en-US"/>
          </a:p>
        </p:txBody>
      </p:sp>
    </p:spTree>
    <p:extLst>
      <p:ext uri="{BB962C8B-B14F-4D97-AF65-F5344CB8AC3E}">
        <p14:creationId xmlns:p14="http://schemas.microsoft.com/office/powerpoint/2010/main" val="4816853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23</a:t>
            </a:fld>
            <a:endParaRPr lang="zh-CN" altLang="en-US"/>
          </a:p>
        </p:txBody>
      </p:sp>
    </p:spTree>
    <p:extLst>
      <p:ext uri="{BB962C8B-B14F-4D97-AF65-F5344CB8AC3E}">
        <p14:creationId xmlns:p14="http://schemas.microsoft.com/office/powerpoint/2010/main" val="26173448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26</a:t>
            </a:fld>
            <a:endParaRPr lang="zh-CN" altLang="en-US"/>
          </a:p>
        </p:txBody>
      </p:sp>
    </p:spTree>
    <p:extLst>
      <p:ext uri="{BB962C8B-B14F-4D97-AF65-F5344CB8AC3E}">
        <p14:creationId xmlns:p14="http://schemas.microsoft.com/office/powerpoint/2010/main" val="3040266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9E6FDB6-6D2B-46C1-9FA1-D82906A37C3A}" type="slidenum">
              <a:rPr lang="zh-CN" altLang="en-US" smtClean="0"/>
              <a:t>30</a:t>
            </a:fld>
            <a:endParaRPr lang="zh-CN" altLang="en-US"/>
          </a:p>
        </p:txBody>
      </p:sp>
    </p:spTree>
    <p:extLst>
      <p:ext uri="{BB962C8B-B14F-4D97-AF65-F5344CB8AC3E}">
        <p14:creationId xmlns:p14="http://schemas.microsoft.com/office/powerpoint/2010/main" val="38528340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Master" Target="../slideMasters/slideMaster1.xml"/><Relationship Id="rId4" Type="http://schemas.openxmlformats.org/officeDocument/2006/relationships/chart" Target="../charts/chart5.xml"/></Relationships>
</file>

<file path=ppt/slideLayouts/_rels/slideLayout24.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chart" Target="../charts/chart13.xml"/><Relationship Id="rId1" Type="http://schemas.openxmlformats.org/officeDocument/2006/relationships/slideMaster" Target="../slideMasters/slideMaster2.xml"/><Relationship Id="rId4" Type="http://schemas.openxmlformats.org/officeDocument/2006/relationships/chart" Target="../charts/chart15.xml"/></Relationships>
</file>

<file path=ppt/slideLayouts/_rels/slideLayout53.xml.rels><?xml version="1.0" encoding="UTF-8" standalone="yes"?>
<Relationships xmlns="http://schemas.openxmlformats.org/package/2006/relationships"><Relationship Id="rId2" Type="http://schemas.openxmlformats.org/officeDocument/2006/relationships/chart" Target="../charts/chart16.xml"/><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chart" Target="../charts/chart17.xml"/><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chart" Target="../charts/chart19.xml"/><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chart" Target="../charts/chart21.xml"/><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chart" Target="../charts/chart23.xml"/><Relationship Id="rId1" Type="http://schemas.openxmlformats.org/officeDocument/2006/relationships/slideMaster" Target="../slideMasters/slideMaster3.xml"/><Relationship Id="rId4" Type="http://schemas.openxmlformats.org/officeDocument/2006/relationships/chart" Target="../charts/chart25.xml"/></Relationships>
</file>

<file path=ppt/slideLayouts/_rels/slideLayout82.xml.rels><?xml version="1.0" encoding="UTF-8" standalone="yes"?>
<Relationships xmlns="http://schemas.openxmlformats.org/package/2006/relationships"><Relationship Id="rId2" Type="http://schemas.openxmlformats.org/officeDocument/2006/relationships/chart" Target="../charts/chart26.xml"/><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3" Type="http://schemas.openxmlformats.org/officeDocument/2006/relationships/chart" Target="../charts/chart28.xml"/><Relationship Id="rId2" Type="http://schemas.openxmlformats.org/officeDocument/2006/relationships/chart" Target="../charts/chart27.xml"/><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chart" Target="../charts/chart29.xml"/><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4.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4.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4.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5.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9.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chart" Target="../charts/chart31.xml"/><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3" Type="http://schemas.openxmlformats.org/officeDocument/2006/relationships/chart" Target="../charts/chart34.xml"/><Relationship Id="rId2" Type="http://schemas.openxmlformats.org/officeDocument/2006/relationships/chart" Target="../charts/chart33.xml"/><Relationship Id="rId1" Type="http://schemas.openxmlformats.org/officeDocument/2006/relationships/slideMaster" Target="../slideMasters/slideMaster4.xml"/><Relationship Id="rId4" Type="http://schemas.openxmlformats.org/officeDocument/2006/relationships/chart" Target="../charts/chart35.xml"/></Relationships>
</file>

<file path=ppt/slideLayouts/_rels/slideLayout111.xml.rels><?xml version="1.0" encoding="UTF-8" standalone="yes"?>
<Relationships xmlns="http://schemas.openxmlformats.org/package/2006/relationships"><Relationship Id="rId2" Type="http://schemas.openxmlformats.org/officeDocument/2006/relationships/chart" Target="../charts/chart36.xml"/><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3" Type="http://schemas.openxmlformats.org/officeDocument/2006/relationships/chart" Target="../charts/chart38.xml"/><Relationship Id="rId2" Type="http://schemas.openxmlformats.org/officeDocument/2006/relationships/chart" Target="../charts/chart37.xml"/><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3" Type="http://schemas.openxmlformats.org/officeDocument/2006/relationships/chart" Target="../charts/chart40.xml"/><Relationship Id="rId2" Type="http://schemas.openxmlformats.org/officeDocument/2006/relationships/chart" Target="../charts/chart39.xml"/><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5.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5.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2.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6.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7.xml.rels><?xml version="1.0" encoding="UTF-8" standalone="yes"?>
<Relationships xmlns="http://schemas.openxmlformats.org/package/2006/relationships"><Relationship Id="rId3" Type="http://schemas.openxmlformats.org/officeDocument/2006/relationships/chart" Target="../charts/chart42.xml"/><Relationship Id="rId2" Type="http://schemas.openxmlformats.org/officeDocument/2006/relationships/chart" Target="../charts/chart41.xml"/><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3" Type="http://schemas.openxmlformats.org/officeDocument/2006/relationships/chart" Target="../charts/chart44.xml"/><Relationship Id="rId2" Type="http://schemas.openxmlformats.org/officeDocument/2006/relationships/chart" Target="../charts/chart43.xml"/><Relationship Id="rId1" Type="http://schemas.openxmlformats.org/officeDocument/2006/relationships/slideMaster" Target="../slideMasters/slideMaster5.xml"/><Relationship Id="rId4" Type="http://schemas.openxmlformats.org/officeDocument/2006/relationships/chart" Target="../charts/chart45.xml"/></Relationships>
</file>

<file path=ppt/slideLayouts/_rels/slideLayout139.xml.rels><?xml version="1.0" encoding="UTF-8" standalone="yes"?>
<Relationships xmlns="http://schemas.openxmlformats.org/package/2006/relationships"><Relationship Id="rId2" Type="http://schemas.openxmlformats.org/officeDocument/2006/relationships/chart" Target="../charts/chart46.xml"/><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3" Type="http://schemas.openxmlformats.org/officeDocument/2006/relationships/chart" Target="../charts/chart48.xml"/><Relationship Id="rId2" Type="http://schemas.openxmlformats.org/officeDocument/2006/relationships/chart" Target="../charts/chart47.xml"/><Relationship Id="rId1" Type="http://schemas.openxmlformats.org/officeDocument/2006/relationships/slideMaster" Target="../slideMasters/slideMaster5.xml"/></Relationships>
</file>

<file path=ppt/slideLayouts/_rels/slideLayout141.xml.rels><?xml version="1.0" encoding="UTF-8" standalone="yes"?>
<Relationships xmlns="http://schemas.openxmlformats.org/package/2006/relationships"><Relationship Id="rId3" Type="http://schemas.openxmlformats.org/officeDocument/2006/relationships/chart" Target="../charts/chart50.xml"/><Relationship Id="rId2" Type="http://schemas.openxmlformats.org/officeDocument/2006/relationships/chart" Target="../charts/chart49.xml"/><Relationship Id="rId1" Type="http://schemas.openxmlformats.org/officeDocument/2006/relationships/slideMaster" Target="../slideMasters/slideMaster5.xml"/></Relationships>
</file>

<file path=ppt/slideLayouts/_rels/slideLayout1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5.xml"/><Relationship Id="rId5" Type="http://schemas.openxmlformats.org/officeDocument/2006/relationships/image" Target="../media/image12.svg"/><Relationship Id="rId4" Type="http://schemas.openxmlformats.org/officeDocument/2006/relationships/image" Target="../media/image11.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5">
                                            <p:graphicEl>
                                              <a:chart seriesIdx="-3" categoryIdx="-3" bldStep="gridLegend"/>
                                            </p:graphicEl>
                                          </p:spTgt>
                                        </p:tgtEl>
                                        <p:attrNameLst>
                                          <p:attrName>style.visibility</p:attrName>
                                        </p:attrNameLst>
                                      </p:cBhvr>
                                      <p:to>
                                        <p:strVal val="visible"/>
                                      </p:to>
                                    </p:set>
                                    <p:animEffect transition="in" filter="wipe(down)">
                                      <p:cBhvr>
                                        <p:cTn id="7" dur="500"/>
                                        <p:tgtEl>
                                          <p:spTgt spid="5">
                                            <p:graphicEl>
                                              <a:chart seriesIdx="-3" categoryIdx="-3" bldStep="gridLegend"/>
                                            </p:graphicEl>
                                          </p:spTgt>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5">
                                            <p:graphicEl>
                                              <a:chart seriesIdx="-4" categoryIdx="0" bldStep="category"/>
                                            </p:graphicEl>
                                          </p:spTgt>
                                        </p:tgtEl>
                                        <p:attrNameLst>
                                          <p:attrName>style.visibility</p:attrName>
                                        </p:attrNameLst>
                                      </p:cBhvr>
                                      <p:to>
                                        <p:strVal val="visible"/>
                                      </p:to>
                                    </p:set>
                                    <p:animEffect transition="in" filter="wipe(down)">
                                      <p:cBhvr>
                                        <p:cTn id="11" dur="500"/>
                                        <p:tgtEl>
                                          <p:spTgt spid="5">
                                            <p:graphicEl>
                                              <a:chart seriesIdx="-4" categoryIdx="0" bldStep="category"/>
                                            </p:graphicEl>
                                          </p:spTgt>
                                        </p:tgtEl>
                                      </p:cBhvr>
                                    </p:animEffect>
                                  </p:childTnLst>
                                </p:cTn>
                              </p:par>
                            </p:childTnLst>
                          </p:cTn>
                        </p:par>
                        <p:par>
                          <p:cTn id="12" fill="hold">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5">
                                            <p:graphicEl>
                                              <a:chart seriesIdx="-4" categoryIdx="1" bldStep="category"/>
                                            </p:graphicEl>
                                          </p:spTgt>
                                        </p:tgtEl>
                                        <p:attrNameLst>
                                          <p:attrName>style.visibility</p:attrName>
                                        </p:attrNameLst>
                                      </p:cBhvr>
                                      <p:to>
                                        <p:strVal val="visible"/>
                                      </p:to>
                                    </p:set>
                                    <p:animEffect transition="in" filter="wipe(down)">
                                      <p:cBhvr>
                                        <p:cTn id="15" dur="500"/>
                                        <p:tgtEl>
                                          <p:spTgt spid="5">
                                            <p:graphicEl>
                                              <a:chart seriesIdx="-4" categoryIdx="1" bldStep="category"/>
                                            </p:graphicEl>
                                          </p:spTgt>
                                        </p:tgtEl>
                                      </p:cBhvr>
                                    </p:animEffect>
                                  </p:childTnLst>
                                </p:cTn>
                              </p:par>
                            </p:childTnLst>
                          </p:cTn>
                        </p:par>
                        <p:par>
                          <p:cTn id="16" fill="hold">
                            <p:stCondLst>
                              <p:cond delay="1500"/>
                            </p:stCondLst>
                            <p:childTnLst>
                              <p:par>
                                <p:cTn id="17" presetID="22" presetClass="entr" presetSubtype="4" fill="hold" grpId="0" nodeType="afterEffect">
                                  <p:stCondLst>
                                    <p:cond delay="0"/>
                                  </p:stCondLst>
                                  <p:childTnLst>
                                    <p:set>
                                      <p:cBhvr>
                                        <p:cTn id="18" dur="1" fill="hold">
                                          <p:stCondLst>
                                            <p:cond delay="0"/>
                                          </p:stCondLst>
                                        </p:cTn>
                                        <p:tgtEl>
                                          <p:spTgt spid="5">
                                            <p:graphicEl>
                                              <a:chart seriesIdx="-4" categoryIdx="2" bldStep="category"/>
                                            </p:graphicEl>
                                          </p:spTgt>
                                        </p:tgtEl>
                                        <p:attrNameLst>
                                          <p:attrName>style.visibility</p:attrName>
                                        </p:attrNameLst>
                                      </p:cBhvr>
                                      <p:to>
                                        <p:strVal val="visible"/>
                                      </p:to>
                                    </p:set>
                                    <p:animEffect transition="in" filter="wipe(down)">
                                      <p:cBhvr>
                                        <p:cTn id="19" dur="500"/>
                                        <p:tgtEl>
                                          <p:spTgt spid="5">
                                            <p:graphicEl>
                                              <a:chart seriesIdx="-4" categoryIdx="2" bldStep="category"/>
                                            </p:graphicEl>
                                          </p:spTgt>
                                        </p:tgtEl>
                                      </p:cBhvr>
                                    </p:animEffect>
                                  </p:childTnLst>
                                </p:cTn>
                              </p:par>
                            </p:childTnLst>
                          </p:cTn>
                        </p:par>
                        <p:par>
                          <p:cTn id="20" fill="hold">
                            <p:stCondLst>
                              <p:cond delay="2000"/>
                            </p:stCondLst>
                            <p:childTnLst>
                              <p:par>
                                <p:cTn id="21" presetID="22" presetClass="entr" presetSubtype="4" fill="hold" grpId="0" nodeType="afterEffect">
                                  <p:stCondLst>
                                    <p:cond delay="0"/>
                                  </p:stCondLst>
                                  <p:childTnLst>
                                    <p:set>
                                      <p:cBhvr>
                                        <p:cTn id="22" dur="1" fill="hold">
                                          <p:stCondLst>
                                            <p:cond delay="0"/>
                                          </p:stCondLst>
                                        </p:cTn>
                                        <p:tgtEl>
                                          <p:spTgt spid="5">
                                            <p:graphicEl>
                                              <a:chart seriesIdx="-4" categoryIdx="3" bldStep="category"/>
                                            </p:graphicEl>
                                          </p:spTgt>
                                        </p:tgtEl>
                                        <p:attrNameLst>
                                          <p:attrName>style.visibility</p:attrName>
                                        </p:attrNameLst>
                                      </p:cBhvr>
                                      <p:to>
                                        <p:strVal val="visible"/>
                                      </p:to>
                                    </p:set>
                                    <p:animEffect transition="in" filter="wipe(down)">
                                      <p:cBhvr>
                                        <p:cTn id="23" dur="500"/>
                                        <p:tgtEl>
                                          <p:spTgt spid="5">
                                            <p:graphicEl>
                                              <a:chart seriesIdx="-4" categoryIdx="3" bldStep="category"/>
                                            </p:graphicEl>
                                          </p:spTgt>
                                        </p:tgtEl>
                                      </p:cBhvr>
                                    </p:animEffect>
                                  </p:childTnLst>
                                </p:cTn>
                              </p:par>
                            </p:childTnLst>
                          </p:cTn>
                        </p:par>
                        <p:par>
                          <p:cTn id="24" fill="hold">
                            <p:stCondLst>
                              <p:cond delay="2500"/>
                            </p:stCondLst>
                            <p:childTnLst>
                              <p:par>
                                <p:cTn id="25" presetID="22" presetClass="entr" presetSubtype="4" fill="hold" grpId="0" nodeType="afterEffect">
                                  <p:stCondLst>
                                    <p:cond delay="0"/>
                                  </p:stCondLst>
                                  <p:childTnLst>
                                    <p:set>
                                      <p:cBhvr>
                                        <p:cTn id="26" dur="1" fill="hold">
                                          <p:stCondLst>
                                            <p:cond delay="0"/>
                                          </p:stCondLst>
                                        </p:cTn>
                                        <p:tgtEl>
                                          <p:spTgt spid="7">
                                            <p:graphicEl>
                                              <a:chart seriesIdx="-3" categoryIdx="-3" bldStep="gridLegend"/>
                                            </p:graphicEl>
                                          </p:spTgt>
                                        </p:tgtEl>
                                        <p:attrNameLst>
                                          <p:attrName>style.visibility</p:attrName>
                                        </p:attrNameLst>
                                      </p:cBhvr>
                                      <p:to>
                                        <p:strVal val="visible"/>
                                      </p:to>
                                    </p:set>
                                    <p:animEffect transition="in" filter="wipe(down)">
                                      <p:cBhvr>
                                        <p:cTn id="27" dur="500"/>
                                        <p:tgtEl>
                                          <p:spTgt spid="7">
                                            <p:graphicEl>
                                              <a:chart seriesIdx="-3" categoryIdx="-3" bldStep="gridLegend"/>
                                            </p:graphicEl>
                                          </p:spTgt>
                                        </p:tgtEl>
                                      </p:cBhvr>
                                    </p:animEffect>
                                  </p:childTnLst>
                                </p:cTn>
                              </p:par>
                            </p:childTnLst>
                          </p:cTn>
                        </p:par>
                        <p:par>
                          <p:cTn id="28" fill="hold">
                            <p:stCondLst>
                              <p:cond delay="3000"/>
                            </p:stCondLst>
                            <p:childTnLst>
                              <p:par>
                                <p:cTn id="29" presetID="22" presetClass="entr" presetSubtype="4" fill="hold" grpId="0" nodeType="afterEffect">
                                  <p:stCondLst>
                                    <p:cond delay="0"/>
                                  </p:stCondLst>
                                  <p:childTnLst>
                                    <p:set>
                                      <p:cBhvr>
                                        <p:cTn id="30" dur="1" fill="hold">
                                          <p:stCondLst>
                                            <p:cond delay="0"/>
                                          </p:stCondLst>
                                        </p:cTn>
                                        <p:tgtEl>
                                          <p:spTgt spid="7">
                                            <p:graphicEl>
                                              <a:chart seriesIdx="-4" categoryIdx="0" bldStep="category"/>
                                            </p:graphicEl>
                                          </p:spTgt>
                                        </p:tgtEl>
                                        <p:attrNameLst>
                                          <p:attrName>style.visibility</p:attrName>
                                        </p:attrNameLst>
                                      </p:cBhvr>
                                      <p:to>
                                        <p:strVal val="visible"/>
                                      </p:to>
                                    </p:set>
                                    <p:animEffect transition="in" filter="wipe(down)">
                                      <p:cBhvr>
                                        <p:cTn id="31" dur="500"/>
                                        <p:tgtEl>
                                          <p:spTgt spid="7">
                                            <p:graphicEl>
                                              <a:chart seriesIdx="-4" categoryIdx="0" bldStep="category"/>
                                            </p:graphicEl>
                                          </p:spTgt>
                                        </p:tgtEl>
                                      </p:cBhvr>
                                    </p:animEffect>
                                  </p:childTnLst>
                                </p:cTn>
                              </p:par>
                            </p:childTnLst>
                          </p:cTn>
                        </p:par>
                        <p:par>
                          <p:cTn id="32" fill="hold">
                            <p:stCondLst>
                              <p:cond delay="3500"/>
                            </p:stCondLst>
                            <p:childTnLst>
                              <p:par>
                                <p:cTn id="33" presetID="22" presetClass="entr" presetSubtype="4" fill="hold" grpId="0" nodeType="afterEffect">
                                  <p:stCondLst>
                                    <p:cond delay="0"/>
                                  </p:stCondLst>
                                  <p:childTnLst>
                                    <p:set>
                                      <p:cBhvr>
                                        <p:cTn id="34" dur="1" fill="hold">
                                          <p:stCondLst>
                                            <p:cond delay="0"/>
                                          </p:stCondLst>
                                        </p:cTn>
                                        <p:tgtEl>
                                          <p:spTgt spid="7">
                                            <p:graphicEl>
                                              <a:chart seriesIdx="-4" categoryIdx="1" bldStep="category"/>
                                            </p:graphicEl>
                                          </p:spTgt>
                                        </p:tgtEl>
                                        <p:attrNameLst>
                                          <p:attrName>style.visibility</p:attrName>
                                        </p:attrNameLst>
                                      </p:cBhvr>
                                      <p:to>
                                        <p:strVal val="visible"/>
                                      </p:to>
                                    </p:set>
                                    <p:animEffect transition="in" filter="wipe(down)">
                                      <p:cBhvr>
                                        <p:cTn id="35" dur="500"/>
                                        <p:tgtEl>
                                          <p:spTgt spid="7">
                                            <p:graphicEl>
                                              <a:chart seriesIdx="-4" categoryIdx="1" bldStep="category"/>
                                            </p:graphicEl>
                                          </p:spTgt>
                                        </p:tgtEl>
                                      </p:cBhvr>
                                    </p:animEffect>
                                  </p:childTnLst>
                                </p:cTn>
                              </p:par>
                            </p:childTnLst>
                          </p:cTn>
                        </p:par>
                        <p:par>
                          <p:cTn id="36" fill="hold">
                            <p:stCondLst>
                              <p:cond delay="4000"/>
                            </p:stCondLst>
                            <p:childTnLst>
                              <p:par>
                                <p:cTn id="37" presetID="22" presetClass="entr" presetSubtype="4" fill="hold" grpId="0" nodeType="afterEffect">
                                  <p:stCondLst>
                                    <p:cond delay="0"/>
                                  </p:stCondLst>
                                  <p:childTnLst>
                                    <p:set>
                                      <p:cBhvr>
                                        <p:cTn id="38" dur="1" fill="hold">
                                          <p:stCondLst>
                                            <p:cond delay="0"/>
                                          </p:stCondLst>
                                        </p:cTn>
                                        <p:tgtEl>
                                          <p:spTgt spid="7">
                                            <p:graphicEl>
                                              <a:chart seriesIdx="-4" categoryIdx="2" bldStep="category"/>
                                            </p:graphicEl>
                                          </p:spTgt>
                                        </p:tgtEl>
                                        <p:attrNameLst>
                                          <p:attrName>style.visibility</p:attrName>
                                        </p:attrNameLst>
                                      </p:cBhvr>
                                      <p:to>
                                        <p:strVal val="visible"/>
                                      </p:to>
                                    </p:set>
                                    <p:animEffect transition="in" filter="wipe(down)">
                                      <p:cBhvr>
                                        <p:cTn id="39" dur="500"/>
                                        <p:tgtEl>
                                          <p:spTgt spid="7">
                                            <p:graphicEl>
                                              <a:chart seriesIdx="-4" categoryIdx="2" bldStep="category"/>
                                            </p:graphicEl>
                                          </p:spTgt>
                                        </p:tgtEl>
                                      </p:cBhvr>
                                    </p:animEffect>
                                  </p:childTnLst>
                                </p:cTn>
                              </p:par>
                            </p:childTnLst>
                          </p:cTn>
                        </p:par>
                        <p:par>
                          <p:cTn id="40" fill="hold">
                            <p:stCondLst>
                              <p:cond delay="4500"/>
                            </p:stCondLst>
                            <p:childTnLst>
                              <p:par>
                                <p:cTn id="41" presetID="22" presetClass="entr" presetSubtype="4" fill="hold" grpId="0" nodeType="afterEffect">
                                  <p:stCondLst>
                                    <p:cond delay="0"/>
                                  </p:stCondLst>
                                  <p:childTnLst>
                                    <p:set>
                                      <p:cBhvr>
                                        <p:cTn id="42" dur="1" fill="hold">
                                          <p:stCondLst>
                                            <p:cond delay="0"/>
                                          </p:stCondLst>
                                        </p:cTn>
                                        <p:tgtEl>
                                          <p:spTgt spid="7">
                                            <p:graphicEl>
                                              <a:chart seriesIdx="-4" categoryIdx="3" bldStep="category"/>
                                            </p:graphicEl>
                                          </p:spTgt>
                                        </p:tgtEl>
                                        <p:attrNameLst>
                                          <p:attrName>style.visibility</p:attrName>
                                        </p:attrNameLst>
                                      </p:cBhvr>
                                      <p:to>
                                        <p:strVal val="visible"/>
                                      </p:to>
                                    </p:set>
                                    <p:animEffect transition="in" filter="wipe(down)">
                                      <p:cBhvr>
                                        <p:cTn id="43" dur="500"/>
                                        <p:tgtEl>
                                          <p:spTgt spid="7">
                                            <p:graphicEl>
                                              <a:chart seriesIdx="-4" categoryIdx="3" bldStep="category"/>
                                            </p:graphicEl>
                                          </p:spTgt>
                                        </p:tgtEl>
                                      </p:cBhvr>
                                    </p:animEffect>
                                  </p:childTnLst>
                                </p:cTn>
                              </p:par>
                            </p:childTnLst>
                          </p:cTn>
                        </p:par>
                        <p:par>
                          <p:cTn id="44" fill="hold">
                            <p:stCondLst>
                              <p:cond delay="5000"/>
                            </p:stCondLst>
                            <p:childTnLst>
                              <p:par>
                                <p:cTn id="45" presetID="22" presetClass="entr" presetSubtype="4" fill="hold" grpId="0" nodeType="afterEffect">
                                  <p:stCondLst>
                                    <p:cond delay="0"/>
                                  </p:stCondLst>
                                  <p:childTnLst>
                                    <p:set>
                                      <p:cBhvr>
                                        <p:cTn id="46" dur="1" fill="hold">
                                          <p:stCondLst>
                                            <p:cond delay="0"/>
                                          </p:stCondLst>
                                        </p:cTn>
                                        <p:tgtEl>
                                          <p:spTgt spid="8">
                                            <p:graphicEl>
                                              <a:chart seriesIdx="-3" categoryIdx="-3" bldStep="gridLegend"/>
                                            </p:graphicEl>
                                          </p:spTgt>
                                        </p:tgtEl>
                                        <p:attrNameLst>
                                          <p:attrName>style.visibility</p:attrName>
                                        </p:attrNameLst>
                                      </p:cBhvr>
                                      <p:to>
                                        <p:strVal val="visible"/>
                                      </p:to>
                                    </p:set>
                                    <p:animEffect transition="in" filter="wipe(down)">
                                      <p:cBhvr>
                                        <p:cTn id="47" dur="500"/>
                                        <p:tgtEl>
                                          <p:spTgt spid="8">
                                            <p:graphicEl>
                                              <a:chart seriesIdx="-3" categoryIdx="-3" bldStep="gridLegend"/>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4" fill="hold" grpId="0" nodeType="clickEffect">
                                  <p:stCondLst>
                                    <p:cond delay="0"/>
                                  </p:stCondLst>
                                  <p:childTnLst>
                                    <p:set>
                                      <p:cBhvr>
                                        <p:cTn id="51" dur="1" fill="hold">
                                          <p:stCondLst>
                                            <p:cond delay="0"/>
                                          </p:stCondLst>
                                        </p:cTn>
                                        <p:tgtEl>
                                          <p:spTgt spid="8">
                                            <p:graphicEl>
                                              <a:chart seriesIdx="-4" categoryIdx="0" bldStep="category"/>
                                            </p:graphicEl>
                                          </p:spTgt>
                                        </p:tgtEl>
                                        <p:attrNameLst>
                                          <p:attrName>style.visibility</p:attrName>
                                        </p:attrNameLst>
                                      </p:cBhvr>
                                      <p:to>
                                        <p:strVal val="visible"/>
                                      </p:to>
                                    </p:set>
                                    <p:animEffect transition="in" filter="wipe(down)">
                                      <p:cBhvr>
                                        <p:cTn id="52" dur="500"/>
                                        <p:tgtEl>
                                          <p:spTgt spid="8">
                                            <p:graphicEl>
                                              <a:chart seriesIdx="-4" categoryIdx="0" bldStep="category"/>
                                            </p:graphic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4" fill="hold" grpId="0" nodeType="clickEffect">
                                  <p:stCondLst>
                                    <p:cond delay="0"/>
                                  </p:stCondLst>
                                  <p:childTnLst>
                                    <p:set>
                                      <p:cBhvr>
                                        <p:cTn id="56" dur="1" fill="hold">
                                          <p:stCondLst>
                                            <p:cond delay="0"/>
                                          </p:stCondLst>
                                        </p:cTn>
                                        <p:tgtEl>
                                          <p:spTgt spid="8">
                                            <p:graphicEl>
                                              <a:chart seriesIdx="-4" categoryIdx="1" bldStep="category"/>
                                            </p:graphicEl>
                                          </p:spTgt>
                                        </p:tgtEl>
                                        <p:attrNameLst>
                                          <p:attrName>style.visibility</p:attrName>
                                        </p:attrNameLst>
                                      </p:cBhvr>
                                      <p:to>
                                        <p:strVal val="visible"/>
                                      </p:to>
                                    </p:set>
                                    <p:animEffect transition="in" filter="wipe(down)">
                                      <p:cBhvr>
                                        <p:cTn id="57" dur="500"/>
                                        <p:tgtEl>
                                          <p:spTgt spid="8">
                                            <p:graphicEl>
                                              <a:chart seriesIdx="-4" categoryIdx="1" bldStep="category"/>
                                            </p:graphic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4" fill="hold" grpId="0" nodeType="clickEffect">
                                  <p:stCondLst>
                                    <p:cond delay="0"/>
                                  </p:stCondLst>
                                  <p:childTnLst>
                                    <p:set>
                                      <p:cBhvr>
                                        <p:cTn id="61" dur="1" fill="hold">
                                          <p:stCondLst>
                                            <p:cond delay="0"/>
                                          </p:stCondLst>
                                        </p:cTn>
                                        <p:tgtEl>
                                          <p:spTgt spid="8">
                                            <p:graphicEl>
                                              <a:chart seriesIdx="-4" categoryIdx="2" bldStep="category"/>
                                            </p:graphicEl>
                                          </p:spTgt>
                                        </p:tgtEl>
                                        <p:attrNameLst>
                                          <p:attrName>style.visibility</p:attrName>
                                        </p:attrNameLst>
                                      </p:cBhvr>
                                      <p:to>
                                        <p:strVal val="visible"/>
                                      </p:to>
                                    </p:set>
                                    <p:animEffect transition="in" filter="wipe(down)">
                                      <p:cBhvr>
                                        <p:cTn id="62" dur="500"/>
                                        <p:tgtEl>
                                          <p:spTgt spid="8">
                                            <p:graphicEl>
                                              <a:chart seriesIdx="-4" categoryIdx="2" bldStep="category"/>
                                            </p:graphic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4" fill="hold" grpId="0" nodeType="clickEffect">
                                  <p:stCondLst>
                                    <p:cond delay="0"/>
                                  </p:stCondLst>
                                  <p:childTnLst>
                                    <p:set>
                                      <p:cBhvr>
                                        <p:cTn id="66" dur="1" fill="hold">
                                          <p:stCondLst>
                                            <p:cond delay="0"/>
                                          </p:stCondLst>
                                        </p:cTn>
                                        <p:tgtEl>
                                          <p:spTgt spid="8">
                                            <p:graphicEl>
                                              <a:chart seriesIdx="-4" categoryIdx="3" bldStep="category"/>
                                            </p:graphicEl>
                                          </p:spTgt>
                                        </p:tgtEl>
                                        <p:attrNameLst>
                                          <p:attrName>style.visibility</p:attrName>
                                        </p:attrNameLst>
                                      </p:cBhvr>
                                      <p:to>
                                        <p:strVal val="visible"/>
                                      </p:to>
                                    </p:set>
                                    <p:animEffect transition="in" filter="wipe(down)">
                                      <p:cBhvr>
                                        <p:cTn id="67" dur="500"/>
                                        <p:tgtEl>
                                          <p:spTgt spid="8">
                                            <p:graphicEl>
                                              <a:chart seriesIdx="-4" categoryIdx="3" bldStep="category"/>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Sub>
          <a:bldChart bld="category"/>
        </p:bldSub>
      </p:bldGraphic>
      <p:bldGraphic spid="7" grpId="0">
        <p:bldSub>
          <a:bldChart bld="category"/>
        </p:bldSub>
      </p:bldGraphic>
      <p:bldGraphic spid="8" grpId="0">
        <p:bldSub>
          <a:bldChart bld="category"/>
        </p:bldSub>
      </p:bldGraphic>
    </p:bld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userDrawn="1">
  <p:cSld name="节标题">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0105" y="0"/>
            <a:ext cx="12272210" cy="6858000"/>
          </a:xfrm>
          <a:prstGeom prst="rect">
            <a:avLst/>
          </a:prstGeom>
        </p:spPr>
      </p:pic>
      <p:pic>
        <p:nvPicPr>
          <p:cNvPr id="13" name="图片 12"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1" name="文本占位符 30"/>
          <p:cNvSpPr>
            <a:spLocks noGrp="1"/>
          </p:cNvSpPr>
          <p:nvPr>
            <p:ph type="body" sz="quarter" idx="15" hasCustomPrompt="1"/>
          </p:nvPr>
        </p:nvSpPr>
        <p:spPr>
          <a:xfrm>
            <a:off x="3503042" y="3280927"/>
            <a:ext cx="5419184" cy="124535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2"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章节</a:t>
            </a:r>
            <a:r>
              <a:rPr kumimoji="1" lang="en-US" altLang="zh-CN" dirty="0"/>
              <a:t>1</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9182" y="670966"/>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1_封面">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42241" y="-359049"/>
            <a:ext cx="12426393" cy="7721750"/>
          </a:xfrm>
          <a:prstGeom prst="rect">
            <a:avLst/>
          </a:prstGeom>
        </p:spPr>
      </p:pic>
      <p:pic>
        <p:nvPicPr>
          <p:cNvPr id="39" name="图片 38" descr="logo"/>
          <p:cNvPicPr>
            <a:picLocks noChangeAspect="1"/>
          </p:cNvPicPr>
          <p:nvPr userDrawn="1"/>
        </p:nvPicPr>
        <p:blipFill>
          <a:blip r:embed="rId3"/>
          <a:stretch>
            <a:fillRect/>
          </a:stretch>
        </p:blipFill>
        <p:spPr>
          <a:xfrm>
            <a:off x="9628603" y="418510"/>
            <a:ext cx="1989632" cy="609029"/>
          </a:xfrm>
          <a:prstGeom prst="rect">
            <a:avLst/>
          </a:prstGeom>
        </p:spPr>
      </p:pic>
      <p:sp>
        <p:nvSpPr>
          <p:cNvPr id="19" name="文本占位符 30"/>
          <p:cNvSpPr>
            <a:spLocks noGrp="1"/>
          </p:cNvSpPr>
          <p:nvPr>
            <p:ph type="body" sz="quarter" idx="16" hasCustomPrompt="1"/>
          </p:nvPr>
        </p:nvSpPr>
        <p:spPr>
          <a:xfrm>
            <a:off x="3503042" y="2362138"/>
            <a:ext cx="5419184" cy="691633"/>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3400">
                <a:solidFill>
                  <a:srgbClr val="383736"/>
                </a:solidFill>
                <a:latin typeface="思源黑体 CN Normal" panose="020B0400000000000000" pitchFamily="34" charset="-128"/>
                <a:ea typeface="思源黑体 CN Normal" panose="020B0400000000000000" pitchFamily="34" charset="-128"/>
              </a:defRPr>
            </a:lvl1pPr>
          </a:lstStyle>
          <a:p>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
        <p:nvSpPr>
          <p:cNvPr id="18" name="文本占位符 30"/>
          <p:cNvSpPr>
            <a:spLocks noGrp="1"/>
          </p:cNvSpPr>
          <p:nvPr>
            <p:ph type="body" sz="quarter" idx="17" hasCustomPrompt="1"/>
          </p:nvPr>
        </p:nvSpPr>
        <p:spPr>
          <a:xfrm>
            <a:off x="3503042" y="3188690"/>
            <a:ext cx="5419184" cy="5318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2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宝兰德产品汇报</a:t>
            </a:r>
            <a:r>
              <a:rPr lang="en-US" altLang="zh-CN"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PPT</a:t>
            </a:r>
            <a:r>
              <a:rPr lang="zh-CN" altLang="en-US" dirty="0">
                <a:solidFill>
                  <a:schemeClr val="accent6">
                    <a:lumMod val="50000"/>
                  </a:schemeClr>
                </a:solidFill>
                <a:latin typeface="思源黑体 CN Normal" panose="020B0400000000000000" pitchFamily="34" charset="-128"/>
                <a:ea typeface="思源黑体 CN Normal" panose="020B0400000000000000" pitchFamily="34" charset="-128"/>
                <a:cs typeface="+mn-ea"/>
                <a:sym typeface="+mn-lt"/>
              </a:rPr>
              <a:t>模板</a:t>
            </a:r>
          </a:p>
        </p:txBody>
      </p:sp>
    </p:spTree>
  </p:cSld>
  <p:clrMapOvr>
    <a:overrideClrMapping bg1="lt1" tx1="dk1" bg2="lt2" tx2="dk2" accent1="accent1" accent2="accent2" accent3="accent3" accent4="accent4" accent5="accent5" accent6="accent6" hlink="hlink" folHlink="folHlink"/>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logo+标题">
    <p:spTree>
      <p:nvGrpSpPr>
        <p:cNvPr id="1" name=""/>
        <p:cNvGrpSpPr/>
        <p:nvPr/>
      </p:nvGrpSpPr>
      <p:grpSpPr>
        <a:xfrm>
          <a:off x="0" y="0"/>
          <a:ext cx="0" cy="0"/>
          <a:chOff x="0" y="0"/>
          <a:chExt cx="0" cy="0"/>
        </a:xfrm>
      </p:grpSpPr>
      <p:sp>
        <p:nvSpPr>
          <p:cNvPr id="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logo-无标题">
    <p:spTree>
      <p:nvGrpSpPr>
        <p:cNvPr id="1" name=""/>
        <p:cNvGrpSpPr/>
        <p:nvPr/>
      </p:nvGrpSpPr>
      <p:grpSpPr>
        <a:xfrm>
          <a:off x="0" y="0"/>
          <a:ext cx="0" cy="0"/>
          <a:chOff x="0" y="0"/>
          <a:chExt cx="0" cy="0"/>
        </a:xfrm>
      </p:grpSpPr>
      <p:pic>
        <p:nvPicPr>
          <p:cNvPr id="13" name="图片 12" descr="logo"/>
          <p:cNvPicPr>
            <a:picLocks noChangeAspect="1"/>
          </p:cNvPicPr>
          <p:nvPr userDrawn="1"/>
        </p:nvPicPr>
        <p:blipFill>
          <a:blip r:embed="rId2"/>
          <a:stretch>
            <a:fillRect/>
          </a:stretch>
        </p:blipFill>
        <p:spPr>
          <a:xfrm>
            <a:off x="9628603" y="418510"/>
            <a:ext cx="1989632" cy="609029"/>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showMasterSp="0" preserve="1" userDrawn="1">
  <p:cSld name="目录-3">
    <p:spTree>
      <p:nvGrpSpPr>
        <p:cNvPr id="1" name=""/>
        <p:cNvGrpSpPr/>
        <p:nvPr/>
      </p:nvGrpSpPr>
      <p:grpSpPr>
        <a:xfrm>
          <a:off x="0" y="0"/>
          <a:ext cx="0" cy="0"/>
          <a:chOff x="0" y="0"/>
          <a:chExt cx="0" cy="0"/>
        </a:xfrm>
      </p:grpSpPr>
      <p:cxnSp>
        <p:nvCxnSpPr>
          <p:cNvPr id="24"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pic>
        <p:nvPicPr>
          <p:cNvPr id="29" name="图片 28" descr="logo"/>
          <p:cNvPicPr>
            <a:picLocks noChangeAspect="1"/>
          </p:cNvPicPr>
          <p:nvPr userDrawn="1"/>
        </p:nvPicPr>
        <p:blipFill>
          <a:blip r:embed="rId2"/>
          <a:stretch>
            <a:fillRect/>
          </a:stretch>
        </p:blipFill>
        <p:spPr>
          <a:xfrm>
            <a:off x="9628603" y="418510"/>
            <a:ext cx="1989632" cy="609029"/>
          </a:xfrm>
          <a:prstGeom prst="rect">
            <a:avLst/>
          </a:prstGeom>
        </p:spPr>
      </p:pic>
      <p:sp>
        <p:nvSpPr>
          <p:cNvPr id="19" name="标题 1"/>
          <p:cNvSpPr>
            <a:spLocks noGrp="1"/>
          </p:cNvSpPr>
          <p:nvPr>
            <p:ph type="title" hasCustomPrompt="1"/>
          </p:nvPr>
        </p:nvSpPr>
        <p:spPr>
          <a:xfrm>
            <a:off x="6274805" y="1845063"/>
            <a:ext cx="4009526" cy="368433"/>
          </a:xfrm>
        </p:spPr>
        <p:txBody>
          <a:bodyPr/>
          <a:lstStyle>
            <a:lvl1pPr>
              <a:defRPr sz="2200" b="1"/>
            </a:lvl1pPr>
          </a:lstStyle>
          <a:p>
            <a:r>
              <a:rPr kumimoji="1" lang="zh-CN" altLang="en-US" dirty="0"/>
              <a:t>标题名称</a:t>
            </a:r>
          </a:p>
        </p:txBody>
      </p:sp>
      <p:sp>
        <p:nvSpPr>
          <p:cNvPr id="31" name="文本占位符 30"/>
          <p:cNvSpPr>
            <a:spLocks noGrp="1"/>
          </p:cNvSpPr>
          <p:nvPr>
            <p:ph type="body" sz="quarter" idx="10" hasCustomPrompt="1"/>
          </p:nvPr>
        </p:nvSpPr>
        <p:spPr>
          <a:xfrm>
            <a:off x="6275388" y="22983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274805" y="3565826"/>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275388" y="3070958"/>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274805" y="481436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275388" y="4334183"/>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5" name="iṣ1idé"/>
          <p:cNvSpPr/>
          <p:nvPr userDrawn="1"/>
        </p:nvSpPr>
        <p:spPr bwMode="auto">
          <a:xfrm>
            <a:off x="5274386" y="190991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6" name="ïṣlídé"/>
          <p:cNvSpPr/>
          <p:nvPr userDrawn="1"/>
        </p:nvSpPr>
        <p:spPr bwMode="auto">
          <a:xfrm>
            <a:off x="5292622" y="3122048"/>
            <a:ext cx="814372" cy="814373"/>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7" name="ïṥlíḋe"/>
          <p:cNvSpPr/>
          <p:nvPr userDrawn="1"/>
        </p:nvSpPr>
        <p:spPr bwMode="auto">
          <a:xfrm>
            <a:off x="5292622" y="4334183"/>
            <a:ext cx="814372" cy="814373"/>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文本占位符 30"/>
          <p:cNvSpPr>
            <a:spLocks noGrp="1"/>
          </p:cNvSpPr>
          <p:nvPr>
            <p:ph type="body" sz="quarter" idx="18" hasCustomPrompt="1"/>
          </p:nvPr>
        </p:nvSpPr>
        <p:spPr>
          <a:xfrm>
            <a:off x="5519738" y="2151918"/>
            <a:ext cx="323668" cy="3227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0" name="文本占位符 30"/>
          <p:cNvSpPr>
            <a:spLocks noGrp="1"/>
          </p:cNvSpPr>
          <p:nvPr>
            <p:ph type="body" sz="quarter" idx="19" hasCustomPrompt="1"/>
          </p:nvPr>
        </p:nvSpPr>
        <p:spPr>
          <a:xfrm>
            <a:off x="5537974" y="3373201"/>
            <a:ext cx="323668" cy="322764"/>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1" name="文本占位符 30"/>
          <p:cNvSpPr>
            <a:spLocks noGrp="1"/>
          </p:cNvSpPr>
          <p:nvPr>
            <p:ph type="body" sz="quarter" idx="20" hasCustomPrompt="1"/>
          </p:nvPr>
        </p:nvSpPr>
        <p:spPr>
          <a:xfrm>
            <a:off x="5537974" y="4582582"/>
            <a:ext cx="323668" cy="32832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showMasterSp="0" userDrawn="1">
  <p:cSld name="目录-4">
    <p:spTree>
      <p:nvGrpSpPr>
        <p:cNvPr id="1" name=""/>
        <p:cNvGrpSpPr/>
        <p:nvPr/>
      </p:nvGrpSpPr>
      <p:grpSpPr>
        <a:xfrm>
          <a:off x="0" y="0"/>
          <a:ext cx="0" cy="0"/>
          <a:chOff x="0" y="0"/>
          <a:chExt cx="0" cy="0"/>
        </a:xfrm>
      </p:grpSpPr>
      <p:pic>
        <p:nvPicPr>
          <p:cNvPr id="27" name="图片 26" descr="logo"/>
          <p:cNvPicPr>
            <a:picLocks noChangeAspect="1"/>
          </p:cNvPicPr>
          <p:nvPr userDrawn="1"/>
        </p:nvPicPr>
        <p:blipFill>
          <a:blip r:embed="rId2"/>
          <a:stretch>
            <a:fillRect/>
          </a:stretch>
        </p:blipFill>
        <p:spPr>
          <a:xfrm>
            <a:off x="9628603" y="418510"/>
            <a:ext cx="1989632" cy="609029"/>
          </a:xfrm>
          <a:prstGeom prst="rect">
            <a:avLst/>
          </a:prstGeom>
        </p:spPr>
      </p:pic>
      <p:cxnSp>
        <p:nvCxnSpPr>
          <p:cNvPr id="21"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1" name="标题 1"/>
          <p:cNvSpPr>
            <a:spLocks noGrp="1"/>
          </p:cNvSpPr>
          <p:nvPr>
            <p:ph type="title" hasCustomPrompt="1"/>
          </p:nvPr>
        </p:nvSpPr>
        <p:spPr>
          <a:xfrm>
            <a:off x="6300316" y="1340768"/>
            <a:ext cx="4009526" cy="368433"/>
          </a:xfrm>
        </p:spPr>
        <p:txBody>
          <a:bodyPr/>
          <a:lstStyle>
            <a:lvl1pPr>
              <a:defRPr sz="2200" b="1"/>
            </a:lvl1pPr>
          </a:lstStyle>
          <a:p>
            <a:r>
              <a:rPr kumimoji="1" lang="zh-CN" altLang="en-US" dirty="0"/>
              <a:t>标题名称</a:t>
            </a:r>
          </a:p>
        </p:txBody>
      </p:sp>
      <p:sp>
        <p:nvSpPr>
          <p:cNvPr id="32" name="文本占位符 30"/>
          <p:cNvSpPr>
            <a:spLocks noGrp="1"/>
          </p:cNvSpPr>
          <p:nvPr>
            <p:ph type="body" sz="quarter" idx="10" hasCustomPrompt="1"/>
          </p:nvPr>
        </p:nvSpPr>
        <p:spPr>
          <a:xfrm>
            <a:off x="6300899" y="1794031"/>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3" name="文本占位符 30"/>
          <p:cNvSpPr>
            <a:spLocks noGrp="1"/>
          </p:cNvSpPr>
          <p:nvPr>
            <p:ph type="body" sz="quarter" idx="11" hasCustomPrompt="1"/>
          </p:nvPr>
        </p:nvSpPr>
        <p:spPr>
          <a:xfrm>
            <a:off x="6300316" y="302159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4" name="文本占位符 30"/>
          <p:cNvSpPr>
            <a:spLocks noGrp="1"/>
          </p:cNvSpPr>
          <p:nvPr>
            <p:ph type="body" sz="quarter" idx="12" hasCustomPrompt="1"/>
          </p:nvPr>
        </p:nvSpPr>
        <p:spPr>
          <a:xfrm>
            <a:off x="6300899" y="2526726"/>
            <a:ext cx="400894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5" name="文本占位符 30"/>
          <p:cNvSpPr>
            <a:spLocks noGrp="1"/>
          </p:cNvSpPr>
          <p:nvPr>
            <p:ph type="body" sz="quarter" idx="13" hasCustomPrompt="1"/>
          </p:nvPr>
        </p:nvSpPr>
        <p:spPr>
          <a:xfrm>
            <a:off x="6300316" y="4212497"/>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6" name="文本占位符 30"/>
          <p:cNvSpPr>
            <a:spLocks noGrp="1"/>
          </p:cNvSpPr>
          <p:nvPr>
            <p:ph type="body" sz="quarter" idx="14" hasCustomPrompt="1"/>
          </p:nvPr>
        </p:nvSpPr>
        <p:spPr>
          <a:xfrm>
            <a:off x="6300899" y="3732319"/>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7" name="文本占位符 30"/>
          <p:cNvSpPr>
            <a:spLocks noGrp="1"/>
          </p:cNvSpPr>
          <p:nvPr>
            <p:ph type="body" sz="quarter" idx="15" hasCustomPrompt="1"/>
          </p:nvPr>
        </p:nvSpPr>
        <p:spPr>
          <a:xfrm>
            <a:off x="6300316" y="5404834"/>
            <a:ext cx="4008943" cy="568659"/>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400">
                <a:solidFill>
                  <a:srgbClr val="595A58"/>
                </a:solidFill>
                <a:latin typeface="思源黑体 CN Normal" panose="020B0400000000000000" pitchFamily="34" charset="-128"/>
                <a:ea typeface="思源黑体 CN Normal" panose="020B0400000000000000" pitchFamily="34" charset="-128"/>
              </a:defRPr>
            </a:lvl1pPr>
          </a:lstStyle>
          <a:p>
            <a:pPr lvl="0"/>
            <a:r>
              <a:rPr kumimoji="1" lang="zh-CN" altLang="en-US" dirty="0"/>
              <a:t>描述内容简介文字</a:t>
            </a:r>
          </a:p>
          <a:p>
            <a:pPr lvl="0"/>
            <a:endParaRPr kumimoji="1" lang="zh-CN" altLang="en-US" dirty="0"/>
          </a:p>
        </p:txBody>
      </p:sp>
      <p:sp>
        <p:nvSpPr>
          <p:cNvPr id="38" name="文本占位符 30"/>
          <p:cNvSpPr>
            <a:spLocks noGrp="1"/>
          </p:cNvSpPr>
          <p:nvPr>
            <p:ph type="body" sz="quarter" idx="16" hasCustomPrompt="1"/>
          </p:nvPr>
        </p:nvSpPr>
        <p:spPr>
          <a:xfrm>
            <a:off x="6300899" y="4924656"/>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标题名称</a:t>
            </a:r>
          </a:p>
        </p:txBody>
      </p:sp>
      <p:sp>
        <p:nvSpPr>
          <p:cNvPr id="39" name="文本占位符 30"/>
          <p:cNvSpPr>
            <a:spLocks noGrp="1"/>
          </p:cNvSpPr>
          <p:nvPr>
            <p:ph type="body" sz="quarter" idx="17" hasCustomPrompt="1"/>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sp>
        <p:nvSpPr>
          <p:cNvPr id="18" name="iṣ1idé"/>
          <p:cNvSpPr/>
          <p:nvPr userDrawn="1"/>
        </p:nvSpPr>
        <p:spPr bwMode="auto">
          <a:xfrm>
            <a:off x="5249672" y="134076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19" name="îslïdè"/>
          <p:cNvSpPr/>
          <p:nvPr userDrawn="1"/>
        </p:nvSpPr>
        <p:spPr bwMode="auto">
          <a:xfrm>
            <a:off x="5249672" y="4924656"/>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0" name="ïṣlídé"/>
          <p:cNvSpPr/>
          <p:nvPr userDrawn="1"/>
        </p:nvSpPr>
        <p:spPr bwMode="auto">
          <a:xfrm>
            <a:off x="5267908" y="2552903"/>
            <a:ext cx="814372" cy="81437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2" name="ïṥlíḋe"/>
          <p:cNvSpPr/>
          <p:nvPr userDrawn="1"/>
        </p:nvSpPr>
        <p:spPr bwMode="auto">
          <a:xfrm>
            <a:off x="5267908" y="3765038"/>
            <a:ext cx="814372" cy="81437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23" name="文本占位符 30"/>
          <p:cNvSpPr>
            <a:spLocks noGrp="1"/>
          </p:cNvSpPr>
          <p:nvPr>
            <p:ph type="body" sz="quarter" idx="18" hasCustomPrompt="1"/>
          </p:nvPr>
        </p:nvSpPr>
        <p:spPr>
          <a:xfrm>
            <a:off x="5495242" y="1604531"/>
            <a:ext cx="323668" cy="29984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sp>
        <p:nvSpPr>
          <p:cNvPr id="24" name="文本占位符 30"/>
          <p:cNvSpPr>
            <a:spLocks noGrp="1"/>
          </p:cNvSpPr>
          <p:nvPr>
            <p:ph type="body" sz="quarter" idx="19" hasCustomPrompt="1"/>
          </p:nvPr>
        </p:nvSpPr>
        <p:spPr>
          <a:xfrm>
            <a:off x="5517913" y="2834539"/>
            <a:ext cx="323668" cy="33941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sp>
        <p:nvSpPr>
          <p:cNvPr id="25" name="文本占位符 30"/>
          <p:cNvSpPr>
            <a:spLocks noGrp="1"/>
          </p:cNvSpPr>
          <p:nvPr>
            <p:ph type="body" sz="quarter" idx="20" hasCustomPrompt="1"/>
          </p:nvPr>
        </p:nvSpPr>
        <p:spPr>
          <a:xfrm>
            <a:off x="5509097" y="4017522"/>
            <a:ext cx="323668" cy="32776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sp>
        <p:nvSpPr>
          <p:cNvPr id="28" name="文本占位符 30"/>
          <p:cNvSpPr>
            <a:spLocks noGrp="1"/>
          </p:cNvSpPr>
          <p:nvPr>
            <p:ph type="body" sz="quarter" idx="21" hasCustomPrompt="1"/>
          </p:nvPr>
        </p:nvSpPr>
        <p:spPr>
          <a:xfrm>
            <a:off x="5496823" y="5192581"/>
            <a:ext cx="323668" cy="32465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2版式-3">
    <p:bg>
      <p:bgPr>
        <a:solidFill>
          <a:schemeClr val="bg1"/>
        </a:solidFill>
        <a:effectLst/>
      </p:bgPr>
    </p:bg>
    <p:spTree>
      <p:nvGrpSpPr>
        <p:cNvPr id="1" name=""/>
        <p:cNvGrpSpPr/>
        <p:nvPr/>
      </p:nvGrpSpPr>
      <p:grpSpPr>
        <a:xfrm>
          <a:off x="0" y="0"/>
          <a:ext cx="0" cy="0"/>
          <a:chOff x="0" y="0"/>
          <a:chExt cx="0" cy="0"/>
        </a:xfrm>
      </p:grpSpPr>
      <p:cxnSp>
        <p:nvCxnSpPr>
          <p:cNvPr id="6" name="直接连接符 20"/>
          <p:cNvCxnSpPr/>
          <p:nvPr/>
        </p:nvCxnSpPr>
        <p:spPr>
          <a:xfrm>
            <a:off x="7155815" y="218884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0" name="直接连接符 6"/>
          <p:cNvCxnSpPr/>
          <p:nvPr/>
        </p:nvCxnSpPr>
        <p:spPr>
          <a:xfrm>
            <a:off x="7155815" y="373062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cxnSp>
        <p:nvCxnSpPr>
          <p:cNvPr id="14" name="直接连接符 16"/>
          <p:cNvCxnSpPr/>
          <p:nvPr/>
        </p:nvCxnSpPr>
        <p:spPr>
          <a:xfrm>
            <a:off x="7155815" y="5272405"/>
            <a:ext cx="263525" cy="0"/>
          </a:xfrm>
          <a:prstGeom prst="line">
            <a:avLst/>
          </a:prstGeom>
          <a:ln w="19050">
            <a:solidFill>
              <a:srgbClr val="97AED1"/>
            </a:solidFill>
          </a:ln>
        </p:spPr>
        <p:style>
          <a:lnRef idx="1">
            <a:schemeClr val="accent1"/>
          </a:lnRef>
          <a:fillRef idx="0">
            <a:schemeClr val="accent1"/>
          </a:fillRef>
          <a:effectRef idx="0">
            <a:schemeClr val="accent1"/>
          </a:effectRef>
          <a:fontRef idx="minor">
            <a:schemeClr val="tx1"/>
          </a:fontRef>
        </p:style>
      </p:cxnSp>
      <p:sp>
        <p:nvSpPr>
          <p:cNvPr id="16" name="文本占位符 30"/>
          <p:cNvSpPr>
            <a:spLocks noGrp="1"/>
          </p:cNvSpPr>
          <p:nvPr>
            <p:ph type="body" sz="quarter" idx="15" hasCustomPrompt="1"/>
          </p:nvPr>
        </p:nvSpPr>
        <p:spPr>
          <a:xfrm>
            <a:off x="7649210" y="1974006"/>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7" name="文本占位符 30"/>
          <p:cNvSpPr>
            <a:spLocks noGrp="1"/>
          </p:cNvSpPr>
          <p:nvPr>
            <p:ph type="body" sz="quarter" idx="16" hasCustomPrompt="1"/>
          </p:nvPr>
        </p:nvSpPr>
        <p:spPr>
          <a:xfrm>
            <a:off x="7649210" y="3479700"/>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7" hasCustomPrompt="1"/>
          </p:nvPr>
        </p:nvSpPr>
        <p:spPr>
          <a:xfrm>
            <a:off x="7649210" y="4985394"/>
            <a:ext cx="3872670" cy="111734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12" name="图片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27087" y="2054216"/>
            <a:ext cx="5952468" cy="3968311"/>
          </a:xfrm>
          <a:prstGeom prst="rect">
            <a:avLst/>
          </a:prstGeom>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6版式-3">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rgbClr val="D9D9D9"/>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201097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5821637" y="3287183"/>
            <a:ext cx="548728" cy="548732"/>
          </a:xfrm>
          <a:prstGeom prst="ellipse">
            <a:avLst/>
          </a:prstGeom>
          <a:solidFill>
            <a:srgbClr val="828D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9610482" y="3287183"/>
            <a:ext cx="548728" cy="548732"/>
          </a:xfrm>
          <a:prstGeom prst="ellipse">
            <a:avLst/>
          </a:prstGeom>
          <a:solidFill>
            <a:srgbClr val="3396FD"/>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404140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8128777"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3"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4" name="文本占位符 30"/>
          <p:cNvSpPr>
            <a:spLocks noGrp="1"/>
          </p:cNvSpPr>
          <p:nvPr>
            <p:ph type="body" sz="quarter" idx="16" hasCustomPrompt="1"/>
          </p:nvPr>
        </p:nvSpPr>
        <p:spPr>
          <a:xfrm>
            <a:off x="763255"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5" name="文本占位符 30"/>
          <p:cNvSpPr>
            <a:spLocks noGrp="1"/>
          </p:cNvSpPr>
          <p:nvPr>
            <p:ph type="body" sz="quarter" idx="18" hasCustomPrompt="1"/>
          </p:nvPr>
        </p:nvSpPr>
        <p:spPr>
          <a:xfrm>
            <a:off x="1187962"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6" name="文本占位符 30"/>
          <p:cNvSpPr>
            <a:spLocks noGrp="1"/>
          </p:cNvSpPr>
          <p:nvPr>
            <p:ph type="body" sz="quarter" idx="19" hasCustomPrompt="1"/>
          </p:nvPr>
        </p:nvSpPr>
        <p:spPr>
          <a:xfrm>
            <a:off x="4636769"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7" name="文本占位符 30"/>
          <p:cNvSpPr>
            <a:spLocks noGrp="1"/>
          </p:cNvSpPr>
          <p:nvPr>
            <p:ph type="body" sz="quarter" idx="20" hasCustomPrompt="1"/>
          </p:nvPr>
        </p:nvSpPr>
        <p:spPr>
          <a:xfrm>
            <a:off x="5061476"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8" name="文本占位符 30"/>
          <p:cNvSpPr>
            <a:spLocks noGrp="1"/>
          </p:cNvSpPr>
          <p:nvPr>
            <p:ph type="body" sz="quarter" idx="21" hasCustomPrompt="1"/>
          </p:nvPr>
        </p:nvSpPr>
        <p:spPr>
          <a:xfrm>
            <a:off x="8495953" y="4498426"/>
            <a:ext cx="3037323"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9" name="文本占位符 30"/>
          <p:cNvSpPr>
            <a:spLocks noGrp="1"/>
          </p:cNvSpPr>
          <p:nvPr>
            <p:ph type="body" sz="quarter" idx="22" hasCustomPrompt="1"/>
          </p:nvPr>
        </p:nvSpPr>
        <p:spPr>
          <a:xfrm>
            <a:off x="8920660" y="4068339"/>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1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6版式-4">
    <p:bg>
      <p:bgPr>
        <a:solidFill>
          <a:schemeClr val="bg1"/>
        </a:solidFill>
        <a:effectLst/>
      </p:bgPr>
    </p:bg>
    <p:spTree>
      <p:nvGrpSpPr>
        <p:cNvPr id="1" name=""/>
        <p:cNvGrpSpPr/>
        <p:nvPr/>
      </p:nvGrpSpPr>
      <p:grpSpPr>
        <a:xfrm>
          <a:off x="0" y="0"/>
          <a:ext cx="0" cy="0"/>
          <a:chOff x="0" y="0"/>
          <a:chExt cx="0" cy="0"/>
        </a:xfrm>
      </p:grpSpPr>
      <p:cxnSp>
        <p:nvCxnSpPr>
          <p:cNvPr id="4" name="直接连接符 7"/>
          <p:cNvCxnSpPr/>
          <p:nvPr userDrawn="1"/>
        </p:nvCxnSpPr>
        <p:spPr>
          <a:xfrm>
            <a:off x="615059" y="3561547"/>
            <a:ext cx="10905431" cy="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9" name="i$ľîḑê"/>
          <p:cNvSpPr/>
          <p:nvPr userDrawn="1"/>
        </p:nvSpPr>
        <p:spPr>
          <a:xfrm>
            <a:off x="1753785" y="3287183"/>
            <a:ext cx="548728" cy="548732"/>
          </a:xfrm>
          <a:prstGeom prst="ellipse">
            <a:avLst/>
          </a:prstGeom>
          <a:solidFill>
            <a:srgbClr val="154996"/>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4" name="îṩḻïḓè"/>
          <p:cNvSpPr/>
          <p:nvPr userDrawn="1"/>
        </p:nvSpPr>
        <p:spPr>
          <a:xfrm>
            <a:off x="4529902" y="3286208"/>
            <a:ext cx="548728" cy="548732"/>
          </a:xfrm>
          <a:prstGeom prst="ellipse">
            <a:avLst/>
          </a:prstGeom>
          <a:solidFill>
            <a:srgbClr val="008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18" name="ïšlíḋe"/>
          <p:cNvSpPr/>
          <p:nvPr userDrawn="1"/>
        </p:nvSpPr>
        <p:spPr>
          <a:xfrm>
            <a:off x="10005709" y="3287183"/>
            <a:ext cx="548728" cy="548732"/>
          </a:xfrm>
          <a:prstGeom prst="ellipse">
            <a:avLst/>
          </a:prstGeom>
          <a:solidFill>
            <a:srgbClr val="4FB9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19" name="直接连接符 14"/>
          <p:cNvCxnSpPr/>
          <p:nvPr userDrawn="1"/>
        </p:nvCxnSpPr>
        <p:spPr>
          <a:xfrm>
            <a:off x="3428916"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连接符 15"/>
          <p:cNvCxnSpPr/>
          <p:nvPr userDrawn="1"/>
        </p:nvCxnSpPr>
        <p:spPr>
          <a:xfrm>
            <a:off x="617961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1" name="îṩḻïḓè"/>
          <p:cNvSpPr/>
          <p:nvPr userDrawn="1"/>
        </p:nvSpPr>
        <p:spPr>
          <a:xfrm>
            <a:off x="7278619" y="3286208"/>
            <a:ext cx="548728" cy="548732"/>
          </a:xfrm>
          <a:prstGeom prst="ellipse">
            <a:avLst/>
          </a:prstGeom>
          <a:solidFill>
            <a:srgbClr val="5D7FB7"/>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22" name="直接连接符 15"/>
          <p:cNvCxnSpPr/>
          <p:nvPr userDrawn="1"/>
        </p:nvCxnSpPr>
        <p:spPr>
          <a:xfrm>
            <a:off x="8939629" y="4267329"/>
            <a:ext cx="0" cy="1239480"/>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6" name="文本占位符 30"/>
          <p:cNvSpPr>
            <a:spLocks noGrp="1"/>
          </p:cNvSpPr>
          <p:nvPr>
            <p:ph type="body" sz="quarter" idx="15" hasCustomPrompt="1"/>
          </p:nvPr>
        </p:nvSpPr>
        <p:spPr>
          <a:xfrm>
            <a:off x="615059" y="1338522"/>
            <a:ext cx="10939432" cy="1561746"/>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7" name="文本占位符 30"/>
          <p:cNvSpPr>
            <a:spLocks noGrp="1"/>
          </p:cNvSpPr>
          <p:nvPr>
            <p:ph type="body" sz="quarter" idx="16" hasCustomPrompt="1"/>
          </p:nvPr>
        </p:nvSpPr>
        <p:spPr>
          <a:xfrm>
            <a:off x="739030"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28" name="文本占位符 30"/>
          <p:cNvSpPr>
            <a:spLocks noGrp="1"/>
          </p:cNvSpPr>
          <p:nvPr>
            <p:ph type="body" sz="quarter" idx="18" hasCustomPrompt="1"/>
          </p:nvPr>
        </p:nvSpPr>
        <p:spPr>
          <a:xfrm>
            <a:off x="980228"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9" name="文本占位符 30"/>
          <p:cNvSpPr>
            <a:spLocks noGrp="1"/>
          </p:cNvSpPr>
          <p:nvPr>
            <p:ph type="body" sz="quarter" idx="19" hasCustomPrompt="1"/>
          </p:nvPr>
        </p:nvSpPr>
        <p:spPr>
          <a:xfrm>
            <a:off x="3525746" y="448018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0" name="文本占位符 30"/>
          <p:cNvSpPr>
            <a:spLocks noGrp="1"/>
          </p:cNvSpPr>
          <p:nvPr>
            <p:ph type="body" sz="quarter" idx="20" hasCustomPrompt="1"/>
          </p:nvPr>
        </p:nvSpPr>
        <p:spPr>
          <a:xfrm>
            <a:off x="3766944" y="405010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1" name="文本占位符 30"/>
          <p:cNvSpPr>
            <a:spLocks noGrp="1"/>
          </p:cNvSpPr>
          <p:nvPr>
            <p:ph type="body" sz="quarter" idx="21" hasCustomPrompt="1"/>
          </p:nvPr>
        </p:nvSpPr>
        <p:spPr>
          <a:xfrm>
            <a:off x="6282098"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32" name="文本占位符 30"/>
          <p:cNvSpPr>
            <a:spLocks noGrp="1"/>
          </p:cNvSpPr>
          <p:nvPr>
            <p:ph type="body" sz="quarter" idx="22" hasCustomPrompt="1"/>
          </p:nvPr>
        </p:nvSpPr>
        <p:spPr>
          <a:xfrm>
            <a:off x="6523296"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33" name="文本占位符 30"/>
          <p:cNvSpPr>
            <a:spLocks noGrp="1"/>
          </p:cNvSpPr>
          <p:nvPr>
            <p:ph type="body" sz="quarter" idx="23" hasCustomPrompt="1"/>
          </p:nvPr>
        </p:nvSpPr>
        <p:spPr>
          <a:xfrm>
            <a:off x="9026191" y="4487137"/>
            <a:ext cx="2568792"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请在此添加文字说明，模板。请在此添加文字说明，模板。请在此添加文字说明，模板。请在此添加文字说明，模板。</a:t>
            </a:r>
          </a:p>
          <a:p>
            <a:pPr marL="0" marR="0" lvl="0" indent="0" algn="l" defTabSz="457200" rtl="0" eaLnBrk="1" fontAlgn="auto" latinLnBrk="0" hangingPunct="1">
              <a:lnSpc>
                <a:spcPct val="130000"/>
              </a:lnSpc>
              <a:spcBef>
                <a:spcPts val="0"/>
              </a:spcBef>
              <a:spcAft>
                <a:spcPts val="0"/>
              </a:spcAft>
              <a:buClrTx/>
              <a:buSzTx/>
              <a:buFontTx/>
              <a:buNone/>
              <a:defRPr/>
            </a:pPr>
            <a:endParaRPr kumimoji="1" lang="zh-CN" altLang="en-US" dirty="0"/>
          </a:p>
        </p:txBody>
      </p:sp>
      <p:sp>
        <p:nvSpPr>
          <p:cNvPr id="43" name="文本占位符 30"/>
          <p:cNvSpPr>
            <a:spLocks noGrp="1"/>
          </p:cNvSpPr>
          <p:nvPr>
            <p:ph type="body" sz="quarter" idx="24" hasCustomPrompt="1"/>
          </p:nvPr>
        </p:nvSpPr>
        <p:spPr>
          <a:xfrm>
            <a:off x="9267389" y="4057050"/>
            <a:ext cx="2137701" cy="397980"/>
          </a:xfrm>
          <a:prstGeom prst="rect">
            <a:avLst/>
          </a:prstGeom>
        </p:spPr>
        <p:txBody>
          <a:bodyPr/>
          <a:lstStyle>
            <a:lvl1pPr marL="228600" marR="0" indent="-228600" algn="ct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标题</a:t>
            </a:r>
          </a:p>
        </p:txBody>
      </p:sp>
      <p:sp>
        <p:nvSpPr>
          <p:cNvPr id="24"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7版式-1">
    <p:bg>
      <p:bgPr>
        <a:solidFill>
          <a:schemeClr val="bg1"/>
        </a:solidFill>
        <a:effectLst/>
      </p:bgPr>
    </p:bg>
    <p:spTree>
      <p:nvGrpSpPr>
        <p:cNvPr id="1" name=""/>
        <p:cNvGrpSpPr/>
        <p:nvPr/>
      </p:nvGrpSpPr>
      <p:grpSpPr>
        <a:xfrm>
          <a:off x="0" y="0"/>
          <a:ext cx="0" cy="0"/>
          <a:chOff x="0" y="0"/>
          <a:chExt cx="0" cy="0"/>
        </a:xfrm>
      </p:grpSpPr>
      <p:grpSp>
        <p:nvGrpSpPr>
          <p:cNvPr id="20" name="그룹 25"/>
          <p:cNvGrpSpPr/>
          <p:nvPr/>
        </p:nvGrpSpPr>
        <p:grpSpPr>
          <a:xfrm>
            <a:off x="4243676" y="2442355"/>
            <a:ext cx="3899442" cy="1895123"/>
            <a:chOff x="1115616" y="2498780"/>
            <a:chExt cx="3029712" cy="1472436"/>
          </a:xfrm>
        </p:grpSpPr>
        <p:cxnSp>
          <p:nvCxnSpPr>
            <p:cNvPr id="2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32" name="원호 6"/>
          <p:cNvSpPr/>
          <p:nvPr userDrawn="1"/>
        </p:nvSpPr>
        <p:spPr>
          <a:xfrm>
            <a:off x="4841856" y="301729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33" name="원호 7"/>
          <p:cNvSpPr/>
          <p:nvPr userDrawn="1"/>
        </p:nvSpPr>
        <p:spPr>
          <a:xfrm>
            <a:off x="4837628" y="301729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40" name="Straight Connector 79"/>
          <p:cNvCxnSpPr/>
          <p:nvPr userDrawn="1"/>
        </p:nvCxnSpPr>
        <p:spPr>
          <a:xfrm>
            <a:off x="4662338" y="5293389"/>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7" name="文本占位符 30"/>
          <p:cNvSpPr>
            <a:spLocks noGrp="1"/>
          </p:cNvSpPr>
          <p:nvPr>
            <p:ph type="body" sz="quarter" idx="15" hasCustomPrompt="1"/>
          </p:nvPr>
        </p:nvSpPr>
        <p:spPr>
          <a:xfrm>
            <a:off x="615059" y="1338522"/>
            <a:ext cx="10939432" cy="67996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1" name="文本占位符 30"/>
          <p:cNvSpPr>
            <a:spLocks noGrp="1"/>
          </p:cNvSpPr>
          <p:nvPr>
            <p:ph type="body" sz="quarter" idx="18" hasCustomPrompt="1"/>
          </p:nvPr>
        </p:nvSpPr>
        <p:spPr>
          <a:xfrm>
            <a:off x="5187849" y="489540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2" name="文本占位符 30"/>
          <p:cNvSpPr>
            <a:spLocks noGrp="1"/>
          </p:cNvSpPr>
          <p:nvPr>
            <p:ph type="body" sz="quarter" idx="16" hasCustomPrompt="1"/>
          </p:nvPr>
        </p:nvSpPr>
        <p:spPr>
          <a:xfrm>
            <a:off x="3601157" y="5328426"/>
            <a:ext cx="5384800"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5" name="文本占位符 30"/>
          <p:cNvSpPr>
            <a:spLocks noGrp="1"/>
          </p:cNvSpPr>
          <p:nvPr>
            <p:ph type="body" sz="quarter" idx="19" hasCustomPrompt="1"/>
          </p:nvPr>
        </p:nvSpPr>
        <p:spPr>
          <a:xfrm>
            <a:off x="5582927" y="390966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38" name="文本占位符 30"/>
          <p:cNvSpPr>
            <a:spLocks noGrp="1"/>
          </p:cNvSpPr>
          <p:nvPr>
            <p:ph type="body" sz="quarter" idx="20" hasCustomPrompt="1"/>
          </p:nvPr>
        </p:nvSpPr>
        <p:spPr>
          <a:xfrm>
            <a:off x="3510253" y="420367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39" name="文本占位符 30"/>
          <p:cNvSpPr>
            <a:spLocks noGrp="1"/>
          </p:cNvSpPr>
          <p:nvPr>
            <p:ph type="body" sz="quarter" idx="21" hasCustomPrompt="1"/>
          </p:nvPr>
        </p:nvSpPr>
        <p:spPr>
          <a:xfrm>
            <a:off x="4200720" y="271616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43" name="文本占位符 30"/>
          <p:cNvSpPr>
            <a:spLocks noGrp="1"/>
          </p:cNvSpPr>
          <p:nvPr>
            <p:ph type="body" sz="quarter" idx="22" hasCustomPrompt="1"/>
          </p:nvPr>
        </p:nvSpPr>
        <p:spPr>
          <a:xfrm>
            <a:off x="5908348" y="206359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44" name="文本占位符 30"/>
          <p:cNvSpPr>
            <a:spLocks noGrp="1"/>
          </p:cNvSpPr>
          <p:nvPr>
            <p:ph type="body" sz="quarter" idx="23" hasCustomPrompt="1"/>
          </p:nvPr>
        </p:nvSpPr>
        <p:spPr>
          <a:xfrm>
            <a:off x="7608046" y="273811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45" name="文本占位符 30"/>
          <p:cNvSpPr>
            <a:spLocks noGrp="1"/>
          </p:cNvSpPr>
          <p:nvPr>
            <p:ph type="body" sz="quarter" idx="24" hasCustomPrompt="1"/>
          </p:nvPr>
        </p:nvSpPr>
        <p:spPr>
          <a:xfrm>
            <a:off x="8258380" y="4153245"/>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2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7版式-2">
    <p:bg>
      <p:bgPr>
        <a:solidFill>
          <a:schemeClr val="bg1"/>
        </a:solidFill>
        <a:effectLst/>
      </p:bgPr>
    </p:bg>
    <p:spTree>
      <p:nvGrpSpPr>
        <p:cNvPr id="1" name=""/>
        <p:cNvGrpSpPr/>
        <p:nvPr/>
      </p:nvGrpSpPr>
      <p:grpSpPr>
        <a:xfrm>
          <a:off x="0" y="0"/>
          <a:ext cx="0" cy="0"/>
          <a:chOff x="0" y="0"/>
          <a:chExt cx="0" cy="0"/>
        </a:xfrm>
      </p:grpSpPr>
      <p:cxnSp>
        <p:nvCxnSpPr>
          <p:cNvPr id="40" name="Straight Connector 79"/>
          <p:cNvCxnSpPr/>
          <p:nvPr userDrawn="1"/>
        </p:nvCxnSpPr>
        <p:spPr>
          <a:xfrm>
            <a:off x="1931670"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86"/>
          <p:cNvCxnSpPr/>
          <p:nvPr userDrawn="1"/>
        </p:nvCxnSpPr>
        <p:spPr>
          <a:xfrm>
            <a:off x="7162800" y="5234068"/>
            <a:ext cx="3066415" cy="0"/>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6" name="文本占位符 30"/>
          <p:cNvSpPr>
            <a:spLocks noGrp="1"/>
          </p:cNvSpPr>
          <p:nvPr>
            <p:ph type="body" sz="quarter" idx="15" hasCustomPrompt="1"/>
          </p:nvPr>
        </p:nvSpPr>
        <p:spPr>
          <a:xfrm>
            <a:off x="615059" y="1338523"/>
            <a:ext cx="10939432" cy="608398"/>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47" name="文本占位符 30"/>
          <p:cNvSpPr>
            <a:spLocks noGrp="1"/>
          </p:cNvSpPr>
          <p:nvPr>
            <p:ph type="body" sz="quarter" idx="18" hasCustomPrompt="1"/>
          </p:nvPr>
        </p:nvSpPr>
        <p:spPr>
          <a:xfrm>
            <a:off x="2471212" y="481550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8" name="文本占位符 30"/>
          <p:cNvSpPr>
            <a:spLocks noGrp="1"/>
          </p:cNvSpPr>
          <p:nvPr>
            <p:ph type="body" sz="quarter" idx="16" hasCustomPrompt="1"/>
          </p:nvPr>
        </p:nvSpPr>
        <p:spPr>
          <a:xfrm>
            <a:off x="1840231"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50" name="文本占位符 30"/>
          <p:cNvSpPr>
            <a:spLocks noGrp="1"/>
          </p:cNvSpPr>
          <p:nvPr>
            <p:ph type="body" sz="quarter" idx="20" hasCustomPrompt="1"/>
          </p:nvPr>
        </p:nvSpPr>
        <p:spPr>
          <a:xfrm>
            <a:off x="7216030" y="5248524"/>
            <a:ext cx="3293744"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grpSp>
        <p:nvGrpSpPr>
          <p:cNvPr id="44" name="그룹 25"/>
          <p:cNvGrpSpPr/>
          <p:nvPr userDrawn="1"/>
        </p:nvGrpSpPr>
        <p:grpSpPr>
          <a:xfrm>
            <a:off x="1529344" y="2383034"/>
            <a:ext cx="3899442" cy="1895123"/>
            <a:chOff x="1115616" y="2498780"/>
            <a:chExt cx="3029712" cy="1472436"/>
          </a:xfrm>
        </p:grpSpPr>
        <p:cxnSp>
          <p:nvCxnSpPr>
            <p:cNvPr id="51"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3"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4"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5"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56" name="원호 6"/>
          <p:cNvSpPr/>
          <p:nvPr userDrawn="1"/>
        </p:nvSpPr>
        <p:spPr>
          <a:xfrm>
            <a:off x="2127524" y="2957975"/>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57" name="원호 7"/>
          <p:cNvSpPr/>
          <p:nvPr userDrawn="1"/>
        </p:nvSpPr>
        <p:spPr>
          <a:xfrm>
            <a:off x="2123296" y="2957975"/>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cxnSp>
        <p:nvCxnSpPr>
          <p:cNvPr id="58" name="Straight Connector 79"/>
          <p:cNvCxnSpPr/>
          <p:nvPr userDrawn="1"/>
        </p:nvCxnSpPr>
        <p:spPr>
          <a:xfrm>
            <a:off x="1948006" y="5234068"/>
            <a:ext cx="320230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0" name="文本占位符 30"/>
          <p:cNvSpPr>
            <a:spLocks noGrp="1"/>
          </p:cNvSpPr>
          <p:nvPr>
            <p:ph type="body" sz="quarter" idx="22" hasCustomPrompt="1"/>
          </p:nvPr>
        </p:nvSpPr>
        <p:spPr>
          <a:xfrm>
            <a:off x="2868595" y="3850341"/>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61" name="文本占位符 30"/>
          <p:cNvSpPr>
            <a:spLocks noGrp="1"/>
          </p:cNvSpPr>
          <p:nvPr>
            <p:ph type="body" sz="quarter" idx="23" hasCustomPrompt="1"/>
          </p:nvPr>
        </p:nvSpPr>
        <p:spPr>
          <a:xfrm>
            <a:off x="849711" y="414435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62" name="文本占位符 30"/>
          <p:cNvSpPr>
            <a:spLocks noGrp="1"/>
          </p:cNvSpPr>
          <p:nvPr>
            <p:ph type="body" sz="quarter" idx="24" hasCustomPrompt="1"/>
          </p:nvPr>
        </p:nvSpPr>
        <p:spPr>
          <a:xfrm>
            <a:off x="1486388" y="2656842"/>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63" name="文本占位符 30"/>
          <p:cNvSpPr>
            <a:spLocks noGrp="1"/>
          </p:cNvSpPr>
          <p:nvPr>
            <p:ph type="body" sz="quarter" idx="25" hasCustomPrompt="1"/>
          </p:nvPr>
        </p:nvSpPr>
        <p:spPr>
          <a:xfrm>
            <a:off x="3194016" y="2004276"/>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64" name="文本占位符 30"/>
          <p:cNvSpPr>
            <a:spLocks noGrp="1"/>
          </p:cNvSpPr>
          <p:nvPr>
            <p:ph type="body" sz="quarter" idx="26" hasCustomPrompt="1"/>
          </p:nvPr>
        </p:nvSpPr>
        <p:spPr>
          <a:xfrm>
            <a:off x="4893714" y="2678794"/>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65" name="文本占位符 30"/>
          <p:cNvSpPr>
            <a:spLocks noGrp="1"/>
          </p:cNvSpPr>
          <p:nvPr>
            <p:ph type="body" sz="quarter" idx="27" hasCustomPrompt="1"/>
          </p:nvPr>
        </p:nvSpPr>
        <p:spPr>
          <a:xfrm>
            <a:off x="5469019" y="414435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grpSp>
        <p:nvGrpSpPr>
          <p:cNvPr id="66" name="그룹 25"/>
          <p:cNvGrpSpPr/>
          <p:nvPr userDrawn="1"/>
        </p:nvGrpSpPr>
        <p:grpSpPr>
          <a:xfrm>
            <a:off x="6855236" y="2374435"/>
            <a:ext cx="3899442" cy="1895123"/>
            <a:chOff x="1115616" y="2498780"/>
            <a:chExt cx="3029712" cy="1472436"/>
          </a:xfrm>
        </p:grpSpPr>
        <p:cxnSp>
          <p:nvCxnSpPr>
            <p:cNvPr id="67" name="직선 연결선 26"/>
            <p:cNvCxnSpPr/>
            <p:nvPr/>
          </p:nvCxnSpPr>
          <p:spPr>
            <a:xfrm>
              <a:off x="1115616"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8" name="직선 연결선 27"/>
            <p:cNvCxnSpPr/>
            <p:nvPr/>
          </p:nvCxnSpPr>
          <p:spPr>
            <a:xfrm>
              <a:off x="3990791" y="3971216"/>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9" name="직선 연결선 28"/>
            <p:cNvCxnSpPr/>
            <p:nvPr/>
          </p:nvCxnSpPr>
          <p:spPr>
            <a:xfrm rot="16200000">
              <a:off x="2553204" y="2576049"/>
              <a:ext cx="154537"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0" name="직선 연결선 29"/>
            <p:cNvCxnSpPr/>
            <p:nvPr/>
          </p:nvCxnSpPr>
          <p:spPr>
            <a:xfrm>
              <a:off x="1622360"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71" name="직선 연결선 30"/>
            <p:cNvCxnSpPr/>
            <p:nvPr/>
          </p:nvCxnSpPr>
          <p:spPr>
            <a:xfrm flipH="1">
              <a:off x="3574976" y="2924944"/>
              <a:ext cx="63608" cy="6360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sp>
        <p:nvSpPr>
          <p:cNvPr id="72" name="원호 6"/>
          <p:cNvSpPr/>
          <p:nvPr userDrawn="1"/>
        </p:nvSpPr>
        <p:spPr>
          <a:xfrm>
            <a:off x="7453416" y="2949376"/>
            <a:ext cx="2707285" cy="2707284"/>
          </a:xfrm>
          <a:prstGeom prst="arc">
            <a:avLst>
              <a:gd name="adj1" fmla="val 10727087"/>
              <a:gd name="adj2" fmla="val 68643"/>
            </a:avLst>
          </a:prstGeom>
          <a:ln w="508000">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3" name="원호 7"/>
          <p:cNvSpPr/>
          <p:nvPr userDrawn="1"/>
        </p:nvSpPr>
        <p:spPr>
          <a:xfrm>
            <a:off x="7449188" y="2949376"/>
            <a:ext cx="2707285" cy="2707284"/>
          </a:xfrm>
          <a:prstGeom prst="arc">
            <a:avLst>
              <a:gd name="adj1" fmla="val 10727087"/>
              <a:gd name="adj2" fmla="val 12857398"/>
            </a:avLst>
          </a:prstGeom>
          <a:ln w="508000">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sz="1600"/>
          </a:p>
        </p:txBody>
      </p:sp>
      <p:sp>
        <p:nvSpPr>
          <p:cNvPr id="75" name="文本占位符 30"/>
          <p:cNvSpPr>
            <a:spLocks noGrp="1"/>
          </p:cNvSpPr>
          <p:nvPr>
            <p:ph type="body" sz="quarter" idx="28" hasCustomPrompt="1"/>
          </p:nvPr>
        </p:nvSpPr>
        <p:spPr>
          <a:xfrm>
            <a:off x="7799409" y="4827489"/>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76" name="文本占位符 30"/>
          <p:cNvSpPr>
            <a:spLocks noGrp="1"/>
          </p:cNvSpPr>
          <p:nvPr>
            <p:ph type="body" sz="quarter" idx="19" hasCustomPrompt="1"/>
          </p:nvPr>
        </p:nvSpPr>
        <p:spPr>
          <a:xfrm>
            <a:off x="8194487" y="3841742"/>
            <a:ext cx="1234433" cy="7187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40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77" name="文本占位符 30"/>
          <p:cNvSpPr>
            <a:spLocks noGrp="1"/>
          </p:cNvSpPr>
          <p:nvPr>
            <p:ph type="body" sz="quarter" idx="29" hasCustomPrompt="1"/>
          </p:nvPr>
        </p:nvSpPr>
        <p:spPr>
          <a:xfrm>
            <a:off x="6182329" y="4135758"/>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15%</a:t>
            </a:r>
            <a:endParaRPr kumimoji="1" lang="zh-CN" altLang="en-US" dirty="0"/>
          </a:p>
        </p:txBody>
      </p:sp>
      <p:sp>
        <p:nvSpPr>
          <p:cNvPr id="78" name="文本占位符 30"/>
          <p:cNvSpPr>
            <a:spLocks noGrp="1"/>
          </p:cNvSpPr>
          <p:nvPr>
            <p:ph type="body" sz="quarter" idx="21" hasCustomPrompt="1"/>
          </p:nvPr>
        </p:nvSpPr>
        <p:spPr>
          <a:xfrm>
            <a:off x="6812280" y="2648243"/>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30%</a:t>
            </a:r>
            <a:endParaRPr kumimoji="1" lang="zh-CN" altLang="en-US" dirty="0"/>
          </a:p>
        </p:txBody>
      </p:sp>
      <p:sp>
        <p:nvSpPr>
          <p:cNvPr id="79" name="文本占位符 30"/>
          <p:cNvSpPr>
            <a:spLocks noGrp="1"/>
          </p:cNvSpPr>
          <p:nvPr>
            <p:ph type="body" sz="quarter" idx="30" hasCustomPrompt="1"/>
          </p:nvPr>
        </p:nvSpPr>
        <p:spPr>
          <a:xfrm>
            <a:off x="8519908" y="1995677"/>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45%</a:t>
            </a:r>
            <a:endParaRPr kumimoji="1" lang="zh-CN" altLang="en-US" dirty="0"/>
          </a:p>
        </p:txBody>
      </p:sp>
      <p:sp>
        <p:nvSpPr>
          <p:cNvPr id="80" name="文本占位符 30"/>
          <p:cNvSpPr>
            <a:spLocks noGrp="1"/>
          </p:cNvSpPr>
          <p:nvPr>
            <p:ph type="body" sz="quarter" idx="31" hasCustomPrompt="1"/>
          </p:nvPr>
        </p:nvSpPr>
        <p:spPr>
          <a:xfrm>
            <a:off x="10219606" y="2670195"/>
            <a:ext cx="569897"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65%</a:t>
            </a:r>
            <a:endParaRPr kumimoji="1" lang="zh-CN" altLang="en-US" dirty="0"/>
          </a:p>
        </p:txBody>
      </p:sp>
      <p:sp>
        <p:nvSpPr>
          <p:cNvPr id="81" name="文本占位符 30"/>
          <p:cNvSpPr>
            <a:spLocks noGrp="1"/>
          </p:cNvSpPr>
          <p:nvPr>
            <p:ph type="body" sz="quarter" idx="32" hasCustomPrompt="1"/>
          </p:nvPr>
        </p:nvSpPr>
        <p:spPr>
          <a:xfrm>
            <a:off x="10834080" y="4129967"/>
            <a:ext cx="651940" cy="2791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200" b="0">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100%</a:t>
            </a:r>
            <a:endParaRPr kumimoji="1" lang="zh-CN" altLang="en-US" dirty="0"/>
          </a:p>
        </p:txBody>
      </p:sp>
      <p:sp>
        <p:nvSpPr>
          <p:cNvPr id="42"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7版式-3">
    <p:bg>
      <p:bgPr>
        <a:solidFill>
          <a:schemeClr val="bg1"/>
        </a:solidFill>
        <a:effectLst/>
      </p:bgPr>
    </p:bg>
    <p:spTree>
      <p:nvGrpSpPr>
        <p:cNvPr id="1" name=""/>
        <p:cNvGrpSpPr/>
        <p:nvPr/>
      </p:nvGrpSpPr>
      <p:grpSpPr>
        <a:xfrm>
          <a:off x="0" y="0"/>
          <a:ext cx="0" cy="0"/>
          <a:chOff x="0" y="0"/>
          <a:chExt cx="0" cy="0"/>
        </a:xfrm>
      </p:grpSpPr>
      <p:sp>
        <p:nvSpPr>
          <p:cNvPr id="45" name="ïṡ1íḓé"/>
          <p:cNvSpPr/>
          <p:nvPr userDrawn="1"/>
        </p:nvSpPr>
        <p:spPr>
          <a:xfrm>
            <a:off x="2409190" y="2855866"/>
            <a:ext cx="7373620" cy="1152128"/>
          </a:xfrm>
          <a:prstGeom prst="ellipse">
            <a:avLst/>
          </a:prstGeom>
          <a:solidFill>
            <a:schemeClr val="bg1">
              <a:lumMod val="95000"/>
            </a:schemeClr>
          </a:solidFill>
          <a:ln>
            <a:solidFill>
              <a:schemeClr val="tx1">
                <a:lumMod val="20000"/>
                <a:lumOff val="80000"/>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6" name="ïṣľîḑe"/>
          <p:cNvSpPr/>
          <p:nvPr userDrawn="1"/>
        </p:nvSpPr>
        <p:spPr>
          <a:xfrm>
            <a:off x="3804131" y="3071890"/>
            <a:ext cx="4608512" cy="720080"/>
          </a:xfrm>
          <a:prstGeom prst="ellipse">
            <a:avLst/>
          </a:prstGeom>
          <a:solidFill>
            <a:schemeClr val="bg1"/>
          </a:solidFill>
          <a:ln>
            <a:solidFill>
              <a:schemeClr val="tx1">
                <a:lumMod val="40000"/>
                <a:lumOff val="60000"/>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p>
            <a:pPr algn="ctr"/>
            <a:endParaRPr lang="zh-CN" altLang="en-US"/>
          </a:p>
        </p:txBody>
      </p:sp>
      <p:sp>
        <p:nvSpPr>
          <p:cNvPr id="47" name="íṣļîḑê"/>
          <p:cNvSpPr/>
          <p:nvPr userDrawn="1"/>
        </p:nvSpPr>
        <p:spPr>
          <a:xfrm rot="8100000">
            <a:off x="3180524" y="2893835"/>
            <a:ext cx="577564" cy="577564"/>
          </a:xfrm>
          <a:prstGeom prst="teardrop">
            <a:avLst>
              <a:gd name="adj" fmla="val 133968"/>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a:p>
        </p:txBody>
      </p:sp>
      <p:sp>
        <p:nvSpPr>
          <p:cNvPr id="48" name="iŝ1iḋe"/>
          <p:cNvSpPr/>
          <p:nvPr userDrawn="1"/>
        </p:nvSpPr>
        <p:spPr>
          <a:xfrm rot="8100000">
            <a:off x="8722321" y="2710690"/>
            <a:ext cx="577564" cy="577564"/>
          </a:xfrm>
          <a:prstGeom prst="teardrop">
            <a:avLst>
              <a:gd name="adj" fmla="val 133968"/>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sp>
        <p:nvSpPr>
          <p:cNvPr id="49" name="íşlíďè"/>
          <p:cNvSpPr/>
          <p:nvPr userDrawn="1"/>
        </p:nvSpPr>
        <p:spPr>
          <a:xfrm rot="8100000">
            <a:off x="5891613" y="2158684"/>
            <a:ext cx="577564" cy="577564"/>
          </a:xfrm>
          <a:prstGeom prst="teardrop">
            <a:avLst>
              <a:gd name="adj" fmla="val 133968"/>
            </a:avLst>
          </a:prstGeom>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orm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algn="ctr"/>
            <a:endParaRPr lang="zh-CN" altLang="en-US" dirty="0"/>
          </a:p>
        </p:txBody>
      </p:sp>
      <p:cxnSp>
        <p:nvCxnSpPr>
          <p:cNvPr id="50" name="直接连接符 6"/>
          <p:cNvCxnSpPr/>
          <p:nvPr userDrawn="1"/>
        </p:nvCxnSpPr>
        <p:spPr>
          <a:xfrm>
            <a:off x="4298478"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连接符 7"/>
          <p:cNvCxnSpPr/>
          <p:nvPr userDrawn="1"/>
        </p:nvCxnSpPr>
        <p:spPr>
          <a:xfrm>
            <a:off x="7918296" y="4591858"/>
            <a:ext cx="0" cy="1584176"/>
          </a:xfrm>
          <a:prstGeom prst="line">
            <a:avLst/>
          </a:prstGeom>
          <a:ln w="3175" cap="rnd">
            <a:solidFill>
              <a:schemeClr val="bg1">
                <a:lumMod val="85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2" name="文本占位符 30"/>
          <p:cNvSpPr>
            <a:spLocks noGrp="1"/>
          </p:cNvSpPr>
          <p:nvPr>
            <p:ph type="body" sz="quarter" idx="15" hasCustomPrompt="1"/>
          </p:nvPr>
        </p:nvSpPr>
        <p:spPr>
          <a:xfrm>
            <a:off x="615059" y="1338522"/>
            <a:ext cx="10939432" cy="663574"/>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3" name="文本占位符 30"/>
          <p:cNvSpPr>
            <a:spLocks noGrp="1"/>
          </p:cNvSpPr>
          <p:nvPr>
            <p:ph type="body" sz="quarter" idx="18" hasCustomPrompt="1"/>
          </p:nvPr>
        </p:nvSpPr>
        <p:spPr>
          <a:xfrm>
            <a:off x="1471998"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4" name="文本占位符 30"/>
          <p:cNvSpPr>
            <a:spLocks noGrp="1"/>
          </p:cNvSpPr>
          <p:nvPr>
            <p:ph type="body" sz="quarter" idx="16" hasCustomPrompt="1"/>
          </p:nvPr>
        </p:nvSpPr>
        <p:spPr>
          <a:xfrm>
            <a:off x="1025531"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5" name="文本占位符 30"/>
          <p:cNvSpPr>
            <a:spLocks noGrp="1"/>
          </p:cNvSpPr>
          <p:nvPr>
            <p:ph type="body" sz="quarter" idx="19" hasCustomPrompt="1"/>
          </p:nvPr>
        </p:nvSpPr>
        <p:spPr>
          <a:xfrm>
            <a:off x="5091816" y="4625804"/>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6" name="文本占位符 30"/>
          <p:cNvSpPr>
            <a:spLocks noGrp="1"/>
          </p:cNvSpPr>
          <p:nvPr>
            <p:ph type="body" sz="quarter" idx="20" hasCustomPrompt="1"/>
          </p:nvPr>
        </p:nvSpPr>
        <p:spPr>
          <a:xfrm>
            <a:off x="4645349" y="5058821"/>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7" name="文本占位符 30"/>
          <p:cNvSpPr>
            <a:spLocks noGrp="1"/>
          </p:cNvSpPr>
          <p:nvPr>
            <p:ph type="body" sz="quarter" idx="21" hasCustomPrompt="1"/>
          </p:nvPr>
        </p:nvSpPr>
        <p:spPr>
          <a:xfrm>
            <a:off x="8716654" y="454718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8" name="文本占位符 30"/>
          <p:cNvSpPr>
            <a:spLocks noGrp="1"/>
          </p:cNvSpPr>
          <p:nvPr>
            <p:ph type="body" sz="quarter" idx="22" hasCustomPrompt="1"/>
          </p:nvPr>
        </p:nvSpPr>
        <p:spPr>
          <a:xfrm>
            <a:off x="8270187" y="4980204"/>
            <a:ext cx="2926077" cy="114860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8"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8版式-3">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1097694"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1134206"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497302"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5067753"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5104266"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6467362"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8965963"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002476"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365572"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22301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1249383"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1249383"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5247889" y="37996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5247889" y="4232682"/>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9132341" y="3790077"/>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9132341" y="4223094"/>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23" hasCustomPrompt="1"/>
          </p:nvPr>
        </p:nvSpPr>
        <p:spPr>
          <a:xfrm rot="19044237">
            <a:off x="1152054" y="305074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28" name="文本占位符 30"/>
          <p:cNvSpPr>
            <a:spLocks noGrp="1"/>
          </p:cNvSpPr>
          <p:nvPr>
            <p:ph type="body" sz="quarter" idx="24" hasCustomPrompt="1"/>
          </p:nvPr>
        </p:nvSpPr>
        <p:spPr>
          <a:xfrm rot="19044237">
            <a:off x="5135658"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30" name="文本占位符 30"/>
          <p:cNvSpPr>
            <a:spLocks noGrp="1"/>
          </p:cNvSpPr>
          <p:nvPr>
            <p:ph type="body" sz="quarter" idx="25" hasCustomPrompt="1"/>
          </p:nvPr>
        </p:nvSpPr>
        <p:spPr>
          <a:xfrm rot="19044237">
            <a:off x="9059584" y="3034838"/>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23"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8版式-4">
    <p:bg>
      <p:bgPr>
        <a:solidFill>
          <a:schemeClr val="bg1"/>
        </a:solidFill>
        <a:effectLst/>
      </p:bgPr>
    </p:bg>
    <p:spTree>
      <p:nvGrpSpPr>
        <p:cNvPr id="1" name=""/>
        <p:cNvGrpSpPr/>
        <p:nvPr/>
      </p:nvGrpSpPr>
      <p:grpSpPr>
        <a:xfrm>
          <a:off x="0" y="0"/>
          <a:ext cx="0" cy="0"/>
          <a:chOff x="0" y="0"/>
          <a:chExt cx="0" cy="0"/>
        </a:xfrm>
      </p:grpSpPr>
      <p:sp>
        <p:nvSpPr>
          <p:cNvPr id="5" name="îšḻiḓê"/>
          <p:cNvSpPr/>
          <p:nvPr/>
        </p:nvSpPr>
        <p:spPr>
          <a:xfrm>
            <a:off x="685576" y="2958232"/>
            <a:ext cx="2345839" cy="3024336"/>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6" name="islîde"/>
          <p:cNvSpPr/>
          <p:nvPr/>
        </p:nvSpPr>
        <p:spPr>
          <a:xfrm rot="5400000">
            <a:off x="722088" y="2921719"/>
            <a:ext cx="840739" cy="91376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7" name="îŝļïḓè"/>
          <p:cNvSpPr/>
          <p:nvPr/>
        </p:nvSpPr>
        <p:spPr>
          <a:xfrm rot="16200000">
            <a:off x="2085184" y="5036338"/>
            <a:ext cx="906847" cy="985614"/>
          </a:xfrm>
          <a:prstGeom prst="rtTriangle">
            <a:avLst/>
          </a:prstGeom>
          <a:solidFill>
            <a:schemeClr val="accent1"/>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3" name="ïṥḻïdé"/>
          <p:cNvSpPr/>
          <p:nvPr/>
        </p:nvSpPr>
        <p:spPr>
          <a:xfrm>
            <a:off x="3513743" y="2958232"/>
            <a:ext cx="2345839" cy="3024336"/>
          </a:xfrm>
          <a:prstGeom prst="rect">
            <a:avLst/>
          </a:prstGeom>
          <a:no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14" name="îṣļiḋê"/>
          <p:cNvSpPr/>
          <p:nvPr/>
        </p:nvSpPr>
        <p:spPr>
          <a:xfrm rot="5400000">
            <a:off x="3550256" y="2921719"/>
            <a:ext cx="840739" cy="91376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5" name="íslíḑé"/>
          <p:cNvSpPr/>
          <p:nvPr/>
        </p:nvSpPr>
        <p:spPr>
          <a:xfrm rot="16200000">
            <a:off x="4913352" y="5036338"/>
            <a:ext cx="906847" cy="985614"/>
          </a:xfrm>
          <a:prstGeom prst="rtTriangle">
            <a:avLst/>
          </a:prstGeom>
          <a:solidFill>
            <a:srgbClr val="4FBAFF"/>
          </a:solidFill>
          <a:ln w="38100">
            <a:solidFill>
              <a:srgbClr val="4FBA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íṣ1ïḍè"/>
          <p:cNvSpPr/>
          <p:nvPr/>
        </p:nvSpPr>
        <p:spPr>
          <a:xfrm>
            <a:off x="6341910" y="2958232"/>
            <a:ext cx="2345839" cy="3024336"/>
          </a:xfrm>
          <a:prstGeom prst="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0" name="îśľîḓé"/>
          <p:cNvSpPr/>
          <p:nvPr/>
        </p:nvSpPr>
        <p:spPr>
          <a:xfrm rot="5400000">
            <a:off x="6378423" y="2921719"/>
            <a:ext cx="840739" cy="91376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1" name="išḷíḍé"/>
          <p:cNvSpPr/>
          <p:nvPr/>
        </p:nvSpPr>
        <p:spPr>
          <a:xfrm rot="16200000">
            <a:off x="7741519" y="5036338"/>
            <a:ext cx="906847" cy="985614"/>
          </a:xfrm>
          <a:prstGeom prst="rtTriangle">
            <a:avLst/>
          </a:prstGeom>
          <a:solidFill>
            <a:schemeClr val="accent3"/>
          </a:solid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5" name="îSḻîdé"/>
          <p:cNvSpPr/>
          <p:nvPr/>
        </p:nvSpPr>
        <p:spPr>
          <a:xfrm>
            <a:off x="9170077" y="2958232"/>
            <a:ext cx="2345839" cy="3024336"/>
          </a:xfrm>
          <a:prstGeom prst="rect">
            <a:avLst/>
          </a:prstGeom>
          <a:no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tIns="1800000" anchor="t" anchorCtr="1">
            <a:normAutofit/>
          </a:bodyPr>
          <a:lstStyle/>
          <a:p>
            <a:pPr algn="ctr">
              <a:lnSpc>
                <a:spcPct val="120000"/>
              </a:lnSpc>
            </a:pPr>
            <a:endParaRPr lang="zh-CN" altLang="en-US" sz="1050" dirty="0">
              <a:solidFill>
                <a:schemeClr val="dk1">
                  <a:lumMod val="100000"/>
                </a:schemeClr>
              </a:solidFill>
            </a:endParaRPr>
          </a:p>
        </p:txBody>
      </p:sp>
      <p:sp>
        <p:nvSpPr>
          <p:cNvPr id="26" name="îs1îďè"/>
          <p:cNvSpPr/>
          <p:nvPr/>
        </p:nvSpPr>
        <p:spPr>
          <a:xfrm rot="5400000">
            <a:off x="9206590" y="2921719"/>
            <a:ext cx="840739" cy="91376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7" name="iṣ1iḑê"/>
          <p:cNvSpPr/>
          <p:nvPr/>
        </p:nvSpPr>
        <p:spPr>
          <a:xfrm rot="16200000">
            <a:off x="10569686" y="5036338"/>
            <a:ext cx="906847" cy="985614"/>
          </a:xfrm>
          <a:prstGeom prst="rtTriangle">
            <a:avLst/>
          </a:prstGeom>
          <a:solidFill>
            <a:schemeClr val="accent4"/>
          </a:solidFill>
          <a:ln w="3810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33" name="文本占位符 30"/>
          <p:cNvSpPr>
            <a:spLocks noGrp="1"/>
          </p:cNvSpPr>
          <p:nvPr>
            <p:ph type="body" sz="quarter" idx="15" hasCustomPrompt="1"/>
          </p:nvPr>
        </p:nvSpPr>
        <p:spPr>
          <a:xfrm>
            <a:off x="615059" y="1338522"/>
            <a:ext cx="10939432" cy="103775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34" name="文本占位符 30"/>
          <p:cNvSpPr>
            <a:spLocks noGrp="1"/>
          </p:cNvSpPr>
          <p:nvPr>
            <p:ph type="body" sz="quarter" idx="18" hasCustomPrompt="1"/>
          </p:nvPr>
        </p:nvSpPr>
        <p:spPr>
          <a:xfrm>
            <a:off x="853874"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5" name="文本占位符 30"/>
          <p:cNvSpPr>
            <a:spLocks noGrp="1"/>
          </p:cNvSpPr>
          <p:nvPr>
            <p:ph type="body" sz="quarter" idx="16" hasCustomPrompt="1"/>
          </p:nvPr>
        </p:nvSpPr>
        <p:spPr>
          <a:xfrm>
            <a:off x="853874"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6" name="文本占位符 30"/>
          <p:cNvSpPr>
            <a:spLocks noGrp="1"/>
          </p:cNvSpPr>
          <p:nvPr>
            <p:ph type="body" sz="quarter" idx="19" hasCustomPrompt="1"/>
          </p:nvPr>
        </p:nvSpPr>
        <p:spPr>
          <a:xfrm>
            <a:off x="3670226"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7" name="文本占位符 30"/>
          <p:cNvSpPr>
            <a:spLocks noGrp="1"/>
          </p:cNvSpPr>
          <p:nvPr>
            <p:ph type="body" sz="quarter" idx="20" hasCustomPrompt="1"/>
          </p:nvPr>
        </p:nvSpPr>
        <p:spPr>
          <a:xfrm>
            <a:off x="3670226"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8" name="文本占位符 30"/>
          <p:cNvSpPr>
            <a:spLocks noGrp="1"/>
          </p:cNvSpPr>
          <p:nvPr>
            <p:ph type="body" sz="quarter" idx="21" hasCustomPrompt="1"/>
          </p:nvPr>
        </p:nvSpPr>
        <p:spPr>
          <a:xfrm>
            <a:off x="6499407"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9" name="文本占位符 30"/>
          <p:cNvSpPr>
            <a:spLocks noGrp="1"/>
          </p:cNvSpPr>
          <p:nvPr>
            <p:ph type="body" sz="quarter" idx="22" hasCustomPrompt="1"/>
          </p:nvPr>
        </p:nvSpPr>
        <p:spPr>
          <a:xfrm>
            <a:off x="6499407"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40" name="文本占位符 30"/>
          <p:cNvSpPr>
            <a:spLocks noGrp="1"/>
          </p:cNvSpPr>
          <p:nvPr>
            <p:ph type="body" sz="quarter" idx="23" hasCustomPrompt="1"/>
          </p:nvPr>
        </p:nvSpPr>
        <p:spPr>
          <a:xfrm>
            <a:off x="9337732" y="3770890"/>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4" hasCustomPrompt="1"/>
          </p:nvPr>
        </p:nvSpPr>
        <p:spPr>
          <a:xfrm>
            <a:off x="9337732" y="4203907"/>
            <a:ext cx="2028123" cy="101078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30" name="文本占位符 30"/>
          <p:cNvSpPr>
            <a:spLocks noGrp="1"/>
          </p:cNvSpPr>
          <p:nvPr>
            <p:ph type="body" sz="quarter" idx="25" hasCustomPrompt="1"/>
          </p:nvPr>
        </p:nvSpPr>
        <p:spPr>
          <a:xfrm rot="19044237">
            <a:off x="752121" y="3067474"/>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01</a:t>
            </a:r>
            <a:endParaRPr kumimoji="1" lang="zh-CN" altLang="en-US" dirty="0"/>
          </a:p>
        </p:txBody>
      </p:sp>
      <p:sp>
        <p:nvSpPr>
          <p:cNvPr id="31" name="文本占位符 30"/>
          <p:cNvSpPr>
            <a:spLocks noGrp="1"/>
          </p:cNvSpPr>
          <p:nvPr>
            <p:ph type="body" sz="quarter" idx="26" hasCustomPrompt="1"/>
          </p:nvPr>
        </p:nvSpPr>
        <p:spPr>
          <a:xfrm rot="19044237">
            <a:off x="3587842" y="3065230"/>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02</a:t>
            </a:r>
            <a:endParaRPr kumimoji="1" lang="zh-CN" altLang="en-US" dirty="0"/>
          </a:p>
        </p:txBody>
      </p:sp>
      <p:sp>
        <p:nvSpPr>
          <p:cNvPr id="42" name="文本占位符 30"/>
          <p:cNvSpPr>
            <a:spLocks noGrp="1"/>
          </p:cNvSpPr>
          <p:nvPr>
            <p:ph type="body" sz="quarter" idx="27" hasCustomPrompt="1"/>
          </p:nvPr>
        </p:nvSpPr>
        <p:spPr>
          <a:xfrm rot="19044237">
            <a:off x="6423562" y="3065229"/>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03</a:t>
            </a:r>
            <a:endParaRPr kumimoji="1" lang="zh-CN" altLang="en-US" dirty="0"/>
          </a:p>
        </p:txBody>
      </p:sp>
      <p:sp>
        <p:nvSpPr>
          <p:cNvPr id="43" name="文本占位符 30"/>
          <p:cNvSpPr>
            <a:spLocks noGrp="1"/>
          </p:cNvSpPr>
          <p:nvPr>
            <p:ph type="body" sz="quarter" idx="28" hasCustomPrompt="1"/>
          </p:nvPr>
        </p:nvSpPr>
        <p:spPr>
          <a:xfrm rot="19044237">
            <a:off x="9283849" y="3026201"/>
            <a:ext cx="47796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0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04</a:t>
            </a:r>
            <a:endParaRPr kumimoji="1" lang="zh-CN" altLang="en-US" dirty="0"/>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9版式-3">
    <p:bg>
      <p:bgPr>
        <a:solidFill>
          <a:schemeClr val="bg1"/>
        </a:solidFill>
        <a:effectLst/>
      </p:bgPr>
    </p:bg>
    <p:spTree>
      <p:nvGrpSpPr>
        <p:cNvPr id="1" name=""/>
        <p:cNvGrpSpPr/>
        <p:nvPr/>
      </p:nvGrpSpPr>
      <p:grpSpPr>
        <a:xfrm>
          <a:off x="0" y="0"/>
          <a:ext cx="0" cy="0"/>
          <a:chOff x="0" y="0"/>
          <a:chExt cx="0" cy="0"/>
        </a:xfrm>
      </p:grpSpPr>
      <p:sp>
        <p:nvSpPr>
          <p:cNvPr id="32" name="稻壳儿小白白(http://dwz.cn/Wu2UP)"/>
          <p:cNvSpPr>
            <a:spLocks noChangeArrowheads="1"/>
          </p:cNvSpPr>
          <p:nvPr userDrawn="1"/>
        </p:nvSpPr>
        <p:spPr bwMode="auto">
          <a:xfrm>
            <a:off x="2201637" y="2789321"/>
            <a:ext cx="862013" cy="862012"/>
          </a:xfrm>
          <a:prstGeom prst="pentagon">
            <a:avLst/>
          </a:prstGeom>
          <a:solidFill>
            <a:srgbClr val="0089FF"/>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800">
              <a:latin typeface="+mn-lt"/>
              <a:ea typeface="+mn-ea"/>
              <a:cs typeface="+mn-ea"/>
              <a:sym typeface="+mn-lt"/>
            </a:endParaRPr>
          </a:p>
        </p:txBody>
      </p:sp>
      <p:sp>
        <p:nvSpPr>
          <p:cNvPr id="33" name="稻壳儿小白白(http://dwz.cn/Wu2UP)"/>
          <p:cNvSpPr>
            <a:spLocks noChangeArrowheads="1"/>
          </p:cNvSpPr>
          <p:nvPr userDrawn="1"/>
        </p:nvSpPr>
        <p:spPr bwMode="auto">
          <a:xfrm>
            <a:off x="5729367" y="2789321"/>
            <a:ext cx="862013" cy="862012"/>
          </a:xfrm>
          <a:prstGeom prst="pentagon">
            <a:avLst/>
          </a:prstGeom>
          <a:solidFill>
            <a:schemeClr val="accent1"/>
          </a:solidFill>
          <a:ln>
            <a:noFill/>
          </a:ln>
        </p:spPr>
        <p:txBody>
          <a:bodyPr anchor="ctr"/>
          <a:lstStyle>
            <a:lvl1pPr>
              <a:defRPr>
                <a:solidFill>
                  <a:schemeClr val="tx1"/>
                </a:solidFill>
                <a:latin typeface="Arial" panose="020B0604020202020204" pitchFamily="34" charset="0"/>
                <a:ea typeface="微软雅黑" panose="020B0503020204020204" pitchFamily="34" charset="-122"/>
              </a:defRPr>
            </a:lvl1pPr>
            <a:lvl2pPr marL="742950" indent="-285750">
              <a:defRPr>
                <a:solidFill>
                  <a:schemeClr val="tx1"/>
                </a:solidFill>
                <a:latin typeface="Arial" panose="020B0604020202020204" pitchFamily="34" charset="0"/>
                <a:ea typeface="微软雅黑" panose="020B0503020204020204" pitchFamily="34" charset="-122"/>
              </a:defRPr>
            </a:lvl2pPr>
            <a:lvl3pPr marL="1143000" indent="-228600">
              <a:defRPr>
                <a:solidFill>
                  <a:schemeClr val="tx1"/>
                </a:solidFill>
                <a:latin typeface="Arial" panose="020B0604020202020204" pitchFamily="34" charset="0"/>
                <a:ea typeface="微软雅黑" panose="020B0503020204020204" pitchFamily="34" charset="-122"/>
              </a:defRPr>
            </a:lvl3pPr>
            <a:lvl4pPr marL="1600200" indent="-228600">
              <a:defRPr>
                <a:solidFill>
                  <a:schemeClr val="tx1"/>
                </a:solidFill>
                <a:latin typeface="Arial" panose="020B0604020202020204" pitchFamily="34" charset="0"/>
                <a:ea typeface="微软雅黑" panose="020B0503020204020204" pitchFamily="34" charset="-122"/>
              </a:defRPr>
            </a:lvl4pPr>
            <a:lvl5pPr marL="2057400" indent="-228600">
              <a:defRPr>
                <a:solidFill>
                  <a:schemeClr val="tx1"/>
                </a:solidFill>
                <a:latin typeface="Arial" panose="020B0604020202020204" pitchFamily="34" charset="0"/>
                <a:ea typeface="微软雅黑" panose="020B0503020204020204" pitchFamily="34" charset="-122"/>
              </a:defRPr>
            </a:lvl5pPr>
            <a:lvl6pPr marL="25146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a:latin typeface="+mn-lt"/>
              <a:ea typeface="+mn-ea"/>
              <a:cs typeface="+mn-ea"/>
              <a:sym typeface="+mn-lt"/>
            </a:endParaRPr>
          </a:p>
        </p:txBody>
      </p:sp>
      <p:sp>
        <p:nvSpPr>
          <p:cNvPr id="34" name="稻壳儿小白白(http://dwz.cn/Wu2UP)"/>
          <p:cNvSpPr>
            <a:spLocks noChangeArrowheads="1"/>
          </p:cNvSpPr>
          <p:nvPr userDrawn="1"/>
        </p:nvSpPr>
        <p:spPr bwMode="auto">
          <a:xfrm>
            <a:off x="9171321" y="2789321"/>
            <a:ext cx="860425" cy="862012"/>
          </a:xfrm>
          <a:prstGeom prst="pentagon">
            <a:avLst/>
          </a:prstGeom>
          <a:solidFill>
            <a:schemeClr val="tx2"/>
          </a:solidFill>
          <a:ln>
            <a:noFill/>
          </a:ln>
        </p:spPr>
        <p:txBody>
          <a:bodyPr anchor="ctr"/>
          <a:lstStyle>
            <a:lvl1pPr defTabSz="912495">
              <a:defRPr>
                <a:solidFill>
                  <a:schemeClr val="tx1"/>
                </a:solidFill>
                <a:latin typeface="Arial" panose="020B0604020202020204" pitchFamily="34" charset="0"/>
                <a:ea typeface="微软雅黑" panose="020B0503020204020204" pitchFamily="34" charset="-122"/>
              </a:defRPr>
            </a:lvl1pPr>
            <a:lvl2pPr marL="742950" indent="-285750" defTabSz="912495">
              <a:defRPr>
                <a:solidFill>
                  <a:schemeClr val="tx1"/>
                </a:solidFill>
                <a:latin typeface="Arial" panose="020B0604020202020204" pitchFamily="34" charset="0"/>
                <a:ea typeface="微软雅黑" panose="020B0503020204020204" pitchFamily="34" charset="-122"/>
              </a:defRPr>
            </a:lvl2pPr>
            <a:lvl3pPr marL="1143000" indent="-228600" defTabSz="912495">
              <a:defRPr>
                <a:solidFill>
                  <a:schemeClr val="tx1"/>
                </a:solidFill>
                <a:latin typeface="Arial" panose="020B0604020202020204" pitchFamily="34" charset="0"/>
                <a:ea typeface="微软雅黑" panose="020B0503020204020204" pitchFamily="34" charset="-122"/>
              </a:defRPr>
            </a:lvl3pPr>
            <a:lvl4pPr marL="1600200" indent="-228600" defTabSz="912495">
              <a:defRPr>
                <a:solidFill>
                  <a:schemeClr val="tx1"/>
                </a:solidFill>
                <a:latin typeface="Arial" panose="020B0604020202020204" pitchFamily="34" charset="0"/>
                <a:ea typeface="微软雅黑" panose="020B0503020204020204" pitchFamily="34" charset="-122"/>
              </a:defRPr>
            </a:lvl4pPr>
            <a:lvl5pPr marL="2057400" indent="-228600" defTabSz="912495">
              <a:defRPr>
                <a:solidFill>
                  <a:schemeClr val="tx1"/>
                </a:solidFill>
                <a:latin typeface="Arial" panose="020B0604020202020204" pitchFamily="34" charset="0"/>
                <a:ea typeface="微软雅黑" panose="020B0503020204020204" pitchFamily="34" charset="-122"/>
              </a:defRPr>
            </a:lvl5pPr>
            <a:lvl6pPr marL="25146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6pPr>
            <a:lvl7pPr marL="29718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7pPr>
            <a:lvl8pPr marL="34290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8pPr>
            <a:lvl9pPr marL="3886200" indent="-228600" defTabSz="912495" eaLnBrk="0" fontAlgn="base" hangingPunct="0">
              <a:spcBef>
                <a:spcPct val="0"/>
              </a:spcBef>
              <a:spcAft>
                <a:spcPct val="0"/>
              </a:spcAft>
              <a:buFont typeface="Arial" panose="020B0604020202020204" pitchFamily="34" charset="0"/>
              <a:defRPr>
                <a:solidFill>
                  <a:schemeClr val="tx1"/>
                </a:solidFill>
                <a:latin typeface="Arial" panose="020B0604020202020204" pitchFamily="34" charset="0"/>
                <a:ea typeface="微软雅黑" panose="020B0503020204020204" pitchFamily="34" charset="-122"/>
              </a:defRPr>
            </a:lvl9pPr>
          </a:lstStyle>
          <a:p>
            <a:pPr algn="ctr" eaLnBrk="1" hangingPunct="1"/>
            <a:endParaRPr lang="ru-RU" altLang="en-US" sz="2400">
              <a:latin typeface="+mn-lt"/>
              <a:ea typeface="+mn-ea"/>
              <a:cs typeface="+mn-ea"/>
              <a:sym typeface="+mn-lt"/>
            </a:endParaRPr>
          </a:p>
        </p:txBody>
      </p:sp>
      <p:cxnSp>
        <p:nvCxnSpPr>
          <p:cNvPr id="39" name="直接连接符 13"/>
          <p:cNvCxnSpPr/>
          <p:nvPr userDrawn="1"/>
        </p:nvCxnSpPr>
        <p:spPr>
          <a:xfrm>
            <a:off x="4415985"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40" name="直接连接符 14"/>
          <p:cNvCxnSpPr/>
          <p:nvPr userDrawn="1"/>
        </p:nvCxnSpPr>
        <p:spPr>
          <a:xfrm>
            <a:off x="7978726" y="2660757"/>
            <a:ext cx="0" cy="3612436"/>
          </a:xfrm>
          <a:prstGeom prst="line">
            <a:avLst/>
          </a:prstGeom>
          <a:ln w="19050" cmpd="sng">
            <a:solidFill>
              <a:schemeClr val="bg1">
                <a:lumMod val="8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2" name="文本占位符 30"/>
          <p:cNvSpPr>
            <a:spLocks noGrp="1"/>
          </p:cNvSpPr>
          <p:nvPr>
            <p:ph type="body" sz="quarter" idx="18" hasCustomPrompt="1"/>
          </p:nvPr>
        </p:nvSpPr>
        <p:spPr>
          <a:xfrm>
            <a:off x="1676258"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3" name="文本占位符 30"/>
          <p:cNvSpPr>
            <a:spLocks noGrp="1"/>
          </p:cNvSpPr>
          <p:nvPr>
            <p:ph type="body" sz="quarter" idx="16" hasCustomPrompt="1"/>
          </p:nvPr>
        </p:nvSpPr>
        <p:spPr>
          <a:xfrm>
            <a:off x="1222630"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4" name="文本占位符 30"/>
          <p:cNvSpPr>
            <a:spLocks noGrp="1"/>
          </p:cNvSpPr>
          <p:nvPr>
            <p:ph type="body" sz="quarter" idx="19" hasCustomPrompt="1"/>
          </p:nvPr>
        </p:nvSpPr>
        <p:spPr>
          <a:xfrm>
            <a:off x="519770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5" name="文本占位符 30"/>
          <p:cNvSpPr>
            <a:spLocks noGrp="1"/>
          </p:cNvSpPr>
          <p:nvPr>
            <p:ph type="body" sz="quarter" idx="20" hasCustomPrompt="1"/>
          </p:nvPr>
        </p:nvSpPr>
        <p:spPr>
          <a:xfrm>
            <a:off x="4779933"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26" name="文本占位符 30"/>
          <p:cNvSpPr>
            <a:spLocks noGrp="1"/>
          </p:cNvSpPr>
          <p:nvPr>
            <p:ph type="body" sz="quarter" idx="21" hasCustomPrompt="1"/>
          </p:nvPr>
        </p:nvSpPr>
        <p:spPr>
          <a:xfrm>
            <a:off x="8641763" y="3879765"/>
            <a:ext cx="202812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27" name="文本占位符 30"/>
          <p:cNvSpPr>
            <a:spLocks noGrp="1"/>
          </p:cNvSpPr>
          <p:nvPr>
            <p:ph type="body" sz="quarter" idx="22" hasCustomPrompt="1"/>
          </p:nvPr>
        </p:nvSpPr>
        <p:spPr>
          <a:xfrm>
            <a:off x="8313638" y="4312782"/>
            <a:ext cx="2825465" cy="196041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2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请在此添加文字说明，模板。请在此添加文字说明，模板。请在此添加文字说明，模板。请在此添加文字说明</a:t>
            </a:r>
          </a:p>
        </p:txBody>
      </p:sp>
      <p:sp>
        <p:nvSpPr>
          <p:cNvPr id="1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10版式-4">
    <p:bg>
      <p:bgPr>
        <a:solidFill>
          <a:schemeClr val="bg1"/>
        </a:solidFill>
        <a:effectLst/>
      </p:bgPr>
    </p:bg>
    <p:spTree>
      <p:nvGrpSpPr>
        <p:cNvPr id="1" name=""/>
        <p:cNvGrpSpPr/>
        <p:nvPr/>
      </p:nvGrpSpPr>
      <p:grpSpPr>
        <a:xfrm>
          <a:off x="0" y="0"/>
          <a:ext cx="0" cy="0"/>
          <a:chOff x="0" y="0"/>
          <a:chExt cx="0" cy="0"/>
        </a:xfrm>
      </p:grpSpPr>
      <p:sp>
        <p:nvSpPr>
          <p:cNvPr id="19" name="îSḻíḑê"/>
          <p:cNvSpPr/>
          <p:nvPr userDrawn="1"/>
        </p:nvSpPr>
        <p:spPr bwMode="auto">
          <a:xfrm>
            <a:off x="4092055" y="1321080"/>
            <a:ext cx="3997173" cy="4020490"/>
          </a:xfrm>
          <a:prstGeom prst="rect">
            <a:avLst/>
          </a:prstGeom>
          <a:noFill/>
          <a:ln w="9525">
            <a:noFill/>
            <a:miter lim="800000"/>
          </a:ln>
        </p:spPr>
        <p:txBody>
          <a:bodyPr wrap="square" lIns="91440" tIns="45720" rIns="91440" bIns="45720" anchor="ctr">
            <a:normAutofit/>
          </a:bodyPr>
          <a:lstStyle/>
          <a:p>
            <a:pPr algn="ctr"/>
            <a:endParaRPr/>
          </a:p>
        </p:txBody>
      </p:sp>
      <p:sp>
        <p:nvSpPr>
          <p:cNvPr id="20" name="îṡ1îḍé"/>
          <p:cNvSpPr/>
          <p:nvPr userDrawn="1"/>
        </p:nvSpPr>
        <p:spPr bwMode="auto">
          <a:xfrm>
            <a:off x="6125617" y="3013217"/>
            <a:ext cx="907691" cy="1172504"/>
          </a:xfrm>
          <a:custGeom>
            <a:avLst/>
            <a:gdLst/>
            <a:ahLst/>
            <a:cxnLst>
              <a:cxn ang="0">
                <a:pos x="222" y="0"/>
              </a:cxn>
              <a:cxn ang="0">
                <a:pos x="0" y="223"/>
              </a:cxn>
              <a:cxn ang="0">
                <a:pos x="222" y="446"/>
              </a:cxn>
              <a:cxn ang="0">
                <a:pos x="222" y="0"/>
              </a:cxn>
            </a:cxnLst>
            <a:rect l="0" t="0" r="r" b="b"/>
            <a:pathLst>
              <a:path w="345" h="446">
                <a:moveTo>
                  <a:pt x="222" y="0"/>
                </a:moveTo>
                <a:cubicBezTo>
                  <a:pt x="0" y="223"/>
                  <a:pt x="0" y="223"/>
                  <a:pt x="0" y="223"/>
                </a:cubicBezTo>
                <a:cubicBezTo>
                  <a:pt x="222" y="446"/>
                  <a:pt x="222" y="446"/>
                  <a:pt x="222" y="446"/>
                </a:cubicBezTo>
                <a:cubicBezTo>
                  <a:pt x="345" y="323"/>
                  <a:pt x="345" y="123"/>
                  <a:pt x="222" y="0"/>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1" name="iṣlîďé"/>
          <p:cNvSpPr/>
          <p:nvPr userDrawn="1"/>
        </p:nvSpPr>
        <p:spPr bwMode="auto">
          <a:xfrm>
            <a:off x="5501058" y="3651099"/>
            <a:ext cx="1169173" cy="909357"/>
          </a:xfrm>
          <a:custGeom>
            <a:avLst/>
            <a:gdLst/>
            <a:ahLst/>
            <a:cxnLst>
              <a:cxn ang="0">
                <a:pos x="445" y="223"/>
              </a:cxn>
              <a:cxn ang="0">
                <a:pos x="222" y="0"/>
              </a:cxn>
              <a:cxn ang="0">
                <a:pos x="0" y="223"/>
              </a:cxn>
              <a:cxn ang="0">
                <a:pos x="445" y="223"/>
              </a:cxn>
            </a:cxnLst>
            <a:rect l="0" t="0" r="r" b="b"/>
            <a:pathLst>
              <a:path w="445" h="346">
                <a:moveTo>
                  <a:pt x="445" y="223"/>
                </a:moveTo>
                <a:cubicBezTo>
                  <a:pt x="222" y="0"/>
                  <a:pt x="222" y="0"/>
                  <a:pt x="222" y="0"/>
                </a:cubicBezTo>
                <a:cubicBezTo>
                  <a:pt x="0" y="223"/>
                  <a:pt x="0" y="223"/>
                  <a:pt x="0" y="223"/>
                </a:cubicBezTo>
                <a:cubicBezTo>
                  <a:pt x="123" y="346"/>
                  <a:pt x="322" y="346"/>
                  <a:pt x="445" y="2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2" name="íŝḻîḍe"/>
          <p:cNvSpPr/>
          <p:nvPr userDrawn="1"/>
        </p:nvSpPr>
        <p:spPr bwMode="auto">
          <a:xfrm>
            <a:off x="5141313" y="3013217"/>
            <a:ext cx="909357" cy="1172504"/>
          </a:xfrm>
          <a:custGeom>
            <a:avLst/>
            <a:gdLst/>
            <a:ahLst/>
            <a:cxnLst>
              <a:cxn ang="0">
                <a:pos x="123" y="446"/>
              </a:cxn>
              <a:cxn ang="0">
                <a:pos x="346" y="223"/>
              </a:cxn>
              <a:cxn ang="0">
                <a:pos x="123" y="0"/>
              </a:cxn>
              <a:cxn ang="0">
                <a:pos x="123" y="446"/>
              </a:cxn>
            </a:cxnLst>
            <a:rect l="0" t="0" r="r" b="b"/>
            <a:pathLst>
              <a:path w="346" h="446">
                <a:moveTo>
                  <a:pt x="123" y="446"/>
                </a:moveTo>
                <a:cubicBezTo>
                  <a:pt x="346" y="223"/>
                  <a:pt x="346" y="223"/>
                  <a:pt x="346" y="223"/>
                </a:cubicBezTo>
                <a:cubicBezTo>
                  <a:pt x="123" y="0"/>
                  <a:pt x="123" y="0"/>
                  <a:pt x="123" y="0"/>
                </a:cubicBezTo>
                <a:cubicBezTo>
                  <a:pt x="0" y="123"/>
                  <a:pt x="0" y="323"/>
                  <a:pt x="123" y="446"/>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solidFill>
                <a:srgbClr val="97AED1"/>
              </a:solidFill>
              <a:latin typeface="思源黑体 CN Normal" panose="020B0400000000000000" pitchFamily="34" charset="-128"/>
              <a:ea typeface="思源黑体 CN Normal" panose="020B0400000000000000" pitchFamily="34" charset="-128"/>
            </a:endParaRPr>
          </a:p>
        </p:txBody>
      </p:sp>
      <p:sp>
        <p:nvSpPr>
          <p:cNvPr id="23" name="ïṧļídè"/>
          <p:cNvSpPr/>
          <p:nvPr userDrawn="1"/>
        </p:nvSpPr>
        <p:spPr bwMode="auto">
          <a:xfrm>
            <a:off x="5501058" y="2636816"/>
            <a:ext cx="1169173" cy="909357"/>
          </a:xfrm>
          <a:custGeom>
            <a:avLst/>
            <a:gdLst/>
            <a:ahLst/>
            <a:cxnLst>
              <a:cxn ang="0">
                <a:pos x="0" y="123"/>
              </a:cxn>
              <a:cxn ang="0">
                <a:pos x="222" y="346"/>
              </a:cxn>
              <a:cxn ang="0">
                <a:pos x="445" y="123"/>
              </a:cxn>
              <a:cxn ang="0">
                <a:pos x="0" y="123"/>
              </a:cxn>
            </a:cxnLst>
            <a:rect l="0" t="0" r="r" b="b"/>
            <a:pathLst>
              <a:path w="445" h="346">
                <a:moveTo>
                  <a:pt x="0" y="123"/>
                </a:moveTo>
                <a:cubicBezTo>
                  <a:pt x="222" y="346"/>
                  <a:pt x="222" y="346"/>
                  <a:pt x="222" y="346"/>
                </a:cubicBezTo>
                <a:cubicBezTo>
                  <a:pt x="445" y="123"/>
                  <a:pt x="445" y="123"/>
                  <a:pt x="445" y="123"/>
                </a:cubicBezTo>
                <a:cubicBezTo>
                  <a:pt x="322" y="0"/>
                  <a:pt x="123" y="0"/>
                  <a:pt x="0" y="123"/>
                </a:cubicBezTo>
              </a:path>
            </a:pathLst>
          </a:custGeom>
          <a:solidFill>
            <a:schemeClr val="bg1">
              <a:lumMod val="95000"/>
            </a:schemeClr>
          </a:solidFill>
          <a:ln w="9525">
            <a:noFill/>
            <a:round/>
          </a:ln>
        </p:spPr>
        <p:txBody>
          <a:bodyPr wrap="square" lIns="91440" tIns="45720" rIns="91440" bIns="45720" anchor="ctr">
            <a:normAutofit/>
          </a:bodyPr>
          <a:lstStyle/>
          <a:p>
            <a:pPr algn="ctr"/>
            <a:endParaRPr dirty="0">
              <a:latin typeface="思源黑体 CN Normal" panose="020B0400000000000000" pitchFamily="34" charset="-128"/>
              <a:ea typeface="思源黑体 CN Normal" panose="020B0400000000000000" pitchFamily="34" charset="-128"/>
            </a:endParaRPr>
          </a:p>
        </p:txBody>
      </p:sp>
      <p:sp>
        <p:nvSpPr>
          <p:cNvPr id="24" name="ís1ïďè"/>
          <p:cNvSpPr/>
          <p:nvPr userDrawn="1"/>
        </p:nvSpPr>
        <p:spPr bwMode="auto">
          <a:xfrm>
            <a:off x="4338547" y="4400569"/>
            <a:ext cx="936005" cy="937670"/>
          </a:xfrm>
          <a:custGeom>
            <a:avLst/>
            <a:gdLst/>
            <a:ahLst/>
            <a:cxnLst>
              <a:cxn ang="0">
                <a:pos x="355" y="357"/>
              </a:cxn>
              <a:cxn ang="0">
                <a:pos x="0" y="1"/>
              </a:cxn>
              <a:cxn ang="0">
                <a:pos x="2" y="0"/>
              </a:cxn>
              <a:cxn ang="0">
                <a:pos x="356" y="354"/>
              </a:cxn>
              <a:cxn ang="0">
                <a:pos x="355" y="357"/>
              </a:cxn>
            </a:cxnLst>
            <a:rect l="0" t="0" r="r" b="b"/>
            <a:pathLst>
              <a:path w="356" h="357">
                <a:moveTo>
                  <a:pt x="355" y="357"/>
                </a:moveTo>
                <a:cubicBezTo>
                  <a:pt x="199" y="284"/>
                  <a:pt x="73" y="158"/>
                  <a:pt x="0" y="1"/>
                </a:cubicBezTo>
                <a:cubicBezTo>
                  <a:pt x="2" y="0"/>
                  <a:pt x="2" y="0"/>
                  <a:pt x="2" y="0"/>
                </a:cubicBezTo>
                <a:cubicBezTo>
                  <a:pt x="75" y="156"/>
                  <a:pt x="201" y="282"/>
                  <a:pt x="356" y="354"/>
                </a:cubicBezTo>
                <a:lnTo>
                  <a:pt x="355" y="357"/>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5" name="îśļîdè"/>
          <p:cNvSpPr/>
          <p:nvPr userDrawn="1"/>
        </p:nvSpPr>
        <p:spPr bwMode="auto">
          <a:xfrm>
            <a:off x="6893407" y="1845709"/>
            <a:ext cx="937670" cy="936005"/>
          </a:xfrm>
          <a:custGeom>
            <a:avLst/>
            <a:gdLst/>
            <a:ahLst/>
            <a:cxnLst>
              <a:cxn ang="0">
                <a:pos x="354" y="356"/>
              </a:cxn>
              <a:cxn ang="0">
                <a:pos x="0" y="2"/>
              </a:cxn>
              <a:cxn ang="0">
                <a:pos x="1" y="0"/>
              </a:cxn>
              <a:cxn ang="0">
                <a:pos x="357" y="355"/>
              </a:cxn>
              <a:cxn ang="0">
                <a:pos x="354" y="356"/>
              </a:cxn>
            </a:cxnLst>
            <a:rect l="0" t="0" r="r" b="b"/>
            <a:pathLst>
              <a:path w="357" h="356">
                <a:moveTo>
                  <a:pt x="354" y="356"/>
                </a:moveTo>
                <a:cubicBezTo>
                  <a:pt x="282" y="201"/>
                  <a:pt x="156" y="75"/>
                  <a:pt x="0" y="2"/>
                </a:cubicBezTo>
                <a:cubicBezTo>
                  <a:pt x="1" y="0"/>
                  <a:pt x="1" y="0"/>
                  <a:pt x="1" y="0"/>
                </a:cubicBezTo>
                <a:cubicBezTo>
                  <a:pt x="158" y="73"/>
                  <a:pt x="284" y="199"/>
                  <a:pt x="357" y="355"/>
                </a:cubicBezTo>
                <a:lnTo>
                  <a:pt x="354" y="356"/>
                </a:ln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6" name="íŝ1iḋé"/>
          <p:cNvSpPr/>
          <p:nvPr userDrawn="1"/>
        </p:nvSpPr>
        <p:spPr bwMode="auto">
          <a:xfrm>
            <a:off x="6893407" y="4400569"/>
            <a:ext cx="937670" cy="937670"/>
          </a:xfrm>
          <a:custGeom>
            <a:avLst/>
            <a:gdLst/>
            <a:ahLst/>
            <a:cxnLst>
              <a:cxn ang="0">
                <a:pos x="1" y="357"/>
              </a:cxn>
              <a:cxn ang="0">
                <a:pos x="0" y="354"/>
              </a:cxn>
              <a:cxn ang="0">
                <a:pos x="354" y="0"/>
              </a:cxn>
              <a:cxn ang="0">
                <a:pos x="357" y="1"/>
              </a:cxn>
              <a:cxn ang="0">
                <a:pos x="1" y="357"/>
              </a:cxn>
            </a:cxnLst>
            <a:rect l="0" t="0" r="r" b="b"/>
            <a:pathLst>
              <a:path w="357" h="357">
                <a:moveTo>
                  <a:pt x="1" y="357"/>
                </a:moveTo>
                <a:cubicBezTo>
                  <a:pt x="0" y="354"/>
                  <a:pt x="0" y="354"/>
                  <a:pt x="0" y="354"/>
                </a:cubicBezTo>
                <a:cubicBezTo>
                  <a:pt x="156" y="282"/>
                  <a:pt x="282" y="156"/>
                  <a:pt x="354" y="0"/>
                </a:cubicBezTo>
                <a:cubicBezTo>
                  <a:pt x="357" y="1"/>
                  <a:pt x="357" y="1"/>
                  <a:pt x="357" y="1"/>
                </a:cubicBezTo>
                <a:cubicBezTo>
                  <a:pt x="284" y="158"/>
                  <a:pt x="158" y="284"/>
                  <a:pt x="1" y="35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27" name="ïs1ïḋè"/>
          <p:cNvSpPr/>
          <p:nvPr userDrawn="1"/>
        </p:nvSpPr>
        <p:spPr bwMode="auto">
          <a:xfrm>
            <a:off x="4383516" y="1890677"/>
            <a:ext cx="912688" cy="912688"/>
          </a:xfrm>
          <a:custGeom>
            <a:avLst/>
            <a:gdLst/>
            <a:ahLst/>
            <a:cxnLst>
              <a:cxn ang="0">
                <a:pos x="2" y="347"/>
              </a:cxn>
              <a:cxn ang="0">
                <a:pos x="0" y="346"/>
              </a:cxn>
              <a:cxn ang="0">
                <a:pos x="346" y="0"/>
              </a:cxn>
              <a:cxn ang="0">
                <a:pos x="347" y="2"/>
              </a:cxn>
              <a:cxn ang="0">
                <a:pos x="2" y="347"/>
              </a:cxn>
            </a:cxnLst>
            <a:rect l="0" t="0" r="r" b="b"/>
            <a:pathLst>
              <a:path w="347" h="347">
                <a:moveTo>
                  <a:pt x="2" y="347"/>
                </a:moveTo>
                <a:cubicBezTo>
                  <a:pt x="0" y="346"/>
                  <a:pt x="0" y="346"/>
                  <a:pt x="0" y="346"/>
                </a:cubicBezTo>
                <a:cubicBezTo>
                  <a:pt x="71" y="194"/>
                  <a:pt x="194" y="71"/>
                  <a:pt x="346" y="0"/>
                </a:cubicBezTo>
                <a:cubicBezTo>
                  <a:pt x="347" y="2"/>
                  <a:pt x="347" y="2"/>
                  <a:pt x="347" y="2"/>
                </a:cubicBezTo>
                <a:cubicBezTo>
                  <a:pt x="196" y="73"/>
                  <a:pt x="73" y="195"/>
                  <a:pt x="2" y="347"/>
                </a:cubicBezTo>
                <a:close/>
              </a:path>
            </a:pathLst>
          </a:custGeom>
          <a:solidFill>
            <a:schemeClr val="bg1">
              <a:lumMod val="85000"/>
            </a:schemeClr>
          </a:solidFill>
          <a:ln w="57150">
            <a:solidFill>
              <a:schemeClr val="bg1">
                <a:lumMod val="85000"/>
              </a:schemeClr>
            </a:solidFill>
            <a:round/>
          </a:ln>
        </p:spPr>
        <p:txBody>
          <a:bodyPr wrap="square" lIns="91440" tIns="45720" rIns="91440" bIns="45720" anchor="ctr">
            <a:normAutofit/>
          </a:bodyPr>
          <a:lstStyle/>
          <a:p>
            <a:pPr algn="ctr"/>
            <a:endParaRPr/>
          </a:p>
        </p:txBody>
      </p:sp>
      <p:sp>
        <p:nvSpPr>
          <p:cNvPr id="53" name="iŝ1iḓê"/>
          <p:cNvSpPr/>
          <p:nvPr userDrawn="1"/>
        </p:nvSpPr>
        <p:spPr>
          <a:xfrm>
            <a:off x="728291"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3" name="文本占位符 30"/>
          <p:cNvSpPr>
            <a:spLocks noGrp="1"/>
          </p:cNvSpPr>
          <p:nvPr>
            <p:ph type="body" sz="quarter" idx="18" hasCustomPrompt="1"/>
          </p:nvPr>
        </p:nvSpPr>
        <p:spPr>
          <a:xfrm>
            <a:off x="902381" y="176383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4" name="文本占位符 30"/>
          <p:cNvSpPr>
            <a:spLocks noGrp="1"/>
          </p:cNvSpPr>
          <p:nvPr>
            <p:ph type="body" sz="quarter" idx="16" hasCustomPrompt="1"/>
          </p:nvPr>
        </p:nvSpPr>
        <p:spPr>
          <a:xfrm>
            <a:off x="902381"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6" name="iŝ1iḓê"/>
          <p:cNvSpPr/>
          <p:nvPr userDrawn="1"/>
        </p:nvSpPr>
        <p:spPr>
          <a:xfrm>
            <a:off x="728291" y="4219783"/>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37" name="文本占位符 30"/>
          <p:cNvSpPr>
            <a:spLocks noGrp="1"/>
          </p:cNvSpPr>
          <p:nvPr>
            <p:ph type="body" sz="quarter" idx="19" hasCustomPrompt="1"/>
          </p:nvPr>
        </p:nvSpPr>
        <p:spPr>
          <a:xfrm>
            <a:off x="902381" y="4369329"/>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38" name="文本占位符 30"/>
          <p:cNvSpPr>
            <a:spLocks noGrp="1"/>
          </p:cNvSpPr>
          <p:nvPr>
            <p:ph type="body" sz="quarter" idx="20" hasCustomPrompt="1"/>
          </p:nvPr>
        </p:nvSpPr>
        <p:spPr>
          <a:xfrm>
            <a:off x="902381" y="4822638"/>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39" name="iŝ1iḓê"/>
          <p:cNvSpPr/>
          <p:nvPr userDrawn="1"/>
        </p:nvSpPr>
        <p:spPr>
          <a:xfrm>
            <a:off x="8335720" y="4223682"/>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0" name="文本占位符 30"/>
          <p:cNvSpPr>
            <a:spLocks noGrp="1"/>
          </p:cNvSpPr>
          <p:nvPr>
            <p:ph type="body" sz="quarter" idx="21" hasCustomPrompt="1"/>
          </p:nvPr>
        </p:nvSpPr>
        <p:spPr>
          <a:xfrm>
            <a:off x="8509810" y="4373228"/>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22" hasCustomPrompt="1"/>
          </p:nvPr>
        </p:nvSpPr>
        <p:spPr>
          <a:xfrm>
            <a:off x="8509810" y="4826537"/>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2" name="iŝ1iḓê"/>
          <p:cNvSpPr/>
          <p:nvPr userDrawn="1"/>
        </p:nvSpPr>
        <p:spPr>
          <a:xfrm>
            <a:off x="8335720" y="1614284"/>
            <a:ext cx="3172761" cy="1648002"/>
          </a:xfrm>
          <a:prstGeom prst="roundRect">
            <a:avLst>
              <a:gd name="adj" fmla="val 5186"/>
            </a:avLst>
          </a:prstGeom>
          <a:no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43" name="文本占位符 30"/>
          <p:cNvSpPr>
            <a:spLocks noGrp="1"/>
          </p:cNvSpPr>
          <p:nvPr>
            <p:ph type="body" sz="quarter" idx="23" hasCustomPrompt="1"/>
          </p:nvPr>
        </p:nvSpPr>
        <p:spPr>
          <a:xfrm>
            <a:off x="8509810" y="1763830"/>
            <a:ext cx="2804915"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4" name="文本占位符 30"/>
          <p:cNvSpPr>
            <a:spLocks noGrp="1"/>
          </p:cNvSpPr>
          <p:nvPr>
            <p:ph type="body" sz="quarter" idx="24" hasCustomPrompt="1"/>
          </p:nvPr>
        </p:nvSpPr>
        <p:spPr>
          <a:xfrm>
            <a:off x="8509810" y="2217139"/>
            <a:ext cx="2804915" cy="86436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p>
        </p:txBody>
      </p:sp>
      <p:sp>
        <p:nvSpPr>
          <p:cNvPr id="45" name="文本占位符 30"/>
          <p:cNvSpPr>
            <a:spLocks noGrp="1"/>
          </p:cNvSpPr>
          <p:nvPr>
            <p:ph type="body" sz="quarter" idx="25" hasCustomPrompt="1"/>
          </p:nvPr>
        </p:nvSpPr>
        <p:spPr>
          <a:xfrm>
            <a:off x="5766555" y="533823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6" name="文本占位符 30"/>
          <p:cNvSpPr>
            <a:spLocks noGrp="1"/>
          </p:cNvSpPr>
          <p:nvPr>
            <p:ph type="body" sz="quarter" idx="26" hasCustomPrompt="1"/>
          </p:nvPr>
        </p:nvSpPr>
        <p:spPr>
          <a:xfrm>
            <a:off x="5766555" y="169111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59" name="文本占位符 30"/>
          <p:cNvSpPr>
            <a:spLocks noGrp="1"/>
          </p:cNvSpPr>
          <p:nvPr>
            <p:ph type="body" sz="quarter" idx="27" hasCustomPrompt="1"/>
          </p:nvPr>
        </p:nvSpPr>
        <p:spPr>
          <a:xfrm>
            <a:off x="754340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0" name="文本占位符 30"/>
          <p:cNvSpPr>
            <a:spLocks noGrp="1"/>
          </p:cNvSpPr>
          <p:nvPr>
            <p:ph type="body" sz="quarter" idx="28" hasCustomPrompt="1"/>
          </p:nvPr>
        </p:nvSpPr>
        <p:spPr>
          <a:xfrm>
            <a:off x="3974333" y="3452109"/>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62" name="文本占位符 30"/>
          <p:cNvSpPr>
            <a:spLocks noGrp="1"/>
          </p:cNvSpPr>
          <p:nvPr>
            <p:ph type="body" sz="quarter" idx="29" hasCustomPrompt="1"/>
          </p:nvPr>
        </p:nvSpPr>
        <p:spPr>
          <a:xfrm>
            <a:off x="5777758" y="2814227"/>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3" name="文本占位符 30"/>
          <p:cNvSpPr>
            <a:spLocks noGrp="1"/>
          </p:cNvSpPr>
          <p:nvPr>
            <p:ph type="body" sz="quarter" idx="30" hasCustomPrompt="1"/>
          </p:nvPr>
        </p:nvSpPr>
        <p:spPr>
          <a:xfrm>
            <a:off x="5766555" y="3966816"/>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4" name="文本占位符 30"/>
          <p:cNvSpPr>
            <a:spLocks noGrp="1"/>
          </p:cNvSpPr>
          <p:nvPr>
            <p:ph type="body" sz="quarter" idx="31" hasCustomPrompt="1"/>
          </p:nvPr>
        </p:nvSpPr>
        <p:spPr>
          <a:xfrm>
            <a:off x="5229118" y="3410993"/>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65" name="文本占位符 30"/>
          <p:cNvSpPr>
            <a:spLocks noGrp="1"/>
          </p:cNvSpPr>
          <p:nvPr>
            <p:ph type="body" sz="quarter" idx="32" hasCustomPrompt="1"/>
          </p:nvPr>
        </p:nvSpPr>
        <p:spPr>
          <a:xfrm>
            <a:off x="6278271" y="3401368"/>
            <a:ext cx="669071" cy="397980"/>
          </a:xfrm>
          <a:prstGeom prst="rect">
            <a:avLst/>
          </a:prstGeom>
        </p:spPr>
        <p:txBody>
          <a:bodyPr/>
          <a:lstStyle>
            <a:lvl1pPr marL="228600" marR="0" indent="-228600" algn="r" defTabSz="914400" rtl="0" eaLnBrk="1" fontAlgn="auto" latinLnBrk="0" hangingPunct="1">
              <a:lnSpc>
                <a:spcPct val="90000"/>
              </a:lnSpc>
              <a:spcBef>
                <a:spcPts val="1000"/>
              </a:spcBef>
              <a:spcAft>
                <a:spcPts val="0"/>
              </a:spcAft>
              <a:buClrTx/>
              <a:buSzTx/>
              <a:buFont typeface="Arial" panose="020B0604020202020204" pitchFamily="34" charset="0"/>
              <a:buNone/>
              <a:defRPr sz="1800" b="0">
                <a:solidFill>
                  <a:srgbClr val="595A58"/>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icon</a:t>
            </a:r>
            <a:endParaRPr kumimoji="1" lang="zh-CN" altLang="en-US" dirty="0"/>
          </a:p>
        </p:txBody>
      </p:sp>
      <p:sp>
        <p:nvSpPr>
          <p:cNvPr id="4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11版式-3">
    <p:bg>
      <p:bgPr>
        <a:solidFill>
          <a:schemeClr val="bg1"/>
        </a:solidFill>
        <a:effectLst/>
      </p:bgPr>
    </p:bg>
    <p:spTree>
      <p:nvGrpSpPr>
        <p:cNvPr id="1" name=""/>
        <p:cNvGrpSpPr/>
        <p:nvPr/>
      </p:nvGrpSpPr>
      <p:grpSpPr>
        <a:xfrm>
          <a:off x="0" y="0"/>
          <a:ext cx="0" cy="0"/>
          <a:chOff x="0" y="0"/>
          <a:chExt cx="0" cy="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425360" y="3327134"/>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137360" y="3327134"/>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sp>
        <p:nvSpPr>
          <p:cNvPr id="42"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4" name="文本占位符 30"/>
          <p:cNvSpPr>
            <a:spLocks noGrp="1"/>
          </p:cNvSpPr>
          <p:nvPr>
            <p:ph type="body" sz="quarter" idx="19" hasCustomPrompt="1"/>
          </p:nvPr>
        </p:nvSpPr>
        <p:spPr>
          <a:xfrm>
            <a:off x="4388478" y="1554544"/>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0" hasCustomPrompt="1"/>
          </p:nvPr>
        </p:nvSpPr>
        <p:spPr>
          <a:xfrm>
            <a:off x="4388477" y="2007852"/>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1" hasCustomPrompt="1"/>
          </p:nvPr>
        </p:nvSpPr>
        <p:spPr>
          <a:xfrm>
            <a:off x="4811993" y="3423065"/>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2" hasCustomPrompt="1"/>
          </p:nvPr>
        </p:nvSpPr>
        <p:spPr>
          <a:xfrm>
            <a:off x="4811992" y="3876373"/>
            <a:ext cx="6112681" cy="97964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3" hasCustomPrompt="1"/>
          </p:nvPr>
        </p:nvSpPr>
        <p:spPr>
          <a:xfrm>
            <a:off x="4388477" y="5311572"/>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4" hasCustomPrompt="1"/>
          </p:nvPr>
        </p:nvSpPr>
        <p:spPr>
          <a:xfrm>
            <a:off x="4388476" y="5764881"/>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2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userDrawn="1">
  <p:cSld name="11版式-4">
    <p:bg>
      <p:bgPr>
        <a:solidFill>
          <a:schemeClr val="bg1"/>
        </a:solidFill>
        <a:effectLst/>
      </p:bgPr>
    </p:bg>
    <p:spTree>
      <p:nvGrpSpPr>
        <p:cNvPr id="1" name=""/>
        <p:cNvGrpSpPr/>
        <p:nvPr/>
      </p:nvGrpSpPr>
      <p:grpSpPr>
        <a:xfrm>
          <a:off x="0" y="0"/>
          <a:ext cx="0" cy="0"/>
          <a:chOff x="0" y="0"/>
          <a:chExt cx="0" cy="0"/>
        </a:xfrm>
      </p:grpSpPr>
      <p:grpSp>
        <p:nvGrpSpPr>
          <p:cNvPr id="4" name="204291"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p:cNvGrpSpPr>
            <a:grpSpLocks noChangeAspect="1"/>
          </p:cNvGrpSpPr>
          <p:nvPr userDrawn="1">
            <p:custDataLst>
              <p:tags r:id="rId1"/>
            </p:custDataLst>
          </p:nvPr>
        </p:nvGrpSpPr>
        <p:grpSpPr>
          <a:xfrm>
            <a:off x="2254651" y="1474850"/>
            <a:ext cx="9265837" cy="4327400"/>
            <a:chOff x="2254651" y="1474850"/>
            <a:chExt cx="9265837" cy="4327400"/>
          </a:xfrm>
        </p:grpSpPr>
        <p:sp>
          <p:nvSpPr>
            <p:cNvPr id="5" name="îsḷîḍê"/>
            <p:cNvSpPr/>
            <p:nvPr/>
          </p:nvSpPr>
          <p:spPr bwMode="auto">
            <a:xfrm flipH="1">
              <a:off x="2254651" y="1484250"/>
              <a:ext cx="2304375" cy="4318000"/>
            </a:xfrm>
            <a:custGeom>
              <a:avLst/>
              <a:gdLst>
                <a:gd name="T0" fmla="*/ 463 w 493"/>
                <a:gd name="T1" fmla="*/ 928 h 928"/>
                <a:gd name="T2" fmla="*/ 0 w 493"/>
                <a:gd name="T3" fmla="*/ 464 h 928"/>
                <a:gd name="T4" fmla="*/ 463 w 493"/>
                <a:gd name="T5" fmla="*/ 0 h 928"/>
                <a:gd name="T6" fmla="*/ 493 w 493"/>
                <a:gd name="T7" fmla="*/ 30 h 928"/>
                <a:gd name="T8" fmla="*/ 463 w 493"/>
                <a:gd name="T9" fmla="*/ 60 h 928"/>
                <a:gd name="T10" fmla="*/ 60 w 493"/>
                <a:gd name="T11" fmla="*/ 464 h 928"/>
                <a:gd name="T12" fmla="*/ 463 w 493"/>
                <a:gd name="T13" fmla="*/ 868 h 928"/>
                <a:gd name="T14" fmla="*/ 493 w 493"/>
                <a:gd name="T15" fmla="*/ 898 h 928"/>
                <a:gd name="T16" fmla="*/ 463 w 493"/>
                <a:gd name="T17" fmla="*/ 928 h 9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3" h="928">
                  <a:moveTo>
                    <a:pt x="463" y="928"/>
                  </a:moveTo>
                  <a:cubicBezTo>
                    <a:pt x="208" y="928"/>
                    <a:pt x="0" y="720"/>
                    <a:pt x="0" y="464"/>
                  </a:cubicBezTo>
                  <a:cubicBezTo>
                    <a:pt x="0" y="208"/>
                    <a:pt x="208" y="0"/>
                    <a:pt x="463" y="0"/>
                  </a:cubicBezTo>
                  <a:cubicBezTo>
                    <a:pt x="480" y="0"/>
                    <a:pt x="493" y="14"/>
                    <a:pt x="493" y="30"/>
                  </a:cubicBezTo>
                  <a:cubicBezTo>
                    <a:pt x="493" y="47"/>
                    <a:pt x="480" y="60"/>
                    <a:pt x="463" y="60"/>
                  </a:cubicBezTo>
                  <a:cubicBezTo>
                    <a:pt x="241" y="60"/>
                    <a:pt x="60" y="241"/>
                    <a:pt x="60" y="464"/>
                  </a:cubicBezTo>
                  <a:cubicBezTo>
                    <a:pt x="60" y="687"/>
                    <a:pt x="241" y="868"/>
                    <a:pt x="463" y="868"/>
                  </a:cubicBezTo>
                  <a:cubicBezTo>
                    <a:pt x="480" y="868"/>
                    <a:pt x="493" y="881"/>
                    <a:pt x="493" y="898"/>
                  </a:cubicBezTo>
                  <a:cubicBezTo>
                    <a:pt x="493" y="914"/>
                    <a:pt x="480" y="928"/>
                    <a:pt x="463" y="928"/>
                  </a:cubicBezTo>
                  <a:close/>
                </a:path>
              </a:pathLst>
            </a:custGeom>
            <a:solidFill>
              <a:schemeClr val="bg1">
                <a:lumMod val="95000"/>
              </a:schemeClr>
            </a:solidFill>
            <a:ln>
              <a:noFill/>
            </a:ln>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cxnSp>
          <p:nvCxnSpPr>
            <p:cNvPr id="6" name="直接连接符 6"/>
            <p:cNvCxnSpPr>
              <a:stCxn id="17" idx="0"/>
            </p:cNvCxnSpPr>
            <p:nvPr/>
          </p:nvCxnSpPr>
          <p:spPr>
            <a:xfrm>
              <a:off x="3066448" y="1474850"/>
              <a:ext cx="8454040" cy="0"/>
            </a:xfrm>
            <a:prstGeom prst="line">
              <a:avLst/>
            </a:prstGeom>
            <a:noFill/>
            <a:ln w="6350" cap="flat" cmpd="sng" algn="ctr">
              <a:solidFill>
                <a:schemeClr val="bg1">
                  <a:lumMod val="75000"/>
                </a:schemeClr>
              </a:solidFill>
              <a:prstDash val="solid"/>
              <a:miter lim="800000"/>
            </a:ln>
            <a:effectLst/>
          </p:spPr>
        </p:cxnSp>
        <p:cxnSp>
          <p:nvCxnSpPr>
            <p:cNvPr id="7" name="直接连接符 7"/>
            <p:cNvCxnSpPr>
              <a:stCxn id="18" idx="0"/>
            </p:cNvCxnSpPr>
            <p:nvPr/>
          </p:nvCxnSpPr>
          <p:spPr>
            <a:xfrm>
              <a:off x="3066448" y="5211051"/>
              <a:ext cx="8454040" cy="0"/>
            </a:xfrm>
            <a:prstGeom prst="line">
              <a:avLst/>
            </a:prstGeom>
            <a:noFill/>
            <a:ln w="6350" cap="flat" cmpd="sng" algn="ctr">
              <a:solidFill>
                <a:schemeClr val="bg1">
                  <a:lumMod val="75000"/>
                </a:schemeClr>
              </a:solidFill>
              <a:prstDash val="solid"/>
              <a:miter lim="800000"/>
            </a:ln>
            <a:effectLst/>
          </p:spPr>
        </p:cxnSp>
        <p:cxnSp>
          <p:nvCxnSpPr>
            <p:cNvPr id="9" name="直接连接符 8"/>
            <p:cNvCxnSpPr>
              <a:stCxn id="19" idx="0"/>
            </p:cNvCxnSpPr>
            <p:nvPr/>
          </p:nvCxnSpPr>
          <p:spPr>
            <a:xfrm>
              <a:off x="4316502" y="3965649"/>
              <a:ext cx="7203986" cy="0"/>
            </a:xfrm>
            <a:prstGeom prst="line">
              <a:avLst/>
            </a:prstGeom>
            <a:noFill/>
            <a:ln w="6350" cap="flat" cmpd="sng" algn="ctr">
              <a:solidFill>
                <a:schemeClr val="bg1">
                  <a:lumMod val="75000"/>
                </a:schemeClr>
              </a:solidFill>
              <a:prstDash val="solid"/>
              <a:miter lim="800000"/>
            </a:ln>
            <a:effectLst/>
          </p:spPr>
        </p:cxnSp>
        <p:cxnSp>
          <p:nvCxnSpPr>
            <p:cNvPr id="10" name="直接连接符 9"/>
            <p:cNvCxnSpPr>
              <a:stCxn id="20" idx="0"/>
            </p:cNvCxnSpPr>
            <p:nvPr/>
          </p:nvCxnSpPr>
          <p:spPr>
            <a:xfrm>
              <a:off x="4316502" y="2720249"/>
              <a:ext cx="7203986" cy="0"/>
            </a:xfrm>
            <a:prstGeom prst="line">
              <a:avLst/>
            </a:prstGeom>
            <a:noFill/>
            <a:ln w="6350" cap="flat" cmpd="sng" algn="ctr">
              <a:solidFill>
                <a:schemeClr val="bg1">
                  <a:lumMod val="85000"/>
                </a:schemeClr>
              </a:solidFill>
              <a:prstDash val="solid"/>
              <a:miter lim="800000"/>
            </a:ln>
            <a:effectLst/>
          </p:spPr>
        </p:cxnSp>
        <p:grpSp>
          <p:nvGrpSpPr>
            <p:cNvPr id="11" name="îṥḷïḋé"/>
            <p:cNvGrpSpPr/>
            <p:nvPr/>
          </p:nvGrpSpPr>
          <p:grpSpPr>
            <a:xfrm>
              <a:off x="7761155" y="3441137"/>
              <a:ext cx="952304" cy="616203"/>
              <a:chOff x="6349908" y="3947608"/>
              <a:chExt cx="952304" cy="616203"/>
            </a:xfrm>
          </p:grpSpPr>
          <p:sp>
            <p:nvSpPr>
              <p:cNvPr id="35" name="îṡḷíḍé"/>
              <p:cNvSpPr txBox="1"/>
              <p:nvPr/>
            </p:nvSpPr>
            <p:spPr>
              <a:xfrm>
                <a:off x="6349908" y="4225257"/>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Jul-Sep</a:t>
                </a:r>
              </a:p>
            </p:txBody>
          </p:sp>
          <p:grpSp>
            <p:nvGrpSpPr>
              <p:cNvPr id="36" name="íŝliḑe"/>
              <p:cNvGrpSpPr>
                <a:grpSpLocks noChangeAspect="1"/>
              </p:cNvGrpSpPr>
              <p:nvPr/>
            </p:nvGrpSpPr>
            <p:grpSpPr>
              <a:xfrm>
                <a:off x="6697923" y="3947608"/>
                <a:ext cx="256271" cy="251999"/>
                <a:chOff x="314325" y="2508251"/>
                <a:chExt cx="285750" cy="280987"/>
              </a:xfrm>
              <a:solidFill>
                <a:sysClr val="window" lastClr="FFFFFF"/>
              </a:solidFill>
            </p:grpSpPr>
            <p:sp>
              <p:nvSpPr>
                <p:cNvPr id="37" name="ïś1îḋê"/>
                <p:cNvSpPr/>
                <p:nvPr/>
              </p:nvSpPr>
              <p:spPr bwMode="auto">
                <a:xfrm>
                  <a:off x="314325" y="2508251"/>
                  <a:ext cx="214313" cy="195263"/>
                </a:xfrm>
                <a:custGeom>
                  <a:avLst/>
                  <a:gdLst>
                    <a:gd name="T0" fmla="*/ 383 w 674"/>
                    <a:gd name="T1" fmla="*/ 32 h 615"/>
                    <a:gd name="T2" fmla="*/ 442 w 674"/>
                    <a:gd name="T3" fmla="*/ 45 h 615"/>
                    <a:gd name="T4" fmla="*/ 495 w 674"/>
                    <a:gd name="T5" fmla="*/ 65 h 615"/>
                    <a:gd name="T6" fmla="*/ 544 w 674"/>
                    <a:gd name="T7" fmla="*/ 94 h 615"/>
                    <a:gd name="T8" fmla="*/ 583 w 674"/>
                    <a:gd name="T9" fmla="*/ 129 h 615"/>
                    <a:gd name="T10" fmla="*/ 613 w 674"/>
                    <a:gd name="T11" fmla="*/ 170 h 615"/>
                    <a:gd name="T12" fmla="*/ 635 w 674"/>
                    <a:gd name="T13" fmla="*/ 215 h 615"/>
                    <a:gd name="T14" fmla="*/ 643 w 674"/>
                    <a:gd name="T15" fmla="*/ 264 h 615"/>
                    <a:gd name="T16" fmla="*/ 672 w 674"/>
                    <a:gd name="T17" fmla="*/ 249 h 615"/>
                    <a:gd name="T18" fmla="*/ 659 w 674"/>
                    <a:gd name="T19" fmla="*/ 194 h 615"/>
                    <a:gd name="T20" fmla="*/ 633 w 674"/>
                    <a:gd name="T21" fmla="*/ 144 h 615"/>
                    <a:gd name="T22" fmla="*/ 597 w 674"/>
                    <a:gd name="T23" fmla="*/ 100 h 615"/>
                    <a:gd name="T24" fmla="*/ 551 w 674"/>
                    <a:gd name="T25" fmla="*/ 63 h 615"/>
                    <a:gd name="T26" fmla="*/ 498 w 674"/>
                    <a:gd name="T27" fmla="*/ 33 h 615"/>
                    <a:gd name="T28" fmla="*/ 437 w 674"/>
                    <a:gd name="T29" fmla="*/ 11 h 615"/>
                    <a:gd name="T30" fmla="*/ 371 w 674"/>
                    <a:gd name="T31" fmla="*/ 1 h 615"/>
                    <a:gd name="T32" fmla="*/ 303 w 674"/>
                    <a:gd name="T33" fmla="*/ 1 h 615"/>
                    <a:gd name="T34" fmla="*/ 236 w 674"/>
                    <a:gd name="T35" fmla="*/ 11 h 615"/>
                    <a:gd name="T36" fmla="*/ 177 w 674"/>
                    <a:gd name="T37" fmla="*/ 33 h 615"/>
                    <a:gd name="T38" fmla="*/ 123 w 674"/>
                    <a:gd name="T39" fmla="*/ 63 h 615"/>
                    <a:gd name="T40" fmla="*/ 77 w 674"/>
                    <a:gd name="T41" fmla="*/ 100 h 615"/>
                    <a:gd name="T42" fmla="*/ 41 w 674"/>
                    <a:gd name="T43" fmla="*/ 145 h 615"/>
                    <a:gd name="T44" fmla="*/ 15 w 674"/>
                    <a:gd name="T45" fmla="*/ 194 h 615"/>
                    <a:gd name="T46" fmla="*/ 2 w 674"/>
                    <a:gd name="T47" fmla="*/ 249 h 615"/>
                    <a:gd name="T48" fmla="*/ 1 w 674"/>
                    <a:gd name="T49" fmla="*/ 305 h 615"/>
                    <a:gd name="T50" fmla="*/ 13 w 674"/>
                    <a:gd name="T51" fmla="*/ 357 h 615"/>
                    <a:gd name="T52" fmla="*/ 34 w 674"/>
                    <a:gd name="T53" fmla="*/ 406 h 615"/>
                    <a:gd name="T54" fmla="*/ 66 w 674"/>
                    <a:gd name="T55" fmla="*/ 449 h 615"/>
                    <a:gd name="T56" fmla="*/ 15 w 674"/>
                    <a:gd name="T57" fmla="*/ 597 h 615"/>
                    <a:gd name="T58" fmla="*/ 21 w 674"/>
                    <a:gd name="T59" fmla="*/ 612 h 615"/>
                    <a:gd name="T60" fmla="*/ 33 w 674"/>
                    <a:gd name="T61" fmla="*/ 615 h 615"/>
                    <a:gd name="T62" fmla="*/ 254 w 674"/>
                    <a:gd name="T63" fmla="*/ 549 h 615"/>
                    <a:gd name="T64" fmla="*/ 273 w 674"/>
                    <a:gd name="T65" fmla="*/ 522 h 615"/>
                    <a:gd name="T66" fmla="*/ 225 w 674"/>
                    <a:gd name="T67" fmla="*/ 510 h 615"/>
                    <a:gd name="T68" fmla="*/ 120 w 674"/>
                    <a:gd name="T69" fmla="*/ 467 h 615"/>
                    <a:gd name="T70" fmla="*/ 105 w 674"/>
                    <a:gd name="T71" fmla="*/ 445 h 615"/>
                    <a:gd name="T72" fmla="*/ 71 w 674"/>
                    <a:gd name="T73" fmla="*/ 407 h 615"/>
                    <a:gd name="T74" fmla="*/ 47 w 674"/>
                    <a:gd name="T75" fmla="*/ 364 h 615"/>
                    <a:gd name="T76" fmla="*/ 33 w 674"/>
                    <a:gd name="T77" fmla="*/ 315 h 615"/>
                    <a:gd name="T78" fmla="*/ 30 w 674"/>
                    <a:gd name="T79" fmla="*/ 264 h 615"/>
                    <a:gd name="T80" fmla="*/ 40 w 674"/>
                    <a:gd name="T81" fmla="*/ 215 h 615"/>
                    <a:gd name="T82" fmla="*/ 60 w 674"/>
                    <a:gd name="T83" fmla="*/ 170 h 615"/>
                    <a:gd name="T84" fmla="*/ 91 w 674"/>
                    <a:gd name="T85" fmla="*/ 129 h 615"/>
                    <a:gd name="T86" fmla="*/ 131 w 674"/>
                    <a:gd name="T87" fmla="*/ 94 h 615"/>
                    <a:gd name="T88" fmla="*/ 178 w 674"/>
                    <a:gd name="T89" fmla="*/ 65 h 615"/>
                    <a:gd name="T90" fmla="*/ 231 w 674"/>
                    <a:gd name="T91" fmla="*/ 45 h 615"/>
                    <a:gd name="T92" fmla="*/ 290 w 674"/>
                    <a:gd name="T93" fmla="*/ 32 h 615"/>
                    <a:gd name="T94" fmla="*/ 337 w 674"/>
                    <a:gd name="T95" fmla="*/ 30 h 6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74" h="615">
                      <a:moveTo>
                        <a:pt x="337" y="30"/>
                      </a:moveTo>
                      <a:lnTo>
                        <a:pt x="353" y="30"/>
                      </a:lnTo>
                      <a:lnTo>
                        <a:pt x="368" y="31"/>
                      </a:lnTo>
                      <a:lnTo>
                        <a:pt x="383" y="32"/>
                      </a:lnTo>
                      <a:lnTo>
                        <a:pt x="399" y="34"/>
                      </a:lnTo>
                      <a:lnTo>
                        <a:pt x="413" y="37"/>
                      </a:lnTo>
                      <a:lnTo>
                        <a:pt x="428" y="40"/>
                      </a:lnTo>
                      <a:lnTo>
                        <a:pt x="442" y="45"/>
                      </a:lnTo>
                      <a:lnTo>
                        <a:pt x="456" y="49"/>
                      </a:lnTo>
                      <a:lnTo>
                        <a:pt x="470" y="54"/>
                      </a:lnTo>
                      <a:lnTo>
                        <a:pt x="483" y="60"/>
                      </a:lnTo>
                      <a:lnTo>
                        <a:pt x="495" y="65"/>
                      </a:lnTo>
                      <a:lnTo>
                        <a:pt x="508" y="71"/>
                      </a:lnTo>
                      <a:lnTo>
                        <a:pt x="520" y="79"/>
                      </a:lnTo>
                      <a:lnTo>
                        <a:pt x="532" y="86"/>
                      </a:lnTo>
                      <a:lnTo>
                        <a:pt x="544" y="94"/>
                      </a:lnTo>
                      <a:lnTo>
                        <a:pt x="554" y="102"/>
                      </a:lnTo>
                      <a:lnTo>
                        <a:pt x="564" y="111"/>
                      </a:lnTo>
                      <a:lnTo>
                        <a:pt x="574" y="120"/>
                      </a:lnTo>
                      <a:lnTo>
                        <a:pt x="583" y="129"/>
                      </a:lnTo>
                      <a:lnTo>
                        <a:pt x="592" y="139"/>
                      </a:lnTo>
                      <a:lnTo>
                        <a:pt x="599" y="148"/>
                      </a:lnTo>
                      <a:lnTo>
                        <a:pt x="607" y="159"/>
                      </a:lnTo>
                      <a:lnTo>
                        <a:pt x="613" y="170"/>
                      </a:lnTo>
                      <a:lnTo>
                        <a:pt x="620" y="181"/>
                      </a:lnTo>
                      <a:lnTo>
                        <a:pt x="625" y="192"/>
                      </a:lnTo>
                      <a:lnTo>
                        <a:pt x="630" y="203"/>
                      </a:lnTo>
                      <a:lnTo>
                        <a:pt x="635" y="215"/>
                      </a:lnTo>
                      <a:lnTo>
                        <a:pt x="638" y="228"/>
                      </a:lnTo>
                      <a:lnTo>
                        <a:pt x="640" y="239"/>
                      </a:lnTo>
                      <a:lnTo>
                        <a:pt x="642" y="251"/>
                      </a:lnTo>
                      <a:lnTo>
                        <a:pt x="643" y="264"/>
                      </a:lnTo>
                      <a:lnTo>
                        <a:pt x="644" y="277"/>
                      </a:lnTo>
                      <a:lnTo>
                        <a:pt x="674" y="277"/>
                      </a:lnTo>
                      <a:lnTo>
                        <a:pt x="673" y="263"/>
                      </a:lnTo>
                      <a:lnTo>
                        <a:pt x="672" y="249"/>
                      </a:lnTo>
                      <a:lnTo>
                        <a:pt x="670" y="235"/>
                      </a:lnTo>
                      <a:lnTo>
                        <a:pt x="667" y="221"/>
                      </a:lnTo>
                      <a:lnTo>
                        <a:pt x="663" y="207"/>
                      </a:lnTo>
                      <a:lnTo>
                        <a:pt x="659" y="194"/>
                      </a:lnTo>
                      <a:lnTo>
                        <a:pt x="654" y="182"/>
                      </a:lnTo>
                      <a:lnTo>
                        <a:pt x="647" y="169"/>
                      </a:lnTo>
                      <a:lnTo>
                        <a:pt x="641" y="157"/>
                      </a:lnTo>
                      <a:lnTo>
                        <a:pt x="633" y="144"/>
                      </a:lnTo>
                      <a:lnTo>
                        <a:pt x="625" y="133"/>
                      </a:lnTo>
                      <a:lnTo>
                        <a:pt x="616" y="122"/>
                      </a:lnTo>
                      <a:lnTo>
                        <a:pt x="607" y="111"/>
                      </a:lnTo>
                      <a:lnTo>
                        <a:pt x="597" y="100"/>
                      </a:lnTo>
                      <a:lnTo>
                        <a:pt x="586" y="91"/>
                      </a:lnTo>
                      <a:lnTo>
                        <a:pt x="575" y="81"/>
                      </a:lnTo>
                      <a:lnTo>
                        <a:pt x="563" y="71"/>
                      </a:lnTo>
                      <a:lnTo>
                        <a:pt x="551" y="63"/>
                      </a:lnTo>
                      <a:lnTo>
                        <a:pt x="538" y="54"/>
                      </a:lnTo>
                      <a:lnTo>
                        <a:pt x="525" y="47"/>
                      </a:lnTo>
                      <a:lnTo>
                        <a:pt x="511" y="39"/>
                      </a:lnTo>
                      <a:lnTo>
                        <a:pt x="498" y="33"/>
                      </a:lnTo>
                      <a:lnTo>
                        <a:pt x="483" y="26"/>
                      </a:lnTo>
                      <a:lnTo>
                        <a:pt x="468" y="21"/>
                      </a:lnTo>
                      <a:lnTo>
                        <a:pt x="453" y="16"/>
                      </a:lnTo>
                      <a:lnTo>
                        <a:pt x="437" y="11"/>
                      </a:lnTo>
                      <a:lnTo>
                        <a:pt x="421" y="8"/>
                      </a:lnTo>
                      <a:lnTo>
                        <a:pt x="404" y="5"/>
                      </a:lnTo>
                      <a:lnTo>
                        <a:pt x="388" y="3"/>
                      </a:lnTo>
                      <a:lnTo>
                        <a:pt x="371" y="1"/>
                      </a:lnTo>
                      <a:lnTo>
                        <a:pt x="354" y="0"/>
                      </a:lnTo>
                      <a:lnTo>
                        <a:pt x="337" y="0"/>
                      </a:lnTo>
                      <a:lnTo>
                        <a:pt x="320" y="0"/>
                      </a:lnTo>
                      <a:lnTo>
                        <a:pt x="303" y="1"/>
                      </a:lnTo>
                      <a:lnTo>
                        <a:pt x="286" y="3"/>
                      </a:lnTo>
                      <a:lnTo>
                        <a:pt x="269" y="5"/>
                      </a:lnTo>
                      <a:lnTo>
                        <a:pt x="253" y="8"/>
                      </a:lnTo>
                      <a:lnTo>
                        <a:pt x="236" y="11"/>
                      </a:lnTo>
                      <a:lnTo>
                        <a:pt x="221" y="16"/>
                      </a:lnTo>
                      <a:lnTo>
                        <a:pt x="205" y="21"/>
                      </a:lnTo>
                      <a:lnTo>
                        <a:pt x="190" y="26"/>
                      </a:lnTo>
                      <a:lnTo>
                        <a:pt x="177" y="33"/>
                      </a:lnTo>
                      <a:lnTo>
                        <a:pt x="163" y="39"/>
                      </a:lnTo>
                      <a:lnTo>
                        <a:pt x="149" y="47"/>
                      </a:lnTo>
                      <a:lnTo>
                        <a:pt x="136" y="54"/>
                      </a:lnTo>
                      <a:lnTo>
                        <a:pt x="123" y="63"/>
                      </a:lnTo>
                      <a:lnTo>
                        <a:pt x="110" y="71"/>
                      </a:lnTo>
                      <a:lnTo>
                        <a:pt x="98" y="81"/>
                      </a:lnTo>
                      <a:lnTo>
                        <a:pt x="88" y="91"/>
                      </a:lnTo>
                      <a:lnTo>
                        <a:pt x="77" y="100"/>
                      </a:lnTo>
                      <a:lnTo>
                        <a:pt x="67" y="111"/>
                      </a:lnTo>
                      <a:lnTo>
                        <a:pt x="58" y="122"/>
                      </a:lnTo>
                      <a:lnTo>
                        <a:pt x="49" y="133"/>
                      </a:lnTo>
                      <a:lnTo>
                        <a:pt x="41" y="145"/>
                      </a:lnTo>
                      <a:lnTo>
                        <a:pt x="33" y="157"/>
                      </a:lnTo>
                      <a:lnTo>
                        <a:pt x="27" y="169"/>
                      </a:lnTo>
                      <a:lnTo>
                        <a:pt x="20" y="182"/>
                      </a:lnTo>
                      <a:lnTo>
                        <a:pt x="15" y="194"/>
                      </a:lnTo>
                      <a:lnTo>
                        <a:pt x="11" y="207"/>
                      </a:lnTo>
                      <a:lnTo>
                        <a:pt x="6" y="221"/>
                      </a:lnTo>
                      <a:lnTo>
                        <a:pt x="4" y="235"/>
                      </a:lnTo>
                      <a:lnTo>
                        <a:pt x="2" y="249"/>
                      </a:lnTo>
                      <a:lnTo>
                        <a:pt x="0" y="263"/>
                      </a:lnTo>
                      <a:lnTo>
                        <a:pt x="0" y="277"/>
                      </a:lnTo>
                      <a:lnTo>
                        <a:pt x="0" y="291"/>
                      </a:lnTo>
                      <a:lnTo>
                        <a:pt x="1" y="305"/>
                      </a:lnTo>
                      <a:lnTo>
                        <a:pt x="3" y="319"/>
                      </a:lnTo>
                      <a:lnTo>
                        <a:pt x="5" y="331"/>
                      </a:lnTo>
                      <a:lnTo>
                        <a:pt x="9" y="344"/>
                      </a:lnTo>
                      <a:lnTo>
                        <a:pt x="13" y="357"/>
                      </a:lnTo>
                      <a:lnTo>
                        <a:pt x="17" y="370"/>
                      </a:lnTo>
                      <a:lnTo>
                        <a:pt x="22" y="383"/>
                      </a:lnTo>
                      <a:lnTo>
                        <a:pt x="28" y="395"/>
                      </a:lnTo>
                      <a:lnTo>
                        <a:pt x="34" y="406"/>
                      </a:lnTo>
                      <a:lnTo>
                        <a:pt x="42" y="417"/>
                      </a:lnTo>
                      <a:lnTo>
                        <a:pt x="49" y="429"/>
                      </a:lnTo>
                      <a:lnTo>
                        <a:pt x="58" y="440"/>
                      </a:lnTo>
                      <a:lnTo>
                        <a:pt x="66" y="449"/>
                      </a:lnTo>
                      <a:lnTo>
                        <a:pt x="76" y="459"/>
                      </a:lnTo>
                      <a:lnTo>
                        <a:pt x="86" y="468"/>
                      </a:lnTo>
                      <a:lnTo>
                        <a:pt x="17" y="593"/>
                      </a:lnTo>
                      <a:lnTo>
                        <a:pt x="15" y="597"/>
                      </a:lnTo>
                      <a:lnTo>
                        <a:pt x="15" y="601"/>
                      </a:lnTo>
                      <a:lnTo>
                        <a:pt x="16" y="606"/>
                      </a:lnTo>
                      <a:lnTo>
                        <a:pt x="18" y="610"/>
                      </a:lnTo>
                      <a:lnTo>
                        <a:pt x="21" y="612"/>
                      </a:lnTo>
                      <a:lnTo>
                        <a:pt x="24" y="614"/>
                      </a:lnTo>
                      <a:lnTo>
                        <a:pt x="27" y="615"/>
                      </a:lnTo>
                      <a:lnTo>
                        <a:pt x="30" y="615"/>
                      </a:lnTo>
                      <a:lnTo>
                        <a:pt x="33" y="615"/>
                      </a:lnTo>
                      <a:lnTo>
                        <a:pt x="35" y="614"/>
                      </a:lnTo>
                      <a:lnTo>
                        <a:pt x="226" y="540"/>
                      </a:lnTo>
                      <a:lnTo>
                        <a:pt x="239" y="544"/>
                      </a:lnTo>
                      <a:lnTo>
                        <a:pt x="254" y="549"/>
                      </a:lnTo>
                      <a:lnTo>
                        <a:pt x="269" y="552"/>
                      </a:lnTo>
                      <a:lnTo>
                        <a:pt x="284" y="555"/>
                      </a:lnTo>
                      <a:lnTo>
                        <a:pt x="288" y="525"/>
                      </a:lnTo>
                      <a:lnTo>
                        <a:pt x="273" y="522"/>
                      </a:lnTo>
                      <a:lnTo>
                        <a:pt x="257" y="519"/>
                      </a:lnTo>
                      <a:lnTo>
                        <a:pt x="242" y="514"/>
                      </a:lnTo>
                      <a:lnTo>
                        <a:pt x="230" y="510"/>
                      </a:lnTo>
                      <a:lnTo>
                        <a:pt x="225" y="510"/>
                      </a:lnTo>
                      <a:lnTo>
                        <a:pt x="219" y="511"/>
                      </a:lnTo>
                      <a:lnTo>
                        <a:pt x="63" y="571"/>
                      </a:lnTo>
                      <a:lnTo>
                        <a:pt x="119" y="472"/>
                      </a:lnTo>
                      <a:lnTo>
                        <a:pt x="120" y="467"/>
                      </a:lnTo>
                      <a:lnTo>
                        <a:pt x="120" y="462"/>
                      </a:lnTo>
                      <a:lnTo>
                        <a:pt x="118" y="457"/>
                      </a:lnTo>
                      <a:lnTo>
                        <a:pt x="114" y="453"/>
                      </a:lnTo>
                      <a:lnTo>
                        <a:pt x="105" y="445"/>
                      </a:lnTo>
                      <a:lnTo>
                        <a:pt x="95" y="436"/>
                      </a:lnTo>
                      <a:lnTo>
                        <a:pt x="87" y="427"/>
                      </a:lnTo>
                      <a:lnTo>
                        <a:pt x="78" y="417"/>
                      </a:lnTo>
                      <a:lnTo>
                        <a:pt x="71" y="407"/>
                      </a:lnTo>
                      <a:lnTo>
                        <a:pt x="64" y="397"/>
                      </a:lnTo>
                      <a:lnTo>
                        <a:pt x="58" y="386"/>
                      </a:lnTo>
                      <a:lnTo>
                        <a:pt x="51" y="375"/>
                      </a:lnTo>
                      <a:lnTo>
                        <a:pt x="47" y="364"/>
                      </a:lnTo>
                      <a:lnTo>
                        <a:pt x="43" y="352"/>
                      </a:lnTo>
                      <a:lnTo>
                        <a:pt x="39" y="340"/>
                      </a:lnTo>
                      <a:lnTo>
                        <a:pt x="35" y="328"/>
                      </a:lnTo>
                      <a:lnTo>
                        <a:pt x="33" y="315"/>
                      </a:lnTo>
                      <a:lnTo>
                        <a:pt x="31" y="303"/>
                      </a:lnTo>
                      <a:lnTo>
                        <a:pt x="30" y="290"/>
                      </a:lnTo>
                      <a:lnTo>
                        <a:pt x="30" y="277"/>
                      </a:lnTo>
                      <a:lnTo>
                        <a:pt x="30" y="264"/>
                      </a:lnTo>
                      <a:lnTo>
                        <a:pt x="32" y="251"/>
                      </a:lnTo>
                      <a:lnTo>
                        <a:pt x="33" y="239"/>
                      </a:lnTo>
                      <a:lnTo>
                        <a:pt x="36" y="227"/>
                      </a:lnTo>
                      <a:lnTo>
                        <a:pt x="40" y="215"/>
                      </a:lnTo>
                      <a:lnTo>
                        <a:pt x="44" y="203"/>
                      </a:lnTo>
                      <a:lnTo>
                        <a:pt x="48" y="192"/>
                      </a:lnTo>
                      <a:lnTo>
                        <a:pt x="55" y="181"/>
                      </a:lnTo>
                      <a:lnTo>
                        <a:pt x="60" y="170"/>
                      </a:lnTo>
                      <a:lnTo>
                        <a:pt x="67" y="159"/>
                      </a:lnTo>
                      <a:lnTo>
                        <a:pt x="75" y="148"/>
                      </a:lnTo>
                      <a:lnTo>
                        <a:pt x="82" y="139"/>
                      </a:lnTo>
                      <a:lnTo>
                        <a:pt x="91" y="129"/>
                      </a:lnTo>
                      <a:lnTo>
                        <a:pt x="101" y="120"/>
                      </a:lnTo>
                      <a:lnTo>
                        <a:pt x="110" y="111"/>
                      </a:lnTo>
                      <a:lnTo>
                        <a:pt x="120" y="102"/>
                      </a:lnTo>
                      <a:lnTo>
                        <a:pt x="131" y="94"/>
                      </a:lnTo>
                      <a:lnTo>
                        <a:pt x="142" y="86"/>
                      </a:lnTo>
                      <a:lnTo>
                        <a:pt x="153" y="79"/>
                      </a:lnTo>
                      <a:lnTo>
                        <a:pt x="166" y="71"/>
                      </a:lnTo>
                      <a:lnTo>
                        <a:pt x="178" y="65"/>
                      </a:lnTo>
                      <a:lnTo>
                        <a:pt x="190" y="60"/>
                      </a:lnTo>
                      <a:lnTo>
                        <a:pt x="204" y="54"/>
                      </a:lnTo>
                      <a:lnTo>
                        <a:pt x="217" y="49"/>
                      </a:lnTo>
                      <a:lnTo>
                        <a:pt x="231" y="45"/>
                      </a:lnTo>
                      <a:lnTo>
                        <a:pt x="246" y="40"/>
                      </a:lnTo>
                      <a:lnTo>
                        <a:pt x="260" y="37"/>
                      </a:lnTo>
                      <a:lnTo>
                        <a:pt x="275" y="34"/>
                      </a:lnTo>
                      <a:lnTo>
                        <a:pt x="290" y="32"/>
                      </a:lnTo>
                      <a:lnTo>
                        <a:pt x="306" y="31"/>
                      </a:lnTo>
                      <a:lnTo>
                        <a:pt x="321" y="30"/>
                      </a:lnTo>
                      <a:lnTo>
                        <a:pt x="337" y="30"/>
                      </a:lnTo>
                      <a:lnTo>
                        <a:pt x="337" y="3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8" name="iṡ1ïḑê"/>
                <p:cNvSpPr/>
                <p:nvPr/>
              </p:nvSpPr>
              <p:spPr bwMode="auto">
                <a:xfrm>
                  <a:off x="422275" y="2620963"/>
                  <a:ext cx="177800" cy="168275"/>
                </a:xfrm>
                <a:custGeom>
                  <a:avLst/>
                  <a:gdLst>
                    <a:gd name="T0" fmla="*/ 377 w 560"/>
                    <a:gd name="T1" fmla="*/ 437 h 527"/>
                    <a:gd name="T2" fmla="*/ 336 w 560"/>
                    <a:gd name="T3" fmla="*/ 451 h 527"/>
                    <a:gd name="T4" fmla="*/ 285 w 560"/>
                    <a:gd name="T5" fmla="*/ 459 h 527"/>
                    <a:gd name="T6" fmla="*/ 248 w 560"/>
                    <a:gd name="T7" fmla="*/ 458 h 527"/>
                    <a:gd name="T8" fmla="*/ 179 w 560"/>
                    <a:gd name="T9" fmla="*/ 442 h 527"/>
                    <a:gd name="T10" fmla="*/ 102 w 560"/>
                    <a:gd name="T11" fmla="*/ 395 h 527"/>
                    <a:gd name="T12" fmla="*/ 59 w 560"/>
                    <a:gd name="T13" fmla="*/ 345 h 527"/>
                    <a:gd name="T14" fmla="*/ 41 w 560"/>
                    <a:gd name="T15" fmla="*/ 306 h 527"/>
                    <a:gd name="T16" fmla="*/ 31 w 560"/>
                    <a:gd name="T17" fmla="*/ 265 h 527"/>
                    <a:gd name="T18" fmla="*/ 31 w 560"/>
                    <a:gd name="T19" fmla="*/ 221 h 527"/>
                    <a:gd name="T20" fmla="*/ 41 w 560"/>
                    <a:gd name="T21" fmla="*/ 180 h 527"/>
                    <a:gd name="T22" fmla="*/ 60 w 560"/>
                    <a:gd name="T23" fmla="*/ 143 h 527"/>
                    <a:gd name="T24" fmla="*/ 104 w 560"/>
                    <a:gd name="T25" fmla="*/ 93 h 527"/>
                    <a:gd name="T26" fmla="*/ 183 w 560"/>
                    <a:gd name="T27" fmla="*/ 47 h 527"/>
                    <a:gd name="T28" fmla="*/ 255 w 560"/>
                    <a:gd name="T29" fmla="*/ 31 h 527"/>
                    <a:gd name="T30" fmla="*/ 305 w 560"/>
                    <a:gd name="T31" fmla="*/ 31 h 527"/>
                    <a:gd name="T32" fmla="*/ 376 w 560"/>
                    <a:gd name="T33" fmla="*/ 47 h 527"/>
                    <a:gd name="T34" fmla="*/ 456 w 560"/>
                    <a:gd name="T35" fmla="*/ 93 h 527"/>
                    <a:gd name="T36" fmla="*/ 499 w 560"/>
                    <a:gd name="T37" fmla="*/ 143 h 527"/>
                    <a:gd name="T38" fmla="*/ 518 w 560"/>
                    <a:gd name="T39" fmla="*/ 180 h 527"/>
                    <a:gd name="T40" fmla="*/ 529 w 560"/>
                    <a:gd name="T41" fmla="*/ 221 h 527"/>
                    <a:gd name="T42" fmla="*/ 529 w 560"/>
                    <a:gd name="T43" fmla="*/ 262 h 527"/>
                    <a:gd name="T44" fmla="*/ 520 w 560"/>
                    <a:gd name="T45" fmla="*/ 301 h 527"/>
                    <a:gd name="T46" fmla="*/ 502 w 560"/>
                    <a:gd name="T47" fmla="*/ 336 h 527"/>
                    <a:gd name="T48" fmla="*/ 476 w 560"/>
                    <a:gd name="T49" fmla="*/ 367 h 527"/>
                    <a:gd name="T50" fmla="*/ 455 w 560"/>
                    <a:gd name="T51" fmla="*/ 391 h 527"/>
                    <a:gd name="T52" fmla="*/ 386 w 560"/>
                    <a:gd name="T53" fmla="*/ 437 h 527"/>
                    <a:gd name="T54" fmla="*/ 512 w 560"/>
                    <a:gd name="T55" fmla="*/ 373 h 527"/>
                    <a:gd name="T56" fmla="*/ 536 w 560"/>
                    <a:gd name="T57" fmla="*/ 336 h 527"/>
                    <a:gd name="T58" fmla="*/ 552 w 560"/>
                    <a:gd name="T59" fmla="*/ 297 h 527"/>
                    <a:gd name="T60" fmla="*/ 560 w 560"/>
                    <a:gd name="T61" fmla="*/ 254 h 527"/>
                    <a:gd name="T62" fmla="*/ 557 w 560"/>
                    <a:gd name="T63" fmla="*/ 206 h 527"/>
                    <a:gd name="T64" fmla="*/ 543 w 560"/>
                    <a:gd name="T65" fmla="*/ 160 h 527"/>
                    <a:gd name="T66" fmla="*/ 519 w 560"/>
                    <a:gd name="T67" fmla="*/ 118 h 527"/>
                    <a:gd name="T68" fmla="*/ 486 w 560"/>
                    <a:gd name="T69" fmla="*/ 81 h 527"/>
                    <a:gd name="T70" fmla="*/ 447 w 560"/>
                    <a:gd name="T71" fmla="*/ 48 h 527"/>
                    <a:gd name="T72" fmla="*/ 401 w 560"/>
                    <a:gd name="T73" fmla="*/ 24 h 527"/>
                    <a:gd name="T74" fmla="*/ 349 w 560"/>
                    <a:gd name="T75" fmla="*/ 8 h 527"/>
                    <a:gd name="T76" fmla="*/ 295 w 560"/>
                    <a:gd name="T77" fmla="*/ 0 h 527"/>
                    <a:gd name="T78" fmla="*/ 238 w 560"/>
                    <a:gd name="T79" fmla="*/ 2 h 527"/>
                    <a:gd name="T80" fmla="*/ 184 w 560"/>
                    <a:gd name="T81" fmla="*/ 15 h 527"/>
                    <a:gd name="T82" fmla="*/ 136 w 560"/>
                    <a:gd name="T83" fmla="*/ 36 h 527"/>
                    <a:gd name="T84" fmla="*/ 92 w 560"/>
                    <a:gd name="T85" fmla="*/ 63 h 527"/>
                    <a:gd name="T86" fmla="*/ 56 w 560"/>
                    <a:gd name="T87" fmla="*/ 99 h 527"/>
                    <a:gd name="T88" fmla="*/ 28 w 560"/>
                    <a:gd name="T89" fmla="*/ 138 h 527"/>
                    <a:gd name="T90" fmla="*/ 9 w 560"/>
                    <a:gd name="T91" fmla="*/ 182 h 527"/>
                    <a:gd name="T92" fmla="*/ 0 w 560"/>
                    <a:gd name="T93" fmla="*/ 230 h 527"/>
                    <a:gd name="T94" fmla="*/ 4 w 560"/>
                    <a:gd name="T95" fmla="*/ 280 h 527"/>
                    <a:gd name="T96" fmla="*/ 16 w 560"/>
                    <a:gd name="T97" fmla="*/ 327 h 527"/>
                    <a:gd name="T98" fmla="*/ 40 w 560"/>
                    <a:gd name="T99" fmla="*/ 369 h 527"/>
                    <a:gd name="T100" fmla="*/ 72 w 560"/>
                    <a:gd name="T101" fmla="*/ 407 h 527"/>
                    <a:gd name="T102" fmla="*/ 111 w 560"/>
                    <a:gd name="T103" fmla="*/ 439 h 527"/>
                    <a:gd name="T104" fmla="*/ 155 w 560"/>
                    <a:gd name="T105" fmla="*/ 465 h 527"/>
                    <a:gd name="T106" fmla="*/ 205 w 560"/>
                    <a:gd name="T107" fmla="*/ 482 h 527"/>
                    <a:gd name="T108" fmla="*/ 258 w 560"/>
                    <a:gd name="T109" fmla="*/ 489 h 527"/>
                    <a:gd name="T110" fmla="*/ 300 w 560"/>
                    <a:gd name="T111" fmla="*/ 488 h 527"/>
                    <a:gd name="T112" fmla="*/ 353 w 560"/>
                    <a:gd name="T113" fmla="*/ 478 h 527"/>
                    <a:gd name="T114" fmla="*/ 527 w 560"/>
                    <a:gd name="T115" fmla="*/ 526 h 527"/>
                    <a:gd name="T116" fmla="*/ 539 w 560"/>
                    <a:gd name="T117" fmla="*/ 524 h 527"/>
                    <a:gd name="T118" fmla="*/ 545 w 560"/>
                    <a:gd name="T119" fmla="*/ 509 h 5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60" h="527">
                      <a:moveTo>
                        <a:pt x="386" y="437"/>
                      </a:moveTo>
                      <a:lnTo>
                        <a:pt x="382" y="437"/>
                      </a:lnTo>
                      <a:lnTo>
                        <a:pt x="380" y="436"/>
                      </a:lnTo>
                      <a:lnTo>
                        <a:pt x="377" y="437"/>
                      </a:lnTo>
                      <a:lnTo>
                        <a:pt x="374" y="438"/>
                      </a:lnTo>
                      <a:lnTo>
                        <a:pt x="362" y="442"/>
                      </a:lnTo>
                      <a:lnTo>
                        <a:pt x="349" y="447"/>
                      </a:lnTo>
                      <a:lnTo>
                        <a:pt x="336" y="451"/>
                      </a:lnTo>
                      <a:lnTo>
                        <a:pt x="323" y="454"/>
                      </a:lnTo>
                      <a:lnTo>
                        <a:pt x="311" y="456"/>
                      </a:lnTo>
                      <a:lnTo>
                        <a:pt x="298" y="458"/>
                      </a:lnTo>
                      <a:lnTo>
                        <a:pt x="285" y="459"/>
                      </a:lnTo>
                      <a:lnTo>
                        <a:pt x="272" y="459"/>
                      </a:lnTo>
                      <a:lnTo>
                        <a:pt x="272" y="459"/>
                      </a:lnTo>
                      <a:lnTo>
                        <a:pt x="259" y="459"/>
                      </a:lnTo>
                      <a:lnTo>
                        <a:pt x="248" y="458"/>
                      </a:lnTo>
                      <a:lnTo>
                        <a:pt x="236" y="457"/>
                      </a:lnTo>
                      <a:lnTo>
                        <a:pt x="224" y="455"/>
                      </a:lnTo>
                      <a:lnTo>
                        <a:pt x="200" y="450"/>
                      </a:lnTo>
                      <a:lnTo>
                        <a:pt x="179" y="442"/>
                      </a:lnTo>
                      <a:lnTo>
                        <a:pt x="158" y="433"/>
                      </a:lnTo>
                      <a:lnTo>
                        <a:pt x="137" y="422"/>
                      </a:lnTo>
                      <a:lnTo>
                        <a:pt x="119" y="409"/>
                      </a:lnTo>
                      <a:lnTo>
                        <a:pt x="102" y="395"/>
                      </a:lnTo>
                      <a:lnTo>
                        <a:pt x="86" y="379"/>
                      </a:lnTo>
                      <a:lnTo>
                        <a:pt x="72" y="363"/>
                      </a:lnTo>
                      <a:lnTo>
                        <a:pt x="66" y="353"/>
                      </a:lnTo>
                      <a:lnTo>
                        <a:pt x="59" y="345"/>
                      </a:lnTo>
                      <a:lnTo>
                        <a:pt x="54" y="335"/>
                      </a:lnTo>
                      <a:lnTo>
                        <a:pt x="50" y="326"/>
                      </a:lnTo>
                      <a:lnTo>
                        <a:pt x="45" y="316"/>
                      </a:lnTo>
                      <a:lnTo>
                        <a:pt x="41" y="306"/>
                      </a:lnTo>
                      <a:lnTo>
                        <a:pt x="38" y="296"/>
                      </a:lnTo>
                      <a:lnTo>
                        <a:pt x="35" y="285"/>
                      </a:lnTo>
                      <a:lnTo>
                        <a:pt x="32" y="275"/>
                      </a:lnTo>
                      <a:lnTo>
                        <a:pt x="31" y="265"/>
                      </a:lnTo>
                      <a:lnTo>
                        <a:pt x="30" y="254"/>
                      </a:lnTo>
                      <a:lnTo>
                        <a:pt x="30" y="242"/>
                      </a:lnTo>
                      <a:lnTo>
                        <a:pt x="30" y="231"/>
                      </a:lnTo>
                      <a:lnTo>
                        <a:pt x="31" y="221"/>
                      </a:lnTo>
                      <a:lnTo>
                        <a:pt x="32" y="211"/>
                      </a:lnTo>
                      <a:lnTo>
                        <a:pt x="35" y="200"/>
                      </a:lnTo>
                      <a:lnTo>
                        <a:pt x="38" y="190"/>
                      </a:lnTo>
                      <a:lnTo>
                        <a:pt x="41" y="180"/>
                      </a:lnTo>
                      <a:lnTo>
                        <a:pt x="45" y="170"/>
                      </a:lnTo>
                      <a:lnTo>
                        <a:pt x="50" y="161"/>
                      </a:lnTo>
                      <a:lnTo>
                        <a:pt x="55" y="151"/>
                      </a:lnTo>
                      <a:lnTo>
                        <a:pt x="60" y="143"/>
                      </a:lnTo>
                      <a:lnTo>
                        <a:pt x="67" y="133"/>
                      </a:lnTo>
                      <a:lnTo>
                        <a:pt x="73" y="124"/>
                      </a:lnTo>
                      <a:lnTo>
                        <a:pt x="88" y="108"/>
                      </a:lnTo>
                      <a:lnTo>
                        <a:pt x="104" y="93"/>
                      </a:lnTo>
                      <a:lnTo>
                        <a:pt x="122" y="79"/>
                      </a:lnTo>
                      <a:lnTo>
                        <a:pt x="142" y="67"/>
                      </a:lnTo>
                      <a:lnTo>
                        <a:pt x="162" y="56"/>
                      </a:lnTo>
                      <a:lnTo>
                        <a:pt x="183" y="47"/>
                      </a:lnTo>
                      <a:lnTo>
                        <a:pt x="207" y="40"/>
                      </a:lnTo>
                      <a:lnTo>
                        <a:pt x="230" y="35"/>
                      </a:lnTo>
                      <a:lnTo>
                        <a:pt x="242" y="32"/>
                      </a:lnTo>
                      <a:lnTo>
                        <a:pt x="255" y="31"/>
                      </a:lnTo>
                      <a:lnTo>
                        <a:pt x="267" y="30"/>
                      </a:lnTo>
                      <a:lnTo>
                        <a:pt x="280" y="30"/>
                      </a:lnTo>
                      <a:lnTo>
                        <a:pt x="292" y="30"/>
                      </a:lnTo>
                      <a:lnTo>
                        <a:pt x="305" y="31"/>
                      </a:lnTo>
                      <a:lnTo>
                        <a:pt x="317" y="32"/>
                      </a:lnTo>
                      <a:lnTo>
                        <a:pt x="330" y="35"/>
                      </a:lnTo>
                      <a:lnTo>
                        <a:pt x="353" y="40"/>
                      </a:lnTo>
                      <a:lnTo>
                        <a:pt x="376" y="47"/>
                      </a:lnTo>
                      <a:lnTo>
                        <a:pt x="398" y="56"/>
                      </a:lnTo>
                      <a:lnTo>
                        <a:pt x="419" y="67"/>
                      </a:lnTo>
                      <a:lnTo>
                        <a:pt x="438" y="79"/>
                      </a:lnTo>
                      <a:lnTo>
                        <a:pt x="456" y="93"/>
                      </a:lnTo>
                      <a:lnTo>
                        <a:pt x="472" y="108"/>
                      </a:lnTo>
                      <a:lnTo>
                        <a:pt x="486" y="124"/>
                      </a:lnTo>
                      <a:lnTo>
                        <a:pt x="494" y="133"/>
                      </a:lnTo>
                      <a:lnTo>
                        <a:pt x="499" y="143"/>
                      </a:lnTo>
                      <a:lnTo>
                        <a:pt x="505" y="151"/>
                      </a:lnTo>
                      <a:lnTo>
                        <a:pt x="510" y="161"/>
                      </a:lnTo>
                      <a:lnTo>
                        <a:pt x="515" y="170"/>
                      </a:lnTo>
                      <a:lnTo>
                        <a:pt x="518" y="180"/>
                      </a:lnTo>
                      <a:lnTo>
                        <a:pt x="521" y="190"/>
                      </a:lnTo>
                      <a:lnTo>
                        <a:pt x="525" y="200"/>
                      </a:lnTo>
                      <a:lnTo>
                        <a:pt x="527" y="211"/>
                      </a:lnTo>
                      <a:lnTo>
                        <a:pt x="529" y="221"/>
                      </a:lnTo>
                      <a:lnTo>
                        <a:pt x="530" y="231"/>
                      </a:lnTo>
                      <a:lnTo>
                        <a:pt x="530" y="242"/>
                      </a:lnTo>
                      <a:lnTo>
                        <a:pt x="530" y="253"/>
                      </a:lnTo>
                      <a:lnTo>
                        <a:pt x="529" y="262"/>
                      </a:lnTo>
                      <a:lnTo>
                        <a:pt x="528" y="272"/>
                      </a:lnTo>
                      <a:lnTo>
                        <a:pt x="526" y="282"/>
                      </a:lnTo>
                      <a:lnTo>
                        <a:pt x="522" y="291"/>
                      </a:lnTo>
                      <a:lnTo>
                        <a:pt x="520" y="301"/>
                      </a:lnTo>
                      <a:lnTo>
                        <a:pt x="516" y="311"/>
                      </a:lnTo>
                      <a:lnTo>
                        <a:pt x="512" y="319"/>
                      </a:lnTo>
                      <a:lnTo>
                        <a:pt x="508" y="328"/>
                      </a:lnTo>
                      <a:lnTo>
                        <a:pt x="502" y="336"/>
                      </a:lnTo>
                      <a:lnTo>
                        <a:pt x="497" y="345"/>
                      </a:lnTo>
                      <a:lnTo>
                        <a:pt x="490" y="352"/>
                      </a:lnTo>
                      <a:lnTo>
                        <a:pt x="483" y="360"/>
                      </a:lnTo>
                      <a:lnTo>
                        <a:pt x="476" y="367"/>
                      </a:lnTo>
                      <a:lnTo>
                        <a:pt x="468" y="375"/>
                      </a:lnTo>
                      <a:lnTo>
                        <a:pt x="459" y="382"/>
                      </a:lnTo>
                      <a:lnTo>
                        <a:pt x="456" y="386"/>
                      </a:lnTo>
                      <a:lnTo>
                        <a:pt x="455" y="391"/>
                      </a:lnTo>
                      <a:lnTo>
                        <a:pt x="454" y="396"/>
                      </a:lnTo>
                      <a:lnTo>
                        <a:pt x="456" y="400"/>
                      </a:lnTo>
                      <a:lnTo>
                        <a:pt x="498" y="483"/>
                      </a:lnTo>
                      <a:lnTo>
                        <a:pt x="386" y="437"/>
                      </a:lnTo>
                      <a:close/>
                      <a:moveTo>
                        <a:pt x="488" y="397"/>
                      </a:moveTo>
                      <a:lnTo>
                        <a:pt x="497" y="390"/>
                      </a:lnTo>
                      <a:lnTo>
                        <a:pt x="504" y="381"/>
                      </a:lnTo>
                      <a:lnTo>
                        <a:pt x="512" y="373"/>
                      </a:lnTo>
                      <a:lnTo>
                        <a:pt x="519" y="364"/>
                      </a:lnTo>
                      <a:lnTo>
                        <a:pt x="526" y="356"/>
                      </a:lnTo>
                      <a:lnTo>
                        <a:pt x="531" y="346"/>
                      </a:lnTo>
                      <a:lnTo>
                        <a:pt x="536" y="336"/>
                      </a:lnTo>
                      <a:lnTo>
                        <a:pt x="542" y="327"/>
                      </a:lnTo>
                      <a:lnTo>
                        <a:pt x="546" y="317"/>
                      </a:lnTo>
                      <a:lnTo>
                        <a:pt x="549" y="307"/>
                      </a:lnTo>
                      <a:lnTo>
                        <a:pt x="552" y="297"/>
                      </a:lnTo>
                      <a:lnTo>
                        <a:pt x="556" y="286"/>
                      </a:lnTo>
                      <a:lnTo>
                        <a:pt x="558" y="275"/>
                      </a:lnTo>
                      <a:lnTo>
                        <a:pt x="559" y="265"/>
                      </a:lnTo>
                      <a:lnTo>
                        <a:pt x="560" y="254"/>
                      </a:lnTo>
                      <a:lnTo>
                        <a:pt x="560" y="242"/>
                      </a:lnTo>
                      <a:lnTo>
                        <a:pt x="560" y="230"/>
                      </a:lnTo>
                      <a:lnTo>
                        <a:pt x="559" y="218"/>
                      </a:lnTo>
                      <a:lnTo>
                        <a:pt x="557" y="206"/>
                      </a:lnTo>
                      <a:lnTo>
                        <a:pt x="555" y="194"/>
                      </a:lnTo>
                      <a:lnTo>
                        <a:pt x="551" y="182"/>
                      </a:lnTo>
                      <a:lnTo>
                        <a:pt x="547" y="171"/>
                      </a:lnTo>
                      <a:lnTo>
                        <a:pt x="543" y="160"/>
                      </a:lnTo>
                      <a:lnTo>
                        <a:pt x="537" y="149"/>
                      </a:lnTo>
                      <a:lnTo>
                        <a:pt x="532" y="138"/>
                      </a:lnTo>
                      <a:lnTo>
                        <a:pt x="526" y="128"/>
                      </a:lnTo>
                      <a:lnTo>
                        <a:pt x="519" y="118"/>
                      </a:lnTo>
                      <a:lnTo>
                        <a:pt x="512" y="108"/>
                      </a:lnTo>
                      <a:lnTo>
                        <a:pt x="503" y="99"/>
                      </a:lnTo>
                      <a:lnTo>
                        <a:pt x="495" y="89"/>
                      </a:lnTo>
                      <a:lnTo>
                        <a:pt x="486" y="81"/>
                      </a:lnTo>
                      <a:lnTo>
                        <a:pt x="476" y="72"/>
                      </a:lnTo>
                      <a:lnTo>
                        <a:pt x="467" y="63"/>
                      </a:lnTo>
                      <a:lnTo>
                        <a:pt x="457" y="56"/>
                      </a:lnTo>
                      <a:lnTo>
                        <a:pt x="447" y="48"/>
                      </a:lnTo>
                      <a:lnTo>
                        <a:pt x="435" y="42"/>
                      </a:lnTo>
                      <a:lnTo>
                        <a:pt x="424" y="36"/>
                      </a:lnTo>
                      <a:lnTo>
                        <a:pt x="412" y="30"/>
                      </a:lnTo>
                      <a:lnTo>
                        <a:pt x="401" y="24"/>
                      </a:lnTo>
                      <a:lnTo>
                        <a:pt x="388" y="20"/>
                      </a:lnTo>
                      <a:lnTo>
                        <a:pt x="375" y="15"/>
                      </a:lnTo>
                      <a:lnTo>
                        <a:pt x="362" y="11"/>
                      </a:lnTo>
                      <a:lnTo>
                        <a:pt x="349" y="8"/>
                      </a:lnTo>
                      <a:lnTo>
                        <a:pt x="335" y="5"/>
                      </a:lnTo>
                      <a:lnTo>
                        <a:pt x="322" y="2"/>
                      </a:lnTo>
                      <a:lnTo>
                        <a:pt x="308" y="1"/>
                      </a:lnTo>
                      <a:lnTo>
                        <a:pt x="295" y="0"/>
                      </a:lnTo>
                      <a:lnTo>
                        <a:pt x="280" y="0"/>
                      </a:lnTo>
                      <a:lnTo>
                        <a:pt x="266" y="0"/>
                      </a:lnTo>
                      <a:lnTo>
                        <a:pt x="252" y="1"/>
                      </a:lnTo>
                      <a:lnTo>
                        <a:pt x="238" y="2"/>
                      </a:lnTo>
                      <a:lnTo>
                        <a:pt x="224" y="5"/>
                      </a:lnTo>
                      <a:lnTo>
                        <a:pt x="211" y="8"/>
                      </a:lnTo>
                      <a:lnTo>
                        <a:pt x="197" y="11"/>
                      </a:lnTo>
                      <a:lnTo>
                        <a:pt x="184" y="15"/>
                      </a:lnTo>
                      <a:lnTo>
                        <a:pt x="173" y="20"/>
                      </a:lnTo>
                      <a:lnTo>
                        <a:pt x="160" y="24"/>
                      </a:lnTo>
                      <a:lnTo>
                        <a:pt x="148" y="30"/>
                      </a:lnTo>
                      <a:lnTo>
                        <a:pt x="136" y="36"/>
                      </a:lnTo>
                      <a:lnTo>
                        <a:pt x="124" y="42"/>
                      </a:lnTo>
                      <a:lnTo>
                        <a:pt x="114" y="48"/>
                      </a:lnTo>
                      <a:lnTo>
                        <a:pt x="103" y="56"/>
                      </a:lnTo>
                      <a:lnTo>
                        <a:pt x="92" y="63"/>
                      </a:lnTo>
                      <a:lnTo>
                        <a:pt x="83" y="72"/>
                      </a:lnTo>
                      <a:lnTo>
                        <a:pt x="73" y="81"/>
                      </a:lnTo>
                      <a:lnTo>
                        <a:pt x="65" y="89"/>
                      </a:lnTo>
                      <a:lnTo>
                        <a:pt x="56" y="99"/>
                      </a:lnTo>
                      <a:lnTo>
                        <a:pt x="48" y="108"/>
                      </a:lnTo>
                      <a:lnTo>
                        <a:pt x="41" y="118"/>
                      </a:lnTo>
                      <a:lnTo>
                        <a:pt x="35" y="128"/>
                      </a:lnTo>
                      <a:lnTo>
                        <a:pt x="28" y="138"/>
                      </a:lnTo>
                      <a:lnTo>
                        <a:pt x="22" y="149"/>
                      </a:lnTo>
                      <a:lnTo>
                        <a:pt x="17" y="160"/>
                      </a:lnTo>
                      <a:lnTo>
                        <a:pt x="13" y="171"/>
                      </a:lnTo>
                      <a:lnTo>
                        <a:pt x="9" y="182"/>
                      </a:lnTo>
                      <a:lnTo>
                        <a:pt x="6" y="194"/>
                      </a:lnTo>
                      <a:lnTo>
                        <a:pt x="4" y="206"/>
                      </a:lnTo>
                      <a:lnTo>
                        <a:pt x="1" y="218"/>
                      </a:lnTo>
                      <a:lnTo>
                        <a:pt x="0" y="230"/>
                      </a:lnTo>
                      <a:lnTo>
                        <a:pt x="0" y="242"/>
                      </a:lnTo>
                      <a:lnTo>
                        <a:pt x="0" y="255"/>
                      </a:lnTo>
                      <a:lnTo>
                        <a:pt x="1" y="267"/>
                      </a:lnTo>
                      <a:lnTo>
                        <a:pt x="4" y="280"/>
                      </a:lnTo>
                      <a:lnTo>
                        <a:pt x="6" y="291"/>
                      </a:lnTo>
                      <a:lnTo>
                        <a:pt x="9" y="303"/>
                      </a:lnTo>
                      <a:lnTo>
                        <a:pt x="12" y="315"/>
                      </a:lnTo>
                      <a:lnTo>
                        <a:pt x="16" y="327"/>
                      </a:lnTo>
                      <a:lnTo>
                        <a:pt x="22" y="337"/>
                      </a:lnTo>
                      <a:lnTo>
                        <a:pt x="27" y="348"/>
                      </a:lnTo>
                      <a:lnTo>
                        <a:pt x="34" y="359"/>
                      </a:lnTo>
                      <a:lnTo>
                        <a:pt x="40" y="369"/>
                      </a:lnTo>
                      <a:lnTo>
                        <a:pt x="47" y="379"/>
                      </a:lnTo>
                      <a:lnTo>
                        <a:pt x="55" y="389"/>
                      </a:lnTo>
                      <a:lnTo>
                        <a:pt x="62" y="398"/>
                      </a:lnTo>
                      <a:lnTo>
                        <a:pt x="72" y="407"/>
                      </a:lnTo>
                      <a:lnTo>
                        <a:pt x="81" y="417"/>
                      </a:lnTo>
                      <a:lnTo>
                        <a:pt x="90" y="424"/>
                      </a:lnTo>
                      <a:lnTo>
                        <a:pt x="100" y="433"/>
                      </a:lnTo>
                      <a:lnTo>
                        <a:pt x="111" y="439"/>
                      </a:lnTo>
                      <a:lnTo>
                        <a:pt x="121" y="447"/>
                      </a:lnTo>
                      <a:lnTo>
                        <a:pt x="132" y="453"/>
                      </a:lnTo>
                      <a:lnTo>
                        <a:pt x="144" y="459"/>
                      </a:lnTo>
                      <a:lnTo>
                        <a:pt x="155" y="465"/>
                      </a:lnTo>
                      <a:lnTo>
                        <a:pt x="167" y="470"/>
                      </a:lnTo>
                      <a:lnTo>
                        <a:pt x="179" y="474"/>
                      </a:lnTo>
                      <a:lnTo>
                        <a:pt x="192" y="478"/>
                      </a:lnTo>
                      <a:lnTo>
                        <a:pt x="205" y="482"/>
                      </a:lnTo>
                      <a:lnTo>
                        <a:pt x="218" y="484"/>
                      </a:lnTo>
                      <a:lnTo>
                        <a:pt x="231" y="486"/>
                      </a:lnTo>
                      <a:lnTo>
                        <a:pt x="244" y="488"/>
                      </a:lnTo>
                      <a:lnTo>
                        <a:pt x="258" y="489"/>
                      </a:lnTo>
                      <a:lnTo>
                        <a:pt x="272" y="489"/>
                      </a:lnTo>
                      <a:lnTo>
                        <a:pt x="272" y="489"/>
                      </a:lnTo>
                      <a:lnTo>
                        <a:pt x="286" y="489"/>
                      </a:lnTo>
                      <a:lnTo>
                        <a:pt x="300" y="488"/>
                      </a:lnTo>
                      <a:lnTo>
                        <a:pt x="314" y="486"/>
                      </a:lnTo>
                      <a:lnTo>
                        <a:pt x="327" y="484"/>
                      </a:lnTo>
                      <a:lnTo>
                        <a:pt x="341" y="481"/>
                      </a:lnTo>
                      <a:lnTo>
                        <a:pt x="353" y="478"/>
                      </a:lnTo>
                      <a:lnTo>
                        <a:pt x="367" y="472"/>
                      </a:lnTo>
                      <a:lnTo>
                        <a:pt x="380" y="468"/>
                      </a:lnTo>
                      <a:lnTo>
                        <a:pt x="525" y="526"/>
                      </a:lnTo>
                      <a:lnTo>
                        <a:pt x="527" y="526"/>
                      </a:lnTo>
                      <a:lnTo>
                        <a:pt x="530" y="527"/>
                      </a:lnTo>
                      <a:lnTo>
                        <a:pt x="533" y="526"/>
                      </a:lnTo>
                      <a:lnTo>
                        <a:pt x="536" y="525"/>
                      </a:lnTo>
                      <a:lnTo>
                        <a:pt x="539" y="524"/>
                      </a:lnTo>
                      <a:lnTo>
                        <a:pt x="541" y="521"/>
                      </a:lnTo>
                      <a:lnTo>
                        <a:pt x="544" y="517"/>
                      </a:lnTo>
                      <a:lnTo>
                        <a:pt x="545" y="513"/>
                      </a:lnTo>
                      <a:lnTo>
                        <a:pt x="545" y="509"/>
                      </a:lnTo>
                      <a:lnTo>
                        <a:pt x="543" y="504"/>
                      </a:lnTo>
                      <a:lnTo>
                        <a:pt x="488" y="39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3" name="ïşļiďé"/>
            <p:cNvGrpSpPr/>
            <p:nvPr/>
          </p:nvGrpSpPr>
          <p:grpSpPr>
            <a:xfrm>
              <a:off x="7761155" y="2188828"/>
              <a:ext cx="952304" cy="623435"/>
              <a:chOff x="6349908" y="2695299"/>
              <a:chExt cx="952304" cy="623435"/>
            </a:xfrm>
          </p:grpSpPr>
          <p:sp>
            <p:nvSpPr>
              <p:cNvPr id="29" name="iş1îďé"/>
              <p:cNvSpPr txBox="1"/>
              <p:nvPr/>
            </p:nvSpPr>
            <p:spPr>
              <a:xfrm>
                <a:off x="6349908" y="2980180"/>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Apr-Jun</a:t>
                </a:r>
              </a:p>
            </p:txBody>
          </p:sp>
          <p:grpSp>
            <p:nvGrpSpPr>
              <p:cNvPr id="30" name="ïṩḻíḍé"/>
              <p:cNvGrpSpPr>
                <a:grpSpLocks noChangeAspect="1"/>
              </p:cNvGrpSpPr>
              <p:nvPr/>
            </p:nvGrpSpPr>
            <p:grpSpPr>
              <a:xfrm>
                <a:off x="6700714" y="2695299"/>
                <a:ext cx="250681" cy="252001"/>
                <a:chOff x="1547813" y="3240088"/>
                <a:chExt cx="301626" cy="303213"/>
              </a:xfrm>
              <a:solidFill>
                <a:sysClr val="window" lastClr="FFFFFF"/>
              </a:solidFill>
            </p:grpSpPr>
            <p:sp>
              <p:nvSpPr>
                <p:cNvPr id="31" name="íṥlïḍè"/>
                <p:cNvSpPr/>
                <p:nvPr/>
              </p:nvSpPr>
              <p:spPr bwMode="auto">
                <a:xfrm>
                  <a:off x="1611313" y="3392488"/>
                  <a:ext cx="85725" cy="87313"/>
                </a:xfrm>
                <a:custGeom>
                  <a:avLst/>
                  <a:gdLst>
                    <a:gd name="T0" fmla="*/ 92 w 218"/>
                    <a:gd name="T1" fmla="*/ 191 h 219"/>
                    <a:gd name="T2" fmla="*/ 70 w 218"/>
                    <a:gd name="T3" fmla="*/ 183 h 219"/>
                    <a:gd name="T4" fmla="*/ 50 w 218"/>
                    <a:gd name="T5" fmla="*/ 168 h 219"/>
                    <a:gd name="T6" fmla="*/ 35 w 218"/>
                    <a:gd name="T7" fmla="*/ 149 h 219"/>
                    <a:gd name="T8" fmla="*/ 27 w 218"/>
                    <a:gd name="T9" fmla="*/ 125 h 219"/>
                    <a:gd name="T10" fmla="*/ 26 w 218"/>
                    <a:gd name="T11" fmla="*/ 101 h 219"/>
                    <a:gd name="T12" fmla="*/ 32 w 218"/>
                    <a:gd name="T13" fmla="*/ 77 h 219"/>
                    <a:gd name="T14" fmla="*/ 45 w 218"/>
                    <a:gd name="T15" fmla="*/ 56 h 219"/>
                    <a:gd name="T16" fmla="*/ 62 w 218"/>
                    <a:gd name="T17" fmla="*/ 40 h 219"/>
                    <a:gd name="T18" fmla="*/ 85 w 218"/>
                    <a:gd name="T19" fmla="*/ 29 h 219"/>
                    <a:gd name="T20" fmla="*/ 109 w 218"/>
                    <a:gd name="T21" fmla="*/ 26 h 219"/>
                    <a:gd name="T22" fmla="*/ 134 w 218"/>
                    <a:gd name="T23" fmla="*/ 29 h 219"/>
                    <a:gd name="T24" fmla="*/ 155 w 218"/>
                    <a:gd name="T25" fmla="*/ 40 h 219"/>
                    <a:gd name="T26" fmla="*/ 174 w 218"/>
                    <a:gd name="T27" fmla="*/ 56 h 219"/>
                    <a:gd name="T28" fmla="*/ 186 w 218"/>
                    <a:gd name="T29" fmla="*/ 77 h 219"/>
                    <a:gd name="T30" fmla="*/ 192 w 218"/>
                    <a:gd name="T31" fmla="*/ 101 h 219"/>
                    <a:gd name="T32" fmla="*/ 191 w 218"/>
                    <a:gd name="T33" fmla="*/ 125 h 219"/>
                    <a:gd name="T34" fmla="*/ 182 w 218"/>
                    <a:gd name="T35" fmla="*/ 149 h 219"/>
                    <a:gd name="T36" fmla="*/ 168 w 218"/>
                    <a:gd name="T37" fmla="*/ 168 h 219"/>
                    <a:gd name="T38" fmla="*/ 149 w 218"/>
                    <a:gd name="T39" fmla="*/ 183 h 219"/>
                    <a:gd name="T40" fmla="*/ 125 w 218"/>
                    <a:gd name="T41" fmla="*/ 191 h 219"/>
                    <a:gd name="T42" fmla="*/ 109 w 218"/>
                    <a:gd name="T43" fmla="*/ 0 h 219"/>
                    <a:gd name="T44" fmla="*/ 77 w 218"/>
                    <a:gd name="T45" fmla="*/ 4 h 219"/>
                    <a:gd name="T46" fmla="*/ 48 w 218"/>
                    <a:gd name="T47" fmla="*/ 18 h 219"/>
                    <a:gd name="T48" fmla="*/ 25 w 218"/>
                    <a:gd name="T49" fmla="*/ 40 h 219"/>
                    <a:gd name="T50" fmla="*/ 8 w 218"/>
                    <a:gd name="T51" fmla="*/ 66 h 219"/>
                    <a:gd name="T52" fmla="*/ 1 w 218"/>
                    <a:gd name="T53" fmla="*/ 98 h 219"/>
                    <a:gd name="T54" fmla="*/ 2 w 218"/>
                    <a:gd name="T55" fmla="*/ 131 h 219"/>
                    <a:gd name="T56" fmla="*/ 13 w 218"/>
                    <a:gd name="T57" fmla="*/ 161 h 219"/>
                    <a:gd name="T58" fmla="*/ 32 w 218"/>
                    <a:gd name="T59" fmla="*/ 187 h 219"/>
                    <a:gd name="T60" fmla="*/ 57 w 218"/>
                    <a:gd name="T61" fmla="*/ 205 h 219"/>
                    <a:gd name="T62" fmla="*/ 87 w 218"/>
                    <a:gd name="T63" fmla="*/ 217 h 219"/>
                    <a:gd name="T64" fmla="*/ 120 w 218"/>
                    <a:gd name="T65" fmla="*/ 218 h 219"/>
                    <a:gd name="T66" fmla="*/ 151 w 218"/>
                    <a:gd name="T67" fmla="*/ 210 h 219"/>
                    <a:gd name="T68" fmla="*/ 178 w 218"/>
                    <a:gd name="T69" fmla="*/ 193 h 219"/>
                    <a:gd name="T70" fmla="*/ 200 w 218"/>
                    <a:gd name="T71" fmla="*/ 171 h 219"/>
                    <a:gd name="T72" fmla="*/ 213 w 218"/>
                    <a:gd name="T73" fmla="*/ 142 h 219"/>
                    <a:gd name="T74" fmla="*/ 218 w 218"/>
                    <a:gd name="T75" fmla="*/ 109 h 219"/>
                    <a:gd name="T76" fmla="*/ 213 w 218"/>
                    <a:gd name="T77" fmla="*/ 77 h 219"/>
                    <a:gd name="T78" fmla="*/ 200 w 218"/>
                    <a:gd name="T79" fmla="*/ 48 h 219"/>
                    <a:gd name="T80" fmla="*/ 178 w 218"/>
                    <a:gd name="T81" fmla="*/ 25 h 219"/>
                    <a:gd name="T82" fmla="*/ 151 w 218"/>
                    <a:gd name="T83" fmla="*/ 8 h 219"/>
                    <a:gd name="T84" fmla="*/ 120 w 218"/>
                    <a:gd name="T85" fmla="*/ 0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18" h="219">
                      <a:moveTo>
                        <a:pt x="109" y="193"/>
                      </a:moveTo>
                      <a:lnTo>
                        <a:pt x="101" y="193"/>
                      </a:lnTo>
                      <a:lnTo>
                        <a:pt x="92" y="191"/>
                      </a:lnTo>
                      <a:lnTo>
                        <a:pt x="85" y="190"/>
                      </a:lnTo>
                      <a:lnTo>
                        <a:pt x="76" y="187"/>
                      </a:lnTo>
                      <a:lnTo>
                        <a:pt x="70" y="183"/>
                      </a:lnTo>
                      <a:lnTo>
                        <a:pt x="62" y="179"/>
                      </a:lnTo>
                      <a:lnTo>
                        <a:pt x="56" y="174"/>
                      </a:lnTo>
                      <a:lnTo>
                        <a:pt x="50" y="168"/>
                      </a:lnTo>
                      <a:lnTo>
                        <a:pt x="45" y="162"/>
                      </a:lnTo>
                      <a:lnTo>
                        <a:pt x="40" y="156"/>
                      </a:lnTo>
                      <a:lnTo>
                        <a:pt x="35" y="149"/>
                      </a:lnTo>
                      <a:lnTo>
                        <a:pt x="32" y="142"/>
                      </a:lnTo>
                      <a:lnTo>
                        <a:pt x="29" y="134"/>
                      </a:lnTo>
                      <a:lnTo>
                        <a:pt x="27" y="125"/>
                      </a:lnTo>
                      <a:lnTo>
                        <a:pt x="26" y="118"/>
                      </a:lnTo>
                      <a:lnTo>
                        <a:pt x="26" y="109"/>
                      </a:lnTo>
                      <a:lnTo>
                        <a:pt x="26" y="101"/>
                      </a:lnTo>
                      <a:lnTo>
                        <a:pt x="27" y="92"/>
                      </a:lnTo>
                      <a:lnTo>
                        <a:pt x="29" y="85"/>
                      </a:lnTo>
                      <a:lnTo>
                        <a:pt x="32" y="77"/>
                      </a:lnTo>
                      <a:lnTo>
                        <a:pt x="35" y="70"/>
                      </a:lnTo>
                      <a:lnTo>
                        <a:pt x="40" y="62"/>
                      </a:lnTo>
                      <a:lnTo>
                        <a:pt x="45" y="56"/>
                      </a:lnTo>
                      <a:lnTo>
                        <a:pt x="50" y="50"/>
                      </a:lnTo>
                      <a:lnTo>
                        <a:pt x="56" y="45"/>
                      </a:lnTo>
                      <a:lnTo>
                        <a:pt x="62" y="40"/>
                      </a:lnTo>
                      <a:lnTo>
                        <a:pt x="70" y="35"/>
                      </a:lnTo>
                      <a:lnTo>
                        <a:pt x="76" y="32"/>
                      </a:lnTo>
                      <a:lnTo>
                        <a:pt x="85" y="29"/>
                      </a:lnTo>
                      <a:lnTo>
                        <a:pt x="92" y="27"/>
                      </a:lnTo>
                      <a:lnTo>
                        <a:pt x="101" y="26"/>
                      </a:lnTo>
                      <a:lnTo>
                        <a:pt x="109" y="26"/>
                      </a:lnTo>
                      <a:lnTo>
                        <a:pt x="118" y="26"/>
                      </a:lnTo>
                      <a:lnTo>
                        <a:pt x="125" y="27"/>
                      </a:lnTo>
                      <a:lnTo>
                        <a:pt x="134" y="29"/>
                      </a:lnTo>
                      <a:lnTo>
                        <a:pt x="142" y="32"/>
                      </a:lnTo>
                      <a:lnTo>
                        <a:pt x="149" y="35"/>
                      </a:lnTo>
                      <a:lnTo>
                        <a:pt x="155" y="40"/>
                      </a:lnTo>
                      <a:lnTo>
                        <a:pt x="162" y="45"/>
                      </a:lnTo>
                      <a:lnTo>
                        <a:pt x="168" y="50"/>
                      </a:lnTo>
                      <a:lnTo>
                        <a:pt x="174" y="56"/>
                      </a:lnTo>
                      <a:lnTo>
                        <a:pt x="178" y="62"/>
                      </a:lnTo>
                      <a:lnTo>
                        <a:pt x="182" y="70"/>
                      </a:lnTo>
                      <a:lnTo>
                        <a:pt x="186" y="77"/>
                      </a:lnTo>
                      <a:lnTo>
                        <a:pt x="189" y="85"/>
                      </a:lnTo>
                      <a:lnTo>
                        <a:pt x="191" y="92"/>
                      </a:lnTo>
                      <a:lnTo>
                        <a:pt x="192" y="101"/>
                      </a:lnTo>
                      <a:lnTo>
                        <a:pt x="193" y="109"/>
                      </a:lnTo>
                      <a:lnTo>
                        <a:pt x="192" y="118"/>
                      </a:lnTo>
                      <a:lnTo>
                        <a:pt x="191" y="125"/>
                      </a:lnTo>
                      <a:lnTo>
                        <a:pt x="189" y="134"/>
                      </a:lnTo>
                      <a:lnTo>
                        <a:pt x="186" y="142"/>
                      </a:lnTo>
                      <a:lnTo>
                        <a:pt x="182" y="149"/>
                      </a:lnTo>
                      <a:lnTo>
                        <a:pt x="178" y="156"/>
                      </a:lnTo>
                      <a:lnTo>
                        <a:pt x="174" y="162"/>
                      </a:lnTo>
                      <a:lnTo>
                        <a:pt x="168" y="168"/>
                      </a:lnTo>
                      <a:lnTo>
                        <a:pt x="162" y="174"/>
                      </a:lnTo>
                      <a:lnTo>
                        <a:pt x="155" y="179"/>
                      </a:lnTo>
                      <a:lnTo>
                        <a:pt x="149" y="183"/>
                      </a:lnTo>
                      <a:lnTo>
                        <a:pt x="142" y="187"/>
                      </a:lnTo>
                      <a:lnTo>
                        <a:pt x="134" y="190"/>
                      </a:lnTo>
                      <a:lnTo>
                        <a:pt x="125" y="191"/>
                      </a:lnTo>
                      <a:lnTo>
                        <a:pt x="118" y="193"/>
                      </a:lnTo>
                      <a:lnTo>
                        <a:pt x="109" y="193"/>
                      </a:lnTo>
                      <a:close/>
                      <a:moveTo>
                        <a:pt x="109" y="0"/>
                      </a:moveTo>
                      <a:lnTo>
                        <a:pt x="98" y="0"/>
                      </a:lnTo>
                      <a:lnTo>
                        <a:pt x="87" y="2"/>
                      </a:lnTo>
                      <a:lnTo>
                        <a:pt x="77" y="4"/>
                      </a:lnTo>
                      <a:lnTo>
                        <a:pt x="66" y="8"/>
                      </a:lnTo>
                      <a:lnTo>
                        <a:pt x="57" y="13"/>
                      </a:lnTo>
                      <a:lnTo>
                        <a:pt x="48" y="18"/>
                      </a:lnTo>
                      <a:lnTo>
                        <a:pt x="40" y="25"/>
                      </a:lnTo>
                      <a:lnTo>
                        <a:pt x="32" y="32"/>
                      </a:lnTo>
                      <a:lnTo>
                        <a:pt x="25" y="40"/>
                      </a:lnTo>
                      <a:lnTo>
                        <a:pt x="19" y="48"/>
                      </a:lnTo>
                      <a:lnTo>
                        <a:pt x="13" y="57"/>
                      </a:lnTo>
                      <a:lnTo>
                        <a:pt x="8" y="66"/>
                      </a:lnTo>
                      <a:lnTo>
                        <a:pt x="5" y="77"/>
                      </a:lnTo>
                      <a:lnTo>
                        <a:pt x="2" y="87"/>
                      </a:lnTo>
                      <a:lnTo>
                        <a:pt x="1" y="98"/>
                      </a:lnTo>
                      <a:lnTo>
                        <a:pt x="0" y="109"/>
                      </a:lnTo>
                      <a:lnTo>
                        <a:pt x="1" y="120"/>
                      </a:lnTo>
                      <a:lnTo>
                        <a:pt x="2" y="131"/>
                      </a:lnTo>
                      <a:lnTo>
                        <a:pt x="5" y="142"/>
                      </a:lnTo>
                      <a:lnTo>
                        <a:pt x="8" y="151"/>
                      </a:lnTo>
                      <a:lnTo>
                        <a:pt x="13" y="161"/>
                      </a:lnTo>
                      <a:lnTo>
                        <a:pt x="19" y="171"/>
                      </a:lnTo>
                      <a:lnTo>
                        <a:pt x="25" y="178"/>
                      </a:lnTo>
                      <a:lnTo>
                        <a:pt x="32" y="187"/>
                      </a:lnTo>
                      <a:lnTo>
                        <a:pt x="40" y="193"/>
                      </a:lnTo>
                      <a:lnTo>
                        <a:pt x="48" y="200"/>
                      </a:lnTo>
                      <a:lnTo>
                        <a:pt x="57" y="205"/>
                      </a:lnTo>
                      <a:lnTo>
                        <a:pt x="66" y="210"/>
                      </a:lnTo>
                      <a:lnTo>
                        <a:pt x="77" y="214"/>
                      </a:lnTo>
                      <a:lnTo>
                        <a:pt x="87" y="217"/>
                      </a:lnTo>
                      <a:lnTo>
                        <a:pt x="98" y="218"/>
                      </a:lnTo>
                      <a:lnTo>
                        <a:pt x="109" y="219"/>
                      </a:lnTo>
                      <a:lnTo>
                        <a:pt x="120" y="218"/>
                      </a:lnTo>
                      <a:lnTo>
                        <a:pt x="131" y="217"/>
                      </a:lnTo>
                      <a:lnTo>
                        <a:pt x="142" y="214"/>
                      </a:lnTo>
                      <a:lnTo>
                        <a:pt x="151" y="210"/>
                      </a:lnTo>
                      <a:lnTo>
                        <a:pt x="161" y="205"/>
                      </a:lnTo>
                      <a:lnTo>
                        <a:pt x="169" y="200"/>
                      </a:lnTo>
                      <a:lnTo>
                        <a:pt x="178" y="193"/>
                      </a:lnTo>
                      <a:lnTo>
                        <a:pt x="187" y="187"/>
                      </a:lnTo>
                      <a:lnTo>
                        <a:pt x="193" y="178"/>
                      </a:lnTo>
                      <a:lnTo>
                        <a:pt x="200" y="171"/>
                      </a:lnTo>
                      <a:lnTo>
                        <a:pt x="205" y="161"/>
                      </a:lnTo>
                      <a:lnTo>
                        <a:pt x="209" y="151"/>
                      </a:lnTo>
                      <a:lnTo>
                        <a:pt x="213" y="142"/>
                      </a:lnTo>
                      <a:lnTo>
                        <a:pt x="216" y="131"/>
                      </a:lnTo>
                      <a:lnTo>
                        <a:pt x="218" y="120"/>
                      </a:lnTo>
                      <a:lnTo>
                        <a:pt x="218" y="109"/>
                      </a:lnTo>
                      <a:lnTo>
                        <a:pt x="218" y="98"/>
                      </a:lnTo>
                      <a:lnTo>
                        <a:pt x="216" y="87"/>
                      </a:lnTo>
                      <a:lnTo>
                        <a:pt x="213" y="77"/>
                      </a:lnTo>
                      <a:lnTo>
                        <a:pt x="209" y="66"/>
                      </a:lnTo>
                      <a:lnTo>
                        <a:pt x="205" y="57"/>
                      </a:lnTo>
                      <a:lnTo>
                        <a:pt x="200" y="48"/>
                      </a:lnTo>
                      <a:lnTo>
                        <a:pt x="193" y="40"/>
                      </a:lnTo>
                      <a:lnTo>
                        <a:pt x="187" y="32"/>
                      </a:lnTo>
                      <a:lnTo>
                        <a:pt x="178" y="25"/>
                      </a:lnTo>
                      <a:lnTo>
                        <a:pt x="169" y="18"/>
                      </a:lnTo>
                      <a:lnTo>
                        <a:pt x="161" y="13"/>
                      </a:lnTo>
                      <a:lnTo>
                        <a:pt x="151" y="8"/>
                      </a:lnTo>
                      <a:lnTo>
                        <a:pt x="142" y="4"/>
                      </a:lnTo>
                      <a:lnTo>
                        <a:pt x="131" y="2"/>
                      </a:lnTo>
                      <a:lnTo>
                        <a:pt x="120" y="0"/>
                      </a:lnTo>
                      <a:lnTo>
                        <a:pt x="109"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2" name="iśļîḑe"/>
                <p:cNvSpPr/>
                <p:nvPr/>
              </p:nvSpPr>
              <p:spPr bwMode="auto">
                <a:xfrm>
                  <a:off x="1763713" y="3278188"/>
                  <a:ext cx="49213" cy="47625"/>
                </a:xfrm>
                <a:custGeom>
                  <a:avLst/>
                  <a:gdLst>
                    <a:gd name="T0" fmla="*/ 54 w 122"/>
                    <a:gd name="T1" fmla="*/ 96 h 121"/>
                    <a:gd name="T2" fmla="*/ 41 w 122"/>
                    <a:gd name="T3" fmla="*/ 90 h 121"/>
                    <a:gd name="T4" fmla="*/ 31 w 122"/>
                    <a:gd name="T5" fmla="*/ 81 h 121"/>
                    <a:gd name="T6" fmla="*/ 26 w 122"/>
                    <a:gd name="T7" fmla="*/ 68 h 121"/>
                    <a:gd name="T8" fmla="*/ 26 w 122"/>
                    <a:gd name="T9" fmla="*/ 54 h 121"/>
                    <a:gd name="T10" fmla="*/ 31 w 122"/>
                    <a:gd name="T11" fmla="*/ 41 h 121"/>
                    <a:gd name="T12" fmla="*/ 41 w 122"/>
                    <a:gd name="T13" fmla="*/ 31 h 121"/>
                    <a:gd name="T14" fmla="*/ 54 w 122"/>
                    <a:gd name="T15" fmla="*/ 26 h 121"/>
                    <a:gd name="T16" fmla="*/ 68 w 122"/>
                    <a:gd name="T17" fmla="*/ 26 h 121"/>
                    <a:gd name="T18" fmla="*/ 81 w 122"/>
                    <a:gd name="T19" fmla="*/ 31 h 121"/>
                    <a:gd name="T20" fmla="*/ 90 w 122"/>
                    <a:gd name="T21" fmla="*/ 41 h 121"/>
                    <a:gd name="T22" fmla="*/ 96 w 122"/>
                    <a:gd name="T23" fmla="*/ 54 h 121"/>
                    <a:gd name="T24" fmla="*/ 96 w 122"/>
                    <a:gd name="T25" fmla="*/ 68 h 121"/>
                    <a:gd name="T26" fmla="*/ 90 w 122"/>
                    <a:gd name="T27" fmla="*/ 81 h 121"/>
                    <a:gd name="T28" fmla="*/ 81 w 122"/>
                    <a:gd name="T29" fmla="*/ 90 h 121"/>
                    <a:gd name="T30" fmla="*/ 68 w 122"/>
                    <a:gd name="T31" fmla="*/ 96 h 121"/>
                    <a:gd name="T32" fmla="*/ 61 w 122"/>
                    <a:gd name="T33" fmla="*/ 0 h 121"/>
                    <a:gd name="T34" fmla="*/ 49 w 122"/>
                    <a:gd name="T35" fmla="*/ 1 h 121"/>
                    <a:gd name="T36" fmla="*/ 38 w 122"/>
                    <a:gd name="T37" fmla="*/ 4 h 121"/>
                    <a:gd name="T38" fmla="*/ 27 w 122"/>
                    <a:gd name="T39" fmla="*/ 11 h 121"/>
                    <a:gd name="T40" fmla="*/ 19 w 122"/>
                    <a:gd name="T41" fmla="*/ 18 h 121"/>
                    <a:gd name="T42" fmla="*/ 11 w 122"/>
                    <a:gd name="T43" fmla="*/ 27 h 121"/>
                    <a:gd name="T44" fmla="*/ 5 w 122"/>
                    <a:gd name="T45" fmla="*/ 38 h 121"/>
                    <a:gd name="T46" fmla="*/ 1 w 122"/>
                    <a:gd name="T47" fmla="*/ 48 h 121"/>
                    <a:gd name="T48" fmla="*/ 0 w 122"/>
                    <a:gd name="T49" fmla="*/ 61 h 121"/>
                    <a:gd name="T50" fmla="*/ 1 w 122"/>
                    <a:gd name="T51" fmla="*/ 73 h 121"/>
                    <a:gd name="T52" fmla="*/ 5 w 122"/>
                    <a:gd name="T53" fmla="*/ 85 h 121"/>
                    <a:gd name="T54" fmla="*/ 11 w 122"/>
                    <a:gd name="T55" fmla="*/ 96 h 121"/>
                    <a:gd name="T56" fmla="*/ 19 w 122"/>
                    <a:gd name="T57" fmla="*/ 104 h 121"/>
                    <a:gd name="T58" fmla="*/ 27 w 122"/>
                    <a:gd name="T59" fmla="*/ 112 h 121"/>
                    <a:gd name="T60" fmla="*/ 38 w 122"/>
                    <a:gd name="T61" fmla="*/ 117 h 121"/>
                    <a:gd name="T62" fmla="*/ 49 w 122"/>
                    <a:gd name="T63" fmla="*/ 120 h 121"/>
                    <a:gd name="T64" fmla="*/ 61 w 122"/>
                    <a:gd name="T65" fmla="*/ 121 h 121"/>
                    <a:gd name="T66" fmla="*/ 73 w 122"/>
                    <a:gd name="T67" fmla="*/ 120 h 121"/>
                    <a:gd name="T68" fmla="*/ 85 w 122"/>
                    <a:gd name="T69" fmla="*/ 117 h 121"/>
                    <a:gd name="T70" fmla="*/ 95 w 122"/>
                    <a:gd name="T71" fmla="*/ 112 h 121"/>
                    <a:gd name="T72" fmla="*/ 104 w 122"/>
                    <a:gd name="T73" fmla="*/ 104 h 121"/>
                    <a:gd name="T74" fmla="*/ 112 w 122"/>
                    <a:gd name="T75" fmla="*/ 96 h 121"/>
                    <a:gd name="T76" fmla="*/ 117 w 122"/>
                    <a:gd name="T77" fmla="*/ 85 h 121"/>
                    <a:gd name="T78" fmla="*/ 121 w 122"/>
                    <a:gd name="T79" fmla="*/ 73 h 121"/>
                    <a:gd name="T80" fmla="*/ 122 w 122"/>
                    <a:gd name="T81" fmla="*/ 61 h 121"/>
                    <a:gd name="T82" fmla="*/ 121 w 122"/>
                    <a:gd name="T83" fmla="*/ 48 h 121"/>
                    <a:gd name="T84" fmla="*/ 117 w 122"/>
                    <a:gd name="T85" fmla="*/ 38 h 121"/>
                    <a:gd name="T86" fmla="*/ 112 w 122"/>
                    <a:gd name="T87" fmla="*/ 27 h 121"/>
                    <a:gd name="T88" fmla="*/ 104 w 122"/>
                    <a:gd name="T89" fmla="*/ 18 h 121"/>
                    <a:gd name="T90" fmla="*/ 95 w 122"/>
                    <a:gd name="T91" fmla="*/ 11 h 121"/>
                    <a:gd name="T92" fmla="*/ 85 w 122"/>
                    <a:gd name="T93" fmla="*/ 4 h 121"/>
                    <a:gd name="T94" fmla="*/ 73 w 122"/>
                    <a:gd name="T95" fmla="*/ 1 h 121"/>
                    <a:gd name="T96" fmla="*/ 61 w 122"/>
                    <a:gd name="T97" fmla="*/ 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22" h="121">
                      <a:moveTo>
                        <a:pt x="61" y="97"/>
                      </a:moveTo>
                      <a:lnTo>
                        <a:pt x="54" y="96"/>
                      </a:lnTo>
                      <a:lnTo>
                        <a:pt x="47" y="93"/>
                      </a:lnTo>
                      <a:lnTo>
                        <a:pt x="41" y="90"/>
                      </a:lnTo>
                      <a:lnTo>
                        <a:pt x="36" y="86"/>
                      </a:lnTo>
                      <a:lnTo>
                        <a:pt x="31" y="81"/>
                      </a:lnTo>
                      <a:lnTo>
                        <a:pt x="28" y="75"/>
                      </a:lnTo>
                      <a:lnTo>
                        <a:pt x="26" y="68"/>
                      </a:lnTo>
                      <a:lnTo>
                        <a:pt x="26" y="61"/>
                      </a:lnTo>
                      <a:lnTo>
                        <a:pt x="26" y="54"/>
                      </a:lnTo>
                      <a:lnTo>
                        <a:pt x="28" y="47"/>
                      </a:lnTo>
                      <a:lnTo>
                        <a:pt x="31" y="41"/>
                      </a:lnTo>
                      <a:lnTo>
                        <a:pt x="36" y="35"/>
                      </a:lnTo>
                      <a:lnTo>
                        <a:pt x="41" y="31"/>
                      </a:lnTo>
                      <a:lnTo>
                        <a:pt x="47" y="28"/>
                      </a:lnTo>
                      <a:lnTo>
                        <a:pt x="54" y="26"/>
                      </a:lnTo>
                      <a:lnTo>
                        <a:pt x="61" y="25"/>
                      </a:lnTo>
                      <a:lnTo>
                        <a:pt x="68" y="26"/>
                      </a:lnTo>
                      <a:lnTo>
                        <a:pt x="75" y="28"/>
                      </a:lnTo>
                      <a:lnTo>
                        <a:pt x="81" y="31"/>
                      </a:lnTo>
                      <a:lnTo>
                        <a:pt x="86" y="35"/>
                      </a:lnTo>
                      <a:lnTo>
                        <a:pt x="90" y="41"/>
                      </a:lnTo>
                      <a:lnTo>
                        <a:pt x="94" y="47"/>
                      </a:lnTo>
                      <a:lnTo>
                        <a:pt x="96" y="54"/>
                      </a:lnTo>
                      <a:lnTo>
                        <a:pt x="97" y="61"/>
                      </a:lnTo>
                      <a:lnTo>
                        <a:pt x="96" y="68"/>
                      </a:lnTo>
                      <a:lnTo>
                        <a:pt x="94" y="75"/>
                      </a:lnTo>
                      <a:lnTo>
                        <a:pt x="90" y="81"/>
                      </a:lnTo>
                      <a:lnTo>
                        <a:pt x="86" y="86"/>
                      </a:lnTo>
                      <a:lnTo>
                        <a:pt x="81" y="90"/>
                      </a:lnTo>
                      <a:lnTo>
                        <a:pt x="75" y="93"/>
                      </a:lnTo>
                      <a:lnTo>
                        <a:pt x="68" y="96"/>
                      </a:lnTo>
                      <a:lnTo>
                        <a:pt x="61" y="97"/>
                      </a:lnTo>
                      <a:close/>
                      <a:moveTo>
                        <a:pt x="61" y="0"/>
                      </a:moveTo>
                      <a:lnTo>
                        <a:pt x="55" y="0"/>
                      </a:lnTo>
                      <a:lnTo>
                        <a:pt x="49" y="1"/>
                      </a:lnTo>
                      <a:lnTo>
                        <a:pt x="43" y="2"/>
                      </a:lnTo>
                      <a:lnTo>
                        <a:pt x="38" y="4"/>
                      </a:lnTo>
                      <a:lnTo>
                        <a:pt x="32" y="8"/>
                      </a:lnTo>
                      <a:lnTo>
                        <a:pt x="27" y="11"/>
                      </a:lnTo>
                      <a:lnTo>
                        <a:pt x="23" y="14"/>
                      </a:lnTo>
                      <a:lnTo>
                        <a:pt x="19" y="18"/>
                      </a:lnTo>
                      <a:lnTo>
                        <a:pt x="14" y="23"/>
                      </a:lnTo>
                      <a:lnTo>
                        <a:pt x="11" y="27"/>
                      </a:lnTo>
                      <a:lnTo>
                        <a:pt x="8" y="32"/>
                      </a:lnTo>
                      <a:lnTo>
                        <a:pt x="5" y="38"/>
                      </a:lnTo>
                      <a:lnTo>
                        <a:pt x="3" y="43"/>
                      </a:lnTo>
                      <a:lnTo>
                        <a:pt x="1" y="48"/>
                      </a:lnTo>
                      <a:lnTo>
                        <a:pt x="0" y="55"/>
                      </a:lnTo>
                      <a:lnTo>
                        <a:pt x="0" y="61"/>
                      </a:lnTo>
                      <a:lnTo>
                        <a:pt x="0" y="67"/>
                      </a:lnTo>
                      <a:lnTo>
                        <a:pt x="1" y="73"/>
                      </a:lnTo>
                      <a:lnTo>
                        <a:pt x="3" y="79"/>
                      </a:lnTo>
                      <a:lnTo>
                        <a:pt x="5" y="85"/>
                      </a:lnTo>
                      <a:lnTo>
                        <a:pt x="8" y="90"/>
                      </a:lnTo>
                      <a:lnTo>
                        <a:pt x="11" y="96"/>
                      </a:lnTo>
                      <a:lnTo>
                        <a:pt x="14" y="100"/>
                      </a:lnTo>
                      <a:lnTo>
                        <a:pt x="19" y="104"/>
                      </a:lnTo>
                      <a:lnTo>
                        <a:pt x="23" y="108"/>
                      </a:lnTo>
                      <a:lnTo>
                        <a:pt x="27" y="112"/>
                      </a:lnTo>
                      <a:lnTo>
                        <a:pt x="32" y="115"/>
                      </a:lnTo>
                      <a:lnTo>
                        <a:pt x="38" y="117"/>
                      </a:lnTo>
                      <a:lnTo>
                        <a:pt x="43" y="119"/>
                      </a:lnTo>
                      <a:lnTo>
                        <a:pt x="49" y="120"/>
                      </a:lnTo>
                      <a:lnTo>
                        <a:pt x="55" y="121"/>
                      </a:lnTo>
                      <a:lnTo>
                        <a:pt x="61" y="121"/>
                      </a:lnTo>
                      <a:lnTo>
                        <a:pt x="68" y="121"/>
                      </a:lnTo>
                      <a:lnTo>
                        <a:pt x="73" y="120"/>
                      </a:lnTo>
                      <a:lnTo>
                        <a:pt x="80" y="119"/>
                      </a:lnTo>
                      <a:lnTo>
                        <a:pt x="85" y="117"/>
                      </a:lnTo>
                      <a:lnTo>
                        <a:pt x="90" y="115"/>
                      </a:lnTo>
                      <a:lnTo>
                        <a:pt x="95" y="112"/>
                      </a:lnTo>
                      <a:lnTo>
                        <a:pt x="100" y="108"/>
                      </a:lnTo>
                      <a:lnTo>
                        <a:pt x="104" y="104"/>
                      </a:lnTo>
                      <a:lnTo>
                        <a:pt x="108" y="100"/>
                      </a:lnTo>
                      <a:lnTo>
                        <a:pt x="112" y="96"/>
                      </a:lnTo>
                      <a:lnTo>
                        <a:pt x="115" y="90"/>
                      </a:lnTo>
                      <a:lnTo>
                        <a:pt x="117" y="85"/>
                      </a:lnTo>
                      <a:lnTo>
                        <a:pt x="119" y="79"/>
                      </a:lnTo>
                      <a:lnTo>
                        <a:pt x="121" y="73"/>
                      </a:lnTo>
                      <a:lnTo>
                        <a:pt x="122" y="67"/>
                      </a:lnTo>
                      <a:lnTo>
                        <a:pt x="122" y="61"/>
                      </a:lnTo>
                      <a:lnTo>
                        <a:pt x="122" y="55"/>
                      </a:lnTo>
                      <a:lnTo>
                        <a:pt x="121" y="48"/>
                      </a:lnTo>
                      <a:lnTo>
                        <a:pt x="119" y="43"/>
                      </a:lnTo>
                      <a:lnTo>
                        <a:pt x="117" y="38"/>
                      </a:lnTo>
                      <a:lnTo>
                        <a:pt x="115" y="32"/>
                      </a:lnTo>
                      <a:lnTo>
                        <a:pt x="112" y="27"/>
                      </a:lnTo>
                      <a:lnTo>
                        <a:pt x="108" y="23"/>
                      </a:lnTo>
                      <a:lnTo>
                        <a:pt x="104" y="18"/>
                      </a:lnTo>
                      <a:lnTo>
                        <a:pt x="100" y="14"/>
                      </a:lnTo>
                      <a:lnTo>
                        <a:pt x="95" y="11"/>
                      </a:lnTo>
                      <a:lnTo>
                        <a:pt x="90" y="8"/>
                      </a:lnTo>
                      <a:lnTo>
                        <a:pt x="85" y="4"/>
                      </a:lnTo>
                      <a:lnTo>
                        <a:pt x="80" y="2"/>
                      </a:lnTo>
                      <a:lnTo>
                        <a:pt x="73" y="1"/>
                      </a:lnTo>
                      <a:lnTo>
                        <a:pt x="68" y="0"/>
                      </a:lnTo>
                      <a:lnTo>
                        <a:pt x="61" y="0"/>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3" name="îşļíḑè"/>
                <p:cNvSpPr/>
                <p:nvPr/>
              </p:nvSpPr>
              <p:spPr bwMode="auto">
                <a:xfrm>
                  <a:off x="1547813" y="3330576"/>
                  <a:ext cx="212725" cy="212725"/>
                </a:xfrm>
                <a:custGeom>
                  <a:avLst/>
                  <a:gdLst>
                    <a:gd name="T0" fmla="*/ 407 w 535"/>
                    <a:gd name="T1" fmla="*/ 408 h 536"/>
                    <a:gd name="T2" fmla="*/ 367 w 535"/>
                    <a:gd name="T3" fmla="*/ 436 h 536"/>
                    <a:gd name="T4" fmla="*/ 330 w 535"/>
                    <a:gd name="T5" fmla="*/ 452 h 536"/>
                    <a:gd name="T6" fmla="*/ 321 w 535"/>
                    <a:gd name="T7" fmla="*/ 465 h 536"/>
                    <a:gd name="T8" fmla="*/ 217 w 535"/>
                    <a:gd name="T9" fmla="*/ 461 h 536"/>
                    <a:gd name="T10" fmla="*/ 199 w 535"/>
                    <a:gd name="T11" fmla="*/ 449 h 536"/>
                    <a:gd name="T12" fmla="*/ 163 w 535"/>
                    <a:gd name="T13" fmla="*/ 432 h 536"/>
                    <a:gd name="T14" fmla="*/ 134 w 535"/>
                    <a:gd name="T15" fmla="*/ 409 h 536"/>
                    <a:gd name="T16" fmla="*/ 82 w 535"/>
                    <a:gd name="T17" fmla="*/ 433 h 536"/>
                    <a:gd name="T18" fmla="*/ 75 w 535"/>
                    <a:gd name="T19" fmla="*/ 316 h 536"/>
                    <a:gd name="T20" fmla="*/ 72 w 535"/>
                    <a:gd name="T21" fmla="*/ 287 h 536"/>
                    <a:gd name="T22" fmla="*/ 72 w 535"/>
                    <a:gd name="T23" fmla="*/ 246 h 536"/>
                    <a:gd name="T24" fmla="*/ 75 w 535"/>
                    <a:gd name="T25" fmla="*/ 217 h 536"/>
                    <a:gd name="T26" fmla="*/ 82 w 535"/>
                    <a:gd name="T27" fmla="*/ 99 h 536"/>
                    <a:gd name="T28" fmla="*/ 134 w 535"/>
                    <a:gd name="T29" fmla="*/ 124 h 536"/>
                    <a:gd name="T30" fmla="*/ 163 w 535"/>
                    <a:gd name="T31" fmla="*/ 101 h 536"/>
                    <a:gd name="T32" fmla="*/ 199 w 535"/>
                    <a:gd name="T33" fmla="*/ 84 h 536"/>
                    <a:gd name="T34" fmla="*/ 217 w 535"/>
                    <a:gd name="T35" fmla="*/ 72 h 536"/>
                    <a:gd name="T36" fmla="*/ 321 w 535"/>
                    <a:gd name="T37" fmla="*/ 68 h 536"/>
                    <a:gd name="T38" fmla="*/ 330 w 535"/>
                    <a:gd name="T39" fmla="*/ 81 h 536"/>
                    <a:gd name="T40" fmla="*/ 367 w 535"/>
                    <a:gd name="T41" fmla="*/ 97 h 536"/>
                    <a:gd name="T42" fmla="*/ 407 w 535"/>
                    <a:gd name="T43" fmla="*/ 124 h 536"/>
                    <a:gd name="T44" fmla="*/ 505 w 535"/>
                    <a:gd name="T45" fmla="*/ 188 h 536"/>
                    <a:gd name="T46" fmla="*/ 458 w 535"/>
                    <a:gd name="T47" fmla="*/ 221 h 536"/>
                    <a:gd name="T48" fmla="*/ 463 w 535"/>
                    <a:gd name="T49" fmla="*/ 256 h 536"/>
                    <a:gd name="T50" fmla="*/ 461 w 535"/>
                    <a:gd name="T51" fmla="*/ 297 h 536"/>
                    <a:gd name="T52" fmla="*/ 462 w 535"/>
                    <a:gd name="T53" fmla="*/ 319 h 536"/>
                    <a:gd name="T54" fmla="*/ 528 w 535"/>
                    <a:gd name="T55" fmla="*/ 329 h 536"/>
                    <a:gd name="T56" fmla="*/ 489 w 535"/>
                    <a:gd name="T57" fmla="*/ 276 h 536"/>
                    <a:gd name="T58" fmla="*/ 486 w 535"/>
                    <a:gd name="T59" fmla="*/ 238 h 536"/>
                    <a:gd name="T60" fmla="*/ 534 w 535"/>
                    <a:gd name="T61" fmla="*/ 197 h 536"/>
                    <a:gd name="T62" fmla="*/ 467 w 535"/>
                    <a:gd name="T63" fmla="*/ 74 h 536"/>
                    <a:gd name="T64" fmla="*/ 455 w 535"/>
                    <a:gd name="T65" fmla="*/ 70 h 536"/>
                    <a:gd name="T66" fmla="*/ 380 w 535"/>
                    <a:gd name="T67" fmla="*/ 74 h 536"/>
                    <a:gd name="T68" fmla="*/ 346 w 535"/>
                    <a:gd name="T69" fmla="*/ 8 h 536"/>
                    <a:gd name="T70" fmla="*/ 205 w 535"/>
                    <a:gd name="T71" fmla="*/ 0 h 536"/>
                    <a:gd name="T72" fmla="*/ 192 w 535"/>
                    <a:gd name="T73" fmla="*/ 13 h 536"/>
                    <a:gd name="T74" fmla="*/ 143 w 535"/>
                    <a:gd name="T75" fmla="*/ 84 h 536"/>
                    <a:gd name="T76" fmla="*/ 74 w 535"/>
                    <a:gd name="T77" fmla="*/ 70 h 536"/>
                    <a:gd name="T78" fmla="*/ 0 w 535"/>
                    <a:gd name="T79" fmla="*/ 191 h 536"/>
                    <a:gd name="T80" fmla="*/ 49 w 535"/>
                    <a:gd name="T81" fmla="*/ 229 h 536"/>
                    <a:gd name="T82" fmla="*/ 46 w 535"/>
                    <a:gd name="T83" fmla="*/ 266 h 536"/>
                    <a:gd name="T84" fmla="*/ 48 w 535"/>
                    <a:gd name="T85" fmla="*/ 303 h 536"/>
                    <a:gd name="T86" fmla="*/ 0 w 535"/>
                    <a:gd name="T87" fmla="*/ 340 h 536"/>
                    <a:gd name="T88" fmla="*/ 73 w 535"/>
                    <a:gd name="T89" fmla="*/ 463 h 536"/>
                    <a:gd name="T90" fmla="*/ 143 w 535"/>
                    <a:gd name="T91" fmla="*/ 449 h 536"/>
                    <a:gd name="T92" fmla="*/ 192 w 535"/>
                    <a:gd name="T93" fmla="*/ 523 h 536"/>
                    <a:gd name="T94" fmla="*/ 205 w 535"/>
                    <a:gd name="T95" fmla="*/ 536 h 536"/>
                    <a:gd name="T96" fmla="*/ 346 w 535"/>
                    <a:gd name="T97" fmla="*/ 528 h 536"/>
                    <a:gd name="T98" fmla="*/ 364 w 535"/>
                    <a:gd name="T99" fmla="*/ 467 h 536"/>
                    <a:gd name="T100" fmla="*/ 409 w 535"/>
                    <a:gd name="T101" fmla="*/ 437 h 536"/>
                    <a:gd name="T102" fmla="*/ 458 w 535"/>
                    <a:gd name="T103" fmla="*/ 463 h 536"/>
                    <a:gd name="T104" fmla="*/ 467 w 535"/>
                    <a:gd name="T105" fmla="*/ 459 h 536"/>
                    <a:gd name="T106" fmla="*/ 535 w 535"/>
                    <a:gd name="T107" fmla="*/ 335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35" h="536">
                      <a:moveTo>
                        <a:pt x="453" y="433"/>
                      </a:moveTo>
                      <a:lnTo>
                        <a:pt x="414" y="410"/>
                      </a:lnTo>
                      <a:lnTo>
                        <a:pt x="410" y="409"/>
                      </a:lnTo>
                      <a:lnTo>
                        <a:pt x="407" y="408"/>
                      </a:lnTo>
                      <a:lnTo>
                        <a:pt x="403" y="409"/>
                      </a:lnTo>
                      <a:lnTo>
                        <a:pt x="399" y="411"/>
                      </a:lnTo>
                      <a:lnTo>
                        <a:pt x="383" y="424"/>
                      </a:lnTo>
                      <a:lnTo>
                        <a:pt x="367" y="436"/>
                      </a:lnTo>
                      <a:lnTo>
                        <a:pt x="359" y="441"/>
                      </a:lnTo>
                      <a:lnTo>
                        <a:pt x="350" y="446"/>
                      </a:lnTo>
                      <a:lnTo>
                        <a:pt x="340" y="449"/>
                      </a:lnTo>
                      <a:lnTo>
                        <a:pt x="330" y="452"/>
                      </a:lnTo>
                      <a:lnTo>
                        <a:pt x="326" y="454"/>
                      </a:lnTo>
                      <a:lnTo>
                        <a:pt x="323" y="457"/>
                      </a:lnTo>
                      <a:lnTo>
                        <a:pt x="321" y="461"/>
                      </a:lnTo>
                      <a:lnTo>
                        <a:pt x="321" y="465"/>
                      </a:lnTo>
                      <a:lnTo>
                        <a:pt x="321" y="511"/>
                      </a:lnTo>
                      <a:lnTo>
                        <a:pt x="218" y="511"/>
                      </a:lnTo>
                      <a:lnTo>
                        <a:pt x="218" y="465"/>
                      </a:lnTo>
                      <a:lnTo>
                        <a:pt x="217" y="461"/>
                      </a:lnTo>
                      <a:lnTo>
                        <a:pt x="216" y="457"/>
                      </a:lnTo>
                      <a:lnTo>
                        <a:pt x="213" y="454"/>
                      </a:lnTo>
                      <a:lnTo>
                        <a:pt x="208" y="452"/>
                      </a:lnTo>
                      <a:lnTo>
                        <a:pt x="199" y="449"/>
                      </a:lnTo>
                      <a:lnTo>
                        <a:pt x="189" y="446"/>
                      </a:lnTo>
                      <a:lnTo>
                        <a:pt x="180" y="441"/>
                      </a:lnTo>
                      <a:lnTo>
                        <a:pt x="172" y="437"/>
                      </a:lnTo>
                      <a:lnTo>
                        <a:pt x="163" y="432"/>
                      </a:lnTo>
                      <a:lnTo>
                        <a:pt x="155" y="425"/>
                      </a:lnTo>
                      <a:lnTo>
                        <a:pt x="146" y="419"/>
                      </a:lnTo>
                      <a:lnTo>
                        <a:pt x="137" y="411"/>
                      </a:lnTo>
                      <a:lnTo>
                        <a:pt x="134" y="409"/>
                      </a:lnTo>
                      <a:lnTo>
                        <a:pt x="130" y="408"/>
                      </a:lnTo>
                      <a:lnTo>
                        <a:pt x="126" y="409"/>
                      </a:lnTo>
                      <a:lnTo>
                        <a:pt x="122" y="410"/>
                      </a:lnTo>
                      <a:lnTo>
                        <a:pt x="82" y="433"/>
                      </a:lnTo>
                      <a:lnTo>
                        <a:pt x="30" y="344"/>
                      </a:lnTo>
                      <a:lnTo>
                        <a:pt x="70" y="321"/>
                      </a:lnTo>
                      <a:lnTo>
                        <a:pt x="73" y="319"/>
                      </a:lnTo>
                      <a:lnTo>
                        <a:pt x="75" y="316"/>
                      </a:lnTo>
                      <a:lnTo>
                        <a:pt x="75" y="311"/>
                      </a:lnTo>
                      <a:lnTo>
                        <a:pt x="75" y="307"/>
                      </a:lnTo>
                      <a:lnTo>
                        <a:pt x="74" y="297"/>
                      </a:lnTo>
                      <a:lnTo>
                        <a:pt x="72" y="287"/>
                      </a:lnTo>
                      <a:lnTo>
                        <a:pt x="72" y="277"/>
                      </a:lnTo>
                      <a:lnTo>
                        <a:pt x="71" y="266"/>
                      </a:lnTo>
                      <a:lnTo>
                        <a:pt x="72" y="257"/>
                      </a:lnTo>
                      <a:lnTo>
                        <a:pt x="72" y="246"/>
                      </a:lnTo>
                      <a:lnTo>
                        <a:pt x="74" y="236"/>
                      </a:lnTo>
                      <a:lnTo>
                        <a:pt x="75" y="226"/>
                      </a:lnTo>
                      <a:lnTo>
                        <a:pt x="76" y="221"/>
                      </a:lnTo>
                      <a:lnTo>
                        <a:pt x="75" y="217"/>
                      </a:lnTo>
                      <a:lnTo>
                        <a:pt x="73" y="214"/>
                      </a:lnTo>
                      <a:lnTo>
                        <a:pt x="70" y="212"/>
                      </a:lnTo>
                      <a:lnTo>
                        <a:pt x="30" y="188"/>
                      </a:lnTo>
                      <a:lnTo>
                        <a:pt x="82" y="99"/>
                      </a:lnTo>
                      <a:lnTo>
                        <a:pt x="122" y="122"/>
                      </a:lnTo>
                      <a:lnTo>
                        <a:pt x="126" y="124"/>
                      </a:lnTo>
                      <a:lnTo>
                        <a:pt x="130" y="124"/>
                      </a:lnTo>
                      <a:lnTo>
                        <a:pt x="134" y="124"/>
                      </a:lnTo>
                      <a:lnTo>
                        <a:pt x="137" y="121"/>
                      </a:lnTo>
                      <a:lnTo>
                        <a:pt x="146" y="114"/>
                      </a:lnTo>
                      <a:lnTo>
                        <a:pt x="155" y="106"/>
                      </a:lnTo>
                      <a:lnTo>
                        <a:pt x="163" y="101"/>
                      </a:lnTo>
                      <a:lnTo>
                        <a:pt x="172" y="96"/>
                      </a:lnTo>
                      <a:lnTo>
                        <a:pt x="180" y="91"/>
                      </a:lnTo>
                      <a:lnTo>
                        <a:pt x="189" y="87"/>
                      </a:lnTo>
                      <a:lnTo>
                        <a:pt x="199" y="84"/>
                      </a:lnTo>
                      <a:lnTo>
                        <a:pt x="208" y="81"/>
                      </a:lnTo>
                      <a:lnTo>
                        <a:pt x="213" y="78"/>
                      </a:lnTo>
                      <a:lnTo>
                        <a:pt x="215" y="76"/>
                      </a:lnTo>
                      <a:lnTo>
                        <a:pt x="217" y="72"/>
                      </a:lnTo>
                      <a:lnTo>
                        <a:pt x="218" y="68"/>
                      </a:lnTo>
                      <a:lnTo>
                        <a:pt x="218" y="26"/>
                      </a:lnTo>
                      <a:lnTo>
                        <a:pt x="321" y="26"/>
                      </a:lnTo>
                      <a:lnTo>
                        <a:pt x="321" y="68"/>
                      </a:lnTo>
                      <a:lnTo>
                        <a:pt x="321" y="72"/>
                      </a:lnTo>
                      <a:lnTo>
                        <a:pt x="323" y="76"/>
                      </a:lnTo>
                      <a:lnTo>
                        <a:pt x="326" y="78"/>
                      </a:lnTo>
                      <a:lnTo>
                        <a:pt x="330" y="81"/>
                      </a:lnTo>
                      <a:lnTo>
                        <a:pt x="340" y="84"/>
                      </a:lnTo>
                      <a:lnTo>
                        <a:pt x="350" y="87"/>
                      </a:lnTo>
                      <a:lnTo>
                        <a:pt x="360" y="91"/>
                      </a:lnTo>
                      <a:lnTo>
                        <a:pt x="367" y="97"/>
                      </a:lnTo>
                      <a:lnTo>
                        <a:pt x="383" y="107"/>
                      </a:lnTo>
                      <a:lnTo>
                        <a:pt x="399" y="121"/>
                      </a:lnTo>
                      <a:lnTo>
                        <a:pt x="403" y="124"/>
                      </a:lnTo>
                      <a:lnTo>
                        <a:pt x="407" y="124"/>
                      </a:lnTo>
                      <a:lnTo>
                        <a:pt x="410" y="124"/>
                      </a:lnTo>
                      <a:lnTo>
                        <a:pt x="414" y="122"/>
                      </a:lnTo>
                      <a:lnTo>
                        <a:pt x="453" y="99"/>
                      </a:lnTo>
                      <a:lnTo>
                        <a:pt x="505" y="188"/>
                      </a:lnTo>
                      <a:lnTo>
                        <a:pt x="465" y="212"/>
                      </a:lnTo>
                      <a:lnTo>
                        <a:pt x="462" y="214"/>
                      </a:lnTo>
                      <a:lnTo>
                        <a:pt x="460" y="217"/>
                      </a:lnTo>
                      <a:lnTo>
                        <a:pt x="458" y="221"/>
                      </a:lnTo>
                      <a:lnTo>
                        <a:pt x="458" y="226"/>
                      </a:lnTo>
                      <a:lnTo>
                        <a:pt x="461" y="235"/>
                      </a:lnTo>
                      <a:lnTo>
                        <a:pt x="462" y="246"/>
                      </a:lnTo>
                      <a:lnTo>
                        <a:pt x="463" y="256"/>
                      </a:lnTo>
                      <a:lnTo>
                        <a:pt x="463" y="266"/>
                      </a:lnTo>
                      <a:lnTo>
                        <a:pt x="463" y="277"/>
                      </a:lnTo>
                      <a:lnTo>
                        <a:pt x="462" y="287"/>
                      </a:lnTo>
                      <a:lnTo>
                        <a:pt x="461" y="297"/>
                      </a:lnTo>
                      <a:lnTo>
                        <a:pt x="458" y="307"/>
                      </a:lnTo>
                      <a:lnTo>
                        <a:pt x="458" y="311"/>
                      </a:lnTo>
                      <a:lnTo>
                        <a:pt x="460" y="316"/>
                      </a:lnTo>
                      <a:lnTo>
                        <a:pt x="462" y="319"/>
                      </a:lnTo>
                      <a:lnTo>
                        <a:pt x="465" y="321"/>
                      </a:lnTo>
                      <a:lnTo>
                        <a:pt x="505" y="344"/>
                      </a:lnTo>
                      <a:lnTo>
                        <a:pt x="453" y="433"/>
                      </a:lnTo>
                      <a:close/>
                      <a:moveTo>
                        <a:pt x="528" y="329"/>
                      </a:moveTo>
                      <a:lnTo>
                        <a:pt x="485" y="303"/>
                      </a:lnTo>
                      <a:lnTo>
                        <a:pt x="486" y="294"/>
                      </a:lnTo>
                      <a:lnTo>
                        <a:pt x="487" y="285"/>
                      </a:lnTo>
                      <a:lnTo>
                        <a:pt x="489" y="276"/>
                      </a:lnTo>
                      <a:lnTo>
                        <a:pt x="489" y="266"/>
                      </a:lnTo>
                      <a:lnTo>
                        <a:pt x="489" y="257"/>
                      </a:lnTo>
                      <a:lnTo>
                        <a:pt x="487" y="248"/>
                      </a:lnTo>
                      <a:lnTo>
                        <a:pt x="486" y="238"/>
                      </a:lnTo>
                      <a:lnTo>
                        <a:pt x="485" y="229"/>
                      </a:lnTo>
                      <a:lnTo>
                        <a:pt x="528" y="205"/>
                      </a:lnTo>
                      <a:lnTo>
                        <a:pt x="531" y="202"/>
                      </a:lnTo>
                      <a:lnTo>
                        <a:pt x="534" y="197"/>
                      </a:lnTo>
                      <a:lnTo>
                        <a:pt x="535" y="192"/>
                      </a:lnTo>
                      <a:lnTo>
                        <a:pt x="533" y="187"/>
                      </a:lnTo>
                      <a:lnTo>
                        <a:pt x="468" y="76"/>
                      </a:lnTo>
                      <a:lnTo>
                        <a:pt x="467" y="74"/>
                      </a:lnTo>
                      <a:lnTo>
                        <a:pt x="465" y="72"/>
                      </a:lnTo>
                      <a:lnTo>
                        <a:pt x="463" y="71"/>
                      </a:lnTo>
                      <a:lnTo>
                        <a:pt x="461" y="70"/>
                      </a:lnTo>
                      <a:lnTo>
                        <a:pt x="455" y="70"/>
                      </a:lnTo>
                      <a:lnTo>
                        <a:pt x="451" y="71"/>
                      </a:lnTo>
                      <a:lnTo>
                        <a:pt x="409" y="96"/>
                      </a:lnTo>
                      <a:lnTo>
                        <a:pt x="395" y="85"/>
                      </a:lnTo>
                      <a:lnTo>
                        <a:pt x="380" y="74"/>
                      </a:lnTo>
                      <a:lnTo>
                        <a:pt x="364" y="66"/>
                      </a:lnTo>
                      <a:lnTo>
                        <a:pt x="347" y="59"/>
                      </a:lnTo>
                      <a:lnTo>
                        <a:pt x="347" y="13"/>
                      </a:lnTo>
                      <a:lnTo>
                        <a:pt x="346" y="8"/>
                      </a:lnTo>
                      <a:lnTo>
                        <a:pt x="342" y="4"/>
                      </a:lnTo>
                      <a:lnTo>
                        <a:pt x="338" y="1"/>
                      </a:lnTo>
                      <a:lnTo>
                        <a:pt x="334" y="0"/>
                      </a:lnTo>
                      <a:lnTo>
                        <a:pt x="205" y="0"/>
                      </a:lnTo>
                      <a:lnTo>
                        <a:pt x="200" y="1"/>
                      </a:lnTo>
                      <a:lnTo>
                        <a:pt x="196" y="4"/>
                      </a:lnTo>
                      <a:lnTo>
                        <a:pt x="193" y="8"/>
                      </a:lnTo>
                      <a:lnTo>
                        <a:pt x="192" y="13"/>
                      </a:lnTo>
                      <a:lnTo>
                        <a:pt x="192" y="59"/>
                      </a:lnTo>
                      <a:lnTo>
                        <a:pt x="175" y="66"/>
                      </a:lnTo>
                      <a:lnTo>
                        <a:pt x="159" y="73"/>
                      </a:lnTo>
                      <a:lnTo>
                        <a:pt x="143" y="84"/>
                      </a:lnTo>
                      <a:lnTo>
                        <a:pt x="127" y="96"/>
                      </a:lnTo>
                      <a:lnTo>
                        <a:pt x="84" y="71"/>
                      </a:lnTo>
                      <a:lnTo>
                        <a:pt x="78" y="70"/>
                      </a:lnTo>
                      <a:lnTo>
                        <a:pt x="74" y="70"/>
                      </a:lnTo>
                      <a:lnTo>
                        <a:pt x="70" y="72"/>
                      </a:lnTo>
                      <a:lnTo>
                        <a:pt x="67" y="76"/>
                      </a:lnTo>
                      <a:lnTo>
                        <a:pt x="2" y="187"/>
                      </a:lnTo>
                      <a:lnTo>
                        <a:pt x="0" y="191"/>
                      </a:lnTo>
                      <a:lnTo>
                        <a:pt x="0" y="197"/>
                      </a:lnTo>
                      <a:lnTo>
                        <a:pt x="2" y="201"/>
                      </a:lnTo>
                      <a:lnTo>
                        <a:pt x="6" y="205"/>
                      </a:lnTo>
                      <a:lnTo>
                        <a:pt x="49" y="229"/>
                      </a:lnTo>
                      <a:lnTo>
                        <a:pt x="47" y="238"/>
                      </a:lnTo>
                      <a:lnTo>
                        <a:pt x="46" y="248"/>
                      </a:lnTo>
                      <a:lnTo>
                        <a:pt x="46" y="257"/>
                      </a:lnTo>
                      <a:lnTo>
                        <a:pt x="46" y="266"/>
                      </a:lnTo>
                      <a:lnTo>
                        <a:pt x="46" y="276"/>
                      </a:lnTo>
                      <a:lnTo>
                        <a:pt x="46" y="285"/>
                      </a:lnTo>
                      <a:lnTo>
                        <a:pt x="47" y="294"/>
                      </a:lnTo>
                      <a:lnTo>
                        <a:pt x="48" y="303"/>
                      </a:lnTo>
                      <a:lnTo>
                        <a:pt x="6" y="329"/>
                      </a:lnTo>
                      <a:lnTo>
                        <a:pt x="2" y="332"/>
                      </a:lnTo>
                      <a:lnTo>
                        <a:pt x="0" y="335"/>
                      </a:lnTo>
                      <a:lnTo>
                        <a:pt x="0" y="340"/>
                      </a:lnTo>
                      <a:lnTo>
                        <a:pt x="1" y="345"/>
                      </a:lnTo>
                      <a:lnTo>
                        <a:pt x="65" y="457"/>
                      </a:lnTo>
                      <a:lnTo>
                        <a:pt x="69" y="461"/>
                      </a:lnTo>
                      <a:lnTo>
                        <a:pt x="73" y="463"/>
                      </a:lnTo>
                      <a:lnTo>
                        <a:pt x="78" y="463"/>
                      </a:lnTo>
                      <a:lnTo>
                        <a:pt x="83" y="461"/>
                      </a:lnTo>
                      <a:lnTo>
                        <a:pt x="127" y="437"/>
                      </a:lnTo>
                      <a:lnTo>
                        <a:pt x="143" y="449"/>
                      </a:lnTo>
                      <a:lnTo>
                        <a:pt x="159" y="459"/>
                      </a:lnTo>
                      <a:lnTo>
                        <a:pt x="175" y="467"/>
                      </a:lnTo>
                      <a:lnTo>
                        <a:pt x="192" y="474"/>
                      </a:lnTo>
                      <a:lnTo>
                        <a:pt x="192" y="523"/>
                      </a:lnTo>
                      <a:lnTo>
                        <a:pt x="193" y="528"/>
                      </a:lnTo>
                      <a:lnTo>
                        <a:pt x="196" y="533"/>
                      </a:lnTo>
                      <a:lnTo>
                        <a:pt x="200" y="535"/>
                      </a:lnTo>
                      <a:lnTo>
                        <a:pt x="205" y="536"/>
                      </a:lnTo>
                      <a:lnTo>
                        <a:pt x="334" y="536"/>
                      </a:lnTo>
                      <a:lnTo>
                        <a:pt x="338" y="535"/>
                      </a:lnTo>
                      <a:lnTo>
                        <a:pt x="342" y="533"/>
                      </a:lnTo>
                      <a:lnTo>
                        <a:pt x="346" y="528"/>
                      </a:lnTo>
                      <a:lnTo>
                        <a:pt x="347" y="523"/>
                      </a:lnTo>
                      <a:lnTo>
                        <a:pt x="347" y="474"/>
                      </a:lnTo>
                      <a:lnTo>
                        <a:pt x="355" y="470"/>
                      </a:lnTo>
                      <a:lnTo>
                        <a:pt x="364" y="467"/>
                      </a:lnTo>
                      <a:lnTo>
                        <a:pt x="373" y="463"/>
                      </a:lnTo>
                      <a:lnTo>
                        <a:pt x="380" y="459"/>
                      </a:lnTo>
                      <a:lnTo>
                        <a:pt x="395" y="449"/>
                      </a:lnTo>
                      <a:lnTo>
                        <a:pt x="409" y="437"/>
                      </a:lnTo>
                      <a:lnTo>
                        <a:pt x="452" y="461"/>
                      </a:lnTo>
                      <a:lnTo>
                        <a:pt x="454" y="463"/>
                      </a:lnTo>
                      <a:lnTo>
                        <a:pt x="456" y="463"/>
                      </a:lnTo>
                      <a:lnTo>
                        <a:pt x="458" y="463"/>
                      </a:lnTo>
                      <a:lnTo>
                        <a:pt x="462" y="462"/>
                      </a:lnTo>
                      <a:lnTo>
                        <a:pt x="464" y="462"/>
                      </a:lnTo>
                      <a:lnTo>
                        <a:pt x="466" y="461"/>
                      </a:lnTo>
                      <a:lnTo>
                        <a:pt x="467" y="459"/>
                      </a:lnTo>
                      <a:lnTo>
                        <a:pt x="469" y="457"/>
                      </a:lnTo>
                      <a:lnTo>
                        <a:pt x="533" y="345"/>
                      </a:lnTo>
                      <a:lnTo>
                        <a:pt x="535" y="340"/>
                      </a:lnTo>
                      <a:lnTo>
                        <a:pt x="535" y="335"/>
                      </a:lnTo>
                      <a:lnTo>
                        <a:pt x="533" y="332"/>
                      </a:lnTo>
                      <a:lnTo>
                        <a:pt x="528" y="329"/>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34" name="íṩľiďe"/>
                <p:cNvSpPr/>
                <p:nvPr/>
              </p:nvSpPr>
              <p:spPr bwMode="auto">
                <a:xfrm>
                  <a:off x="1727201" y="3240088"/>
                  <a:ext cx="122238" cy="125413"/>
                </a:xfrm>
                <a:custGeom>
                  <a:avLst/>
                  <a:gdLst>
                    <a:gd name="T0" fmla="*/ 235 w 308"/>
                    <a:gd name="T1" fmla="*/ 227 h 315"/>
                    <a:gd name="T2" fmla="*/ 223 w 308"/>
                    <a:gd name="T3" fmla="*/ 229 h 315"/>
                    <a:gd name="T4" fmla="*/ 195 w 308"/>
                    <a:gd name="T5" fmla="*/ 248 h 315"/>
                    <a:gd name="T6" fmla="*/ 178 w 308"/>
                    <a:gd name="T7" fmla="*/ 257 h 315"/>
                    <a:gd name="T8" fmla="*/ 176 w 308"/>
                    <a:gd name="T9" fmla="*/ 289 h 315"/>
                    <a:gd name="T10" fmla="*/ 136 w 308"/>
                    <a:gd name="T11" fmla="*/ 260 h 315"/>
                    <a:gd name="T12" fmla="*/ 129 w 308"/>
                    <a:gd name="T13" fmla="*/ 253 h 315"/>
                    <a:gd name="T14" fmla="*/ 95 w 308"/>
                    <a:gd name="T15" fmla="*/ 237 h 315"/>
                    <a:gd name="T16" fmla="*/ 79 w 308"/>
                    <a:gd name="T17" fmla="*/ 226 h 315"/>
                    <a:gd name="T18" fmla="*/ 50 w 308"/>
                    <a:gd name="T19" fmla="*/ 240 h 315"/>
                    <a:gd name="T20" fmla="*/ 55 w 308"/>
                    <a:gd name="T21" fmla="*/ 192 h 315"/>
                    <a:gd name="T22" fmla="*/ 58 w 308"/>
                    <a:gd name="T23" fmla="*/ 180 h 315"/>
                    <a:gd name="T24" fmla="*/ 56 w 308"/>
                    <a:gd name="T25" fmla="*/ 145 h 315"/>
                    <a:gd name="T26" fmla="*/ 57 w 308"/>
                    <a:gd name="T27" fmla="*/ 126 h 315"/>
                    <a:gd name="T28" fmla="*/ 31 w 308"/>
                    <a:gd name="T29" fmla="*/ 108 h 315"/>
                    <a:gd name="T30" fmla="*/ 76 w 308"/>
                    <a:gd name="T31" fmla="*/ 87 h 315"/>
                    <a:gd name="T32" fmla="*/ 87 w 308"/>
                    <a:gd name="T33" fmla="*/ 84 h 315"/>
                    <a:gd name="T34" fmla="*/ 117 w 308"/>
                    <a:gd name="T35" fmla="*/ 66 h 315"/>
                    <a:gd name="T36" fmla="*/ 135 w 308"/>
                    <a:gd name="T37" fmla="*/ 57 h 315"/>
                    <a:gd name="T38" fmla="*/ 137 w 308"/>
                    <a:gd name="T39" fmla="*/ 25 h 315"/>
                    <a:gd name="T40" fmla="*/ 176 w 308"/>
                    <a:gd name="T41" fmla="*/ 53 h 315"/>
                    <a:gd name="T42" fmla="*/ 185 w 308"/>
                    <a:gd name="T43" fmla="*/ 62 h 315"/>
                    <a:gd name="T44" fmla="*/ 215 w 308"/>
                    <a:gd name="T45" fmla="*/ 77 h 315"/>
                    <a:gd name="T46" fmla="*/ 231 w 308"/>
                    <a:gd name="T47" fmla="*/ 88 h 315"/>
                    <a:gd name="T48" fmla="*/ 259 w 308"/>
                    <a:gd name="T49" fmla="*/ 76 h 315"/>
                    <a:gd name="T50" fmla="*/ 254 w 308"/>
                    <a:gd name="T51" fmla="*/ 123 h 315"/>
                    <a:gd name="T52" fmla="*/ 251 w 308"/>
                    <a:gd name="T53" fmla="*/ 134 h 315"/>
                    <a:gd name="T54" fmla="*/ 253 w 308"/>
                    <a:gd name="T55" fmla="*/ 169 h 315"/>
                    <a:gd name="T56" fmla="*/ 252 w 308"/>
                    <a:gd name="T57" fmla="*/ 188 h 315"/>
                    <a:gd name="T58" fmla="*/ 278 w 308"/>
                    <a:gd name="T59" fmla="*/ 207 h 315"/>
                    <a:gd name="T60" fmla="*/ 278 w 308"/>
                    <a:gd name="T61" fmla="*/ 178 h 315"/>
                    <a:gd name="T62" fmla="*/ 279 w 308"/>
                    <a:gd name="T63" fmla="*/ 148 h 315"/>
                    <a:gd name="T64" fmla="*/ 304 w 308"/>
                    <a:gd name="T65" fmla="*/ 123 h 315"/>
                    <a:gd name="T66" fmla="*/ 308 w 308"/>
                    <a:gd name="T67" fmla="*/ 116 h 315"/>
                    <a:gd name="T68" fmla="*/ 275 w 308"/>
                    <a:gd name="T69" fmla="*/ 51 h 315"/>
                    <a:gd name="T70" fmla="*/ 269 w 308"/>
                    <a:gd name="T71" fmla="*/ 46 h 315"/>
                    <a:gd name="T72" fmla="*/ 256 w 308"/>
                    <a:gd name="T73" fmla="*/ 46 h 315"/>
                    <a:gd name="T74" fmla="*/ 218 w 308"/>
                    <a:gd name="T75" fmla="*/ 49 h 315"/>
                    <a:gd name="T76" fmla="*/ 202 w 308"/>
                    <a:gd name="T77" fmla="*/ 13 h 315"/>
                    <a:gd name="T78" fmla="*/ 193 w 308"/>
                    <a:gd name="T79" fmla="*/ 2 h 315"/>
                    <a:gd name="T80" fmla="*/ 119 w 308"/>
                    <a:gd name="T81" fmla="*/ 2 h 315"/>
                    <a:gd name="T82" fmla="*/ 112 w 308"/>
                    <a:gd name="T83" fmla="*/ 13 h 315"/>
                    <a:gd name="T84" fmla="*/ 93 w 308"/>
                    <a:gd name="T85" fmla="*/ 50 h 315"/>
                    <a:gd name="T86" fmla="*/ 52 w 308"/>
                    <a:gd name="T87" fmla="*/ 46 h 315"/>
                    <a:gd name="T88" fmla="*/ 37 w 308"/>
                    <a:gd name="T89" fmla="*/ 47 h 315"/>
                    <a:gd name="T90" fmla="*/ 1 w 308"/>
                    <a:gd name="T91" fmla="*/ 111 h 315"/>
                    <a:gd name="T92" fmla="*/ 3 w 308"/>
                    <a:gd name="T93" fmla="*/ 121 h 315"/>
                    <a:gd name="T94" fmla="*/ 31 w 308"/>
                    <a:gd name="T95" fmla="*/ 138 h 315"/>
                    <a:gd name="T96" fmla="*/ 30 w 308"/>
                    <a:gd name="T97" fmla="*/ 167 h 315"/>
                    <a:gd name="T98" fmla="*/ 4 w 308"/>
                    <a:gd name="T99" fmla="*/ 193 h 315"/>
                    <a:gd name="T100" fmla="*/ 1 w 308"/>
                    <a:gd name="T101" fmla="*/ 199 h 315"/>
                    <a:gd name="T102" fmla="*/ 34 w 308"/>
                    <a:gd name="T103" fmla="*/ 263 h 315"/>
                    <a:gd name="T104" fmla="*/ 46 w 308"/>
                    <a:gd name="T105" fmla="*/ 270 h 315"/>
                    <a:gd name="T106" fmla="*/ 85 w 308"/>
                    <a:gd name="T107" fmla="*/ 259 h 315"/>
                    <a:gd name="T108" fmla="*/ 112 w 308"/>
                    <a:gd name="T109" fmla="*/ 274 h 315"/>
                    <a:gd name="T110" fmla="*/ 116 w 308"/>
                    <a:gd name="T111" fmla="*/ 311 h 315"/>
                    <a:gd name="T112" fmla="*/ 189 w 308"/>
                    <a:gd name="T113" fmla="*/ 315 h 315"/>
                    <a:gd name="T114" fmla="*/ 201 w 308"/>
                    <a:gd name="T115" fmla="*/ 306 h 315"/>
                    <a:gd name="T116" fmla="*/ 210 w 308"/>
                    <a:gd name="T117" fmla="*/ 270 h 315"/>
                    <a:gd name="T118" fmla="*/ 234 w 308"/>
                    <a:gd name="T119" fmla="*/ 255 h 315"/>
                    <a:gd name="T120" fmla="*/ 267 w 308"/>
                    <a:gd name="T121" fmla="*/ 270 h 315"/>
                    <a:gd name="T122" fmla="*/ 307 w 308"/>
                    <a:gd name="T123" fmla="*/ 208 h 315"/>
                    <a:gd name="T124" fmla="*/ 306 w 308"/>
                    <a:gd name="T125" fmla="*/ 194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308" h="315">
                      <a:moveTo>
                        <a:pt x="260" y="240"/>
                      </a:moveTo>
                      <a:lnTo>
                        <a:pt x="239" y="228"/>
                      </a:lnTo>
                      <a:lnTo>
                        <a:pt x="235" y="227"/>
                      </a:lnTo>
                      <a:lnTo>
                        <a:pt x="231" y="226"/>
                      </a:lnTo>
                      <a:lnTo>
                        <a:pt x="227" y="227"/>
                      </a:lnTo>
                      <a:lnTo>
                        <a:pt x="223" y="229"/>
                      </a:lnTo>
                      <a:lnTo>
                        <a:pt x="215" y="237"/>
                      </a:lnTo>
                      <a:lnTo>
                        <a:pt x="205" y="243"/>
                      </a:lnTo>
                      <a:lnTo>
                        <a:pt x="195" y="248"/>
                      </a:lnTo>
                      <a:lnTo>
                        <a:pt x="185" y="253"/>
                      </a:lnTo>
                      <a:lnTo>
                        <a:pt x="181" y="255"/>
                      </a:lnTo>
                      <a:lnTo>
                        <a:pt x="178" y="257"/>
                      </a:lnTo>
                      <a:lnTo>
                        <a:pt x="177" y="260"/>
                      </a:lnTo>
                      <a:lnTo>
                        <a:pt x="176" y="265"/>
                      </a:lnTo>
                      <a:lnTo>
                        <a:pt x="176" y="289"/>
                      </a:lnTo>
                      <a:lnTo>
                        <a:pt x="137" y="289"/>
                      </a:lnTo>
                      <a:lnTo>
                        <a:pt x="137" y="265"/>
                      </a:lnTo>
                      <a:lnTo>
                        <a:pt x="136" y="260"/>
                      </a:lnTo>
                      <a:lnTo>
                        <a:pt x="135" y="257"/>
                      </a:lnTo>
                      <a:lnTo>
                        <a:pt x="132" y="255"/>
                      </a:lnTo>
                      <a:lnTo>
                        <a:pt x="129" y="253"/>
                      </a:lnTo>
                      <a:lnTo>
                        <a:pt x="117" y="248"/>
                      </a:lnTo>
                      <a:lnTo>
                        <a:pt x="105" y="243"/>
                      </a:lnTo>
                      <a:lnTo>
                        <a:pt x="95" y="237"/>
                      </a:lnTo>
                      <a:lnTo>
                        <a:pt x="87" y="229"/>
                      </a:lnTo>
                      <a:lnTo>
                        <a:pt x="84" y="227"/>
                      </a:lnTo>
                      <a:lnTo>
                        <a:pt x="79" y="226"/>
                      </a:lnTo>
                      <a:lnTo>
                        <a:pt x="76" y="227"/>
                      </a:lnTo>
                      <a:lnTo>
                        <a:pt x="72" y="228"/>
                      </a:lnTo>
                      <a:lnTo>
                        <a:pt x="50" y="240"/>
                      </a:lnTo>
                      <a:lnTo>
                        <a:pt x="30" y="207"/>
                      </a:lnTo>
                      <a:lnTo>
                        <a:pt x="51" y="194"/>
                      </a:lnTo>
                      <a:lnTo>
                        <a:pt x="55" y="192"/>
                      </a:lnTo>
                      <a:lnTo>
                        <a:pt x="57" y="188"/>
                      </a:lnTo>
                      <a:lnTo>
                        <a:pt x="58" y="184"/>
                      </a:lnTo>
                      <a:lnTo>
                        <a:pt x="58" y="180"/>
                      </a:lnTo>
                      <a:lnTo>
                        <a:pt x="56" y="168"/>
                      </a:lnTo>
                      <a:lnTo>
                        <a:pt x="55" y="157"/>
                      </a:lnTo>
                      <a:lnTo>
                        <a:pt x="56" y="145"/>
                      </a:lnTo>
                      <a:lnTo>
                        <a:pt x="58" y="134"/>
                      </a:lnTo>
                      <a:lnTo>
                        <a:pt x="58" y="130"/>
                      </a:lnTo>
                      <a:lnTo>
                        <a:pt x="57" y="126"/>
                      </a:lnTo>
                      <a:lnTo>
                        <a:pt x="55" y="123"/>
                      </a:lnTo>
                      <a:lnTo>
                        <a:pt x="51" y="120"/>
                      </a:lnTo>
                      <a:lnTo>
                        <a:pt x="31" y="108"/>
                      </a:lnTo>
                      <a:lnTo>
                        <a:pt x="50" y="73"/>
                      </a:lnTo>
                      <a:lnTo>
                        <a:pt x="72" y="86"/>
                      </a:lnTo>
                      <a:lnTo>
                        <a:pt x="76" y="87"/>
                      </a:lnTo>
                      <a:lnTo>
                        <a:pt x="79" y="87"/>
                      </a:lnTo>
                      <a:lnTo>
                        <a:pt x="84" y="86"/>
                      </a:lnTo>
                      <a:lnTo>
                        <a:pt x="87" y="84"/>
                      </a:lnTo>
                      <a:lnTo>
                        <a:pt x="95" y="78"/>
                      </a:lnTo>
                      <a:lnTo>
                        <a:pt x="105" y="71"/>
                      </a:lnTo>
                      <a:lnTo>
                        <a:pt x="117" y="66"/>
                      </a:lnTo>
                      <a:lnTo>
                        <a:pt x="129" y="62"/>
                      </a:lnTo>
                      <a:lnTo>
                        <a:pt x="132" y="59"/>
                      </a:lnTo>
                      <a:lnTo>
                        <a:pt x="135" y="57"/>
                      </a:lnTo>
                      <a:lnTo>
                        <a:pt x="136" y="53"/>
                      </a:lnTo>
                      <a:lnTo>
                        <a:pt x="137" y="50"/>
                      </a:lnTo>
                      <a:lnTo>
                        <a:pt x="137" y="25"/>
                      </a:lnTo>
                      <a:lnTo>
                        <a:pt x="176" y="25"/>
                      </a:lnTo>
                      <a:lnTo>
                        <a:pt x="176" y="50"/>
                      </a:lnTo>
                      <a:lnTo>
                        <a:pt x="176" y="53"/>
                      </a:lnTo>
                      <a:lnTo>
                        <a:pt x="178" y="57"/>
                      </a:lnTo>
                      <a:lnTo>
                        <a:pt x="181" y="59"/>
                      </a:lnTo>
                      <a:lnTo>
                        <a:pt x="185" y="62"/>
                      </a:lnTo>
                      <a:lnTo>
                        <a:pt x="195" y="66"/>
                      </a:lnTo>
                      <a:lnTo>
                        <a:pt x="205" y="71"/>
                      </a:lnTo>
                      <a:lnTo>
                        <a:pt x="215" y="77"/>
                      </a:lnTo>
                      <a:lnTo>
                        <a:pt x="223" y="84"/>
                      </a:lnTo>
                      <a:lnTo>
                        <a:pt x="227" y="87"/>
                      </a:lnTo>
                      <a:lnTo>
                        <a:pt x="231" y="88"/>
                      </a:lnTo>
                      <a:lnTo>
                        <a:pt x="235" y="88"/>
                      </a:lnTo>
                      <a:lnTo>
                        <a:pt x="239" y="86"/>
                      </a:lnTo>
                      <a:lnTo>
                        <a:pt x="259" y="76"/>
                      </a:lnTo>
                      <a:lnTo>
                        <a:pt x="278" y="108"/>
                      </a:lnTo>
                      <a:lnTo>
                        <a:pt x="258" y="120"/>
                      </a:lnTo>
                      <a:lnTo>
                        <a:pt x="254" y="123"/>
                      </a:lnTo>
                      <a:lnTo>
                        <a:pt x="252" y="126"/>
                      </a:lnTo>
                      <a:lnTo>
                        <a:pt x="251" y="130"/>
                      </a:lnTo>
                      <a:lnTo>
                        <a:pt x="251" y="134"/>
                      </a:lnTo>
                      <a:lnTo>
                        <a:pt x="253" y="145"/>
                      </a:lnTo>
                      <a:lnTo>
                        <a:pt x="254" y="157"/>
                      </a:lnTo>
                      <a:lnTo>
                        <a:pt x="253" y="169"/>
                      </a:lnTo>
                      <a:lnTo>
                        <a:pt x="251" y="180"/>
                      </a:lnTo>
                      <a:lnTo>
                        <a:pt x="251" y="184"/>
                      </a:lnTo>
                      <a:lnTo>
                        <a:pt x="252" y="188"/>
                      </a:lnTo>
                      <a:lnTo>
                        <a:pt x="254" y="192"/>
                      </a:lnTo>
                      <a:lnTo>
                        <a:pt x="258" y="194"/>
                      </a:lnTo>
                      <a:lnTo>
                        <a:pt x="278" y="207"/>
                      </a:lnTo>
                      <a:lnTo>
                        <a:pt x="260" y="240"/>
                      </a:lnTo>
                      <a:close/>
                      <a:moveTo>
                        <a:pt x="302" y="192"/>
                      </a:moveTo>
                      <a:lnTo>
                        <a:pt x="278" y="178"/>
                      </a:lnTo>
                      <a:lnTo>
                        <a:pt x="279" y="167"/>
                      </a:lnTo>
                      <a:lnTo>
                        <a:pt x="279" y="157"/>
                      </a:lnTo>
                      <a:lnTo>
                        <a:pt x="279" y="148"/>
                      </a:lnTo>
                      <a:lnTo>
                        <a:pt x="278" y="138"/>
                      </a:lnTo>
                      <a:lnTo>
                        <a:pt x="302" y="124"/>
                      </a:lnTo>
                      <a:lnTo>
                        <a:pt x="304" y="123"/>
                      </a:lnTo>
                      <a:lnTo>
                        <a:pt x="306" y="121"/>
                      </a:lnTo>
                      <a:lnTo>
                        <a:pt x="307" y="119"/>
                      </a:lnTo>
                      <a:lnTo>
                        <a:pt x="308" y="116"/>
                      </a:lnTo>
                      <a:lnTo>
                        <a:pt x="308" y="111"/>
                      </a:lnTo>
                      <a:lnTo>
                        <a:pt x="306" y="106"/>
                      </a:lnTo>
                      <a:lnTo>
                        <a:pt x="275" y="51"/>
                      </a:lnTo>
                      <a:lnTo>
                        <a:pt x="273" y="49"/>
                      </a:lnTo>
                      <a:lnTo>
                        <a:pt x="271" y="47"/>
                      </a:lnTo>
                      <a:lnTo>
                        <a:pt x="269" y="46"/>
                      </a:lnTo>
                      <a:lnTo>
                        <a:pt x="266" y="44"/>
                      </a:lnTo>
                      <a:lnTo>
                        <a:pt x="262" y="44"/>
                      </a:lnTo>
                      <a:lnTo>
                        <a:pt x="256" y="46"/>
                      </a:lnTo>
                      <a:lnTo>
                        <a:pt x="234" y="59"/>
                      </a:lnTo>
                      <a:lnTo>
                        <a:pt x="226" y="54"/>
                      </a:lnTo>
                      <a:lnTo>
                        <a:pt x="218" y="49"/>
                      </a:lnTo>
                      <a:lnTo>
                        <a:pt x="210" y="44"/>
                      </a:lnTo>
                      <a:lnTo>
                        <a:pt x="202" y="41"/>
                      </a:lnTo>
                      <a:lnTo>
                        <a:pt x="202" y="13"/>
                      </a:lnTo>
                      <a:lnTo>
                        <a:pt x="201" y="8"/>
                      </a:lnTo>
                      <a:lnTo>
                        <a:pt x="197" y="4"/>
                      </a:lnTo>
                      <a:lnTo>
                        <a:pt x="193" y="2"/>
                      </a:lnTo>
                      <a:lnTo>
                        <a:pt x="189" y="0"/>
                      </a:lnTo>
                      <a:lnTo>
                        <a:pt x="124" y="0"/>
                      </a:lnTo>
                      <a:lnTo>
                        <a:pt x="119" y="2"/>
                      </a:lnTo>
                      <a:lnTo>
                        <a:pt x="116" y="4"/>
                      </a:lnTo>
                      <a:lnTo>
                        <a:pt x="113" y="8"/>
                      </a:lnTo>
                      <a:lnTo>
                        <a:pt x="112" y="13"/>
                      </a:lnTo>
                      <a:lnTo>
                        <a:pt x="112" y="41"/>
                      </a:lnTo>
                      <a:lnTo>
                        <a:pt x="102" y="44"/>
                      </a:lnTo>
                      <a:lnTo>
                        <a:pt x="93" y="50"/>
                      </a:lnTo>
                      <a:lnTo>
                        <a:pt x="85" y="54"/>
                      </a:lnTo>
                      <a:lnTo>
                        <a:pt x="77" y="59"/>
                      </a:lnTo>
                      <a:lnTo>
                        <a:pt x="52" y="46"/>
                      </a:lnTo>
                      <a:lnTo>
                        <a:pt x="47" y="44"/>
                      </a:lnTo>
                      <a:lnTo>
                        <a:pt x="43" y="44"/>
                      </a:lnTo>
                      <a:lnTo>
                        <a:pt x="37" y="47"/>
                      </a:lnTo>
                      <a:lnTo>
                        <a:pt x="34" y="51"/>
                      </a:lnTo>
                      <a:lnTo>
                        <a:pt x="2" y="106"/>
                      </a:lnTo>
                      <a:lnTo>
                        <a:pt x="1" y="111"/>
                      </a:lnTo>
                      <a:lnTo>
                        <a:pt x="1" y="116"/>
                      </a:lnTo>
                      <a:lnTo>
                        <a:pt x="2" y="119"/>
                      </a:lnTo>
                      <a:lnTo>
                        <a:pt x="3" y="121"/>
                      </a:lnTo>
                      <a:lnTo>
                        <a:pt x="5" y="123"/>
                      </a:lnTo>
                      <a:lnTo>
                        <a:pt x="7" y="124"/>
                      </a:lnTo>
                      <a:lnTo>
                        <a:pt x="31" y="138"/>
                      </a:lnTo>
                      <a:lnTo>
                        <a:pt x="30" y="148"/>
                      </a:lnTo>
                      <a:lnTo>
                        <a:pt x="29" y="157"/>
                      </a:lnTo>
                      <a:lnTo>
                        <a:pt x="30" y="167"/>
                      </a:lnTo>
                      <a:lnTo>
                        <a:pt x="31" y="178"/>
                      </a:lnTo>
                      <a:lnTo>
                        <a:pt x="6" y="192"/>
                      </a:lnTo>
                      <a:lnTo>
                        <a:pt x="4" y="193"/>
                      </a:lnTo>
                      <a:lnTo>
                        <a:pt x="3" y="194"/>
                      </a:lnTo>
                      <a:lnTo>
                        <a:pt x="2" y="196"/>
                      </a:lnTo>
                      <a:lnTo>
                        <a:pt x="1" y="199"/>
                      </a:lnTo>
                      <a:lnTo>
                        <a:pt x="0" y="203"/>
                      </a:lnTo>
                      <a:lnTo>
                        <a:pt x="2" y="208"/>
                      </a:lnTo>
                      <a:lnTo>
                        <a:pt x="34" y="263"/>
                      </a:lnTo>
                      <a:lnTo>
                        <a:pt x="37" y="268"/>
                      </a:lnTo>
                      <a:lnTo>
                        <a:pt x="42" y="270"/>
                      </a:lnTo>
                      <a:lnTo>
                        <a:pt x="46" y="270"/>
                      </a:lnTo>
                      <a:lnTo>
                        <a:pt x="51" y="269"/>
                      </a:lnTo>
                      <a:lnTo>
                        <a:pt x="77" y="254"/>
                      </a:lnTo>
                      <a:lnTo>
                        <a:pt x="85" y="259"/>
                      </a:lnTo>
                      <a:lnTo>
                        <a:pt x="93" y="266"/>
                      </a:lnTo>
                      <a:lnTo>
                        <a:pt x="102" y="270"/>
                      </a:lnTo>
                      <a:lnTo>
                        <a:pt x="112" y="274"/>
                      </a:lnTo>
                      <a:lnTo>
                        <a:pt x="112" y="302"/>
                      </a:lnTo>
                      <a:lnTo>
                        <a:pt x="113" y="306"/>
                      </a:lnTo>
                      <a:lnTo>
                        <a:pt x="116" y="311"/>
                      </a:lnTo>
                      <a:lnTo>
                        <a:pt x="119" y="314"/>
                      </a:lnTo>
                      <a:lnTo>
                        <a:pt x="124" y="315"/>
                      </a:lnTo>
                      <a:lnTo>
                        <a:pt x="189" y="315"/>
                      </a:lnTo>
                      <a:lnTo>
                        <a:pt x="193" y="314"/>
                      </a:lnTo>
                      <a:lnTo>
                        <a:pt x="197" y="311"/>
                      </a:lnTo>
                      <a:lnTo>
                        <a:pt x="201" y="306"/>
                      </a:lnTo>
                      <a:lnTo>
                        <a:pt x="202" y="302"/>
                      </a:lnTo>
                      <a:lnTo>
                        <a:pt x="202" y="274"/>
                      </a:lnTo>
                      <a:lnTo>
                        <a:pt x="210" y="270"/>
                      </a:lnTo>
                      <a:lnTo>
                        <a:pt x="218" y="266"/>
                      </a:lnTo>
                      <a:lnTo>
                        <a:pt x="226" y="260"/>
                      </a:lnTo>
                      <a:lnTo>
                        <a:pt x="234" y="255"/>
                      </a:lnTo>
                      <a:lnTo>
                        <a:pt x="258" y="268"/>
                      </a:lnTo>
                      <a:lnTo>
                        <a:pt x="262" y="270"/>
                      </a:lnTo>
                      <a:lnTo>
                        <a:pt x="267" y="270"/>
                      </a:lnTo>
                      <a:lnTo>
                        <a:pt x="271" y="268"/>
                      </a:lnTo>
                      <a:lnTo>
                        <a:pt x="275" y="263"/>
                      </a:lnTo>
                      <a:lnTo>
                        <a:pt x="307" y="208"/>
                      </a:lnTo>
                      <a:lnTo>
                        <a:pt x="308" y="202"/>
                      </a:lnTo>
                      <a:lnTo>
                        <a:pt x="308" y="198"/>
                      </a:lnTo>
                      <a:lnTo>
                        <a:pt x="306" y="194"/>
                      </a:lnTo>
                      <a:lnTo>
                        <a:pt x="302" y="19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grpSp>
          <p:nvGrpSpPr>
            <p:cNvPr id="14" name="iSḷîḍê"/>
            <p:cNvGrpSpPr/>
            <p:nvPr/>
          </p:nvGrpSpPr>
          <p:grpSpPr>
            <a:xfrm>
              <a:off x="6895820" y="4707616"/>
              <a:ext cx="952304" cy="594799"/>
              <a:chOff x="5484573" y="5214090"/>
              <a:chExt cx="952304" cy="594799"/>
            </a:xfrm>
          </p:grpSpPr>
          <p:sp>
            <p:nvSpPr>
              <p:cNvPr id="25" name="íšļïḍé"/>
              <p:cNvSpPr txBox="1"/>
              <p:nvPr/>
            </p:nvSpPr>
            <p:spPr>
              <a:xfrm>
                <a:off x="5484573" y="5470335"/>
                <a:ext cx="952304" cy="338554"/>
              </a:xfrm>
              <a:prstGeom prst="rect">
                <a:avLst/>
              </a:prstGeom>
              <a:noFill/>
            </p:spPr>
            <p:txBody>
              <a:bodyPr wrap="square" lIns="91440" tIns="45720" rIns="91440" bIns="45720" rtlCol="0">
                <a:spAutoFit/>
              </a:bodyPr>
              <a:lstStyle/>
              <a:p>
                <a:pPr marL="0" marR="0" lvl="0" indent="0" algn="ctr" defTabSz="914400" eaLnBrk="1" fontAlgn="auto" latinLnBrk="0" hangingPunct="1">
                  <a:lnSpc>
                    <a:spcPct val="100000"/>
                  </a:lnSpc>
                  <a:spcBef>
                    <a:spcPts val="0"/>
                  </a:spcBef>
                  <a:spcAft>
                    <a:spcPts val="0"/>
                  </a:spcAft>
                  <a:buClrTx/>
                  <a:buSzTx/>
                  <a:buFontTx/>
                  <a:buNone/>
                  <a:defRPr/>
                </a:pPr>
                <a:r>
                  <a:rPr kumimoji="0" lang="en-US" sz="1600" b="1" i="0" u="none" strike="noStrike" kern="0" cap="none" spc="0" normalizeH="0" baseline="0" noProof="0" dirty="0">
                    <a:ln>
                      <a:noFill/>
                    </a:ln>
                    <a:solidFill>
                      <a:prstClr val="white"/>
                    </a:solidFill>
                    <a:effectLst/>
                    <a:uLnTx/>
                    <a:uFillTx/>
                  </a:rPr>
                  <a:t>Oct-Des</a:t>
                </a:r>
              </a:p>
            </p:txBody>
          </p:sp>
          <p:grpSp>
            <p:nvGrpSpPr>
              <p:cNvPr id="26" name="isḷiḋe"/>
              <p:cNvGrpSpPr>
                <a:grpSpLocks noChangeAspect="1"/>
              </p:cNvGrpSpPr>
              <p:nvPr/>
            </p:nvGrpSpPr>
            <p:grpSpPr>
              <a:xfrm>
                <a:off x="5835421" y="5214090"/>
                <a:ext cx="250608" cy="252000"/>
                <a:chOff x="10455275" y="2498725"/>
                <a:chExt cx="285750" cy="287338"/>
              </a:xfrm>
              <a:solidFill>
                <a:sysClr val="window" lastClr="FFFFFF"/>
              </a:solidFill>
            </p:grpSpPr>
            <p:sp>
              <p:nvSpPr>
                <p:cNvPr id="27" name="ïSļiďê"/>
                <p:cNvSpPr/>
                <p:nvPr/>
              </p:nvSpPr>
              <p:spPr bwMode="auto">
                <a:xfrm>
                  <a:off x="10455275" y="2593975"/>
                  <a:ext cx="285750" cy="192088"/>
                </a:xfrm>
                <a:custGeom>
                  <a:avLst/>
                  <a:gdLst>
                    <a:gd name="T0" fmla="*/ 812 w 903"/>
                    <a:gd name="T1" fmla="*/ 30 h 601"/>
                    <a:gd name="T2" fmla="*/ 512 w 903"/>
                    <a:gd name="T3" fmla="*/ 571 h 601"/>
                    <a:gd name="T4" fmla="*/ 602 w 903"/>
                    <a:gd name="T5" fmla="*/ 571 h 601"/>
                    <a:gd name="T6" fmla="*/ 301 w 903"/>
                    <a:gd name="T7" fmla="*/ 210 h 601"/>
                    <a:gd name="T8" fmla="*/ 301 w 903"/>
                    <a:gd name="T9" fmla="*/ 571 h 601"/>
                    <a:gd name="T10" fmla="*/ 181 w 903"/>
                    <a:gd name="T11" fmla="*/ 421 h 601"/>
                    <a:gd name="T12" fmla="*/ 888 w 903"/>
                    <a:gd name="T13" fmla="*/ 571 h 601"/>
                    <a:gd name="T14" fmla="*/ 842 w 903"/>
                    <a:gd name="T15" fmla="*/ 12 h 601"/>
                    <a:gd name="T16" fmla="*/ 838 w 903"/>
                    <a:gd name="T17" fmla="*/ 5 h 601"/>
                    <a:gd name="T18" fmla="*/ 830 w 903"/>
                    <a:gd name="T19" fmla="*/ 0 h 601"/>
                    <a:gd name="T20" fmla="*/ 704 w 903"/>
                    <a:gd name="T21" fmla="*/ 0 h 601"/>
                    <a:gd name="T22" fmla="*/ 696 w 903"/>
                    <a:gd name="T23" fmla="*/ 5 h 601"/>
                    <a:gd name="T24" fmla="*/ 692 w 903"/>
                    <a:gd name="T25" fmla="*/ 12 h 601"/>
                    <a:gd name="T26" fmla="*/ 632 w 903"/>
                    <a:gd name="T27" fmla="*/ 571 h 601"/>
                    <a:gd name="T28" fmla="*/ 631 w 903"/>
                    <a:gd name="T29" fmla="*/ 280 h 601"/>
                    <a:gd name="T30" fmla="*/ 626 w 903"/>
                    <a:gd name="T31" fmla="*/ 274 h 601"/>
                    <a:gd name="T32" fmla="*/ 617 w 903"/>
                    <a:gd name="T33" fmla="*/ 270 h 601"/>
                    <a:gd name="T34" fmla="*/ 491 w 903"/>
                    <a:gd name="T35" fmla="*/ 271 h 601"/>
                    <a:gd name="T36" fmla="*/ 484 w 903"/>
                    <a:gd name="T37" fmla="*/ 278 h 601"/>
                    <a:gd name="T38" fmla="*/ 482 w 903"/>
                    <a:gd name="T39" fmla="*/ 285 h 601"/>
                    <a:gd name="T40" fmla="*/ 421 w 903"/>
                    <a:gd name="T41" fmla="*/ 195 h 601"/>
                    <a:gd name="T42" fmla="*/ 419 w 903"/>
                    <a:gd name="T43" fmla="*/ 187 h 601"/>
                    <a:gd name="T44" fmla="*/ 412 w 903"/>
                    <a:gd name="T45" fmla="*/ 181 h 601"/>
                    <a:gd name="T46" fmla="*/ 286 w 903"/>
                    <a:gd name="T47" fmla="*/ 180 h 601"/>
                    <a:gd name="T48" fmla="*/ 277 w 903"/>
                    <a:gd name="T49" fmla="*/ 184 h 601"/>
                    <a:gd name="T50" fmla="*/ 272 w 903"/>
                    <a:gd name="T51" fmla="*/ 190 h 601"/>
                    <a:gd name="T52" fmla="*/ 271 w 903"/>
                    <a:gd name="T53" fmla="*/ 571 h 601"/>
                    <a:gd name="T54" fmla="*/ 211 w 903"/>
                    <a:gd name="T55" fmla="*/ 403 h 601"/>
                    <a:gd name="T56" fmla="*/ 207 w 903"/>
                    <a:gd name="T57" fmla="*/ 396 h 601"/>
                    <a:gd name="T58" fmla="*/ 199 w 903"/>
                    <a:gd name="T59" fmla="*/ 391 h 601"/>
                    <a:gd name="T60" fmla="*/ 73 w 903"/>
                    <a:gd name="T61" fmla="*/ 391 h 601"/>
                    <a:gd name="T62" fmla="*/ 65 w 903"/>
                    <a:gd name="T63" fmla="*/ 396 h 601"/>
                    <a:gd name="T64" fmla="*/ 61 w 903"/>
                    <a:gd name="T65" fmla="*/ 403 h 601"/>
                    <a:gd name="T66" fmla="*/ 16 w 903"/>
                    <a:gd name="T67" fmla="*/ 571 h 601"/>
                    <a:gd name="T68" fmla="*/ 7 w 903"/>
                    <a:gd name="T69" fmla="*/ 573 h 601"/>
                    <a:gd name="T70" fmla="*/ 2 w 903"/>
                    <a:gd name="T71" fmla="*/ 581 h 601"/>
                    <a:gd name="T72" fmla="*/ 1 w 903"/>
                    <a:gd name="T73" fmla="*/ 590 h 601"/>
                    <a:gd name="T74" fmla="*/ 5 w 903"/>
                    <a:gd name="T75" fmla="*/ 597 h 601"/>
                    <a:gd name="T76" fmla="*/ 13 w 903"/>
                    <a:gd name="T77" fmla="*/ 601 h 601"/>
                    <a:gd name="T78" fmla="*/ 196 w 903"/>
                    <a:gd name="T79" fmla="*/ 601 h 601"/>
                    <a:gd name="T80" fmla="*/ 497 w 903"/>
                    <a:gd name="T81" fmla="*/ 601 h 601"/>
                    <a:gd name="T82" fmla="*/ 827 w 903"/>
                    <a:gd name="T83" fmla="*/ 601 h 601"/>
                    <a:gd name="T84" fmla="*/ 893 w 903"/>
                    <a:gd name="T85" fmla="*/ 600 h 601"/>
                    <a:gd name="T86" fmla="*/ 900 w 903"/>
                    <a:gd name="T87" fmla="*/ 595 h 601"/>
                    <a:gd name="T88" fmla="*/ 903 w 903"/>
                    <a:gd name="T89" fmla="*/ 586 h 601"/>
                    <a:gd name="T90" fmla="*/ 900 w 903"/>
                    <a:gd name="T91" fmla="*/ 578 h 601"/>
                    <a:gd name="T92" fmla="*/ 893 w 903"/>
                    <a:gd name="T93" fmla="*/ 572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601">
                      <a:moveTo>
                        <a:pt x="722" y="571"/>
                      </a:moveTo>
                      <a:lnTo>
                        <a:pt x="722" y="30"/>
                      </a:lnTo>
                      <a:lnTo>
                        <a:pt x="812" y="30"/>
                      </a:lnTo>
                      <a:lnTo>
                        <a:pt x="812" y="571"/>
                      </a:lnTo>
                      <a:lnTo>
                        <a:pt x="722" y="571"/>
                      </a:lnTo>
                      <a:close/>
                      <a:moveTo>
                        <a:pt x="512" y="571"/>
                      </a:moveTo>
                      <a:lnTo>
                        <a:pt x="512" y="300"/>
                      </a:lnTo>
                      <a:lnTo>
                        <a:pt x="602" y="300"/>
                      </a:lnTo>
                      <a:lnTo>
                        <a:pt x="602" y="571"/>
                      </a:lnTo>
                      <a:lnTo>
                        <a:pt x="512" y="571"/>
                      </a:lnTo>
                      <a:close/>
                      <a:moveTo>
                        <a:pt x="301" y="571"/>
                      </a:moveTo>
                      <a:lnTo>
                        <a:pt x="301" y="210"/>
                      </a:lnTo>
                      <a:lnTo>
                        <a:pt x="391" y="210"/>
                      </a:lnTo>
                      <a:lnTo>
                        <a:pt x="391" y="571"/>
                      </a:lnTo>
                      <a:lnTo>
                        <a:pt x="301" y="571"/>
                      </a:lnTo>
                      <a:close/>
                      <a:moveTo>
                        <a:pt x="91" y="571"/>
                      </a:moveTo>
                      <a:lnTo>
                        <a:pt x="91" y="421"/>
                      </a:lnTo>
                      <a:lnTo>
                        <a:pt x="181" y="421"/>
                      </a:lnTo>
                      <a:lnTo>
                        <a:pt x="181" y="571"/>
                      </a:lnTo>
                      <a:lnTo>
                        <a:pt x="91" y="571"/>
                      </a:lnTo>
                      <a:close/>
                      <a:moveTo>
                        <a:pt x="888" y="571"/>
                      </a:moveTo>
                      <a:lnTo>
                        <a:pt x="842" y="571"/>
                      </a:lnTo>
                      <a:lnTo>
                        <a:pt x="842" y="15"/>
                      </a:lnTo>
                      <a:lnTo>
                        <a:pt x="842" y="12"/>
                      </a:lnTo>
                      <a:lnTo>
                        <a:pt x="841" y="9"/>
                      </a:lnTo>
                      <a:lnTo>
                        <a:pt x="840" y="7"/>
                      </a:lnTo>
                      <a:lnTo>
                        <a:pt x="838" y="5"/>
                      </a:lnTo>
                      <a:lnTo>
                        <a:pt x="836" y="3"/>
                      </a:lnTo>
                      <a:lnTo>
                        <a:pt x="833" y="1"/>
                      </a:lnTo>
                      <a:lnTo>
                        <a:pt x="830" y="0"/>
                      </a:lnTo>
                      <a:lnTo>
                        <a:pt x="827" y="0"/>
                      </a:lnTo>
                      <a:lnTo>
                        <a:pt x="707" y="0"/>
                      </a:lnTo>
                      <a:lnTo>
                        <a:pt x="704" y="0"/>
                      </a:lnTo>
                      <a:lnTo>
                        <a:pt x="702" y="1"/>
                      </a:lnTo>
                      <a:lnTo>
                        <a:pt x="698" y="3"/>
                      </a:lnTo>
                      <a:lnTo>
                        <a:pt x="696" y="5"/>
                      </a:lnTo>
                      <a:lnTo>
                        <a:pt x="694" y="7"/>
                      </a:lnTo>
                      <a:lnTo>
                        <a:pt x="693" y="9"/>
                      </a:lnTo>
                      <a:lnTo>
                        <a:pt x="692" y="12"/>
                      </a:lnTo>
                      <a:lnTo>
                        <a:pt x="692" y="15"/>
                      </a:lnTo>
                      <a:lnTo>
                        <a:pt x="692" y="571"/>
                      </a:lnTo>
                      <a:lnTo>
                        <a:pt x="632" y="571"/>
                      </a:lnTo>
                      <a:lnTo>
                        <a:pt x="632" y="285"/>
                      </a:lnTo>
                      <a:lnTo>
                        <a:pt x="632" y="283"/>
                      </a:lnTo>
                      <a:lnTo>
                        <a:pt x="631" y="280"/>
                      </a:lnTo>
                      <a:lnTo>
                        <a:pt x="630" y="278"/>
                      </a:lnTo>
                      <a:lnTo>
                        <a:pt x="628" y="275"/>
                      </a:lnTo>
                      <a:lnTo>
                        <a:pt x="626" y="274"/>
                      </a:lnTo>
                      <a:lnTo>
                        <a:pt x="622" y="271"/>
                      </a:lnTo>
                      <a:lnTo>
                        <a:pt x="620" y="271"/>
                      </a:lnTo>
                      <a:lnTo>
                        <a:pt x="617" y="270"/>
                      </a:lnTo>
                      <a:lnTo>
                        <a:pt x="497" y="270"/>
                      </a:lnTo>
                      <a:lnTo>
                        <a:pt x="494" y="271"/>
                      </a:lnTo>
                      <a:lnTo>
                        <a:pt x="491" y="271"/>
                      </a:lnTo>
                      <a:lnTo>
                        <a:pt x="488" y="274"/>
                      </a:lnTo>
                      <a:lnTo>
                        <a:pt x="486" y="275"/>
                      </a:lnTo>
                      <a:lnTo>
                        <a:pt x="484" y="278"/>
                      </a:lnTo>
                      <a:lnTo>
                        <a:pt x="483" y="280"/>
                      </a:lnTo>
                      <a:lnTo>
                        <a:pt x="482" y="283"/>
                      </a:lnTo>
                      <a:lnTo>
                        <a:pt x="482" y="285"/>
                      </a:lnTo>
                      <a:lnTo>
                        <a:pt x="482" y="571"/>
                      </a:lnTo>
                      <a:lnTo>
                        <a:pt x="421" y="571"/>
                      </a:lnTo>
                      <a:lnTo>
                        <a:pt x="421" y="195"/>
                      </a:lnTo>
                      <a:lnTo>
                        <a:pt x="421" y="192"/>
                      </a:lnTo>
                      <a:lnTo>
                        <a:pt x="420" y="190"/>
                      </a:lnTo>
                      <a:lnTo>
                        <a:pt x="419" y="187"/>
                      </a:lnTo>
                      <a:lnTo>
                        <a:pt x="417" y="185"/>
                      </a:lnTo>
                      <a:lnTo>
                        <a:pt x="415" y="184"/>
                      </a:lnTo>
                      <a:lnTo>
                        <a:pt x="412" y="181"/>
                      </a:lnTo>
                      <a:lnTo>
                        <a:pt x="409" y="180"/>
                      </a:lnTo>
                      <a:lnTo>
                        <a:pt x="406" y="180"/>
                      </a:lnTo>
                      <a:lnTo>
                        <a:pt x="286" y="180"/>
                      </a:lnTo>
                      <a:lnTo>
                        <a:pt x="283" y="180"/>
                      </a:lnTo>
                      <a:lnTo>
                        <a:pt x="281" y="181"/>
                      </a:lnTo>
                      <a:lnTo>
                        <a:pt x="277" y="184"/>
                      </a:lnTo>
                      <a:lnTo>
                        <a:pt x="275" y="185"/>
                      </a:lnTo>
                      <a:lnTo>
                        <a:pt x="274" y="187"/>
                      </a:lnTo>
                      <a:lnTo>
                        <a:pt x="272" y="190"/>
                      </a:lnTo>
                      <a:lnTo>
                        <a:pt x="271" y="192"/>
                      </a:lnTo>
                      <a:lnTo>
                        <a:pt x="271" y="195"/>
                      </a:lnTo>
                      <a:lnTo>
                        <a:pt x="271" y="571"/>
                      </a:lnTo>
                      <a:lnTo>
                        <a:pt x="211" y="571"/>
                      </a:lnTo>
                      <a:lnTo>
                        <a:pt x="211" y="406"/>
                      </a:lnTo>
                      <a:lnTo>
                        <a:pt x="211" y="403"/>
                      </a:lnTo>
                      <a:lnTo>
                        <a:pt x="210" y="400"/>
                      </a:lnTo>
                      <a:lnTo>
                        <a:pt x="209" y="398"/>
                      </a:lnTo>
                      <a:lnTo>
                        <a:pt x="207" y="396"/>
                      </a:lnTo>
                      <a:lnTo>
                        <a:pt x="205" y="394"/>
                      </a:lnTo>
                      <a:lnTo>
                        <a:pt x="201" y="392"/>
                      </a:lnTo>
                      <a:lnTo>
                        <a:pt x="199" y="391"/>
                      </a:lnTo>
                      <a:lnTo>
                        <a:pt x="196" y="391"/>
                      </a:lnTo>
                      <a:lnTo>
                        <a:pt x="76" y="391"/>
                      </a:lnTo>
                      <a:lnTo>
                        <a:pt x="73" y="391"/>
                      </a:lnTo>
                      <a:lnTo>
                        <a:pt x="70" y="392"/>
                      </a:lnTo>
                      <a:lnTo>
                        <a:pt x="67" y="394"/>
                      </a:lnTo>
                      <a:lnTo>
                        <a:pt x="65" y="396"/>
                      </a:lnTo>
                      <a:lnTo>
                        <a:pt x="63" y="398"/>
                      </a:lnTo>
                      <a:lnTo>
                        <a:pt x="62" y="400"/>
                      </a:lnTo>
                      <a:lnTo>
                        <a:pt x="61" y="403"/>
                      </a:lnTo>
                      <a:lnTo>
                        <a:pt x="61" y="406"/>
                      </a:lnTo>
                      <a:lnTo>
                        <a:pt x="61" y="571"/>
                      </a:lnTo>
                      <a:lnTo>
                        <a:pt x="16" y="571"/>
                      </a:lnTo>
                      <a:lnTo>
                        <a:pt x="13" y="571"/>
                      </a:lnTo>
                      <a:lnTo>
                        <a:pt x="10" y="572"/>
                      </a:lnTo>
                      <a:lnTo>
                        <a:pt x="7" y="573"/>
                      </a:lnTo>
                      <a:lnTo>
                        <a:pt x="5" y="576"/>
                      </a:lnTo>
                      <a:lnTo>
                        <a:pt x="3" y="578"/>
                      </a:lnTo>
                      <a:lnTo>
                        <a:pt x="2" y="581"/>
                      </a:lnTo>
                      <a:lnTo>
                        <a:pt x="1" y="583"/>
                      </a:lnTo>
                      <a:lnTo>
                        <a:pt x="0" y="586"/>
                      </a:lnTo>
                      <a:lnTo>
                        <a:pt x="1" y="590"/>
                      </a:lnTo>
                      <a:lnTo>
                        <a:pt x="2" y="593"/>
                      </a:lnTo>
                      <a:lnTo>
                        <a:pt x="3" y="595"/>
                      </a:lnTo>
                      <a:lnTo>
                        <a:pt x="5" y="597"/>
                      </a:lnTo>
                      <a:lnTo>
                        <a:pt x="7" y="599"/>
                      </a:lnTo>
                      <a:lnTo>
                        <a:pt x="10" y="600"/>
                      </a:lnTo>
                      <a:lnTo>
                        <a:pt x="13" y="601"/>
                      </a:lnTo>
                      <a:lnTo>
                        <a:pt x="16" y="601"/>
                      </a:lnTo>
                      <a:lnTo>
                        <a:pt x="76" y="601"/>
                      </a:lnTo>
                      <a:lnTo>
                        <a:pt x="196" y="601"/>
                      </a:lnTo>
                      <a:lnTo>
                        <a:pt x="286" y="601"/>
                      </a:lnTo>
                      <a:lnTo>
                        <a:pt x="406" y="601"/>
                      </a:lnTo>
                      <a:lnTo>
                        <a:pt x="497" y="601"/>
                      </a:lnTo>
                      <a:lnTo>
                        <a:pt x="617" y="601"/>
                      </a:lnTo>
                      <a:lnTo>
                        <a:pt x="707" y="601"/>
                      </a:lnTo>
                      <a:lnTo>
                        <a:pt x="827" y="601"/>
                      </a:lnTo>
                      <a:lnTo>
                        <a:pt x="888" y="601"/>
                      </a:lnTo>
                      <a:lnTo>
                        <a:pt x="890" y="601"/>
                      </a:lnTo>
                      <a:lnTo>
                        <a:pt x="893" y="600"/>
                      </a:lnTo>
                      <a:lnTo>
                        <a:pt x="896" y="599"/>
                      </a:lnTo>
                      <a:lnTo>
                        <a:pt x="898" y="597"/>
                      </a:lnTo>
                      <a:lnTo>
                        <a:pt x="900" y="595"/>
                      </a:lnTo>
                      <a:lnTo>
                        <a:pt x="901" y="593"/>
                      </a:lnTo>
                      <a:lnTo>
                        <a:pt x="902" y="590"/>
                      </a:lnTo>
                      <a:lnTo>
                        <a:pt x="903" y="586"/>
                      </a:lnTo>
                      <a:lnTo>
                        <a:pt x="902" y="583"/>
                      </a:lnTo>
                      <a:lnTo>
                        <a:pt x="901" y="581"/>
                      </a:lnTo>
                      <a:lnTo>
                        <a:pt x="900" y="578"/>
                      </a:lnTo>
                      <a:lnTo>
                        <a:pt x="898" y="576"/>
                      </a:lnTo>
                      <a:lnTo>
                        <a:pt x="896" y="573"/>
                      </a:lnTo>
                      <a:lnTo>
                        <a:pt x="893" y="572"/>
                      </a:lnTo>
                      <a:lnTo>
                        <a:pt x="890" y="571"/>
                      </a:lnTo>
                      <a:lnTo>
                        <a:pt x="888" y="571"/>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sp>
              <p:nvSpPr>
                <p:cNvPr id="28" name="íşḻïḑê"/>
                <p:cNvSpPr/>
                <p:nvPr/>
              </p:nvSpPr>
              <p:spPr bwMode="auto">
                <a:xfrm>
                  <a:off x="10474325" y="2498725"/>
                  <a:ext cx="252413" cy="157163"/>
                </a:xfrm>
                <a:custGeom>
                  <a:avLst/>
                  <a:gdLst>
                    <a:gd name="T0" fmla="*/ 83 w 796"/>
                    <a:gd name="T1" fmla="*/ 417 h 496"/>
                    <a:gd name="T2" fmla="*/ 89 w 796"/>
                    <a:gd name="T3" fmla="*/ 431 h 496"/>
                    <a:gd name="T4" fmla="*/ 76 w 796"/>
                    <a:gd name="T5" fmla="*/ 461 h 496"/>
                    <a:gd name="T6" fmla="*/ 43 w 796"/>
                    <a:gd name="T7" fmla="*/ 461 h 496"/>
                    <a:gd name="T8" fmla="*/ 30 w 796"/>
                    <a:gd name="T9" fmla="*/ 430 h 496"/>
                    <a:gd name="T10" fmla="*/ 54 w 796"/>
                    <a:gd name="T11" fmla="*/ 407 h 496"/>
                    <a:gd name="T12" fmla="*/ 302 w 796"/>
                    <a:gd name="T13" fmla="*/ 216 h 496"/>
                    <a:gd name="T14" fmla="*/ 315 w 796"/>
                    <a:gd name="T15" fmla="*/ 247 h 496"/>
                    <a:gd name="T16" fmla="*/ 291 w 796"/>
                    <a:gd name="T17" fmla="*/ 270 h 496"/>
                    <a:gd name="T18" fmla="*/ 260 w 796"/>
                    <a:gd name="T19" fmla="*/ 257 h 496"/>
                    <a:gd name="T20" fmla="*/ 260 w 796"/>
                    <a:gd name="T21" fmla="*/ 224 h 496"/>
                    <a:gd name="T22" fmla="*/ 511 w 796"/>
                    <a:gd name="T23" fmla="*/ 301 h 496"/>
                    <a:gd name="T24" fmla="*/ 530 w 796"/>
                    <a:gd name="T25" fmla="*/ 308 h 496"/>
                    <a:gd name="T26" fmla="*/ 541 w 796"/>
                    <a:gd name="T27" fmla="*/ 331 h 496"/>
                    <a:gd name="T28" fmla="*/ 523 w 796"/>
                    <a:gd name="T29" fmla="*/ 359 h 496"/>
                    <a:gd name="T30" fmla="*/ 490 w 796"/>
                    <a:gd name="T31" fmla="*/ 353 h 496"/>
                    <a:gd name="T32" fmla="*/ 483 w 796"/>
                    <a:gd name="T33" fmla="*/ 320 h 496"/>
                    <a:gd name="T34" fmla="*/ 511 w 796"/>
                    <a:gd name="T35" fmla="*/ 301 h 496"/>
                    <a:gd name="T36" fmla="*/ 757 w 796"/>
                    <a:gd name="T37" fmla="*/ 39 h 496"/>
                    <a:gd name="T38" fmla="*/ 764 w 796"/>
                    <a:gd name="T39" fmla="*/ 72 h 496"/>
                    <a:gd name="T40" fmla="*/ 736 w 796"/>
                    <a:gd name="T41" fmla="*/ 90 h 496"/>
                    <a:gd name="T42" fmla="*/ 708 w 796"/>
                    <a:gd name="T43" fmla="*/ 72 h 496"/>
                    <a:gd name="T44" fmla="*/ 716 w 796"/>
                    <a:gd name="T45" fmla="*/ 39 h 496"/>
                    <a:gd name="T46" fmla="*/ 60 w 796"/>
                    <a:gd name="T47" fmla="*/ 496 h 496"/>
                    <a:gd name="T48" fmla="*/ 93 w 796"/>
                    <a:gd name="T49" fmla="*/ 487 h 496"/>
                    <a:gd name="T50" fmla="*/ 115 w 796"/>
                    <a:gd name="T51" fmla="*/ 460 h 496"/>
                    <a:gd name="T52" fmla="*/ 118 w 796"/>
                    <a:gd name="T53" fmla="*/ 422 h 496"/>
                    <a:gd name="T54" fmla="*/ 276 w 796"/>
                    <a:gd name="T55" fmla="*/ 300 h 496"/>
                    <a:gd name="T56" fmla="*/ 318 w 796"/>
                    <a:gd name="T57" fmla="*/ 291 h 496"/>
                    <a:gd name="T58" fmla="*/ 451 w 796"/>
                    <a:gd name="T59" fmla="*/ 331 h 496"/>
                    <a:gd name="T60" fmla="*/ 461 w 796"/>
                    <a:gd name="T61" fmla="*/ 365 h 496"/>
                    <a:gd name="T62" fmla="*/ 487 w 796"/>
                    <a:gd name="T63" fmla="*/ 387 h 496"/>
                    <a:gd name="T64" fmla="*/ 523 w 796"/>
                    <a:gd name="T65" fmla="*/ 390 h 496"/>
                    <a:gd name="T66" fmla="*/ 554 w 796"/>
                    <a:gd name="T67" fmla="*/ 373 h 496"/>
                    <a:gd name="T68" fmla="*/ 570 w 796"/>
                    <a:gd name="T69" fmla="*/ 343 h 496"/>
                    <a:gd name="T70" fmla="*/ 559 w 796"/>
                    <a:gd name="T71" fmla="*/ 296 h 496"/>
                    <a:gd name="T72" fmla="*/ 742 w 796"/>
                    <a:gd name="T73" fmla="*/ 120 h 496"/>
                    <a:gd name="T74" fmla="*/ 775 w 796"/>
                    <a:gd name="T75" fmla="*/ 106 h 496"/>
                    <a:gd name="T76" fmla="*/ 794 w 796"/>
                    <a:gd name="T77" fmla="*/ 79 h 496"/>
                    <a:gd name="T78" fmla="*/ 794 w 796"/>
                    <a:gd name="T79" fmla="*/ 43 h 496"/>
                    <a:gd name="T80" fmla="*/ 775 w 796"/>
                    <a:gd name="T81" fmla="*/ 14 h 496"/>
                    <a:gd name="T82" fmla="*/ 742 w 796"/>
                    <a:gd name="T83" fmla="*/ 0 h 496"/>
                    <a:gd name="T84" fmla="*/ 708 w 796"/>
                    <a:gd name="T85" fmla="*/ 8 h 496"/>
                    <a:gd name="T86" fmla="*/ 683 w 796"/>
                    <a:gd name="T87" fmla="*/ 31 h 496"/>
                    <a:gd name="T88" fmla="*/ 677 w 796"/>
                    <a:gd name="T89" fmla="*/ 70 h 496"/>
                    <a:gd name="T90" fmla="*/ 524 w 796"/>
                    <a:gd name="T91" fmla="*/ 272 h 496"/>
                    <a:gd name="T92" fmla="*/ 483 w 796"/>
                    <a:gd name="T93" fmla="*/ 278 h 496"/>
                    <a:gd name="T94" fmla="*/ 345 w 796"/>
                    <a:gd name="T95" fmla="*/ 245 h 496"/>
                    <a:gd name="T96" fmla="*/ 339 w 796"/>
                    <a:gd name="T97" fmla="*/ 212 h 496"/>
                    <a:gd name="T98" fmla="*/ 314 w 796"/>
                    <a:gd name="T99" fmla="*/ 188 h 496"/>
                    <a:gd name="T100" fmla="*/ 280 w 796"/>
                    <a:gd name="T101" fmla="*/ 181 h 496"/>
                    <a:gd name="T102" fmla="*/ 247 w 796"/>
                    <a:gd name="T103" fmla="*/ 194 h 496"/>
                    <a:gd name="T104" fmla="*/ 228 w 796"/>
                    <a:gd name="T105" fmla="*/ 223 h 496"/>
                    <a:gd name="T106" fmla="*/ 229 w 796"/>
                    <a:gd name="T107" fmla="*/ 262 h 496"/>
                    <a:gd name="T108" fmla="*/ 60 w 796"/>
                    <a:gd name="T109" fmla="*/ 376 h 496"/>
                    <a:gd name="T110" fmla="*/ 26 w 796"/>
                    <a:gd name="T111" fmla="*/ 387 h 496"/>
                    <a:gd name="T112" fmla="*/ 4 w 796"/>
                    <a:gd name="T113" fmla="*/ 413 h 496"/>
                    <a:gd name="T114" fmla="*/ 1 w 796"/>
                    <a:gd name="T115" fmla="*/ 448 h 496"/>
                    <a:gd name="T116" fmla="*/ 17 w 796"/>
                    <a:gd name="T117" fmla="*/ 479 h 496"/>
                    <a:gd name="T118" fmla="*/ 47 w 796"/>
                    <a:gd name="T119" fmla="*/ 495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96" h="496">
                      <a:moveTo>
                        <a:pt x="60" y="406"/>
                      </a:moveTo>
                      <a:lnTo>
                        <a:pt x="66" y="407"/>
                      </a:lnTo>
                      <a:lnTo>
                        <a:pt x="73" y="410"/>
                      </a:lnTo>
                      <a:lnTo>
                        <a:pt x="78" y="413"/>
                      </a:lnTo>
                      <a:lnTo>
                        <a:pt x="83" y="417"/>
                      </a:lnTo>
                      <a:lnTo>
                        <a:pt x="83" y="417"/>
                      </a:lnTo>
                      <a:lnTo>
                        <a:pt x="83" y="417"/>
                      </a:lnTo>
                      <a:lnTo>
                        <a:pt x="83" y="417"/>
                      </a:lnTo>
                      <a:lnTo>
                        <a:pt x="83" y="417"/>
                      </a:lnTo>
                      <a:lnTo>
                        <a:pt x="86" y="421"/>
                      </a:lnTo>
                      <a:lnTo>
                        <a:pt x="88" y="426"/>
                      </a:lnTo>
                      <a:lnTo>
                        <a:pt x="89" y="431"/>
                      </a:lnTo>
                      <a:lnTo>
                        <a:pt x="90" y="436"/>
                      </a:lnTo>
                      <a:lnTo>
                        <a:pt x="89" y="443"/>
                      </a:lnTo>
                      <a:lnTo>
                        <a:pt x="88" y="448"/>
                      </a:lnTo>
                      <a:lnTo>
                        <a:pt x="85" y="453"/>
                      </a:lnTo>
                      <a:lnTo>
                        <a:pt x="81" y="458"/>
                      </a:lnTo>
                      <a:lnTo>
                        <a:pt x="76" y="461"/>
                      </a:lnTo>
                      <a:lnTo>
                        <a:pt x="72" y="464"/>
                      </a:lnTo>
                      <a:lnTo>
                        <a:pt x="65" y="466"/>
                      </a:lnTo>
                      <a:lnTo>
                        <a:pt x="60" y="466"/>
                      </a:lnTo>
                      <a:lnTo>
                        <a:pt x="54" y="466"/>
                      </a:lnTo>
                      <a:lnTo>
                        <a:pt x="48" y="464"/>
                      </a:lnTo>
                      <a:lnTo>
                        <a:pt x="43" y="461"/>
                      </a:lnTo>
                      <a:lnTo>
                        <a:pt x="39" y="458"/>
                      </a:lnTo>
                      <a:lnTo>
                        <a:pt x="34" y="453"/>
                      </a:lnTo>
                      <a:lnTo>
                        <a:pt x="32" y="448"/>
                      </a:lnTo>
                      <a:lnTo>
                        <a:pt x="30" y="443"/>
                      </a:lnTo>
                      <a:lnTo>
                        <a:pt x="30" y="436"/>
                      </a:lnTo>
                      <a:lnTo>
                        <a:pt x="30" y="430"/>
                      </a:lnTo>
                      <a:lnTo>
                        <a:pt x="32" y="425"/>
                      </a:lnTo>
                      <a:lnTo>
                        <a:pt x="34" y="419"/>
                      </a:lnTo>
                      <a:lnTo>
                        <a:pt x="39" y="415"/>
                      </a:lnTo>
                      <a:lnTo>
                        <a:pt x="43" y="412"/>
                      </a:lnTo>
                      <a:lnTo>
                        <a:pt x="48" y="409"/>
                      </a:lnTo>
                      <a:lnTo>
                        <a:pt x="54" y="407"/>
                      </a:lnTo>
                      <a:lnTo>
                        <a:pt x="60" y="406"/>
                      </a:lnTo>
                      <a:lnTo>
                        <a:pt x="60" y="406"/>
                      </a:lnTo>
                      <a:close/>
                      <a:moveTo>
                        <a:pt x="285" y="211"/>
                      </a:moveTo>
                      <a:lnTo>
                        <a:pt x="291" y="211"/>
                      </a:lnTo>
                      <a:lnTo>
                        <a:pt x="297" y="214"/>
                      </a:lnTo>
                      <a:lnTo>
                        <a:pt x="302" y="216"/>
                      </a:lnTo>
                      <a:lnTo>
                        <a:pt x="306" y="220"/>
                      </a:lnTo>
                      <a:lnTo>
                        <a:pt x="311" y="224"/>
                      </a:lnTo>
                      <a:lnTo>
                        <a:pt x="313" y="230"/>
                      </a:lnTo>
                      <a:lnTo>
                        <a:pt x="315" y="235"/>
                      </a:lnTo>
                      <a:lnTo>
                        <a:pt x="315" y="241"/>
                      </a:lnTo>
                      <a:lnTo>
                        <a:pt x="315" y="247"/>
                      </a:lnTo>
                      <a:lnTo>
                        <a:pt x="313" y="253"/>
                      </a:lnTo>
                      <a:lnTo>
                        <a:pt x="311" y="257"/>
                      </a:lnTo>
                      <a:lnTo>
                        <a:pt x="306" y="262"/>
                      </a:lnTo>
                      <a:lnTo>
                        <a:pt x="302" y="266"/>
                      </a:lnTo>
                      <a:lnTo>
                        <a:pt x="297" y="268"/>
                      </a:lnTo>
                      <a:lnTo>
                        <a:pt x="291" y="270"/>
                      </a:lnTo>
                      <a:lnTo>
                        <a:pt x="285" y="271"/>
                      </a:lnTo>
                      <a:lnTo>
                        <a:pt x="280" y="270"/>
                      </a:lnTo>
                      <a:lnTo>
                        <a:pt x="273" y="268"/>
                      </a:lnTo>
                      <a:lnTo>
                        <a:pt x="269" y="266"/>
                      </a:lnTo>
                      <a:lnTo>
                        <a:pt x="264" y="262"/>
                      </a:lnTo>
                      <a:lnTo>
                        <a:pt x="260" y="257"/>
                      </a:lnTo>
                      <a:lnTo>
                        <a:pt x="257" y="253"/>
                      </a:lnTo>
                      <a:lnTo>
                        <a:pt x="256" y="247"/>
                      </a:lnTo>
                      <a:lnTo>
                        <a:pt x="255" y="241"/>
                      </a:lnTo>
                      <a:lnTo>
                        <a:pt x="256" y="235"/>
                      </a:lnTo>
                      <a:lnTo>
                        <a:pt x="257" y="230"/>
                      </a:lnTo>
                      <a:lnTo>
                        <a:pt x="260" y="224"/>
                      </a:lnTo>
                      <a:lnTo>
                        <a:pt x="264" y="220"/>
                      </a:lnTo>
                      <a:lnTo>
                        <a:pt x="269" y="216"/>
                      </a:lnTo>
                      <a:lnTo>
                        <a:pt x="273" y="214"/>
                      </a:lnTo>
                      <a:lnTo>
                        <a:pt x="280" y="211"/>
                      </a:lnTo>
                      <a:lnTo>
                        <a:pt x="285" y="211"/>
                      </a:lnTo>
                      <a:close/>
                      <a:moveTo>
                        <a:pt x="511" y="301"/>
                      </a:moveTo>
                      <a:lnTo>
                        <a:pt x="516" y="301"/>
                      </a:lnTo>
                      <a:lnTo>
                        <a:pt x="521" y="302"/>
                      </a:lnTo>
                      <a:lnTo>
                        <a:pt x="526" y="306"/>
                      </a:lnTo>
                      <a:lnTo>
                        <a:pt x="530" y="308"/>
                      </a:lnTo>
                      <a:lnTo>
                        <a:pt x="530" y="308"/>
                      </a:lnTo>
                      <a:lnTo>
                        <a:pt x="530" y="308"/>
                      </a:lnTo>
                      <a:lnTo>
                        <a:pt x="530" y="308"/>
                      </a:lnTo>
                      <a:lnTo>
                        <a:pt x="530" y="308"/>
                      </a:lnTo>
                      <a:lnTo>
                        <a:pt x="535" y="313"/>
                      </a:lnTo>
                      <a:lnTo>
                        <a:pt x="538" y="319"/>
                      </a:lnTo>
                      <a:lnTo>
                        <a:pt x="540" y="325"/>
                      </a:lnTo>
                      <a:lnTo>
                        <a:pt x="541" y="331"/>
                      </a:lnTo>
                      <a:lnTo>
                        <a:pt x="540" y="337"/>
                      </a:lnTo>
                      <a:lnTo>
                        <a:pt x="539" y="343"/>
                      </a:lnTo>
                      <a:lnTo>
                        <a:pt x="536" y="347"/>
                      </a:lnTo>
                      <a:lnTo>
                        <a:pt x="532" y="353"/>
                      </a:lnTo>
                      <a:lnTo>
                        <a:pt x="527" y="356"/>
                      </a:lnTo>
                      <a:lnTo>
                        <a:pt x="523" y="359"/>
                      </a:lnTo>
                      <a:lnTo>
                        <a:pt x="516" y="360"/>
                      </a:lnTo>
                      <a:lnTo>
                        <a:pt x="511" y="361"/>
                      </a:lnTo>
                      <a:lnTo>
                        <a:pt x="505" y="360"/>
                      </a:lnTo>
                      <a:lnTo>
                        <a:pt x="499" y="359"/>
                      </a:lnTo>
                      <a:lnTo>
                        <a:pt x="494" y="356"/>
                      </a:lnTo>
                      <a:lnTo>
                        <a:pt x="490" y="353"/>
                      </a:lnTo>
                      <a:lnTo>
                        <a:pt x="486" y="349"/>
                      </a:lnTo>
                      <a:lnTo>
                        <a:pt x="483" y="343"/>
                      </a:lnTo>
                      <a:lnTo>
                        <a:pt x="481" y="337"/>
                      </a:lnTo>
                      <a:lnTo>
                        <a:pt x="481" y="331"/>
                      </a:lnTo>
                      <a:lnTo>
                        <a:pt x="481" y="325"/>
                      </a:lnTo>
                      <a:lnTo>
                        <a:pt x="483" y="320"/>
                      </a:lnTo>
                      <a:lnTo>
                        <a:pt x="486" y="314"/>
                      </a:lnTo>
                      <a:lnTo>
                        <a:pt x="490" y="310"/>
                      </a:lnTo>
                      <a:lnTo>
                        <a:pt x="494" y="307"/>
                      </a:lnTo>
                      <a:lnTo>
                        <a:pt x="499" y="304"/>
                      </a:lnTo>
                      <a:lnTo>
                        <a:pt x="505" y="301"/>
                      </a:lnTo>
                      <a:lnTo>
                        <a:pt x="511" y="301"/>
                      </a:lnTo>
                      <a:lnTo>
                        <a:pt x="511" y="301"/>
                      </a:lnTo>
                      <a:close/>
                      <a:moveTo>
                        <a:pt x="736" y="30"/>
                      </a:moveTo>
                      <a:lnTo>
                        <a:pt x="742" y="31"/>
                      </a:lnTo>
                      <a:lnTo>
                        <a:pt x="748" y="33"/>
                      </a:lnTo>
                      <a:lnTo>
                        <a:pt x="753" y="36"/>
                      </a:lnTo>
                      <a:lnTo>
                        <a:pt x="757" y="39"/>
                      </a:lnTo>
                      <a:lnTo>
                        <a:pt x="762" y="43"/>
                      </a:lnTo>
                      <a:lnTo>
                        <a:pt x="764" y="49"/>
                      </a:lnTo>
                      <a:lnTo>
                        <a:pt x="766" y="55"/>
                      </a:lnTo>
                      <a:lnTo>
                        <a:pt x="766" y="60"/>
                      </a:lnTo>
                      <a:lnTo>
                        <a:pt x="766" y="67"/>
                      </a:lnTo>
                      <a:lnTo>
                        <a:pt x="764" y="72"/>
                      </a:lnTo>
                      <a:lnTo>
                        <a:pt x="762" y="78"/>
                      </a:lnTo>
                      <a:lnTo>
                        <a:pt x="757" y="82"/>
                      </a:lnTo>
                      <a:lnTo>
                        <a:pt x="753" y="85"/>
                      </a:lnTo>
                      <a:lnTo>
                        <a:pt x="748" y="88"/>
                      </a:lnTo>
                      <a:lnTo>
                        <a:pt x="742" y="90"/>
                      </a:lnTo>
                      <a:lnTo>
                        <a:pt x="736" y="90"/>
                      </a:lnTo>
                      <a:lnTo>
                        <a:pt x="731" y="90"/>
                      </a:lnTo>
                      <a:lnTo>
                        <a:pt x="724" y="88"/>
                      </a:lnTo>
                      <a:lnTo>
                        <a:pt x="720" y="85"/>
                      </a:lnTo>
                      <a:lnTo>
                        <a:pt x="716" y="82"/>
                      </a:lnTo>
                      <a:lnTo>
                        <a:pt x="711" y="78"/>
                      </a:lnTo>
                      <a:lnTo>
                        <a:pt x="708" y="72"/>
                      </a:lnTo>
                      <a:lnTo>
                        <a:pt x="707" y="67"/>
                      </a:lnTo>
                      <a:lnTo>
                        <a:pt x="706" y="60"/>
                      </a:lnTo>
                      <a:lnTo>
                        <a:pt x="707" y="55"/>
                      </a:lnTo>
                      <a:lnTo>
                        <a:pt x="708" y="49"/>
                      </a:lnTo>
                      <a:lnTo>
                        <a:pt x="711" y="43"/>
                      </a:lnTo>
                      <a:lnTo>
                        <a:pt x="716" y="39"/>
                      </a:lnTo>
                      <a:lnTo>
                        <a:pt x="720" y="36"/>
                      </a:lnTo>
                      <a:lnTo>
                        <a:pt x="724" y="33"/>
                      </a:lnTo>
                      <a:lnTo>
                        <a:pt x="731" y="31"/>
                      </a:lnTo>
                      <a:lnTo>
                        <a:pt x="736" y="30"/>
                      </a:lnTo>
                      <a:lnTo>
                        <a:pt x="736" y="30"/>
                      </a:lnTo>
                      <a:close/>
                      <a:moveTo>
                        <a:pt x="60" y="496"/>
                      </a:moveTo>
                      <a:lnTo>
                        <a:pt x="66" y="496"/>
                      </a:lnTo>
                      <a:lnTo>
                        <a:pt x="72" y="495"/>
                      </a:lnTo>
                      <a:lnTo>
                        <a:pt x="77" y="494"/>
                      </a:lnTo>
                      <a:lnTo>
                        <a:pt x="84" y="492"/>
                      </a:lnTo>
                      <a:lnTo>
                        <a:pt x="89" y="489"/>
                      </a:lnTo>
                      <a:lnTo>
                        <a:pt x="93" y="487"/>
                      </a:lnTo>
                      <a:lnTo>
                        <a:pt x="98" y="482"/>
                      </a:lnTo>
                      <a:lnTo>
                        <a:pt x="102" y="479"/>
                      </a:lnTo>
                      <a:lnTo>
                        <a:pt x="106" y="475"/>
                      </a:lnTo>
                      <a:lnTo>
                        <a:pt x="109" y="470"/>
                      </a:lnTo>
                      <a:lnTo>
                        <a:pt x="113" y="465"/>
                      </a:lnTo>
                      <a:lnTo>
                        <a:pt x="115" y="460"/>
                      </a:lnTo>
                      <a:lnTo>
                        <a:pt x="117" y="455"/>
                      </a:lnTo>
                      <a:lnTo>
                        <a:pt x="119" y="448"/>
                      </a:lnTo>
                      <a:lnTo>
                        <a:pt x="120" y="443"/>
                      </a:lnTo>
                      <a:lnTo>
                        <a:pt x="120" y="436"/>
                      </a:lnTo>
                      <a:lnTo>
                        <a:pt x="119" y="429"/>
                      </a:lnTo>
                      <a:lnTo>
                        <a:pt x="118" y="422"/>
                      </a:lnTo>
                      <a:lnTo>
                        <a:pt x="116" y="416"/>
                      </a:lnTo>
                      <a:lnTo>
                        <a:pt x="114" y="410"/>
                      </a:lnTo>
                      <a:lnTo>
                        <a:pt x="251" y="291"/>
                      </a:lnTo>
                      <a:lnTo>
                        <a:pt x="259" y="295"/>
                      </a:lnTo>
                      <a:lnTo>
                        <a:pt x="267" y="298"/>
                      </a:lnTo>
                      <a:lnTo>
                        <a:pt x="276" y="300"/>
                      </a:lnTo>
                      <a:lnTo>
                        <a:pt x="285" y="301"/>
                      </a:lnTo>
                      <a:lnTo>
                        <a:pt x="292" y="300"/>
                      </a:lnTo>
                      <a:lnTo>
                        <a:pt x="300" y="299"/>
                      </a:lnTo>
                      <a:lnTo>
                        <a:pt x="306" y="297"/>
                      </a:lnTo>
                      <a:lnTo>
                        <a:pt x="313" y="294"/>
                      </a:lnTo>
                      <a:lnTo>
                        <a:pt x="318" y="291"/>
                      </a:lnTo>
                      <a:lnTo>
                        <a:pt x="325" y="286"/>
                      </a:lnTo>
                      <a:lnTo>
                        <a:pt x="329" y="282"/>
                      </a:lnTo>
                      <a:lnTo>
                        <a:pt x="333" y="277"/>
                      </a:lnTo>
                      <a:lnTo>
                        <a:pt x="451" y="324"/>
                      </a:lnTo>
                      <a:lnTo>
                        <a:pt x="451" y="327"/>
                      </a:lnTo>
                      <a:lnTo>
                        <a:pt x="451" y="331"/>
                      </a:lnTo>
                      <a:lnTo>
                        <a:pt x="451" y="338"/>
                      </a:lnTo>
                      <a:lnTo>
                        <a:pt x="452" y="343"/>
                      </a:lnTo>
                      <a:lnTo>
                        <a:pt x="453" y="350"/>
                      </a:lnTo>
                      <a:lnTo>
                        <a:pt x="455" y="355"/>
                      </a:lnTo>
                      <a:lnTo>
                        <a:pt x="457" y="360"/>
                      </a:lnTo>
                      <a:lnTo>
                        <a:pt x="461" y="365"/>
                      </a:lnTo>
                      <a:lnTo>
                        <a:pt x="464" y="370"/>
                      </a:lnTo>
                      <a:lnTo>
                        <a:pt x="468" y="374"/>
                      </a:lnTo>
                      <a:lnTo>
                        <a:pt x="472" y="377"/>
                      </a:lnTo>
                      <a:lnTo>
                        <a:pt x="477" y="381"/>
                      </a:lnTo>
                      <a:lnTo>
                        <a:pt x="482" y="384"/>
                      </a:lnTo>
                      <a:lnTo>
                        <a:pt x="487" y="387"/>
                      </a:lnTo>
                      <a:lnTo>
                        <a:pt x="493" y="388"/>
                      </a:lnTo>
                      <a:lnTo>
                        <a:pt x="498" y="390"/>
                      </a:lnTo>
                      <a:lnTo>
                        <a:pt x="505" y="391"/>
                      </a:lnTo>
                      <a:lnTo>
                        <a:pt x="511" y="391"/>
                      </a:lnTo>
                      <a:lnTo>
                        <a:pt x="517" y="391"/>
                      </a:lnTo>
                      <a:lnTo>
                        <a:pt x="523" y="390"/>
                      </a:lnTo>
                      <a:lnTo>
                        <a:pt x="529" y="388"/>
                      </a:lnTo>
                      <a:lnTo>
                        <a:pt x="535" y="387"/>
                      </a:lnTo>
                      <a:lnTo>
                        <a:pt x="540" y="384"/>
                      </a:lnTo>
                      <a:lnTo>
                        <a:pt x="544" y="381"/>
                      </a:lnTo>
                      <a:lnTo>
                        <a:pt x="550" y="377"/>
                      </a:lnTo>
                      <a:lnTo>
                        <a:pt x="554" y="373"/>
                      </a:lnTo>
                      <a:lnTo>
                        <a:pt x="557" y="370"/>
                      </a:lnTo>
                      <a:lnTo>
                        <a:pt x="560" y="365"/>
                      </a:lnTo>
                      <a:lnTo>
                        <a:pt x="564" y="360"/>
                      </a:lnTo>
                      <a:lnTo>
                        <a:pt x="567" y="355"/>
                      </a:lnTo>
                      <a:lnTo>
                        <a:pt x="568" y="350"/>
                      </a:lnTo>
                      <a:lnTo>
                        <a:pt x="570" y="343"/>
                      </a:lnTo>
                      <a:lnTo>
                        <a:pt x="571" y="338"/>
                      </a:lnTo>
                      <a:lnTo>
                        <a:pt x="571" y="331"/>
                      </a:lnTo>
                      <a:lnTo>
                        <a:pt x="570" y="322"/>
                      </a:lnTo>
                      <a:lnTo>
                        <a:pt x="568" y="312"/>
                      </a:lnTo>
                      <a:lnTo>
                        <a:pt x="565" y="304"/>
                      </a:lnTo>
                      <a:lnTo>
                        <a:pt x="559" y="296"/>
                      </a:lnTo>
                      <a:lnTo>
                        <a:pt x="710" y="115"/>
                      </a:lnTo>
                      <a:lnTo>
                        <a:pt x="717" y="117"/>
                      </a:lnTo>
                      <a:lnTo>
                        <a:pt x="723" y="119"/>
                      </a:lnTo>
                      <a:lnTo>
                        <a:pt x="730" y="120"/>
                      </a:lnTo>
                      <a:lnTo>
                        <a:pt x="736" y="120"/>
                      </a:lnTo>
                      <a:lnTo>
                        <a:pt x="742" y="120"/>
                      </a:lnTo>
                      <a:lnTo>
                        <a:pt x="749" y="119"/>
                      </a:lnTo>
                      <a:lnTo>
                        <a:pt x="754" y="118"/>
                      </a:lnTo>
                      <a:lnTo>
                        <a:pt x="760" y="116"/>
                      </a:lnTo>
                      <a:lnTo>
                        <a:pt x="765" y="114"/>
                      </a:lnTo>
                      <a:lnTo>
                        <a:pt x="770" y="111"/>
                      </a:lnTo>
                      <a:lnTo>
                        <a:pt x="775" y="106"/>
                      </a:lnTo>
                      <a:lnTo>
                        <a:pt x="779" y="103"/>
                      </a:lnTo>
                      <a:lnTo>
                        <a:pt x="783" y="99"/>
                      </a:lnTo>
                      <a:lnTo>
                        <a:pt x="786" y="95"/>
                      </a:lnTo>
                      <a:lnTo>
                        <a:pt x="790" y="89"/>
                      </a:lnTo>
                      <a:lnTo>
                        <a:pt x="792" y="84"/>
                      </a:lnTo>
                      <a:lnTo>
                        <a:pt x="794" y="79"/>
                      </a:lnTo>
                      <a:lnTo>
                        <a:pt x="795" y="73"/>
                      </a:lnTo>
                      <a:lnTo>
                        <a:pt x="796" y="67"/>
                      </a:lnTo>
                      <a:lnTo>
                        <a:pt x="796" y="60"/>
                      </a:lnTo>
                      <a:lnTo>
                        <a:pt x="796" y="54"/>
                      </a:lnTo>
                      <a:lnTo>
                        <a:pt x="795" y="49"/>
                      </a:lnTo>
                      <a:lnTo>
                        <a:pt x="794" y="43"/>
                      </a:lnTo>
                      <a:lnTo>
                        <a:pt x="792" y="37"/>
                      </a:lnTo>
                      <a:lnTo>
                        <a:pt x="790" y="31"/>
                      </a:lnTo>
                      <a:lnTo>
                        <a:pt x="786" y="27"/>
                      </a:lnTo>
                      <a:lnTo>
                        <a:pt x="783" y="23"/>
                      </a:lnTo>
                      <a:lnTo>
                        <a:pt x="779" y="19"/>
                      </a:lnTo>
                      <a:lnTo>
                        <a:pt x="775" y="14"/>
                      </a:lnTo>
                      <a:lnTo>
                        <a:pt x="770" y="11"/>
                      </a:lnTo>
                      <a:lnTo>
                        <a:pt x="765" y="8"/>
                      </a:lnTo>
                      <a:lnTo>
                        <a:pt x="760" y="5"/>
                      </a:lnTo>
                      <a:lnTo>
                        <a:pt x="754" y="4"/>
                      </a:lnTo>
                      <a:lnTo>
                        <a:pt x="749" y="1"/>
                      </a:lnTo>
                      <a:lnTo>
                        <a:pt x="742" y="0"/>
                      </a:lnTo>
                      <a:lnTo>
                        <a:pt x="736" y="0"/>
                      </a:lnTo>
                      <a:lnTo>
                        <a:pt x="731" y="0"/>
                      </a:lnTo>
                      <a:lnTo>
                        <a:pt x="724" y="1"/>
                      </a:lnTo>
                      <a:lnTo>
                        <a:pt x="719" y="4"/>
                      </a:lnTo>
                      <a:lnTo>
                        <a:pt x="712" y="5"/>
                      </a:lnTo>
                      <a:lnTo>
                        <a:pt x="708" y="8"/>
                      </a:lnTo>
                      <a:lnTo>
                        <a:pt x="703" y="11"/>
                      </a:lnTo>
                      <a:lnTo>
                        <a:pt x="698" y="14"/>
                      </a:lnTo>
                      <a:lnTo>
                        <a:pt x="694" y="19"/>
                      </a:lnTo>
                      <a:lnTo>
                        <a:pt x="690" y="22"/>
                      </a:lnTo>
                      <a:lnTo>
                        <a:pt x="687" y="27"/>
                      </a:lnTo>
                      <a:lnTo>
                        <a:pt x="683" y="31"/>
                      </a:lnTo>
                      <a:lnTo>
                        <a:pt x="681" y="37"/>
                      </a:lnTo>
                      <a:lnTo>
                        <a:pt x="679" y="43"/>
                      </a:lnTo>
                      <a:lnTo>
                        <a:pt x="677" y="49"/>
                      </a:lnTo>
                      <a:lnTo>
                        <a:pt x="676" y="54"/>
                      </a:lnTo>
                      <a:lnTo>
                        <a:pt x="676" y="60"/>
                      </a:lnTo>
                      <a:lnTo>
                        <a:pt x="677" y="70"/>
                      </a:lnTo>
                      <a:lnTo>
                        <a:pt x="679" y="80"/>
                      </a:lnTo>
                      <a:lnTo>
                        <a:pt x="682" y="88"/>
                      </a:lnTo>
                      <a:lnTo>
                        <a:pt x="688" y="96"/>
                      </a:lnTo>
                      <a:lnTo>
                        <a:pt x="537" y="277"/>
                      </a:lnTo>
                      <a:lnTo>
                        <a:pt x="530" y="275"/>
                      </a:lnTo>
                      <a:lnTo>
                        <a:pt x="524" y="272"/>
                      </a:lnTo>
                      <a:lnTo>
                        <a:pt x="517" y="271"/>
                      </a:lnTo>
                      <a:lnTo>
                        <a:pt x="511" y="271"/>
                      </a:lnTo>
                      <a:lnTo>
                        <a:pt x="504" y="271"/>
                      </a:lnTo>
                      <a:lnTo>
                        <a:pt x="496" y="272"/>
                      </a:lnTo>
                      <a:lnTo>
                        <a:pt x="490" y="275"/>
                      </a:lnTo>
                      <a:lnTo>
                        <a:pt x="483" y="278"/>
                      </a:lnTo>
                      <a:lnTo>
                        <a:pt x="478" y="281"/>
                      </a:lnTo>
                      <a:lnTo>
                        <a:pt x="472" y="285"/>
                      </a:lnTo>
                      <a:lnTo>
                        <a:pt x="467" y="291"/>
                      </a:lnTo>
                      <a:lnTo>
                        <a:pt x="463" y="296"/>
                      </a:lnTo>
                      <a:lnTo>
                        <a:pt x="345" y="249"/>
                      </a:lnTo>
                      <a:lnTo>
                        <a:pt x="345" y="245"/>
                      </a:lnTo>
                      <a:lnTo>
                        <a:pt x="345" y="241"/>
                      </a:lnTo>
                      <a:lnTo>
                        <a:pt x="345" y="235"/>
                      </a:lnTo>
                      <a:lnTo>
                        <a:pt x="344" y="229"/>
                      </a:lnTo>
                      <a:lnTo>
                        <a:pt x="343" y="223"/>
                      </a:lnTo>
                      <a:lnTo>
                        <a:pt x="341" y="218"/>
                      </a:lnTo>
                      <a:lnTo>
                        <a:pt x="339" y="212"/>
                      </a:lnTo>
                      <a:lnTo>
                        <a:pt x="335" y="207"/>
                      </a:lnTo>
                      <a:lnTo>
                        <a:pt x="332" y="203"/>
                      </a:lnTo>
                      <a:lnTo>
                        <a:pt x="328" y="199"/>
                      </a:lnTo>
                      <a:lnTo>
                        <a:pt x="324" y="194"/>
                      </a:lnTo>
                      <a:lnTo>
                        <a:pt x="319" y="191"/>
                      </a:lnTo>
                      <a:lnTo>
                        <a:pt x="314" y="188"/>
                      </a:lnTo>
                      <a:lnTo>
                        <a:pt x="309" y="186"/>
                      </a:lnTo>
                      <a:lnTo>
                        <a:pt x="303" y="184"/>
                      </a:lnTo>
                      <a:lnTo>
                        <a:pt x="298" y="182"/>
                      </a:lnTo>
                      <a:lnTo>
                        <a:pt x="291" y="181"/>
                      </a:lnTo>
                      <a:lnTo>
                        <a:pt x="285" y="180"/>
                      </a:lnTo>
                      <a:lnTo>
                        <a:pt x="280" y="181"/>
                      </a:lnTo>
                      <a:lnTo>
                        <a:pt x="273" y="182"/>
                      </a:lnTo>
                      <a:lnTo>
                        <a:pt x="268" y="184"/>
                      </a:lnTo>
                      <a:lnTo>
                        <a:pt x="261" y="186"/>
                      </a:lnTo>
                      <a:lnTo>
                        <a:pt x="257" y="188"/>
                      </a:lnTo>
                      <a:lnTo>
                        <a:pt x="252" y="191"/>
                      </a:lnTo>
                      <a:lnTo>
                        <a:pt x="247" y="194"/>
                      </a:lnTo>
                      <a:lnTo>
                        <a:pt x="243" y="199"/>
                      </a:lnTo>
                      <a:lnTo>
                        <a:pt x="239" y="203"/>
                      </a:lnTo>
                      <a:lnTo>
                        <a:pt x="236" y="207"/>
                      </a:lnTo>
                      <a:lnTo>
                        <a:pt x="232" y="212"/>
                      </a:lnTo>
                      <a:lnTo>
                        <a:pt x="230" y="218"/>
                      </a:lnTo>
                      <a:lnTo>
                        <a:pt x="228" y="223"/>
                      </a:lnTo>
                      <a:lnTo>
                        <a:pt x="226" y="229"/>
                      </a:lnTo>
                      <a:lnTo>
                        <a:pt x="225" y="235"/>
                      </a:lnTo>
                      <a:lnTo>
                        <a:pt x="225" y="241"/>
                      </a:lnTo>
                      <a:lnTo>
                        <a:pt x="226" y="248"/>
                      </a:lnTo>
                      <a:lnTo>
                        <a:pt x="227" y="255"/>
                      </a:lnTo>
                      <a:lnTo>
                        <a:pt x="229" y="262"/>
                      </a:lnTo>
                      <a:lnTo>
                        <a:pt x="231" y="267"/>
                      </a:lnTo>
                      <a:lnTo>
                        <a:pt x="94" y="387"/>
                      </a:lnTo>
                      <a:lnTo>
                        <a:pt x="86" y="383"/>
                      </a:lnTo>
                      <a:lnTo>
                        <a:pt x="78" y="380"/>
                      </a:lnTo>
                      <a:lnTo>
                        <a:pt x="69" y="377"/>
                      </a:lnTo>
                      <a:lnTo>
                        <a:pt x="60" y="376"/>
                      </a:lnTo>
                      <a:lnTo>
                        <a:pt x="54" y="376"/>
                      </a:lnTo>
                      <a:lnTo>
                        <a:pt x="47" y="377"/>
                      </a:lnTo>
                      <a:lnTo>
                        <a:pt x="42" y="379"/>
                      </a:lnTo>
                      <a:lnTo>
                        <a:pt x="36" y="381"/>
                      </a:lnTo>
                      <a:lnTo>
                        <a:pt x="31" y="384"/>
                      </a:lnTo>
                      <a:lnTo>
                        <a:pt x="26" y="387"/>
                      </a:lnTo>
                      <a:lnTo>
                        <a:pt x="21" y="390"/>
                      </a:lnTo>
                      <a:lnTo>
                        <a:pt x="17" y="394"/>
                      </a:lnTo>
                      <a:lnTo>
                        <a:pt x="13" y="398"/>
                      </a:lnTo>
                      <a:lnTo>
                        <a:pt x="10" y="403"/>
                      </a:lnTo>
                      <a:lnTo>
                        <a:pt x="6" y="407"/>
                      </a:lnTo>
                      <a:lnTo>
                        <a:pt x="4" y="413"/>
                      </a:lnTo>
                      <a:lnTo>
                        <a:pt x="2" y="418"/>
                      </a:lnTo>
                      <a:lnTo>
                        <a:pt x="1" y="425"/>
                      </a:lnTo>
                      <a:lnTo>
                        <a:pt x="0" y="430"/>
                      </a:lnTo>
                      <a:lnTo>
                        <a:pt x="0" y="436"/>
                      </a:lnTo>
                      <a:lnTo>
                        <a:pt x="0" y="443"/>
                      </a:lnTo>
                      <a:lnTo>
                        <a:pt x="1" y="448"/>
                      </a:lnTo>
                      <a:lnTo>
                        <a:pt x="2" y="455"/>
                      </a:lnTo>
                      <a:lnTo>
                        <a:pt x="4" y="460"/>
                      </a:lnTo>
                      <a:lnTo>
                        <a:pt x="6" y="465"/>
                      </a:lnTo>
                      <a:lnTo>
                        <a:pt x="10" y="470"/>
                      </a:lnTo>
                      <a:lnTo>
                        <a:pt x="13" y="475"/>
                      </a:lnTo>
                      <a:lnTo>
                        <a:pt x="17" y="479"/>
                      </a:lnTo>
                      <a:lnTo>
                        <a:pt x="21" y="482"/>
                      </a:lnTo>
                      <a:lnTo>
                        <a:pt x="26" y="487"/>
                      </a:lnTo>
                      <a:lnTo>
                        <a:pt x="31" y="489"/>
                      </a:lnTo>
                      <a:lnTo>
                        <a:pt x="36" y="492"/>
                      </a:lnTo>
                      <a:lnTo>
                        <a:pt x="42" y="494"/>
                      </a:lnTo>
                      <a:lnTo>
                        <a:pt x="47" y="495"/>
                      </a:lnTo>
                      <a:lnTo>
                        <a:pt x="54" y="496"/>
                      </a:lnTo>
                      <a:lnTo>
                        <a:pt x="60" y="496"/>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pPr marL="0" marR="0" lvl="0" indent="0"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prstClr val="black"/>
                    </a:solidFill>
                    <a:effectLst/>
                    <a:uLnTx/>
                    <a:uFillTx/>
                  </a:endParaRPr>
                </a:p>
              </p:txBody>
            </p:sp>
          </p:grpSp>
        </p:grpSp>
        <p:sp>
          <p:nvSpPr>
            <p:cNvPr id="17" name="iśļiḍé"/>
            <p:cNvSpPr/>
            <p:nvPr/>
          </p:nvSpPr>
          <p:spPr>
            <a:xfrm>
              <a:off x="2778448" y="1474850"/>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8" name="ïsḻiḓé"/>
            <p:cNvSpPr/>
            <p:nvPr/>
          </p:nvSpPr>
          <p:spPr>
            <a:xfrm>
              <a:off x="2778448" y="5211051"/>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19" name="îṣ1îďé"/>
            <p:cNvSpPr/>
            <p:nvPr/>
          </p:nvSpPr>
          <p:spPr>
            <a:xfrm>
              <a:off x="4028502" y="3965649"/>
              <a:ext cx="576000" cy="576000"/>
            </a:xfrm>
            <a:prstGeom prst="ellipse">
              <a:avLst/>
            </a:prstGeom>
            <a:solidFill>
              <a:srgbClr val="154996"/>
            </a:solidFill>
            <a:ln w="6350" cap="flat" cmpd="sng" algn="ctr">
              <a:solidFill>
                <a:schemeClr val="tx1">
                  <a:lumMod val="50000"/>
                  <a:lumOff val="50000"/>
                </a:schemeClr>
              </a:solidFill>
              <a:prstDash val="solid"/>
              <a:miter lim="800000"/>
            </a:ln>
            <a:effectLst/>
          </p:spPr>
          <p:txBody>
            <a:bodyPr wrap="none" lIns="91440" tIns="45720" rIns="91440" bIns="45720" rtlCol="0" anchor="ctr">
              <a:normAutofit/>
            </a:bodyPr>
            <a:lstStyle/>
            <a:p>
              <a:pPr algn="ctr" defTabSz="914400"/>
              <a:endParaRPr lang="en-US" sz="1600" b="1" kern="0" dirty="0">
                <a:solidFill>
                  <a:schemeClr val="bg1"/>
                </a:solidFill>
                <a:latin typeface="思源黑体 CN Normal" panose="020B0400000000000000" pitchFamily="34" charset="-128"/>
                <a:ea typeface="思源黑体 CN Normal" panose="020B0400000000000000" pitchFamily="34" charset="-128"/>
              </a:endParaRPr>
            </a:p>
          </p:txBody>
        </p:sp>
        <p:sp>
          <p:nvSpPr>
            <p:cNvPr id="20" name="íŝḻîďé"/>
            <p:cNvSpPr/>
            <p:nvPr/>
          </p:nvSpPr>
          <p:spPr>
            <a:xfrm>
              <a:off x="4028502" y="2720249"/>
              <a:ext cx="576000" cy="576000"/>
            </a:xfrm>
            <a:prstGeom prst="ellipse">
              <a:avLst/>
            </a:prstGeom>
            <a:solidFill>
              <a:srgbClr val="154996"/>
            </a:solidFill>
            <a:ln w="6350" cap="flat" cmpd="sng" algn="ctr">
              <a:solidFill>
                <a:schemeClr val="bg1">
                  <a:lumMod val="50000"/>
                </a:schemeClr>
              </a:solidFill>
              <a:prstDash val="solid"/>
              <a:miter lim="800000"/>
            </a:ln>
            <a:effectLst/>
          </p:spPr>
          <p:txBody>
            <a:bodyPr wrap="none" lIns="91440" tIns="45720" rIns="91440" bIns="4572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600" b="1" i="0" u="none" strike="noStrike" kern="0" cap="none" spc="0" normalizeH="0" baseline="0" noProof="0" dirty="0">
                <a:ln>
                  <a:noFill/>
                </a:ln>
                <a:solidFill>
                  <a:schemeClr val="bg1"/>
                </a:solidFill>
                <a:effectLst/>
                <a:uLnTx/>
                <a:uFillTx/>
                <a:latin typeface="思源黑体 CN Normal" panose="020B0400000000000000" pitchFamily="34" charset="-128"/>
                <a:ea typeface="思源黑体 CN Normal" panose="020B0400000000000000" pitchFamily="34" charset="-128"/>
              </a:endParaRPr>
            </a:p>
          </p:txBody>
        </p:sp>
      </p:grpSp>
      <p:sp>
        <p:nvSpPr>
          <p:cNvPr id="40" name="文本占位符 30"/>
          <p:cNvSpPr>
            <a:spLocks noGrp="1"/>
          </p:cNvSpPr>
          <p:nvPr>
            <p:ph type="body" sz="quarter" idx="18" hasCustomPrompt="1"/>
          </p:nvPr>
        </p:nvSpPr>
        <p:spPr>
          <a:xfrm>
            <a:off x="596127" y="2739670"/>
            <a:ext cx="280491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1" name="文本占位符 30"/>
          <p:cNvSpPr>
            <a:spLocks noGrp="1"/>
          </p:cNvSpPr>
          <p:nvPr>
            <p:ph type="body" sz="quarter" idx="16" hasCustomPrompt="1"/>
          </p:nvPr>
        </p:nvSpPr>
        <p:spPr>
          <a:xfrm>
            <a:off x="596127" y="3192979"/>
            <a:ext cx="2804915" cy="156252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a:t>
            </a:r>
            <a:endParaRPr kumimoji="1" lang="en-US" altLang="zh-CN" dirty="0"/>
          </a:p>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请在此添加文字说明请在此添加文字说明请在此添加文字说明</a:t>
            </a:r>
          </a:p>
        </p:txBody>
      </p:sp>
      <p:sp>
        <p:nvSpPr>
          <p:cNvPr id="42" name="文本占位符 30"/>
          <p:cNvSpPr>
            <a:spLocks noGrp="1"/>
          </p:cNvSpPr>
          <p:nvPr>
            <p:ph type="body" sz="quarter" idx="19" hasCustomPrompt="1"/>
          </p:nvPr>
        </p:nvSpPr>
        <p:spPr>
          <a:xfrm>
            <a:off x="4388478" y="1484803"/>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3" name="文本占位符 30"/>
          <p:cNvSpPr>
            <a:spLocks noGrp="1"/>
          </p:cNvSpPr>
          <p:nvPr>
            <p:ph type="body" sz="quarter" idx="20" hasCustomPrompt="1"/>
          </p:nvPr>
        </p:nvSpPr>
        <p:spPr>
          <a:xfrm>
            <a:off x="4388477" y="1938111"/>
            <a:ext cx="6112681" cy="643999"/>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4" name="文本占位符 30"/>
          <p:cNvSpPr>
            <a:spLocks noGrp="1"/>
          </p:cNvSpPr>
          <p:nvPr>
            <p:ph type="body" sz="quarter" idx="21" hasCustomPrompt="1"/>
          </p:nvPr>
        </p:nvSpPr>
        <p:spPr>
          <a:xfrm>
            <a:off x="4811993" y="2745621"/>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5" name="文本占位符 30"/>
          <p:cNvSpPr>
            <a:spLocks noGrp="1"/>
          </p:cNvSpPr>
          <p:nvPr>
            <p:ph type="body" sz="quarter" idx="22" hasCustomPrompt="1"/>
          </p:nvPr>
        </p:nvSpPr>
        <p:spPr>
          <a:xfrm>
            <a:off x="4811992" y="3190028"/>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6" name="文本占位符 30"/>
          <p:cNvSpPr>
            <a:spLocks noGrp="1"/>
          </p:cNvSpPr>
          <p:nvPr>
            <p:ph type="body" sz="quarter" idx="23" hasCustomPrompt="1"/>
          </p:nvPr>
        </p:nvSpPr>
        <p:spPr>
          <a:xfrm>
            <a:off x="4388477" y="5229380"/>
            <a:ext cx="6112681"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7" name="文本占位符 30"/>
          <p:cNvSpPr>
            <a:spLocks noGrp="1"/>
          </p:cNvSpPr>
          <p:nvPr>
            <p:ph type="body" sz="quarter" idx="24" hasCustomPrompt="1"/>
          </p:nvPr>
        </p:nvSpPr>
        <p:spPr>
          <a:xfrm>
            <a:off x="4388476" y="5682689"/>
            <a:ext cx="6112681" cy="584742"/>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48" name="文本占位符 30"/>
          <p:cNvSpPr>
            <a:spLocks noGrp="1"/>
          </p:cNvSpPr>
          <p:nvPr>
            <p:ph type="body" sz="quarter" idx="25" hasCustomPrompt="1"/>
          </p:nvPr>
        </p:nvSpPr>
        <p:spPr>
          <a:xfrm>
            <a:off x="4811993" y="3988972"/>
            <a:ext cx="6112681" cy="437778"/>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zh-CN" sz="1800" dirty="0">
                <a:solidFill>
                  <a:srgbClr val="383736"/>
                </a:solidFill>
                <a:effectLst/>
                <a:latin typeface="思源黑体 CN Normal" panose="020B0400000000000000" pitchFamily="34" charset="-128"/>
                <a:ea typeface="思源黑体 CN Normal" panose="020B0400000000000000" pitchFamily="34" charset="-128"/>
              </a:rPr>
              <a:t>点击此处添加标题</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1" lang="zh-CN" altLang="en-US" dirty="0"/>
          </a:p>
        </p:txBody>
      </p:sp>
      <p:sp>
        <p:nvSpPr>
          <p:cNvPr id="49" name="文本占位符 30"/>
          <p:cNvSpPr>
            <a:spLocks noGrp="1"/>
          </p:cNvSpPr>
          <p:nvPr>
            <p:ph type="body" sz="quarter" idx="26" hasCustomPrompt="1"/>
          </p:nvPr>
        </p:nvSpPr>
        <p:spPr>
          <a:xfrm>
            <a:off x="4811992" y="4433379"/>
            <a:ext cx="6112681" cy="633601"/>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1" lang="zh-CN" altLang="en-US" dirty="0"/>
              <a:t>请在此添加文字说明，模板。请在此添加文字说明，请在此添加文字说明，请在此添加文字说明在此添加文字说明请在此添加文字说明请在此添加文字</a:t>
            </a:r>
          </a:p>
        </p:txBody>
      </p:sp>
      <p:sp>
        <p:nvSpPr>
          <p:cNvPr id="5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14版式">
    <p:spTree>
      <p:nvGrpSpPr>
        <p:cNvPr id="1" name=""/>
        <p:cNvGrpSpPr/>
        <p:nvPr/>
      </p:nvGrpSpPr>
      <p:grpSpPr>
        <a:xfrm>
          <a:off x="0" y="0"/>
          <a:ext cx="0" cy="0"/>
          <a:chOff x="0" y="0"/>
          <a:chExt cx="0" cy="0"/>
        </a:xfrm>
      </p:grpSpPr>
      <p:cxnSp>
        <p:nvCxnSpPr>
          <p:cNvPr id="3" name="直接连接符 72"/>
          <p:cNvCxnSpPr/>
          <p:nvPr userDrawn="1"/>
        </p:nvCxnSpPr>
        <p:spPr>
          <a:xfrm flipH="1">
            <a:off x="3665634" y="2105269"/>
            <a:ext cx="786375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4" name="直接连接符 73"/>
          <p:cNvCxnSpPr/>
          <p:nvPr userDrawn="1"/>
        </p:nvCxnSpPr>
        <p:spPr>
          <a:xfrm flipH="1">
            <a:off x="4658165" y="3265197"/>
            <a:ext cx="6871226"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5" name="直接连接符 74"/>
          <p:cNvCxnSpPr/>
          <p:nvPr userDrawn="1"/>
        </p:nvCxnSpPr>
        <p:spPr>
          <a:xfrm flipH="1">
            <a:off x="3304744" y="4425124"/>
            <a:ext cx="8224647"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cxnSp>
        <p:nvCxnSpPr>
          <p:cNvPr id="6" name="直接连接符 75"/>
          <p:cNvCxnSpPr/>
          <p:nvPr userDrawn="1"/>
        </p:nvCxnSpPr>
        <p:spPr>
          <a:xfrm flipH="1">
            <a:off x="3437030" y="5585053"/>
            <a:ext cx="8092361" cy="0"/>
          </a:xfrm>
          <a:prstGeom prst="line">
            <a:avLst/>
          </a:prstGeom>
          <a:ln w="3175">
            <a:solidFill>
              <a:schemeClr val="dk2"/>
            </a:solidFill>
          </a:ln>
        </p:spPr>
        <p:style>
          <a:lnRef idx="1">
            <a:schemeClr val="accent1"/>
          </a:lnRef>
          <a:fillRef idx="0">
            <a:schemeClr val="accent1"/>
          </a:fillRef>
          <a:effectRef idx="0">
            <a:schemeClr val="accent1"/>
          </a:effectRef>
          <a:fontRef idx="minor">
            <a:schemeClr val="tx1"/>
          </a:fontRef>
        </p:style>
      </p:cxnSp>
      <p:sp>
        <p:nvSpPr>
          <p:cNvPr id="7" name="流程图: 决策 76"/>
          <p:cNvSpPr/>
          <p:nvPr userDrawn="1"/>
        </p:nvSpPr>
        <p:spPr>
          <a:xfrm>
            <a:off x="2650758" y="1917635"/>
            <a:ext cx="1649998" cy="1543094"/>
          </a:xfrm>
          <a:prstGeom prst="flowChartDecision">
            <a:avLst/>
          </a:prstGeom>
          <a:solidFill>
            <a:srgbClr val="4EB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8" name="流程图: 决策 77"/>
          <p:cNvSpPr/>
          <p:nvPr userDrawn="1"/>
        </p:nvSpPr>
        <p:spPr>
          <a:xfrm>
            <a:off x="2440724" y="3637362"/>
            <a:ext cx="2004033" cy="1952278"/>
          </a:xfrm>
          <a:prstGeom prst="flowChartDecision">
            <a:avLst/>
          </a:prstGeom>
          <a:solidFill>
            <a:srgbClr val="0089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dirty="0">
              <a:latin typeface="思源黑体 CN Normal" panose="020B0400000000000000" pitchFamily="34" charset="-128"/>
              <a:ea typeface="思源黑体 CN Normal" panose="020B0400000000000000" pitchFamily="34" charset="-128"/>
              <a:cs typeface="+mn-ea"/>
              <a:sym typeface="+mn-lt"/>
            </a:endParaRPr>
          </a:p>
        </p:txBody>
      </p:sp>
      <p:sp>
        <p:nvSpPr>
          <p:cNvPr id="9" name="流程图: 决策 78"/>
          <p:cNvSpPr/>
          <p:nvPr userDrawn="1"/>
        </p:nvSpPr>
        <p:spPr>
          <a:xfrm>
            <a:off x="788051" y="2305361"/>
            <a:ext cx="2516693" cy="2451698"/>
          </a:xfrm>
          <a:prstGeom prst="flowChartDecision">
            <a:avLst/>
          </a:prstGeom>
          <a:solidFill>
            <a:srgbClr val="13489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b="1" dirty="0">
              <a:latin typeface="思源黑体 CN Normal" panose="020B0400000000000000" pitchFamily="34" charset="-128"/>
              <a:ea typeface="思源黑体 CN Normal" panose="020B0400000000000000" pitchFamily="34" charset="-128"/>
              <a:cs typeface="+mn-ea"/>
              <a:sym typeface="+mn-lt"/>
            </a:endParaRPr>
          </a:p>
        </p:txBody>
      </p:sp>
      <p:sp>
        <p:nvSpPr>
          <p:cNvPr id="10" name="流程图: 决策 79"/>
          <p:cNvSpPr/>
          <p:nvPr userDrawn="1"/>
        </p:nvSpPr>
        <p:spPr>
          <a:xfrm>
            <a:off x="3568337" y="2936824"/>
            <a:ext cx="1347513" cy="1260209"/>
          </a:xfrm>
          <a:prstGeom prst="flowChartDecision">
            <a:avLst/>
          </a:prstGeom>
          <a:solidFill>
            <a:schemeClr val="accent2">
              <a:lumMod val="10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latin typeface="思源黑体 CN Normal" panose="020B0400000000000000" pitchFamily="34" charset="-128"/>
              <a:ea typeface="思源黑体 CN Normal" panose="020B0400000000000000" pitchFamily="34" charset="-128"/>
              <a:cs typeface="+mn-ea"/>
              <a:sym typeface="+mn-lt"/>
            </a:endParaRPr>
          </a:p>
        </p:txBody>
      </p:sp>
      <p:sp>
        <p:nvSpPr>
          <p:cNvPr id="17" name="文本占位符 30"/>
          <p:cNvSpPr>
            <a:spLocks noGrp="1"/>
          </p:cNvSpPr>
          <p:nvPr>
            <p:ph type="body" sz="quarter" idx="17" hasCustomPrompt="1"/>
          </p:nvPr>
        </p:nvSpPr>
        <p:spPr>
          <a:xfrm>
            <a:off x="4444757" y="2117359"/>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18" name="文本占位符 30"/>
          <p:cNvSpPr>
            <a:spLocks noGrp="1"/>
          </p:cNvSpPr>
          <p:nvPr>
            <p:ph type="body" sz="quarter" idx="18" hasCustomPrompt="1"/>
          </p:nvPr>
        </p:nvSpPr>
        <p:spPr>
          <a:xfrm>
            <a:off x="4444757" y="1681039"/>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19" name="文本占位符 30"/>
          <p:cNvSpPr>
            <a:spLocks noGrp="1"/>
          </p:cNvSpPr>
          <p:nvPr>
            <p:ph type="body" sz="quarter" idx="19" hasCustomPrompt="1"/>
          </p:nvPr>
        </p:nvSpPr>
        <p:spPr>
          <a:xfrm>
            <a:off x="5107366" y="3277285"/>
            <a:ext cx="642202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0" name="文本占位符 30"/>
          <p:cNvSpPr>
            <a:spLocks noGrp="1"/>
          </p:cNvSpPr>
          <p:nvPr>
            <p:ph type="body" sz="quarter" idx="20" hasCustomPrompt="1"/>
          </p:nvPr>
        </p:nvSpPr>
        <p:spPr>
          <a:xfrm>
            <a:off x="5107366" y="2840965"/>
            <a:ext cx="642202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1" name="文本占位符 30"/>
          <p:cNvSpPr>
            <a:spLocks noGrp="1"/>
          </p:cNvSpPr>
          <p:nvPr>
            <p:ph type="body" sz="quarter" idx="21" hasCustomPrompt="1"/>
          </p:nvPr>
        </p:nvSpPr>
        <p:spPr>
          <a:xfrm>
            <a:off x="5018156" y="4459314"/>
            <a:ext cx="6511235"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2" name="文本占位符 30"/>
          <p:cNvSpPr>
            <a:spLocks noGrp="1"/>
          </p:cNvSpPr>
          <p:nvPr>
            <p:ph type="body" sz="quarter" idx="22" hasCustomPrompt="1"/>
          </p:nvPr>
        </p:nvSpPr>
        <p:spPr>
          <a:xfrm>
            <a:off x="5018156" y="4022994"/>
            <a:ext cx="651123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3" name="文本占位符 30"/>
          <p:cNvSpPr>
            <a:spLocks noGrp="1"/>
          </p:cNvSpPr>
          <p:nvPr>
            <p:ph type="body" sz="quarter" idx="23" hasCustomPrompt="1"/>
          </p:nvPr>
        </p:nvSpPr>
        <p:spPr>
          <a:xfrm>
            <a:off x="4444757" y="5613281"/>
            <a:ext cx="7084634" cy="614000"/>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请在此添加文字说明，模板。请在此添加文字说明，模板。请在此添加文字说明，模板。请在此添加文字说明，模板。</a:t>
            </a:r>
          </a:p>
          <a:p>
            <a:pPr lvl="0"/>
            <a:endParaRPr kumimoji="1" lang="zh-CN" altLang="en-US" dirty="0"/>
          </a:p>
        </p:txBody>
      </p:sp>
      <p:sp>
        <p:nvSpPr>
          <p:cNvPr id="24" name="文本占位符 30"/>
          <p:cNvSpPr>
            <a:spLocks noGrp="1"/>
          </p:cNvSpPr>
          <p:nvPr>
            <p:ph type="body" sz="quarter" idx="24" hasCustomPrompt="1"/>
          </p:nvPr>
        </p:nvSpPr>
        <p:spPr>
          <a:xfrm>
            <a:off x="4444757" y="5176961"/>
            <a:ext cx="708463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AIoT中间件</a:t>
            </a:r>
            <a:endParaRPr kumimoji="1" lang="zh-CN" altLang="en-US" dirty="0"/>
          </a:p>
        </p:txBody>
      </p:sp>
      <p:sp>
        <p:nvSpPr>
          <p:cNvPr id="25" name="文本占位符 30"/>
          <p:cNvSpPr>
            <a:spLocks noGrp="1"/>
          </p:cNvSpPr>
          <p:nvPr>
            <p:ph type="body" sz="quarter" idx="25" hasCustomPrompt="1"/>
          </p:nvPr>
        </p:nvSpPr>
        <p:spPr>
          <a:xfrm>
            <a:off x="1567681" y="3255024"/>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6" name="文本占位符 30"/>
          <p:cNvSpPr>
            <a:spLocks noGrp="1"/>
          </p:cNvSpPr>
          <p:nvPr>
            <p:ph type="body" sz="quarter" idx="26" hasCustomPrompt="1"/>
          </p:nvPr>
        </p:nvSpPr>
        <p:spPr>
          <a:xfrm>
            <a:off x="3043396" y="2534774"/>
            <a:ext cx="928824" cy="47297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20%</a:t>
            </a:r>
            <a:endParaRPr kumimoji="1" lang="zh-CN" altLang="en-US" dirty="0"/>
          </a:p>
        </p:txBody>
      </p:sp>
      <p:sp>
        <p:nvSpPr>
          <p:cNvPr id="27" name="文本占位符 30"/>
          <p:cNvSpPr>
            <a:spLocks noGrp="1"/>
          </p:cNvSpPr>
          <p:nvPr>
            <p:ph type="body" sz="quarter" idx="27" hasCustomPrompt="1"/>
          </p:nvPr>
        </p:nvSpPr>
        <p:spPr>
          <a:xfrm>
            <a:off x="2934754" y="4305226"/>
            <a:ext cx="1037466" cy="65852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32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35%</a:t>
            </a:r>
            <a:endParaRPr kumimoji="1" lang="zh-CN" altLang="en-US" dirty="0"/>
          </a:p>
        </p:txBody>
      </p:sp>
      <p:sp>
        <p:nvSpPr>
          <p:cNvPr id="28" name="文本占位符 30"/>
          <p:cNvSpPr>
            <a:spLocks noGrp="1"/>
          </p:cNvSpPr>
          <p:nvPr>
            <p:ph type="body" sz="quarter" idx="28" hasCustomPrompt="1"/>
          </p:nvPr>
        </p:nvSpPr>
        <p:spPr>
          <a:xfrm>
            <a:off x="3815128" y="3356524"/>
            <a:ext cx="832890" cy="44820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4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10%</a:t>
            </a:r>
            <a:endParaRPr kumimoji="1" lang="zh-CN" altLang="en-US" dirty="0"/>
          </a:p>
        </p:txBody>
      </p:sp>
      <p:sp>
        <p:nvSpPr>
          <p:cNvPr id="3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1架构图">
    <p:spTree>
      <p:nvGrpSpPr>
        <p:cNvPr id="1" name=""/>
        <p:cNvGrpSpPr/>
        <p:nvPr/>
      </p:nvGrpSpPr>
      <p:grpSpPr>
        <a:xfrm>
          <a:off x="0" y="0"/>
          <a:ext cx="0" cy="0"/>
          <a:chOff x="0" y="0"/>
          <a:chExt cx="0" cy="0"/>
        </a:xfrm>
      </p:grpSpPr>
      <p:grpSp>
        <p:nvGrpSpPr>
          <p:cNvPr id="6" name="组合 5"/>
          <p:cNvGrpSpPr/>
          <p:nvPr userDrawn="1"/>
        </p:nvGrpSpPr>
        <p:grpSpPr>
          <a:xfrm>
            <a:off x="694065" y="1486176"/>
            <a:ext cx="7776271" cy="4953786"/>
            <a:chOff x="582929" y="1006660"/>
            <a:chExt cx="8506284" cy="5418836"/>
          </a:xfrm>
        </p:grpSpPr>
        <p:sp>
          <p:nvSpPr>
            <p:cNvPr id="7" name="剪去单角的矩形 6"/>
            <p:cNvSpPr/>
            <p:nvPr/>
          </p:nvSpPr>
          <p:spPr>
            <a:xfrm>
              <a:off x="582929" y="5950356"/>
              <a:ext cx="8506284" cy="47514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0" name="剪去单角的矩形 9"/>
            <p:cNvSpPr/>
            <p:nvPr/>
          </p:nvSpPr>
          <p:spPr>
            <a:xfrm>
              <a:off x="582930" y="1006660"/>
              <a:ext cx="8506283" cy="2000880"/>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12" name="文本框 11"/>
            <p:cNvSpPr txBox="1"/>
            <p:nvPr/>
          </p:nvSpPr>
          <p:spPr>
            <a:xfrm>
              <a:off x="3870325" y="1071205"/>
              <a:ext cx="1708150" cy="336670"/>
            </a:xfrm>
            <a:prstGeom prst="rect">
              <a:avLst/>
            </a:prstGeom>
            <a:noFill/>
          </p:spPr>
          <p:txBody>
            <a:bodyPr wrap="square" rtlCol="0">
              <a:spAutoFit/>
            </a:bodyPr>
            <a:lstStyle/>
            <a:p>
              <a:pPr lvl="0" algn="ctr"/>
              <a:r>
                <a:rPr lang="zh-CN" altLang="en-US" sz="1400" dirty="0">
                  <a:solidFill>
                    <a:srgbClr val="383736"/>
                  </a:solidFill>
                  <a:latin typeface="思源黑体 CN Normal" panose="020B0400000000000000" pitchFamily="34" charset="-128"/>
                  <a:ea typeface="思源黑体 CN Normal" panose="020B0400000000000000" pitchFamily="34" charset="-128"/>
                  <a:sym typeface="+mn-ea"/>
                </a:rPr>
                <a:t>运维门户</a:t>
              </a:r>
            </a:p>
          </p:txBody>
        </p:sp>
        <p:grpSp>
          <p:nvGrpSpPr>
            <p:cNvPr id="13" name="组合 12"/>
            <p:cNvGrpSpPr/>
            <p:nvPr/>
          </p:nvGrpSpPr>
          <p:grpSpPr>
            <a:xfrm>
              <a:off x="684805" y="1524635"/>
              <a:ext cx="1297941" cy="1348105"/>
              <a:chOff x="684805" y="1524635"/>
              <a:chExt cx="1297941" cy="1348105"/>
            </a:xfrm>
          </p:grpSpPr>
          <p:sp>
            <p:nvSpPr>
              <p:cNvPr id="93" name="剪去单角的矩形 9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grpSp>
            <p:nvGrpSpPr>
              <p:cNvPr id="94" name="组合 93"/>
              <p:cNvGrpSpPr/>
              <p:nvPr/>
            </p:nvGrpSpPr>
            <p:grpSpPr>
              <a:xfrm>
                <a:off x="783105" y="1586698"/>
                <a:ext cx="1095997" cy="1178568"/>
                <a:chOff x="2218" y="2391"/>
                <a:chExt cx="1688" cy="2383"/>
              </a:xfrm>
            </p:grpSpPr>
            <p:sp>
              <p:nvSpPr>
                <p:cNvPr id="95" name="矩形 9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96" name="文本框 95"/>
                <p:cNvSpPr txBox="1"/>
                <p:nvPr userDrawn="1"/>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97" name="矩形 9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98" name="矩形 9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14" name="组合 13"/>
            <p:cNvGrpSpPr/>
            <p:nvPr/>
          </p:nvGrpSpPr>
          <p:grpSpPr>
            <a:xfrm>
              <a:off x="582929" y="3372920"/>
              <a:ext cx="8506284" cy="373202"/>
              <a:chOff x="582929" y="3338195"/>
              <a:chExt cx="8506284" cy="373202"/>
            </a:xfrm>
          </p:grpSpPr>
          <p:sp>
            <p:nvSpPr>
              <p:cNvPr id="91" name="剪去单角的矩形 90"/>
              <p:cNvSpPr/>
              <p:nvPr/>
            </p:nvSpPr>
            <p:spPr>
              <a:xfrm>
                <a:off x="582929" y="3338195"/>
                <a:ext cx="8506284" cy="373202"/>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92" name="文本框 91"/>
              <p:cNvSpPr txBox="1"/>
              <p:nvPr/>
            </p:nvSpPr>
            <p:spPr>
              <a:xfrm>
                <a:off x="3195274" y="3382266"/>
                <a:ext cx="3295650"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服务平台</a:t>
                </a:r>
              </a:p>
            </p:txBody>
          </p:sp>
        </p:grpSp>
        <p:grpSp>
          <p:nvGrpSpPr>
            <p:cNvPr id="15" name="组合 14"/>
            <p:cNvGrpSpPr/>
            <p:nvPr/>
          </p:nvGrpSpPr>
          <p:grpSpPr>
            <a:xfrm>
              <a:off x="586209" y="3870840"/>
              <a:ext cx="4201455" cy="701260"/>
              <a:chOff x="586209" y="3836115"/>
              <a:chExt cx="4201455" cy="701260"/>
            </a:xfrm>
          </p:grpSpPr>
          <p:sp>
            <p:nvSpPr>
              <p:cNvPr id="85" name="剪去单角的矩形 84"/>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86" name="文本框 85"/>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87" name="矩形 86"/>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5080"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88" name="矩形 87"/>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89" name="矩形 88"/>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90" name="矩形 89"/>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16" name="组合 15"/>
            <p:cNvGrpSpPr/>
            <p:nvPr/>
          </p:nvGrpSpPr>
          <p:grpSpPr>
            <a:xfrm>
              <a:off x="586210" y="4724465"/>
              <a:ext cx="3549312" cy="1074183"/>
              <a:chOff x="586210" y="4724465"/>
              <a:chExt cx="3549312" cy="1074183"/>
            </a:xfrm>
          </p:grpSpPr>
          <p:sp>
            <p:nvSpPr>
              <p:cNvPr id="77" name="剪去单角的矩形 76"/>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78" name="文本框 77"/>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79" name="矩形 78"/>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80" name="矩形 79"/>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81" name="矩形 80"/>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82" name="矩形 81"/>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83" name="矩形 82"/>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84" name="矩形 83"/>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sp>
          <p:nvSpPr>
            <p:cNvPr id="17" name="圆柱体 304"/>
            <p:cNvSpPr/>
            <p:nvPr/>
          </p:nvSpPr>
          <p:spPr>
            <a:xfrm>
              <a:off x="4345215" y="4926750"/>
              <a:ext cx="976630" cy="730250"/>
            </a:xfrm>
            <a:prstGeom prst="can">
              <a:avLst/>
            </a:prstGeom>
            <a:solidFill>
              <a:srgbClr val="4FBAFF"/>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zh-CN" altLang="en-US" sz="800" b="1" dirty="0">
                  <a:solidFill>
                    <a:schemeClr val="bg1"/>
                  </a:solidFill>
                  <a:latin typeface="思源黑体 CN Normal" panose="020B0400000000000000" pitchFamily="34" charset="-128"/>
                  <a:ea typeface="思源黑体 CN Normal" panose="020B0400000000000000" pitchFamily="34" charset="-128"/>
                </a:rPr>
                <a:t>配置管理库</a:t>
              </a:r>
              <a:r>
                <a:rPr lang="en-US" altLang="zh-CN" sz="800" b="1" dirty="0">
                  <a:solidFill>
                    <a:schemeClr val="bg1"/>
                  </a:solidFill>
                  <a:latin typeface="思源黑体 CN Normal" panose="020B0400000000000000" pitchFamily="34" charset="-128"/>
                  <a:ea typeface="思源黑体 CN Normal" panose="020B0400000000000000" pitchFamily="34" charset="-128"/>
                </a:rPr>
                <a:t>AMDB</a:t>
              </a:r>
            </a:p>
          </p:txBody>
        </p:sp>
        <p:sp>
          <p:nvSpPr>
            <p:cNvPr id="18" name="矩形 17"/>
            <p:cNvSpPr/>
            <p:nvPr/>
          </p:nvSpPr>
          <p:spPr>
            <a:xfrm>
              <a:off x="69954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网络设备</a:t>
              </a:r>
            </a:p>
          </p:txBody>
        </p:sp>
        <p:sp>
          <p:nvSpPr>
            <p:cNvPr id="19" name="矩形 18"/>
            <p:cNvSpPr/>
            <p:nvPr/>
          </p:nvSpPr>
          <p:spPr>
            <a:xfrm>
              <a:off x="2403519"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a:t>
              </a:r>
            </a:p>
          </p:txBody>
        </p:sp>
        <p:sp>
          <p:nvSpPr>
            <p:cNvPr id="20" name="矩形 19"/>
            <p:cNvSpPr/>
            <p:nvPr/>
          </p:nvSpPr>
          <p:spPr>
            <a:xfrm>
              <a:off x="4083004"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数据库</a:t>
              </a:r>
            </a:p>
          </p:txBody>
        </p:sp>
        <p:sp>
          <p:nvSpPr>
            <p:cNvPr id="21" name="矩形 20"/>
            <p:cNvSpPr/>
            <p:nvPr/>
          </p:nvSpPr>
          <p:spPr>
            <a:xfrm>
              <a:off x="5762489" y="6050090"/>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中间件</a:t>
              </a:r>
            </a:p>
          </p:txBody>
        </p:sp>
        <p:sp>
          <p:nvSpPr>
            <p:cNvPr id="22" name="矩形 21"/>
            <p:cNvSpPr/>
            <p:nvPr/>
          </p:nvSpPr>
          <p:spPr>
            <a:xfrm>
              <a:off x="7450138" y="6050728"/>
              <a:ext cx="152019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a:t>
              </a:r>
            </a:p>
          </p:txBody>
        </p:sp>
        <p:sp>
          <p:nvSpPr>
            <p:cNvPr id="23" name="箭头: 上 4"/>
            <p:cNvSpPr/>
            <p:nvPr/>
          </p:nvSpPr>
          <p:spPr>
            <a:xfrm>
              <a:off x="2215007"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4" name="箭头: 上 4"/>
            <p:cNvSpPr/>
            <p:nvPr/>
          </p:nvSpPr>
          <p:spPr>
            <a:xfrm>
              <a:off x="4726051"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sp>
          <p:nvSpPr>
            <p:cNvPr id="25" name="箭头: 上 4"/>
            <p:cNvSpPr/>
            <p:nvPr/>
          </p:nvSpPr>
          <p:spPr>
            <a:xfrm>
              <a:off x="7284339" y="3069009"/>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solidFill>
                  <a:srgbClr val="383736"/>
                </a:solidFill>
                <a:latin typeface="思源黑体 CN Normal" panose="020B0400000000000000" pitchFamily="34" charset="-128"/>
                <a:ea typeface="思源黑体 CN Normal" panose="020B0400000000000000" pitchFamily="34" charset="-128"/>
              </a:endParaRPr>
            </a:p>
          </p:txBody>
        </p:sp>
        <p:grpSp>
          <p:nvGrpSpPr>
            <p:cNvPr id="26" name="组合 25"/>
            <p:cNvGrpSpPr/>
            <p:nvPr/>
          </p:nvGrpSpPr>
          <p:grpSpPr>
            <a:xfrm>
              <a:off x="2083274" y="1522730"/>
              <a:ext cx="1297941" cy="1348105"/>
              <a:chOff x="684805" y="1524635"/>
              <a:chExt cx="1297941" cy="1348105"/>
            </a:xfrm>
          </p:grpSpPr>
          <p:sp>
            <p:nvSpPr>
              <p:cNvPr id="71" name="剪去单角的矩形 70"/>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72" name="组合 71"/>
              <p:cNvGrpSpPr/>
              <p:nvPr/>
            </p:nvGrpSpPr>
            <p:grpSpPr>
              <a:xfrm>
                <a:off x="803883" y="1586697"/>
                <a:ext cx="1095997" cy="1178567"/>
                <a:chOff x="2250" y="2391"/>
                <a:chExt cx="1688" cy="2383"/>
              </a:xfrm>
            </p:grpSpPr>
            <p:sp>
              <p:nvSpPr>
                <p:cNvPr id="73" name="矩形 72"/>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74" name="文本框 73"/>
                <p:cNvSpPr txBox="1"/>
                <p:nvPr/>
              </p:nvSpPr>
              <p:spPr>
                <a:xfrm>
                  <a:off x="2250"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75" name="矩形 74"/>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6" name="矩形 75"/>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7" name="组合 26"/>
            <p:cNvGrpSpPr/>
            <p:nvPr/>
          </p:nvGrpSpPr>
          <p:grpSpPr>
            <a:xfrm>
              <a:off x="3489724" y="1514587"/>
              <a:ext cx="1297941" cy="1348105"/>
              <a:chOff x="684805" y="1524635"/>
              <a:chExt cx="1297941" cy="1348105"/>
            </a:xfrm>
          </p:grpSpPr>
          <p:sp>
            <p:nvSpPr>
              <p:cNvPr id="65" name="剪去单角的矩形 64"/>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6" name="组合 65"/>
              <p:cNvGrpSpPr/>
              <p:nvPr/>
            </p:nvGrpSpPr>
            <p:grpSpPr>
              <a:xfrm>
                <a:off x="783105" y="1586697"/>
                <a:ext cx="1095997" cy="1178567"/>
                <a:chOff x="2218" y="2391"/>
                <a:chExt cx="1688" cy="2383"/>
              </a:xfrm>
            </p:grpSpPr>
            <p:sp>
              <p:nvSpPr>
                <p:cNvPr id="67" name="矩形 66"/>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8" name="文本框 67"/>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9" name="矩形 68"/>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70" name="矩形 69"/>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8" name="组合 27"/>
            <p:cNvGrpSpPr/>
            <p:nvPr/>
          </p:nvGrpSpPr>
          <p:grpSpPr>
            <a:xfrm>
              <a:off x="4889275" y="1514587"/>
              <a:ext cx="1297941" cy="1348105"/>
              <a:chOff x="684805" y="1524635"/>
              <a:chExt cx="1297941" cy="1348105"/>
            </a:xfrm>
          </p:grpSpPr>
          <p:sp>
            <p:nvSpPr>
              <p:cNvPr id="59" name="剪去单角的矩形 58"/>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60" name="组合 59"/>
              <p:cNvGrpSpPr/>
              <p:nvPr/>
            </p:nvGrpSpPr>
            <p:grpSpPr>
              <a:xfrm>
                <a:off x="772716" y="1586697"/>
                <a:ext cx="1095997" cy="1178567"/>
                <a:chOff x="2202" y="2391"/>
                <a:chExt cx="1688" cy="2383"/>
              </a:xfrm>
            </p:grpSpPr>
            <p:sp>
              <p:nvSpPr>
                <p:cNvPr id="61" name="矩形 60"/>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62" name="文本框 61"/>
                <p:cNvSpPr txBox="1"/>
                <p:nvPr/>
              </p:nvSpPr>
              <p:spPr>
                <a:xfrm>
                  <a:off x="2202"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63" name="矩形 62"/>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64" name="矩形 63"/>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29" name="组合 28"/>
            <p:cNvGrpSpPr/>
            <p:nvPr/>
          </p:nvGrpSpPr>
          <p:grpSpPr>
            <a:xfrm>
              <a:off x="6295996" y="1514587"/>
              <a:ext cx="1297941" cy="1348105"/>
              <a:chOff x="684805" y="1524635"/>
              <a:chExt cx="1297941" cy="1348105"/>
            </a:xfrm>
          </p:grpSpPr>
          <p:sp>
            <p:nvSpPr>
              <p:cNvPr id="53" name="剪去单角的矩形 52"/>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54" name="组合 53"/>
              <p:cNvGrpSpPr/>
              <p:nvPr/>
            </p:nvGrpSpPr>
            <p:grpSpPr>
              <a:xfrm>
                <a:off x="793494" y="1586697"/>
                <a:ext cx="1095997" cy="1178567"/>
                <a:chOff x="2234" y="2391"/>
                <a:chExt cx="1688" cy="2383"/>
              </a:xfrm>
            </p:grpSpPr>
            <p:sp>
              <p:nvSpPr>
                <p:cNvPr id="55" name="矩形 54"/>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6" name="文本框 55"/>
                <p:cNvSpPr txBox="1"/>
                <p:nvPr/>
              </p:nvSpPr>
              <p:spPr>
                <a:xfrm>
                  <a:off x="2234"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7" name="矩形 56"/>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8" name="矩形 57"/>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0" name="组合 29"/>
            <p:cNvGrpSpPr/>
            <p:nvPr/>
          </p:nvGrpSpPr>
          <p:grpSpPr>
            <a:xfrm>
              <a:off x="7693163" y="1514587"/>
              <a:ext cx="1297941" cy="1348105"/>
              <a:chOff x="684805" y="1524635"/>
              <a:chExt cx="1297941" cy="1348105"/>
            </a:xfrm>
          </p:grpSpPr>
          <p:sp>
            <p:nvSpPr>
              <p:cNvPr id="47" name="剪去单角的矩形 46"/>
              <p:cNvSpPr/>
              <p:nvPr/>
            </p:nvSpPr>
            <p:spPr>
              <a:xfrm>
                <a:off x="684805" y="1524635"/>
                <a:ext cx="1297941" cy="1348105"/>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a:p>
            </p:txBody>
          </p:sp>
          <p:grpSp>
            <p:nvGrpSpPr>
              <p:cNvPr id="48" name="组合 47"/>
              <p:cNvGrpSpPr/>
              <p:nvPr/>
            </p:nvGrpSpPr>
            <p:grpSpPr>
              <a:xfrm>
                <a:off x="783105" y="1586697"/>
                <a:ext cx="1095997" cy="1178567"/>
                <a:chOff x="2218" y="2391"/>
                <a:chExt cx="1688" cy="2383"/>
              </a:xfrm>
            </p:grpSpPr>
            <p:sp>
              <p:nvSpPr>
                <p:cNvPr id="49" name="矩形 48"/>
                <p:cNvSpPr/>
                <p:nvPr/>
              </p:nvSpPr>
              <p:spPr>
                <a:xfrm>
                  <a:off x="2296" y="3057"/>
                  <a:ext cx="155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我的工作台</a:t>
                  </a:r>
                </a:p>
              </p:txBody>
            </p:sp>
            <p:sp>
              <p:nvSpPr>
                <p:cNvPr id="50" name="文本框 49"/>
                <p:cNvSpPr txBox="1"/>
                <p:nvPr/>
              </p:nvSpPr>
              <p:spPr>
                <a:xfrm>
                  <a:off x="2218" y="2391"/>
                  <a:ext cx="1688" cy="545"/>
                </a:xfrm>
                <a:prstGeom prst="rect">
                  <a:avLst/>
                </a:prstGeom>
                <a:noFill/>
              </p:spPr>
              <p:txBody>
                <a:bodyPr wrap="square" rtlCol="0">
                  <a:spAutoFit/>
                </a:bodyPr>
                <a:lstStyle/>
                <a:p>
                  <a:pPr lvl="0" algn="ctr"/>
                  <a:r>
                    <a:rPr lang="zh-CN" altLang="en-US" sz="1000" dirty="0">
                      <a:solidFill>
                        <a:srgbClr val="383736"/>
                      </a:solidFill>
                      <a:latin typeface="思源黑体 CN Normal" panose="020B0400000000000000" pitchFamily="34" charset="-128"/>
                      <a:ea typeface="思源黑体 CN Normal" panose="020B0400000000000000" pitchFamily="34" charset="-128"/>
                      <a:sym typeface="+mn-ea"/>
                    </a:rPr>
                    <a:t>轮值工作台</a:t>
                  </a:r>
                </a:p>
              </p:txBody>
            </p:sp>
            <p:sp>
              <p:nvSpPr>
                <p:cNvPr id="51" name="矩形 50"/>
                <p:cNvSpPr/>
                <p:nvPr/>
              </p:nvSpPr>
              <p:spPr>
                <a:xfrm>
                  <a:off x="2320" y="3686"/>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dirty="0">
                      <a:solidFill>
                        <a:srgbClr val="383736"/>
                      </a:solidFill>
                      <a:latin typeface="思源黑体 CN Normal" panose="020B0400000000000000" pitchFamily="34" charset="-128"/>
                      <a:ea typeface="思源黑体 CN Normal" panose="020B0400000000000000" pitchFamily="34" charset="-128"/>
                    </a:rPr>
                    <a:t>工作台桌面</a:t>
                  </a:r>
                </a:p>
              </p:txBody>
            </p:sp>
            <p:sp>
              <p:nvSpPr>
                <p:cNvPr id="52" name="矩形 51"/>
                <p:cNvSpPr/>
                <p:nvPr/>
              </p:nvSpPr>
              <p:spPr>
                <a:xfrm>
                  <a:off x="2296" y="4339"/>
                  <a:ext cx="1496"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控件管理</a:t>
                  </a:r>
                </a:p>
              </p:txBody>
            </p:sp>
          </p:grpSp>
        </p:grpSp>
        <p:grpSp>
          <p:nvGrpSpPr>
            <p:cNvPr id="31" name="组合 30"/>
            <p:cNvGrpSpPr/>
            <p:nvPr/>
          </p:nvGrpSpPr>
          <p:grpSpPr>
            <a:xfrm>
              <a:off x="4883758" y="3870840"/>
              <a:ext cx="4201455" cy="701260"/>
              <a:chOff x="586209" y="3836115"/>
              <a:chExt cx="4201455" cy="701260"/>
            </a:xfrm>
          </p:grpSpPr>
          <p:sp>
            <p:nvSpPr>
              <p:cNvPr id="41" name="剪去单角的矩形 40"/>
              <p:cNvSpPr/>
              <p:nvPr/>
            </p:nvSpPr>
            <p:spPr>
              <a:xfrm>
                <a:off x="586209" y="3836115"/>
                <a:ext cx="4201455" cy="701260"/>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42" name="文本框 41"/>
              <p:cNvSpPr txBox="1"/>
              <p:nvPr/>
            </p:nvSpPr>
            <p:spPr>
              <a:xfrm>
                <a:off x="593624" y="3844071"/>
                <a:ext cx="4063999" cy="303003"/>
              </a:xfrm>
              <a:prstGeom prst="rect">
                <a:avLst/>
              </a:prstGeom>
              <a:noFill/>
            </p:spPr>
            <p:txBody>
              <a:bodyPr wrap="square" rtlCol="0">
                <a:spAutoFit/>
              </a:bodyPr>
              <a:lstStyle/>
              <a:p>
                <a:pPr lvl="0" algn="ct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运营中心</a:t>
                </a:r>
              </a:p>
            </p:txBody>
          </p:sp>
          <p:sp>
            <p:nvSpPr>
              <p:cNvPr id="43" name="矩形 42"/>
              <p:cNvSpPr/>
              <p:nvPr/>
            </p:nvSpPr>
            <p:spPr>
              <a:xfrm>
                <a:off x="700868"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dist">
                  <a:lnSpc>
                    <a:spcPct val="100000"/>
                  </a:lnSpc>
                </a:pPr>
                <a:r>
                  <a:rPr lang="zh-CN" altLang="en-US" sz="800" dirty="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4" name="矩形 43"/>
              <p:cNvSpPr/>
              <p:nvPr/>
            </p:nvSpPr>
            <p:spPr>
              <a:xfrm>
                <a:off x="172096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系统资源分析</a:t>
                </a:r>
              </a:p>
            </p:txBody>
          </p:sp>
          <p:sp>
            <p:nvSpPr>
              <p:cNvPr id="45" name="矩形 44"/>
              <p:cNvSpPr/>
              <p:nvPr/>
            </p:nvSpPr>
            <p:spPr>
              <a:xfrm>
                <a:off x="2746148" y="4174555"/>
                <a:ext cx="92710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业务运营分析</a:t>
                </a:r>
              </a:p>
            </p:txBody>
          </p:sp>
          <p:sp>
            <p:nvSpPr>
              <p:cNvPr id="46" name="矩形 45"/>
              <p:cNvSpPr/>
              <p:nvPr/>
            </p:nvSpPr>
            <p:spPr>
              <a:xfrm>
                <a:off x="3761800" y="4174555"/>
                <a:ext cx="92773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a:solidFill>
                      <a:srgbClr val="383736"/>
                    </a:solidFill>
                    <a:latin typeface="思源黑体 CN Normal" panose="020B0400000000000000" pitchFamily="34" charset="-128"/>
                    <a:ea typeface="思源黑体 CN Normal" panose="020B0400000000000000" pitchFamily="34" charset="-128"/>
                  </a:rPr>
                  <a:t>开源治理</a:t>
                </a:r>
              </a:p>
            </p:txBody>
          </p:sp>
        </p:grpSp>
        <p:grpSp>
          <p:nvGrpSpPr>
            <p:cNvPr id="32" name="组合 31"/>
            <p:cNvGrpSpPr/>
            <p:nvPr/>
          </p:nvGrpSpPr>
          <p:grpSpPr>
            <a:xfrm>
              <a:off x="5534612" y="4714632"/>
              <a:ext cx="3549312" cy="1074183"/>
              <a:chOff x="586210" y="4724465"/>
              <a:chExt cx="3549312" cy="1074183"/>
            </a:xfrm>
          </p:grpSpPr>
          <p:sp>
            <p:nvSpPr>
              <p:cNvPr id="33" name="剪去单角的矩形 32"/>
              <p:cNvSpPr/>
              <p:nvPr/>
            </p:nvSpPr>
            <p:spPr>
              <a:xfrm>
                <a:off x="586210" y="4724465"/>
                <a:ext cx="3549312" cy="1074183"/>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800" dirty="0"/>
              </a:p>
            </p:txBody>
          </p:sp>
          <p:sp>
            <p:nvSpPr>
              <p:cNvPr id="34" name="文本框 33"/>
              <p:cNvSpPr txBox="1"/>
              <p:nvPr/>
            </p:nvSpPr>
            <p:spPr>
              <a:xfrm>
                <a:off x="614986" y="4766115"/>
                <a:ext cx="3502025" cy="291921"/>
              </a:xfrm>
              <a:prstGeom prst="rect">
                <a:avLst/>
              </a:prstGeom>
              <a:noFill/>
            </p:spPr>
            <p:txBody>
              <a:bodyPr wrap="square" rtlCol="0">
                <a:spAutoFit/>
              </a:bodyPr>
              <a:lstStyle/>
              <a:p>
                <a:pPr marL="132715" indent="-132715" algn="ctr" defTabSz="764540">
                  <a:lnSpc>
                    <a:spcPct val="110000"/>
                  </a:lnSpc>
                  <a:spcBef>
                    <a:spcPct val="40000"/>
                  </a:spcBef>
                  <a:buSzPct val="80000"/>
                </a:pPr>
                <a:r>
                  <a:rPr lang="zh-CN" altLang="en-US" sz="1200" dirty="0">
                    <a:solidFill>
                      <a:srgbClr val="383736"/>
                    </a:solidFill>
                    <a:latin typeface="思源黑体 CN Normal" panose="020B0400000000000000" pitchFamily="34" charset="-128"/>
                    <a:ea typeface="思源黑体 CN Normal" panose="020B0400000000000000" pitchFamily="34" charset="-128"/>
                    <a:sym typeface="+mn-ea"/>
                  </a:rPr>
                  <a:t>监控中心</a:t>
                </a:r>
              </a:p>
            </p:txBody>
          </p:sp>
          <p:sp>
            <p:nvSpPr>
              <p:cNvPr id="35" name="矩形 34"/>
              <p:cNvSpPr/>
              <p:nvPr/>
            </p:nvSpPr>
            <p:spPr>
              <a:xfrm>
                <a:off x="695672" y="511691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应用性能监控</a:t>
                </a:r>
              </a:p>
            </p:txBody>
          </p:sp>
          <p:sp>
            <p:nvSpPr>
              <p:cNvPr id="36" name="矩形 35"/>
              <p:cNvSpPr/>
              <p:nvPr/>
            </p:nvSpPr>
            <p:spPr>
              <a:xfrm>
                <a:off x="1836082"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端到端监控</a:t>
                </a:r>
              </a:p>
            </p:txBody>
          </p:sp>
          <p:sp>
            <p:nvSpPr>
              <p:cNvPr id="37" name="矩形 36"/>
              <p:cNvSpPr/>
              <p:nvPr/>
            </p:nvSpPr>
            <p:spPr>
              <a:xfrm>
                <a:off x="2975716" y="511691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容器监控</a:t>
                </a:r>
              </a:p>
            </p:txBody>
          </p:sp>
          <p:sp>
            <p:nvSpPr>
              <p:cNvPr id="38" name="矩形 37"/>
              <p:cNvSpPr/>
              <p:nvPr/>
            </p:nvSpPr>
            <p:spPr>
              <a:xfrm>
                <a:off x="695672" y="5461635"/>
                <a:ext cx="1058545"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组件监控</a:t>
                </a:r>
              </a:p>
            </p:txBody>
          </p:sp>
          <p:sp>
            <p:nvSpPr>
              <p:cNvPr id="39" name="矩形 38"/>
              <p:cNvSpPr/>
              <p:nvPr/>
            </p:nvSpPr>
            <p:spPr>
              <a:xfrm>
                <a:off x="1836082"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主机监控</a:t>
                </a:r>
              </a:p>
            </p:txBody>
          </p:sp>
          <p:sp>
            <p:nvSpPr>
              <p:cNvPr id="40" name="矩形 39"/>
              <p:cNvSpPr/>
              <p:nvPr/>
            </p:nvSpPr>
            <p:spPr>
              <a:xfrm>
                <a:off x="2975716" y="5461635"/>
                <a:ext cx="1057910" cy="25082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800" kern="0" dirty="0">
                    <a:solidFill>
                      <a:srgbClr val="383736"/>
                    </a:solidFill>
                    <a:latin typeface="思源黑体 CN Normal" panose="020B0400000000000000" pitchFamily="34" charset="-128"/>
                    <a:ea typeface="思源黑体 CN Normal" panose="020B0400000000000000" pitchFamily="34" charset="-128"/>
                    <a:sym typeface="+mn-ea"/>
                  </a:rPr>
                  <a:t>业务探测</a:t>
                </a:r>
              </a:p>
            </p:txBody>
          </p:sp>
        </p:grpSp>
      </p:grpSp>
      <p:sp>
        <p:nvSpPr>
          <p:cNvPr id="102" name="文本占位符 30"/>
          <p:cNvSpPr>
            <a:spLocks noGrp="1"/>
          </p:cNvSpPr>
          <p:nvPr>
            <p:ph type="body" sz="quarter" idx="15" hasCustomPrompt="1"/>
          </p:nvPr>
        </p:nvSpPr>
        <p:spPr>
          <a:xfrm>
            <a:off x="8878322" y="1900469"/>
            <a:ext cx="2739914" cy="4425604"/>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103" name="文本占位符 30"/>
          <p:cNvSpPr>
            <a:spLocks noGrp="1"/>
          </p:cNvSpPr>
          <p:nvPr>
            <p:ph type="body" sz="quarter" idx="16" hasCustomPrompt="1"/>
          </p:nvPr>
        </p:nvSpPr>
        <p:spPr>
          <a:xfrm>
            <a:off x="8878321" y="1486176"/>
            <a:ext cx="2739914"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2架构图">
    <p:spTree>
      <p:nvGrpSpPr>
        <p:cNvPr id="1" name=""/>
        <p:cNvGrpSpPr/>
        <p:nvPr/>
      </p:nvGrpSpPr>
      <p:grpSpPr>
        <a:xfrm>
          <a:off x="0" y="0"/>
          <a:ext cx="0" cy="0"/>
          <a:chOff x="0" y="0"/>
          <a:chExt cx="0" cy="0"/>
        </a:xfrm>
      </p:grpSpPr>
      <p:grpSp>
        <p:nvGrpSpPr>
          <p:cNvPr id="101" name="组合 100"/>
          <p:cNvGrpSpPr/>
          <p:nvPr userDrawn="1"/>
        </p:nvGrpSpPr>
        <p:grpSpPr>
          <a:xfrm>
            <a:off x="659433" y="1382650"/>
            <a:ext cx="6832314" cy="4932207"/>
            <a:chOff x="623570" y="1334135"/>
            <a:chExt cx="7111365" cy="4547235"/>
          </a:xfrm>
        </p:grpSpPr>
        <p:grpSp>
          <p:nvGrpSpPr>
            <p:cNvPr id="102" name="组合 101"/>
            <p:cNvGrpSpPr/>
            <p:nvPr/>
          </p:nvGrpSpPr>
          <p:grpSpPr>
            <a:xfrm>
              <a:off x="656590" y="2640330"/>
              <a:ext cx="6176010" cy="2061210"/>
              <a:chOff x="1103" y="4144"/>
              <a:chExt cx="9726" cy="3246"/>
            </a:xfrm>
          </p:grpSpPr>
          <p:sp>
            <p:nvSpPr>
              <p:cNvPr id="128" name="剪去单角的矩形 127"/>
              <p:cNvSpPr/>
              <p:nvPr/>
            </p:nvSpPr>
            <p:spPr>
              <a:xfrm>
                <a:off x="1103" y="4144"/>
                <a:ext cx="9726" cy="3246"/>
              </a:xfrm>
              <a:prstGeom prst="snip1Rect">
                <a:avLst>
                  <a:gd name="adj" fmla="val 4639"/>
                </a:avLst>
              </a:prstGeom>
              <a:solidFill>
                <a:srgbClr val="F2F5F6"/>
              </a:solidFill>
              <a:ln>
                <a:solidFill>
                  <a:srgbClr val="D8D8D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9" name="剪去单角的矩形 128"/>
              <p:cNvSpPr/>
              <p:nvPr/>
            </p:nvSpPr>
            <p:spPr>
              <a:xfrm>
                <a:off x="1324" y="4456"/>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矩形 129"/>
              <p:cNvSpPr/>
              <p:nvPr/>
            </p:nvSpPr>
            <p:spPr>
              <a:xfrm>
                <a:off x="1535" y="4967"/>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1" name="矩形 130"/>
              <p:cNvSpPr/>
              <p:nvPr/>
            </p:nvSpPr>
            <p:spPr>
              <a:xfrm>
                <a:off x="1535"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2" name="矩形 131"/>
              <p:cNvSpPr/>
              <p:nvPr/>
            </p:nvSpPr>
            <p:spPr>
              <a:xfrm>
                <a:off x="2537"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3" name="矩形 132"/>
              <p:cNvSpPr/>
              <p:nvPr/>
            </p:nvSpPr>
            <p:spPr>
              <a:xfrm>
                <a:off x="3539" y="5560"/>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4" name="矩形 133"/>
              <p:cNvSpPr/>
              <p:nvPr/>
            </p:nvSpPr>
            <p:spPr>
              <a:xfrm>
                <a:off x="1535"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5" name="矩形 134"/>
              <p:cNvSpPr/>
              <p:nvPr/>
            </p:nvSpPr>
            <p:spPr>
              <a:xfrm>
                <a:off x="2537"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6" name="矩形 135"/>
              <p:cNvSpPr/>
              <p:nvPr/>
            </p:nvSpPr>
            <p:spPr>
              <a:xfrm>
                <a:off x="3539" y="6019"/>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7" name="矩形 136"/>
              <p:cNvSpPr/>
              <p:nvPr/>
            </p:nvSpPr>
            <p:spPr>
              <a:xfrm>
                <a:off x="1535"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8" name="矩形 137"/>
              <p:cNvSpPr/>
              <p:nvPr/>
            </p:nvSpPr>
            <p:spPr>
              <a:xfrm>
                <a:off x="2537"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39" name="矩形 138"/>
              <p:cNvSpPr/>
              <p:nvPr/>
            </p:nvSpPr>
            <p:spPr>
              <a:xfrm>
                <a:off x="3539" y="6478"/>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0" name="Rectangle 3"/>
              <p:cNvSpPr txBox="1">
                <a:spLocks noChangeArrowheads="1"/>
              </p:cNvSpPr>
              <p:nvPr/>
            </p:nvSpPr>
            <p:spPr bwMode="auto">
              <a:xfrm>
                <a:off x="1535" y="4516"/>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41" name="剪去单角的矩形 140"/>
              <p:cNvSpPr/>
              <p:nvPr/>
            </p:nvSpPr>
            <p:spPr>
              <a:xfrm>
                <a:off x="4793" y="4459"/>
                <a:ext cx="336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5004" y="4970"/>
                <a:ext cx="2931"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3" name="矩形 142"/>
              <p:cNvSpPr/>
              <p:nvPr/>
            </p:nvSpPr>
            <p:spPr>
              <a:xfrm>
                <a:off x="5004"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4" name="矩形 143"/>
              <p:cNvSpPr/>
              <p:nvPr/>
            </p:nvSpPr>
            <p:spPr>
              <a:xfrm>
                <a:off x="6006"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5" name="矩形 144"/>
              <p:cNvSpPr/>
              <p:nvPr/>
            </p:nvSpPr>
            <p:spPr>
              <a:xfrm>
                <a:off x="7008"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6" name="矩形 145"/>
              <p:cNvSpPr/>
              <p:nvPr/>
            </p:nvSpPr>
            <p:spPr>
              <a:xfrm>
                <a:off x="5004"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7" name="矩形 146"/>
              <p:cNvSpPr/>
              <p:nvPr/>
            </p:nvSpPr>
            <p:spPr>
              <a:xfrm>
                <a:off x="6006"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8" name="矩形 147"/>
              <p:cNvSpPr/>
              <p:nvPr/>
            </p:nvSpPr>
            <p:spPr>
              <a:xfrm>
                <a:off x="7008"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49" name="矩形 148"/>
              <p:cNvSpPr/>
              <p:nvPr/>
            </p:nvSpPr>
            <p:spPr>
              <a:xfrm>
                <a:off x="5004"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0" name="矩形 149"/>
              <p:cNvSpPr/>
              <p:nvPr/>
            </p:nvSpPr>
            <p:spPr>
              <a:xfrm>
                <a:off x="6006"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1" name="矩形 150"/>
              <p:cNvSpPr/>
              <p:nvPr/>
            </p:nvSpPr>
            <p:spPr>
              <a:xfrm>
                <a:off x="7008"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2" name="Rectangle 3"/>
              <p:cNvSpPr txBox="1">
                <a:spLocks noChangeArrowheads="1"/>
              </p:cNvSpPr>
              <p:nvPr/>
            </p:nvSpPr>
            <p:spPr bwMode="auto">
              <a:xfrm>
                <a:off x="5004" y="4519"/>
                <a:ext cx="2895"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sp>
            <p:nvSpPr>
              <p:cNvPr id="153" name="剪去单角的矩形 152"/>
              <p:cNvSpPr/>
              <p:nvPr/>
            </p:nvSpPr>
            <p:spPr>
              <a:xfrm>
                <a:off x="8262" y="4459"/>
                <a:ext cx="2353" cy="2622"/>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4" name="矩形 153"/>
              <p:cNvSpPr/>
              <p:nvPr/>
            </p:nvSpPr>
            <p:spPr>
              <a:xfrm>
                <a:off x="8473" y="4970"/>
                <a:ext cx="1940"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5" name="矩形 154"/>
              <p:cNvSpPr/>
              <p:nvPr/>
            </p:nvSpPr>
            <p:spPr>
              <a:xfrm>
                <a:off x="8473"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6" name="矩形 155"/>
              <p:cNvSpPr/>
              <p:nvPr/>
            </p:nvSpPr>
            <p:spPr>
              <a:xfrm>
                <a:off x="9475" y="5563"/>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7" name="矩形 156"/>
              <p:cNvSpPr/>
              <p:nvPr/>
            </p:nvSpPr>
            <p:spPr>
              <a:xfrm>
                <a:off x="8473"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8" name="矩形 157"/>
              <p:cNvSpPr/>
              <p:nvPr/>
            </p:nvSpPr>
            <p:spPr>
              <a:xfrm>
                <a:off x="9475" y="6022"/>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59" name="矩形 158"/>
              <p:cNvSpPr/>
              <p:nvPr/>
            </p:nvSpPr>
            <p:spPr>
              <a:xfrm>
                <a:off x="8473"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0" name="矩形 159"/>
              <p:cNvSpPr/>
              <p:nvPr/>
            </p:nvSpPr>
            <p:spPr>
              <a:xfrm>
                <a:off x="9475" y="6481"/>
                <a:ext cx="937"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61" name="Rectangle 3"/>
              <p:cNvSpPr txBox="1">
                <a:spLocks noChangeArrowheads="1"/>
              </p:cNvSpPr>
              <p:nvPr/>
            </p:nvSpPr>
            <p:spPr bwMode="auto">
              <a:xfrm>
                <a:off x="8473" y="4519"/>
                <a:ext cx="1940" cy="436"/>
              </a:xfrm>
              <a:prstGeom prst="rect">
                <a:avLst/>
              </a:prstGeom>
              <a:noFill/>
            </p:spPr>
            <p:txBody>
              <a:bodyPr wrap="square" lIns="90000" tIns="46800" rIns="90000" bIns="46800">
                <a:spAutoFit/>
              </a:bodyPr>
              <a:lstStyle>
                <a:lvl1pPr algn="ctr">
                  <a:spcBef>
                    <a:spcPct val="0"/>
                  </a:spcBef>
                  <a:buNone/>
                  <a:defRPr lang="ko-KR" altLang="en-US" sz="4400" b="1" baseline="0" dirty="0">
                    <a:solidFill>
                      <a:schemeClr val="bg1"/>
                    </a:solidFill>
                    <a:effectLst>
                      <a:outerShdw blurRad="12700" dist="25400" dir="5400000" algn="t" rotWithShape="0">
                        <a:prstClr val="black">
                          <a:alpha val="50000"/>
                        </a:prstClr>
                      </a:outerShdw>
                    </a:effectLst>
                    <a:latin typeface="Tahoma" panose="020B0604030504040204" pitchFamily="34" charset="0"/>
                    <a:ea typeface="Tahoma" panose="020B0604030504040204" pitchFamily="34" charset="0"/>
                    <a:cs typeface="Tahoma" panose="020B0604030504040204" pitchFamily="34" charset="0"/>
                  </a:defRPr>
                </a:lvl1pPr>
              </a:lstStyle>
              <a:p>
                <a:pPr algn="ctr" latinLnBrk="0"/>
                <a:r>
                  <a:rPr lang="zh-CN" sz="1200" b="0" dirty="0">
                    <a:solidFill>
                      <a:schemeClr val="accent1"/>
                    </a:solidFill>
                    <a:effectLst/>
                    <a:latin typeface="思源黑体 CN" panose="020B0400000000000000" charset="-122"/>
                    <a:ea typeface="思源黑体 CN" panose="020B0400000000000000" charset="-122"/>
                  </a:rPr>
                  <a:t>业务中心</a:t>
                </a:r>
              </a:p>
            </p:txBody>
          </p:sp>
        </p:grpSp>
        <p:grpSp>
          <p:nvGrpSpPr>
            <p:cNvPr id="103" name="组合 102"/>
            <p:cNvGrpSpPr/>
            <p:nvPr/>
          </p:nvGrpSpPr>
          <p:grpSpPr>
            <a:xfrm>
              <a:off x="623570" y="1334135"/>
              <a:ext cx="6184265" cy="692785"/>
              <a:chOff x="1090" y="2519"/>
              <a:chExt cx="9739" cy="1091"/>
            </a:xfrm>
          </p:grpSpPr>
          <p:sp>
            <p:nvSpPr>
              <p:cNvPr id="122" name="剪去单角的矩形 121"/>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3" name="矩形 122"/>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4" name="矩形 123"/>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25" name="矩形 124"/>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dirty="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6" name="矩形 125"/>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7" name="矩形 126"/>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4" name="组合 103"/>
            <p:cNvGrpSpPr/>
            <p:nvPr/>
          </p:nvGrpSpPr>
          <p:grpSpPr>
            <a:xfrm>
              <a:off x="623570" y="5188585"/>
              <a:ext cx="6184265" cy="692150"/>
              <a:chOff x="1090" y="2519"/>
              <a:chExt cx="9739" cy="1090"/>
            </a:xfrm>
          </p:grpSpPr>
          <p:sp>
            <p:nvSpPr>
              <p:cNvPr id="116" name="剪去单角的矩形 115"/>
              <p:cNvSpPr/>
              <p:nvPr/>
            </p:nvSpPr>
            <p:spPr>
              <a:xfrm>
                <a:off x="1103" y="2695"/>
                <a:ext cx="9726" cy="915"/>
              </a:xfrm>
              <a:prstGeom prst="snip1Rect">
                <a:avLst>
                  <a:gd name="adj" fmla="val 4639"/>
                </a:avLst>
              </a:prstGeom>
              <a:solidFill>
                <a:srgbClr val="FFFFFF"/>
              </a:solidFill>
              <a:ln>
                <a:solidFill>
                  <a:srgbClr val="D8D8D8"/>
                </a:solidFill>
              </a:ln>
              <a:effectLst>
                <a:outerShdw blurRad="165100" dir="2700000" sx="101000" sy="101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nvSpPr>
            <p:spPr>
              <a:xfrm>
                <a:off x="1267"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8" name="矩形 117"/>
              <p:cNvSpPr/>
              <p:nvPr/>
            </p:nvSpPr>
            <p:spPr>
              <a:xfrm>
                <a:off x="1090"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19" name="矩形 118"/>
              <p:cNvSpPr/>
              <p:nvPr/>
            </p:nvSpPr>
            <p:spPr>
              <a:xfrm>
                <a:off x="3645"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0" name="矩形 119"/>
              <p:cNvSpPr/>
              <p:nvPr/>
            </p:nvSpPr>
            <p:spPr>
              <a:xfrm>
                <a:off x="6023"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21" name="矩形 120"/>
              <p:cNvSpPr/>
              <p:nvPr/>
            </p:nvSpPr>
            <p:spPr>
              <a:xfrm>
                <a:off x="8398" y="3044"/>
                <a:ext cx="2262"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12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nvGrpSpPr>
            <p:cNvPr id="105" name="组合 104"/>
            <p:cNvGrpSpPr/>
            <p:nvPr/>
          </p:nvGrpSpPr>
          <p:grpSpPr>
            <a:xfrm>
              <a:off x="7006590" y="1334135"/>
              <a:ext cx="728345" cy="4547235"/>
              <a:chOff x="11211" y="2519"/>
              <a:chExt cx="1147" cy="7161"/>
            </a:xfrm>
          </p:grpSpPr>
          <p:sp>
            <p:nvSpPr>
              <p:cNvPr id="106" name="剪去单角的矩形 105"/>
              <p:cNvSpPr/>
              <p:nvPr/>
            </p:nvSpPr>
            <p:spPr>
              <a:xfrm>
                <a:off x="11211" y="2695"/>
                <a:ext cx="1147" cy="6985"/>
              </a:xfrm>
              <a:prstGeom prst="snip1Rect">
                <a:avLst>
                  <a:gd name="adj" fmla="val 4639"/>
                </a:avLst>
              </a:prstGeom>
              <a:solidFill>
                <a:srgbClr val="FFFFFF"/>
              </a:solidFill>
              <a:ln>
                <a:solidFill>
                  <a:srgbClr val="D8D8D8"/>
                </a:solidFill>
              </a:ln>
              <a:effectLst>
                <a:outerShdw blurRad="165100" dir="2700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p:cNvSpPr/>
              <p:nvPr/>
            </p:nvSpPr>
            <p:spPr>
              <a:xfrm>
                <a:off x="11211" y="2519"/>
                <a:ext cx="824" cy="384"/>
              </a:xfrm>
              <a:prstGeom prst="rect">
                <a:avLst/>
              </a:prstGeom>
              <a:solidFill>
                <a:srgbClr val="4B4C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思源黑体 CN" panose="020B0400000000000000" charset="-122"/>
                    <a:ea typeface="思源黑体 CN" panose="020B0400000000000000" charset="-122"/>
                  </a:rPr>
                  <a:t>生态</a:t>
                </a:r>
              </a:p>
            </p:txBody>
          </p:sp>
          <p:sp>
            <p:nvSpPr>
              <p:cNvPr id="108" name="矩形 107"/>
              <p:cNvSpPr/>
              <p:nvPr/>
            </p:nvSpPr>
            <p:spPr>
              <a:xfrm>
                <a:off x="11335" y="319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09" name="矩形 108"/>
              <p:cNvSpPr/>
              <p:nvPr/>
            </p:nvSpPr>
            <p:spPr>
              <a:xfrm>
                <a:off x="11335" y="404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0" name="矩形 109"/>
              <p:cNvSpPr/>
              <p:nvPr/>
            </p:nvSpPr>
            <p:spPr>
              <a:xfrm>
                <a:off x="11335" y="488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1" name="矩形 110"/>
              <p:cNvSpPr/>
              <p:nvPr/>
            </p:nvSpPr>
            <p:spPr>
              <a:xfrm>
                <a:off x="11335" y="657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2" name="矩形 111"/>
              <p:cNvSpPr/>
              <p:nvPr/>
            </p:nvSpPr>
            <p:spPr>
              <a:xfrm>
                <a:off x="11335" y="742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3" name="矩形 112"/>
              <p:cNvSpPr/>
              <p:nvPr/>
            </p:nvSpPr>
            <p:spPr>
              <a:xfrm>
                <a:off x="11335" y="573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4" name="矩形 113"/>
              <p:cNvSpPr/>
              <p:nvPr/>
            </p:nvSpPr>
            <p:spPr>
              <a:xfrm>
                <a:off x="11335" y="8267"/>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sp>
            <p:nvSpPr>
              <p:cNvPr id="115" name="矩形 114"/>
              <p:cNvSpPr/>
              <p:nvPr/>
            </p:nvSpPr>
            <p:spPr>
              <a:xfrm>
                <a:off x="11335" y="9112"/>
                <a:ext cx="899" cy="413"/>
              </a:xfrm>
              <a:prstGeom prst="rect">
                <a:avLst/>
              </a:prstGeom>
              <a:solidFill>
                <a:srgbClr val="F2F5F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a:solidFill>
                      <a:srgbClr val="4B4C4C"/>
                    </a:solidFill>
                    <a:latin typeface="思源黑体 CN" panose="020B0400000000000000" charset="-122"/>
                    <a:ea typeface="思源黑体 CN" panose="020B0400000000000000" charset="-122"/>
                    <a:cs typeface="思源黑体 CN" panose="020B0400000000000000" charset="-122"/>
                  </a:rPr>
                  <a:t>2C</a:t>
                </a:r>
                <a:r>
                  <a:rPr lang="zh-CN" altLang="en-US" sz="900">
                    <a:solidFill>
                      <a:srgbClr val="4B4C4C"/>
                    </a:solidFill>
                    <a:latin typeface="思源黑体 CN" panose="020B0400000000000000" charset="-122"/>
                    <a:ea typeface="思源黑体 CN" panose="020B0400000000000000" charset="-122"/>
                    <a:cs typeface="思源黑体 CN" panose="020B0400000000000000" charset="-122"/>
                  </a:rPr>
                  <a:t>客户</a:t>
                </a:r>
              </a:p>
            </p:txBody>
          </p:sp>
        </p:grpSp>
      </p:grpSp>
      <p:sp>
        <p:nvSpPr>
          <p:cNvPr id="67" name="文本占位符 30"/>
          <p:cNvSpPr>
            <a:spLocks noGrp="1"/>
          </p:cNvSpPr>
          <p:nvPr>
            <p:ph type="body" sz="quarter" idx="15" hasCustomPrompt="1"/>
          </p:nvPr>
        </p:nvSpPr>
        <p:spPr>
          <a:xfrm>
            <a:off x="7903712" y="1959552"/>
            <a:ext cx="3628855" cy="4248548"/>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68" name="文本占位符 30"/>
          <p:cNvSpPr>
            <a:spLocks noGrp="1"/>
          </p:cNvSpPr>
          <p:nvPr>
            <p:ph type="body" sz="quarter" idx="16" hasCustomPrompt="1"/>
          </p:nvPr>
        </p:nvSpPr>
        <p:spPr>
          <a:xfrm>
            <a:off x="7903712" y="1545259"/>
            <a:ext cx="3628855"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7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3架构图">
    <p:spTree>
      <p:nvGrpSpPr>
        <p:cNvPr id="1" name=""/>
        <p:cNvGrpSpPr/>
        <p:nvPr/>
      </p:nvGrpSpPr>
      <p:grpSpPr>
        <a:xfrm>
          <a:off x="0" y="0"/>
          <a:ext cx="0" cy="0"/>
          <a:chOff x="0" y="0"/>
          <a:chExt cx="0" cy="0"/>
        </a:xfrm>
      </p:grpSpPr>
      <p:grpSp>
        <p:nvGrpSpPr>
          <p:cNvPr id="3" name="组合 2"/>
          <p:cNvGrpSpPr/>
          <p:nvPr userDrawn="1"/>
        </p:nvGrpSpPr>
        <p:grpSpPr>
          <a:xfrm>
            <a:off x="776796" y="2608127"/>
            <a:ext cx="10670847" cy="3811445"/>
            <a:chOff x="776796" y="2608127"/>
            <a:chExt cx="10670847" cy="3811445"/>
          </a:xfrm>
        </p:grpSpPr>
        <p:sp>
          <p:nvSpPr>
            <p:cNvPr id="4" name="剪去单角的矩形 3"/>
            <p:cNvSpPr/>
            <p:nvPr/>
          </p:nvSpPr>
          <p:spPr>
            <a:xfrm>
              <a:off x="776796" y="2625908"/>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文本框 4"/>
            <p:cNvSpPr txBox="1"/>
            <p:nvPr/>
          </p:nvSpPr>
          <p:spPr>
            <a:xfrm rot="5400000">
              <a:off x="708534" y="3318494"/>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6" name="组合 5"/>
            <p:cNvGrpSpPr/>
            <p:nvPr/>
          </p:nvGrpSpPr>
          <p:grpSpPr>
            <a:xfrm>
              <a:off x="1409891" y="2625908"/>
              <a:ext cx="3218180" cy="1668781"/>
              <a:chOff x="1230630" y="1313815"/>
              <a:chExt cx="3218180" cy="1668781"/>
            </a:xfrm>
          </p:grpSpPr>
          <p:sp>
            <p:nvSpPr>
              <p:cNvPr id="61" name="剪去单角的矩形 60"/>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2" name="组合 61"/>
              <p:cNvGrpSpPr/>
              <p:nvPr/>
            </p:nvGrpSpPr>
            <p:grpSpPr>
              <a:xfrm>
                <a:off x="1396174" y="1622729"/>
                <a:ext cx="2830830" cy="1026795"/>
                <a:chOff x="2247" y="2121"/>
                <a:chExt cx="4458" cy="1617"/>
              </a:xfrm>
            </p:grpSpPr>
            <p:sp>
              <p:nvSpPr>
                <p:cNvPr id="63" name="矩形 62"/>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4" name="矩形 63"/>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5" name="矩形 64"/>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66" name="文本框 65"/>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67" name="矩形 66"/>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8" name="矩形 67"/>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9" name="矩形 68"/>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7" name="组合 6"/>
            <p:cNvGrpSpPr/>
            <p:nvPr/>
          </p:nvGrpSpPr>
          <p:grpSpPr>
            <a:xfrm>
              <a:off x="4828108" y="2619929"/>
              <a:ext cx="3218180" cy="1668781"/>
              <a:chOff x="1230630" y="1313815"/>
              <a:chExt cx="3218180" cy="1668781"/>
            </a:xfrm>
          </p:grpSpPr>
          <p:sp>
            <p:nvSpPr>
              <p:cNvPr id="52" name="剪去单角的矩形 51"/>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3" name="组合 52"/>
              <p:cNvGrpSpPr/>
              <p:nvPr/>
            </p:nvGrpSpPr>
            <p:grpSpPr>
              <a:xfrm>
                <a:off x="1396174" y="1622729"/>
                <a:ext cx="2830830" cy="1026795"/>
                <a:chOff x="2247" y="2121"/>
                <a:chExt cx="4458" cy="1617"/>
              </a:xfrm>
            </p:grpSpPr>
            <p:sp>
              <p:nvSpPr>
                <p:cNvPr id="54" name="矩形 53"/>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5" name="矩形 54"/>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6" name="矩形 55"/>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57" name="文本框 56"/>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58" name="矩形 57"/>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9" name="矩形 58"/>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60" name="矩形 59"/>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8" name="组合 7"/>
            <p:cNvGrpSpPr/>
            <p:nvPr/>
          </p:nvGrpSpPr>
          <p:grpSpPr>
            <a:xfrm>
              <a:off x="8229463" y="2608127"/>
              <a:ext cx="3218180" cy="1668781"/>
              <a:chOff x="1230630" y="1313815"/>
              <a:chExt cx="3218180" cy="1668781"/>
            </a:xfrm>
          </p:grpSpPr>
          <p:sp>
            <p:nvSpPr>
              <p:cNvPr id="43" name="剪去单角的矩形 42"/>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44" name="组合 43"/>
              <p:cNvGrpSpPr/>
              <p:nvPr/>
            </p:nvGrpSpPr>
            <p:grpSpPr>
              <a:xfrm>
                <a:off x="1396174" y="1622729"/>
                <a:ext cx="2830830" cy="1026795"/>
                <a:chOff x="2247" y="2121"/>
                <a:chExt cx="4458" cy="1617"/>
              </a:xfrm>
            </p:grpSpPr>
            <p:sp>
              <p:nvSpPr>
                <p:cNvPr id="45" name="矩形 44"/>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6" name="矩形 45"/>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7" name="矩形 46"/>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48" name="文本框 47"/>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9" name="矩形 48"/>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0" name="矩形 49"/>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51" name="矩形 50"/>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9" name="剪去单角的矩形 8"/>
            <p:cNvSpPr/>
            <p:nvPr/>
          </p:nvSpPr>
          <p:spPr>
            <a:xfrm>
              <a:off x="776796" y="4750791"/>
              <a:ext cx="429594"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文本框 9"/>
            <p:cNvSpPr txBox="1"/>
            <p:nvPr/>
          </p:nvSpPr>
          <p:spPr>
            <a:xfrm rot="5400000">
              <a:off x="708534" y="5443377"/>
              <a:ext cx="569595" cy="338455"/>
            </a:xfrm>
            <a:prstGeom prst="rect">
              <a:avLst/>
            </a:prstGeom>
            <a:noFill/>
          </p:spPr>
          <p:txBody>
            <a:bodyPr wrap="none" rtlCol="0">
              <a:spAutoFit/>
            </a:bodyPr>
            <a:lstStyle/>
            <a:p>
              <a:pPr lvl="0" algn="l"/>
              <a:r>
                <a:rPr lang="en-US" altLang="zh-CN" sz="1600" dirty="0">
                  <a:solidFill>
                    <a:srgbClr val="383736"/>
                  </a:solidFill>
                  <a:latin typeface="思源黑体 CN" panose="020B0400000000000000" charset="-122"/>
                  <a:ea typeface="思源黑体 CN" panose="020B0400000000000000" charset="-122"/>
                  <a:sym typeface="+mn-ea"/>
                </a:rPr>
                <a:t>SaaS</a:t>
              </a:r>
            </a:p>
          </p:txBody>
        </p:sp>
        <p:grpSp>
          <p:nvGrpSpPr>
            <p:cNvPr id="12" name="组合 11"/>
            <p:cNvGrpSpPr/>
            <p:nvPr/>
          </p:nvGrpSpPr>
          <p:grpSpPr>
            <a:xfrm>
              <a:off x="1409891" y="4750791"/>
              <a:ext cx="3218180" cy="1668781"/>
              <a:chOff x="1230630" y="1313815"/>
              <a:chExt cx="3218180" cy="1668781"/>
            </a:xfrm>
          </p:grpSpPr>
          <p:sp>
            <p:nvSpPr>
              <p:cNvPr id="34" name="剪去单角的矩形 33"/>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5" name="组合 34"/>
              <p:cNvGrpSpPr/>
              <p:nvPr/>
            </p:nvGrpSpPr>
            <p:grpSpPr>
              <a:xfrm>
                <a:off x="1396174" y="1622729"/>
                <a:ext cx="2830830" cy="1026795"/>
                <a:chOff x="2247" y="2121"/>
                <a:chExt cx="4458" cy="1617"/>
              </a:xfrm>
            </p:grpSpPr>
            <p:sp>
              <p:nvSpPr>
                <p:cNvPr id="36" name="矩形 35"/>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7" name="矩形 36"/>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8" name="矩形 37"/>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9" name="文本框 38"/>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40" name="矩形 39"/>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1" name="矩形 40"/>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42" name="矩形 41"/>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3" name="组合 12"/>
            <p:cNvGrpSpPr/>
            <p:nvPr/>
          </p:nvGrpSpPr>
          <p:grpSpPr>
            <a:xfrm>
              <a:off x="4828108" y="4744812"/>
              <a:ext cx="3218180" cy="1668781"/>
              <a:chOff x="1230630" y="1313815"/>
              <a:chExt cx="3218180" cy="1668781"/>
            </a:xfrm>
          </p:grpSpPr>
          <p:sp>
            <p:nvSpPr>
              <p:cNvPr id="25" name="剪去单角的矩形 24"/>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6" name="组合 25"/>
              <p:cNvGrpSpPr/>
              <p:nvPr/>
            </p:nvGrpSpPr>
            <p:grpSpPr>
              <a:xfrm>
                <a:off x="1396174" y="1622729"/>
                <a:ext cx="2830830" cy="1026795"/>
                <a:chOff x="2247" y="2121"/>
                <a:chExt cx="4458" cy="1617"/>
              </a:xfrm>
            </p:grpSpPr>
            <p:sp>
              <p:nvSpPr>
                <p:cNvPr id="27" name="矩形 26"/>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8" name="矩形 27"/>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9" name="矩形 28"/>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30" name="文本框 29"/>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31" name="矩形 30"/>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2" name="矩形 31"/>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33" name="矩形 32"/>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grpSp>
          <p:nvGrpSpPr>
            <p:cNvPr id="14" name="组合 13"/>
            <p:cNvGrpSpPr/>
            <p:nvPr/>
          </p:nvGrpSpPr>
          <p:grpSpPr>
            <a:xfrm>
              <a:off x="8229463" y="4733010"/>
              <a:ext cx="3218180" cy="1668781"/>
              <a:chOff x="1230630" y="1313815"/>
              <a:chExt cx="3218180" cy="1668781"/>
            </a:xfrm>
          </p:grpSpPr>
          <p:sp>
            <p:nvSpPr>
              <p:cNvPr id="16" name="剪去单角的矩形 15"/>
              <p:cNvSpPr/>
              <p:nvPr/>
            </p:nvSpPr>
            <p:spPr>
              <a:xfrm>
                <a:off x="1230630" y="1313815"/>
                <a:ext cx="3218180" cy="1668781"/>
              </a:xfrm>
              <a:prstGeom prst="snip1Rect">
                <a:avLst>
                  <a:gd name="adj" fmla="val 4639"/>
                </a:avLst>
              </a:prstGeom>
              <a:solidFill>
                <a:srgbClr val="FFFFFF"/>
              </a:solidFill>
              <a:ln>
                <a:solidFill>
                  <a:srgbClr val="D8D8D8"/>
                </a:solidFill>
              </a:ln>
              <a:effectLst>
                <a:outerShdw blurRad="139700" dir="2700000" sx="102000" sy="102000" algn="tl"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7" name="组合 16"/>
              <p:cNvGrpSpPr/>
              <p:nvPr/>
            </p:nvGrpSpPr>
            <p:grpSpPr>
              <a:xfrm>
                <a:off x="1396174" y="1622729"/>
                <a:ext cx="2830830" cy="1026795"/>
                <a:chOff x="2247" y="2121"/>
                <a:chExt cx="4458" cy="1617"/>
              </a:xfrm>
            </p:grpSpPr>
            <p:sp>
              <p:nvSpPr>
                <p:cNvPr id="18" name="矩形 17"/>
                <p:cNvSpPr/>
                <p:nvPr/>
              </p:nvSpPr>
              <p:spPr>
                <a:xfrm>
                  <a:off x="2249"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19" name="矩形 18"/>
                <p:cNvSpPr/>
                <p:nvPr/>
              </p:nvSpPr>
              <p:spPr>
                <a:xfrm>
                  <a:off x="3777"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0" name="矩形 19"/>
                <p:cNvSpPr/>
                <p:nvPr/>
              </p:nvSpPr>
              <p:spPr>
                <a:xfrm>
                  <a:off x="5305" y="2674"/>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sp>
              <p:nvSpPr>
                <p:cNvPr id="21" name="文本框 20"/>
                <p:cNvSpPr txBox="1"/>
                <p:nvPr/>
              </p:nvSpPr>
              <p:spPr>
                <a:xfrm>
                  <a:off x="3809" y="2121"/>
                  <a:ext cx="1386" cy="483"/>
                </a:xfrm>
                <a:prstGeom prst="rect">
                  <a:avLst/>
                </a:prstGeom>
                <a:noFill/>
              </p:spPr>
              <p:txBody>
                <a:bodyPr wrap="none" rtlCol="0">
                  <a:spAutoFit/>
                </a:bodyPr>
                <a:lstStyle/>
                <a:p>
                  <a:pPr lvl="0" algn="l"/>
                  <a:r>
                    <a:rPr lang="en-US" altLang="zh-CN" sz="1400" dirty="0">
                      <a:solidFill>
                        <a:srgbClr val="383736"/>
                      </a:solidFill>
                      <a:latin typeface="思源黑体 CN" panose="020B0400000000000000" charset="-122"/>
                      <a:ea typeface="思源黑体 CN" panose="020B0400000000000000" charset="-122"/>
                      <a:sym typeface="+mn-ea"/>
                    </a:rPr>
                    <a:t>CI</a:t>
                  </a:r>
                  <a:r>
                    <a:rPr lang="zh-CN" altLang="en-US" sz="1400" dirty="0">
                      <a:solidFill>
                        <a:srgbClr val="383736"/>
                      </a:solidFill>
                      <a:latin typeface="思源黑体 CN" panose="020B0400000000000000" charset="-122"/>
                      <a:ea typeface="思源黑体 CN" panose="020B0400000000000000" charset="-122"/>
                      <a:sym typeface="+mn-ea"/>
                    </a:rPr>
                    <a:t>类场景</a:t>
                  </a:r>
                </a:p>
              </p:txBody>
            </p:sp>
            <p:sp>
              <p:nvSpPr>
                <p:cNvPr id="22" name="矩形 21"/>
                <p:cNvSpPr/>
                <p:nvPr/>
              </p:nvSpPr>
              <p:spPr>
                <a:xfrm>
                  <a:off x="2247"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3" name="矩形 22"/>
                <p:cNvSpPr/>
                <p:nvPr/>
              </p:nvSpPr>
              <p:spPr>
                <a:xfrm>
                  <a:off x="3780"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rgbClr val="383736"/>
                      </a:solidFill>
                      <a:latin typeface="思源黑体 CN" panose="020B0400000000000000" charset="-122"/>
                      <a:ea typeface="思源黑体 CN" panose="020B0400000000000000" charset="-122"/>
                    </a:rPr>
                    <a:t>问题管理</a:t>
                  </a:r>
                </a:p>
              </p:txBody>
            </p:sp>
            <p:sp>
              <p:nvSpPr>
                <p:cNvPr id="24" name="矩形 23"/>
                <p:cNvSpPr/>
                <p:nvPr/>
              </p:nvSpPr>
              <p:spPr>
                <a:xfrm>
                  <a:off x="5303" y="3303"/>
                  <a:ext cx="1400" cy="435"/>
                </a:xfrm>
                <a:prstGeom prst="rect">
                  <a:avLst/>
                </a:prstGeom>
                <a:solidFill>
                  <a:srgbClr val="F3F6F5"/>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a:solidFill>
                        <a:srgbClr val="383736"/>
                      </a:solidFill>
                      <a:latin typeface="思源黑体 CN" panose="020B0400000000000000" charset="-122"/>
                      <a:ea typeface="思源黑体 CN" panose="020B0400000000000000" charset="-122"/>
                    </a:rPr>
                    <a:t>问题管理</a:t>
                  </a:r>
                </a:p>
              </p:txBody>
            </p:sp>
          </p:grpSp>
        </p:grpSp>
        <p:sp>
          <p:nvSpPr>
            <p:cNvPr id="15" name="箭头: 上 4"/>
            <p:cNvSpPr/>
            <p:nvPr/>
          </p:nvSpPr>
          <p:spPr>
            <a:xfrm>
              <a:off x="6306514" y="4402643"/>
              <a:ext cx="206375" cy="233680"/>
            </a:xfrm>
            <a:prstGeom prst="upArrow">
              <a:avLst/>
            </a:prstGeom>
            <a:gradFill>
              <a:gsLst>
                <a:gs pos="0">
                  <a:srgbClr val="0093FF">
                    <a:alpha val="100000"/>
                  </a:srgbClr>
                </a:gs>
                <a:gs pos="100000">
                  <a:srgbClr val="0093FF">
                    <a:alpha val="0"/>
                  </a:srgbClr>
                </a:gs>
              </a:gsLst>
              <a:lin ang="54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solidFill>
                  <a:srgbClr val="383736"/>
                </a:solidFill>
                <a:latin typeface="思源黑体 CN Normal" panose="020B0400000000000000" pitchFamily="34" charset="-128"/>
                <a:ea typeface="思源黑体 CN Normal" panose="020B0400000000000000" pitchFamily="34" charset="-128"/>
              </a:endParaRPr>
            </a:p>
          </p:txBody>
        </p:sp>
      </p:grpSp>
      <p:sp>
        <p:nvSpPr>
          <p:cNvPr id="72"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1"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柱状图-2">
    <p:spTree>
      <p:nvGrpSpPr>
        <p:cNvPr id="1" name=""/>
        <p:cNvGrpSpPr/>
        <p:nvPr/>
      </p:nvGrpSpPr>
      <p:grpSpPr>
        <a:xfrm>
          <a:off x="0" y="0"/>
          <a:ext cx="0" cy="0"/>
          <a:chOff x="0" y="0"/>
          <a:chExt cx="0" cy="0"/>
        </a:xfrm>
      </p:grpSpPr>
      <p:graphicFrame>
        <p:nvGraphicFramePr>
          <p:cNvPr id="4" name="图表 3"/>
          <p:cNvGraphicFramePr/>
          <p:nvPr userDrawn="1"/>
        </p:nvGraphicFramePr>
        <p:xfrm>
          <a:off x="479805" y="2405269"/>
          <a:ext cx="5446643" cy="37966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图表 5"/>
          <p:cNvGraphicFramePr/>
          <p:nvPr userDrawn="1"/>
        </p:nvGraphicFramePr>
        <p:xfrm>
          <a:off x="6265554" y="2405269"/>
          <a:ext cx="5446643" cy="3796637"/>
        </p:xfrm>
        <a:graphic>
          <a:graphicData uri="http://schemas.openxmlformats.org/drawingml/2006/chart">
            <c:chart xmlns:c="http://schemas.openxmlformats.org/drawingml/2006/chart" xmlns:r="http://schemas.openxmlformats.org/officeDocument/2006/relationships" r:id="rId3"/>
          </a:graphicData>
        </a:graphic>
      </p:graphicFrame>
      <p:sp>
        <p:nvSpPr>
          <p:cNvPr id="8"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7"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柱状图-3">
    <p:spTree>
      <p:nvGrpSpPr>
        <p:cNvPr id="1" name=""/>
        <p:cNvGrpSpPr/>
        <p:nvPr/>
      </p:nvGrpSpPr>
      <p:grpSpPr>
        <a:xfrm>
          <a:off x="0" y="0"/>
          <a:ext cx="0" cy="0"/>
          <a:chOff x="0" y="0"/>
          <a:chExt cx="0" cy="0"/>
        </a:xfrm>
      </p:grpSpPr>
      <p:graphicFrame>
        <p:nvGraphicFramePr>
          <p:cNvPr id="5" name="Chart 5"/>
          <p:cNvGraphicFramePr/>
          <p:nvPr userDrawn="1"/>
        </p:nvGraphicFramePr>
        <p:xfrm>
          <a:off x="512872" y="2698327"/>
          <a:ext cx="3097120" cy="206528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15"/>
          <p:cNvGraphicFramePr/>
          <p:nvPr userDrawn="1"/>
        </p:nvGraphicFramePr>
        <p:xfrm>
          <a:off x="4376932" y="2698327"/>
          <a:ext cx="3097120" cy="206528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16"/>
          <p:cNvGraphicFramePr/>
          <p:nvPr userDrawn="1"/>
        </p:nvGraphicFramePr>
        <p:xfrm>
          <a:off x="8390686" y="2675467"/>
          <a:ext cx="3097120" cy="2065285"/>
        </p:xfrm>
        <a:graphic>
          <a:graphicData uri="http://schemas.openxmlformats.org/drawingml/2006/chart">
            <c:chart xmlns:c="http://schemas.openxmlformats.org/drawingml/2006/chart" xmlns:r="http://schemas.openxmlformats.org/officeDocument/2006/relationships" r:id="rId4"/>
          </a:graphicData>
        </a:graphic>
      </p:graphicFrame>
      <p:grpSp>
        <p:nvGrpSpPr>
          <p:cNvPr id="9" name="işliḍê"/>
          <p:cNvGrpSpPr/>
          <p:nvPr userDrawn="1"/>
        </p:nvGrpSpPr>
        <p:grpSpPr>
          <a:xfrm>
            <a:off x="431114" y="4763612"/>
            <a:ext cx="3562348" cy="1357834"/>
            <a:chOff x="615059" y="4668235"/>
            <a:chExt cx="2898020" cy="1357834"/>
          </a:xfrm>
        </p:grpSpPr>
        <p:sp>
          <p:nvSpPr>
            <p:cNvPr id="10"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2"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3" name="işliḍê"/>
          <p:cNvGrpSpPr/>
          <p:nvPr userDrawn="1"/>
        </p:nvGrpSpPr>
        <p:grpSpPr>
          <a:xfrm>
            <a:off x="4144318" y="4763612"/>
            <a:ext cx="3562348" cy="1357834"/>
            <a:chOff x="615059" y="4668235"/>
            <a:chExt cx="2898020" cy="1357834"/>
          </a:xfrm>
        </p:grpSpPr>
        <p:sp>
          <p:nvSpPr>
            <p:cNvPr id="14"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5"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grpSp>
        <p:nvGrpSpPr>
          <p:cNvPr id="16" name="işliḍê"/>
          <p:cNvGrpSpPr/>
          <p:nvPr userDrawn="1"/>
        </p:nvGrpSpPr>
        <p:grpSpPr>
          <a:xfrm>
            <a:off x="8240992" y="4740752"/>
            <a:ext cx="3562348" cy="1357834"/>
            <a:chOff x="615059" y="4668235"/>
            <a:chExt cx="2898020" cy="1357834"/>
          </a:xfrm>
        </p:grpSpPr>
        <p:sp>
          <p:nvSpPr>
            <p:cNvPr id="17" name="ïṧļiḑê"/>
            <p:cNvSpPr txBox="1"/>
            <p:nvPr/>
          </p:nvSpPr>
          <p:spPr>
            <a:xfrm>
              <a:off x="615059" y="5140055"/>
              <a:ext cx="2898020" cy="886014"/>
            </a:xfrm>
            <a:prstGeom prst="rect">
              <a:avLst/>
            </a:prstGeom>
            <a:noFill/>
          </p:spPr>
          <p:txBody>
            <a:bodyPr wrap="square" lIns="90000" tIns="46800" rIns="90000" bIns="46800" rtlCol="0">
              <a:noAutofit/>
            </a:bodyPr>
            <a:lstStyle/>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a:p>
              <a:pPr algn="ctr">
                <a:lnSpc>
                  <a:spcPct val="120000"/>
                </a:lnSpc>
              </a:pPr>
              <a:r>
                <a:rPr lang="zh-CN" altLang="en-US" sz="1400" dirty="0">
                  <a:solidFill>
                    <a:srgbClr val="59585A"/>
                  </a:solidFill>
                  <a:latin typeface="思源黑体 CN Normal" panose="020B0400000000000000" pitchFamily="34" charset="-128"/>
                  <a:ea typeface="思源黑体 CN Normal" panose="020B0400000000000000" pitchFamily="34" charset="-128"/>
                </a:rPr>
                <a:t>此处输入内容</a:t>
              </a:r>
              <a:endParaRPr lang="en-US" altLang="zh-CN" sz="1400" dirty="0">
                <a:solidFill>
                  <a:srgbClr val="59585A"/>
                </a:solidFill>
                <a:latin typeface="思源黑体 CN Normal" panose="020B0400000000000000" pitchFamily="34" charset="-128"/>
                <a:ea typeface="思源黑体 CN Normal" panose="020B0400000000000000" pitchFamily="34" charset="-128"/>
              </a:endParaRPr>
            </a:p>
          </p:txBody>
        </p:sp>
        <p:sp>
          <p:nvSpPr>
            <p:cNvPr id="18" name="iSliḑé"/>
            <p:cNvSpPr txBox="1"/>
            <p:nvPr/>
          </p:nvSpPr>
          <p:spPr>
            <a:xfrm>
              <a:off x="615059" y="4668235"/>
              <a:ext cx="2898020" cy="471820"/>
            </a:xfrm>
            <a:prstGeom prst="rect">
              <a:avLst/>
            </a:prstGeom>
            <a:noFill/>
          </p:spPr>
          <p:txBody>
            <a:bodyPr wrap="none" rtlCol="0" anchor="ctr">
              <a:normAutofit/>
            </a:bodyPr>
            <a:lstStyle/>
            <a:p>
              <a:pPr algn="ctr"/>
              <a:r>
                <a:rPr lang="zh-CN" altLang="en-US" dirty="0">
                  <a:solidFill>
                    <a:srgbClr val="383737"/>
                  </a:solidFill>
                  <a:latin typeface="思源黑体" panose="020B0400000000000000" pitchFamily="34" charset="-122"/>
                  <a:ea typeface="思源黑体" panose="020B0400000000000000" pitchFamily="34" charset="-122"/>
                  <a:sym typeface="+mn-lt"/>
                </a:rPr>
                <a:t>此处添加副标题</a:t>
              </a:r>
              <a:endParaRPr lang="zh-CN" altLang="en-US" b="1" dirty="0">
                <a:solidFill>
                  <a:srgbClr val="383737"/>
                </a:solidFill>
                <a:latin typeface="思源黑体 CN Normal" panose="020B0400000000000000" pitchFamily="34" charset="-128"/>
                <a:ea typeface="思源黑体 CN Normal" panose="020B0400000000000000" pitchFamily="34" charset="-128"/>
              </a:endParaRPr>
            </a:p>
          </p:txBody>
        </p:sp>
      </p:grpSp>
      <p:sp>
        <p:nvSpPr>
          <p:cNvPr id="21"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2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折线图-1">
    <p:spTree>
      <p:nvGrpSpPr>
        <p:cNvPr id="1" name=""/>
        <p:cNvGrpSpPr/>
        <p:nvPr/>
      </p:nvGrpSpPr>
      <p:grpSpPr>
        <a:xfrm>
          <a:off x="0" y="0"/>
          <a:ext cx="0" cy="0"/>
          <a:chOff x="0" y="0"/>
          <a:chExt cx="0" cy="0"/>
        </a:xfrm>
      </p:grpSpPr>
      <p:graphicFrame>
        <p:nvGraphicFramePr>
          <p:cNvPr id="19" name="图表 18"/>
          <p:cNvGraphicFramePr/>
          <p:nvPr userDrawn="1"/>
        </p:nvGraphicFramePr>
        <p:xfrm>
          <a:off x="730452" y="1972933"/>
          <a:ext cx="6045845" cy="4030563"/>
        </p:xfrm>
        <a:graphic>
          <a:graphicData uri="http://schemas.openxmlformats.org/drawingml/2006/chart">
            <c:chart xmlns:c="http://schemas.openxmlformats.org/drawingml/2006/chart" xmlns:r="http://schemas.openxmlformats.org/officeDocument/2006/relationships" r:id="rId2"/>
          </a:graphicData>
        </a:graphic>
      </p:graphicFrame>
      <p:sp>
        <p:nvSpPr>
          <p:cNvPr id="7" name="文本占位符 30"/>
          <p:cNvSpPr>
            <a:spLocks noGrp="1"/>
          </p:cNvSpPr>
          <p:nvPr>
            <p:ph type="body" sz="quarter" idx="15" hasCustomPrompt="1"/>
          </p:nvPr>
        </p:nvSpPr>
        <p:spPr>
          <a:xfrm>
            <a:off x="7489678" y="2307343"/>
            <a:ext cx="3960333" cy="3666489"/>
          </a:xfrm>
          <a:prstGeom prst="rect">
            <a:avLst/>
          </a:prstGeom>
        </p:spPr>
        <p:txBody>
          <a:bodyPr/>
          <a:lstStyle>
            <a:lvl1pPr marL="0" marR="0" indent="0" algn="l" defTabSz="457200" rtl="0" eaLnBrk="1" fontAlgn="auto" latinLnBrk="0" hangingPunct="1">
              <a:lnSpc>
                <a:spcPct val="10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0" lang="en-US" altLang="zh-CN"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endParaRPr>
          </a:p>
          <a:p>
            <a:pPr marL="0" marR="0" lvl="0" indent="0" algn="l" defTabSz="457200" rtl="0" eaLnBrk="1" fontAlgn="auto" latinLnBrk="0" hangingPunct="1">
              <a:lnSpc>
                <a:spcPct val="100000"/>
              </a:lnSpc>
              <a:spcBef>
                <a:spcPts val="0"/>
              </a:spcBef>
              <a:spcAft>
                <a:spcPts val="0"/>
              </a:spcAft>
              <a:buClrTx/>
              <a:buSzTx/>
              <a:buFontTx/>
              <a:buNone/>
              <a:defRPr/>
            </a:pP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marL="0" marR="0" lvl="0" indent="0" algn="l" defTabSz="4572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a:t>
            </a:r>
            <a:endParaRPr kumimoji="1" lang="zh-CN" altLang="en-US" sz="1400" b="1" i="0" u="none" strike="noStrike" kern="1200" cap="none" spc="300" normalizeH="0" baseline="0" noProof="0" dirty="0">
              <a:ln>
                <a:noFill/>
              </a:ln>
              <a:solidFill>
                <a:srgbClr val="383736"/>
              </a:solidFill>
              <a:effectLst/>
              <a:uLnTx/>
              <a:uFillTx/>
              <a:latin typeface="思源黑体 CN Normal" panose="020B0400000000000000" pitchFamily="34" charset="-128"/>
              <a:ea typeface="思源黑体 CN Normal" panose="020B0400000000000000" pitchFamily="34" charset="-128"/>
              <a:cs typeface="+mn-cs"/>
            </a:endParaRPr>
          </a:p>
          <a:p>
            <a:pPr lvl="0"/>
            <a:endParaRPr kumimoji="1" lang="zh-CN" altLang="en-US" dirty="0"/>
          </a:p>
        </p:txBody>
      </p:sp>
      <p:sp>
        <p:nvSpPr>
          <p:cNvPr id="8" name="文本占位符 30"/>
          <p:cNvSpPr>
            <a:spLocks noGrp="1"/>
          </p:cNvSpPr>
          <p:nvPr>
            <p:ph type="body" sz="quarter" idx="16" hasCustomPrompt="1"/>
          </p:nvPr>
        </p:nvSpPr>
        <p:spPr>
          <a:xfrm>
            <a:off x="7489678" y="1893050"/>
            <a:ext cx="3960333" cy="397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lang="zh-CN" altLang="en-US" sz="1800" dirty="0">
                <a:solidFill>
                  <a:srgbClr val="383736"/>
                </a:solidFill>
                <a:latin typeface="思源黑体" panose="020B0400000000000000" pitchFamily="34" charset="-122"/>
                <a:ea typeface="思源黑体" panose="020B0400000000000000" pitchFamily="34" charset="-122"/>
                <a:sym typeface="+mn-ea"/>
              </a:rPr>
              <a:t>标题</a:t>
            </a:r>
            <a:endParaRPr kumimoji="1" lang="zh-CN" altLang="en-US" dirty="0"/>
          </a:p>
        </p:txBody>
      </p:sp>
      <p:sp>
        <p:nvSpPr>
          <p:cNvPr id="10"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折线图-2">
    <p:spTree>
      <p:nvGrpSpPr>
        <p:cNvPr id="1" name=""/>
        <p:cNvGrpSpPr/>
        <p:nvPr/>
      </p:nvGrpSpPr>
      <p:grpSpPr>
        <a:xfrm>
          <a:off x="0" y="0"/>
          <a:ext cx="0" cy="0"/>
          <a:chOff x="0" y="0"/>
          <a:chExt cx="0" cy="0"/>
        </a:xfrm>
      </p:grpSpPr>
      <p:graphicFrame>
        <p:nvGraphicFramePr>
          <p:cNvPr id="3" name="图表 2"/>
          <p:cNvGraphicFramePr/>
          <p:nvPr userDrawn="1"/>
        </p:nvGraphicFramePr>
        <p:xfrm>
          <a:off x="730453" y="2743200"/>
          <a:ext cx="5141904" cy="342793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338773" y="2758440"/>
          <a:ext cx="5141904" cy="3427936"/>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组合图-2">
    <p:spTree>
      <p:nvGrpSpPr>
        <p:cNvPr id="1" name=""/>
        <p:cNvGrpSpPr/>
        <p:nvPr/>
      </p:nvGrpSpPr>
      <p:grpSpPr>
        <a:xfrm>
          <a:off x="0" y="0"/>
          <a:ext cx="0" cy="0"/>
          <a:chOff x="0" y="0"/>
          <a:chExt cx="0" cy="0"/>
        </a:xfrm>
      </p:grpSpPr>
      <p:graphicFrame>
        <p:nvGraphicFramePr>
          <p:cNvPr id="3" name="图表 2"/>
          <p:cNvGraphicFramePr/>
          <p:nvPr userDrawn="1"/>
        </p:nvGraphicFramePr>
        <p:xfrm>
          <a:off x="741989" y="2637496"/>
          <a:ext cx="5187757" cy="34585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图表 3"/>
          <p:cNvGraphicFramePr/>
          <p:nvPr userDrawn="1"/>
        </p:nvGraphicFramePr>
        <p:xfrm>
          <a:off x="6262256" y="2637495"/>
          <a:ext cx="5187757" cy="3458505"/>
        </p:xfrm>
        <a:graphic>
          <a:graphicData uri="http://schemas.openxmlformats.org/drawingml/2006/chart">
            <c:chart xmlns:c="http://schemas.openxmlformats.org/drawingml/2006/chart" xmlns:r="http://schemas.openxmlformats.org/officeDocument/2006/relationships" r:id="rId3"/>
          </a:graphicData>
        </a:graphic>
      </p:graphicFrame>
      <p:sp>
        <p:nvSpPr>
          <p:cNvPr id="7" name="文本占位符 30"/>
          <p:cNvSpPr>
            <a:spLocks noGrp="1"/>
          </p:cNvSpPr>
          <p:nvPr>
            <p:ph type="body" sz="quarter" idx="15" hasCustomPrompt="1"/>
          </p:nvPr>
        </p:nvSpPr>
        <p:spPr>
          <a:xfrm>
            <a:off x="615059" y="1338522"/>
            <a:ext cx="10939432" cy="965187"/>
          </a:xfrm>
          <a:prstGeom prst="rect">
            <a:avLst/>
          </a:prstGeom>
        </p:spPr>
        <p:txBody>
          <a:bodyPr/>
          <a:lstStyle>
            <a:lvl1pPr marL="0" marR="0" indent="0" algn="l" defTabSz="457200" rtl="0" eaLnBrk="1" fontAlgn="auto" latinLnBrk="0" hangingPunct="1">
              <a:lnSpc>
                <a:spcPct val="130000"/>
              </a:lnSpc>
              <a:spcBef>
                <a:spcPts val="0"/>
              </a:spcBef>
              <a:spcAft>
                <a:spcPts val="0"/>
              </a:spcAft>
              <a:buClrTx/>
              <a:buSzTx/>
              <a:buFontTx/>
              <a:buNone/>
              <a:defRPr sz="1400">
                <a:solidFill>
                  <a:srgbClr val="595A58"/>
                </a:solidFill>
                <a:latin typeface="思源黑体 CN Normal" panose="020B0400000000000000" pitchFamily="34" charset="-128"/>
                <a:ea typeface="思源黑体 CN Normal" panose="020B0400000000000000" pitchFamily="34" charset="-128"/>
              </a:defRPr>
            </a:lvl1pPr>
          </a:lstStyle>
          <a:p>
            <a:pPr marL="0" marR="0" lvl="0" indent="0" algn="l" defTabSz="457200" rtl="0" eaLnBrk="1" fontAlgn="auto" latinLnBrk="0" hangingPunct="1">
              <a:lnSpc>
                <a:spcPct val="13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595A58"/>
                </a:solidFill>
                <a:effectLst/>
                <a:uLnTx/>
                <a:uFillTx/>
                <a:latin typeface="思源黑体 CN Normal" panose="020B0400000000000000" pitchFamily="34" charset="-128"/>
                <a:ea typeface="思源黑体 CN Normal" panose="020B0400000000000000" pitchFamily="34" charset="-128"/>
                <a:cs typeface="+mn-ea"/>
                <a:sym typeface="+mn-lt"/>
              </a:rPr>
              <a:t>此处添加详细文本描述 ，建议与标题相关并符合整体语言风格，语言描述尽量简洁生动！此处添加详细文本描述 ，建议与标题相关并符合整体语言风格，语言描述尽量简洁生动！此处添加详细文本描述 ，建议与标题相关并符合整体语言风格，语言描述尽量简洁生动。</a:t>
            </a:r>
          </a:p>
          <a:p>
            <a:pPr lvl="0"/>
            <a:endParaRPr kumimoji="1" lang="zh-CN" altLang="en-US" dirty="0"/>
          </a:p>
        </p:txBody>
      </p:sp>
      <p:sp>
        <p:nvSpPr>
          <p:cNvPr id="9" name="Title Placeholder 1"/>
          <p:cNvSpPr>
            <a:spLocks noGrp="1"/>
          </p:cNvSpPr>
          <p:nvPr>
            <p:ph type="title" hasCustomPrompt="1"/>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spTree>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userDrawn="1">
  <p:cSld name="封底">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430364" cy="7724217"/>
          </a:xfrm>
          <a:prstGeom prst="rect">
            <a:avLst/>
          </a:prstGeom>
        </p:spPr>
      </p:pic>
      <p:sp>
        <p:nvSpPr>
          <p:cNvPr id="17" name="Freeform 43"/>
          <p:cNvSpPr>
            <a:spLocks noEditPoints="1"/>
          </p:cNvSpPr>
          <p:nvPr userDrawn="1"/>
        </p:nvSpPr>
        <p:spPr bwMode="auto">
          <a:xfrm flipH="1">
            <a:off x="10499725" y="4999038"/>
            <a:ext cx="173038" cy="174625"/>
          </a:xfrm>
          <a:custGeom>
            <a:avLst/>
            <a:gdLst>
              <a:gd name="T0" fmla="*/ 54 w 109"/>
              <a:gd name="T1" fmla="*/ 106 h 110"/>
              <a:gd name="T2" fmla="*/ 4 w 109"/>
              <a:gd name="T3" fmla="*/ 55 h 110"/>
              <a:gd name="T4" fmla="*/ 54 w 109"/>
              <a:gd name="T5" fmla="*/ 4 h 110"/>
              <a:gd name="T6" fmla="*/ 105 w 109"/>
              <a:gd name="T7" fmla="*/ 55 h 110"/>
              <a:gd name="T8" fmla="*/ 54 w 109"/>
              <a:gd name="T9" fmla="*/ 106 h 110"/>
              <a:gd name="T10" fmla="*/ 54 w 109"/>
              <a:gd name="T11" fmla="*/ 0 h 110"/>
              <a:gd name="T12" fmla="*/ 0 w 109"/>
              <a:gd name="T13" fmla="*/ 55 h 110"/>
              <a:gd name="T14" fmla="*/ 54 w 109"/>
              <a:gd name="T15" fmla="*/ 110 h 110"/>
              <a:gd name="T16" fmla="*/ 109 w 109"/>
              <a:gd name="T17" fmla="*/ 55 h 110"/>
              <a:gd name="T18" fmla="*/ 54 w 109"/>
              <a:gd name="T19" fmla="*/ 0 h 1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09" h="110">
                <a:moveTo>
                  <a:pt x="54" y="106"/>
                </a:moveTo>
                <a:cubicBezTo>
                  <a:pt x="26" y="106"/>
                  <a:pt x="4" y="83"/>
                  <a:pt x="4" y="55"/>
                </a:cubicBezTo>
                <a:cubicBezTo>
                  <a:pt x="4" y="27"/>
                  <a:pt x="26" y="4"/>
                  <a:pt x="54" y="4"/>
                </a:cubicBezTo>
                <a:cubicBezTo>
                  <a:pt x="82" y="4"/>
                  <a:pt x="105" y="27"/>
                  <a:pt x="105" y="55"/>
                </a:cubicBezTo>
                <a:cubicBezTo>
                  <a:pt x="105" y="83"/>
                  <a:pt x="82" y="106"/>
                  <a:pt x="54" y="106"/>
                </a:cubicBezTo>
                <a:moveTo>
                  <a:pt x="54" y="0"/>
                </a:moveTo>
                <a:cubicBezTo>
                  <a:pt x="24" y="0"/>
                  <a:pt x="0" y="25"/>
                  <a:pt x="0" y="55"/>
                </a:cubicBezTo>
                <a:cubicBezTo>
                  <a:pt x="0" y="85"/>
                  <a:pt x="24" y="110"/>
                  <a:pt x="54" y="110"/>
                </a:cubicBezTo>
                <a:cubicBezTo>
                  <a:pt x="84" y="110"/>
                  <a:pt x="109" y="85"/>
                  <a:pt x="109" y="55"/>
                </a:cubicBezTo>
                <a:cubicBezTo>
                  <a:pt x="109" y="25"/>
                  <a:pt x="84" y="0"/>
                  <a:pt x="54" y="0"/>
                </a:cubicBezTo>
              </a:path>
            </a:pathLst>
          </a:custGeom>
          <a:solidFill>
            <a:srgbClr val="F1F0FB"/>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pic>
        <p:nvPicPr>
          <p:cNvPr id="29" name="图片 28" descr="logo"/>
          <p:cNvPicPr>
            <a:picLocks noChangeAspect="1"/>
          </p:cNvPicPr>
          <p:nvPr userDrawn="1"/>
        </p:nvPicPr>
        <p:blipFill>
          <a:blip r:embed="rId3"/>
          <a:stretch>
            <a:fillRect/>
          </a:stretch>
        </p:blipFill>
        <p:spPr>
          <a:xfrm>
            <a:off x="4186239" y="2744207"/>
            <a:ext cx="3949699" cy="1209008"/>
          </a:xfrm>
          <a:prstGeom prst="rect">
            <a:avLst/>
          </a:prstGeom>
        </p:spPr>
      </p:pic>
      <p:pic>
        <p:nvPicPr>
          <p:cNvPr id="2" name="图形 1">
            <a:extLst>
              <a:ext uri="{FF2B5EF4-FFF2-40B4-BE49-F238E27FC236}">
                <a16:creationId xmlns:a16="http://schemas.microsoft.com/office/drawing/2014/main" id="{1639C0C3-8009-FF59-E0F4-46CB7E9AAC3E}"/>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323420" y="4047801"/>
            <a:ext cx="5783523" cy="278054"/>
          </a:xfrm>
          <a:prstGeom prst="rect">
            <a:avLst/>
          </a:prstGeom>
        </p:spPr>
      </p:pic>
    </p:spTree>
  </p:cSld>
  <p:clrMapOvr>
    <a:overrideClrMapping bg1="lt1" tx1="dk1" bg2="lt2" tx2="dk2" accent1="accent1" accent2="accent2" accent3="accent3" accent4="accent4" accent5="accent5" accent6="accent6" hlink="hlink" folHlink="folHlink"/>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838200" y="6356350"/>
            <a:ext cx="2743200" cy="365125"/>
          </a:xfrm>
        </p:spPr>
        <p:txBody>
          <a:bodyPr/>
          <a:lstStyle/>
          <a:p>
            <a:fld id="{82F288E0-7875-42C4-84C8-98DBBD3BF4D2}" type="datetimeFigureOut">
              <a:rPr lang="zh-CN" altLang="en-US" smtClean="0"/>
              <a:t>2026/3/26</a:t>
            </a:fld>
            <a:endParaRPr lang="zh-CN" altLang="en-US"/>
          </a:p>
        </p:txBody>
      </p:sp>
      <p:sp>
        <p:nvSpPr>
          <p:cNvPr id="3" name="页脚占位符 2"/>
          <p:cNvSpPr>
            <a:spLocks noGrp="1"/>
          </p:cNvSpPr>
          <p:nvPr>
            <p:ph type="ftr" sz="quarter" idx="11"/>
          </p:nvPr>
        </p:nvSpPr>
        <p:spPr>
          <a:xfrm>
            <a:off x="4038600" y="6356350"/>
            <a:ext cx="4114800" cy="365125"/>
          </a:xfrm>
        </p:spPr>
        <p:txBody>
          <a:bodyPr/>
          <a:lstStyle/>
          <a:p>
            <a:endParaRPr lang="zh-CN" altLang="en-US"/>
          </a:p>
        </p:txBody>
      </p:sp>
      <p:sp>
        <p:nvSpPr>
          <p:cNvPr id="4" name="灯片编号占位符 3"/>
          <p:cNvSpPr>
            <a:spLocks noGrp="1"/>
          </p:cNvSpPr>
          <p:nvPr>
            <p:ph type="sldNum" sz="quarter" idx="12"/>
          </p:nvPr>
        </p:nvSpPr>
        <p:spPr>
          <a:xfrm>
            <a:off x="8610600" y="6356350"/>
            <a:ext cx="2743200" cy="365125"/>
          </a:xfrm>
        </p:spPr>
        <p:txBody>
          <a:bodyPr/>
          <a:lstStyle/>
          <a:p>
            <a:fld id="{7D9BB5D0-35E4-459D-AEF3-FE4D7C45CC19}"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image" Target="../media/image5.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image" Target="../media/image4.sv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image" Target="../media/image3.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image" Target="../media/image1.png"/><Relationship Id="rId35" Type="http://schemas.openxmlformats.org/officeDocument/2006/relationships/image" Target="../media/image6.svg"/><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41.xml"/><Relationship Id="rId18" Type="http://schemas.openxmlformats.org/officeDocument/2006/relationships/slideLayout" Target="../slideLayouts/slideLayout46.xml"/><Relationship Id="rId26" Type="http://schemas.openxmlformats.org/officeDocument/2006/relationships/slideLayout" Target="../slideLayouts/slideLayout54.xml"/><Relationship Id="rId3" Type="http://schemas.openxmlformats.org/officeDocument/2006/relationships/slideLayout" Target="../slideLayouts/slideLayout31.xml"/><Relationship Id="rId21" Type="http://schemas.openxmlformats.org/officeDocument/2006/relationships/slideLayout" Target="../slideLayouts/slideLayout49.xml"/><Relationship Id="rId34" Type="http://schemas.openxmlformats.org/officeDocument/2006/relationships/image" Target="../media/image4.svg"/><Relationship Id="rId7" Type="http://schemas.openxmlformats.org/officeDocument/2006/relationships/slideLayout" Target="../slideLayouts/slideLayout35.xml"/><Relationship Id="rId12" Type="http://schemas.openxmlformats.org/officeDocument/2006/relationships/slideLayout" Target="../slideLayouts/slideLayout40.xml"/><Relationship Id="rId17" Type="http://schemas.openxmlformats.org/officeDocument/2006/relationships/slideLayout" Target="../slideLayouts/slideLayout45.xml"/><Relationship Id="rId25" Type="http://schemas.openxmlformats.org/officeDocument/2006/relationships/slideLayout" Target="../slideLayouts/slideLayout53.xml"/><Relationship Id="rId33" Type="http://schemas.openxmlformats.org/officeDocument/2006/relationships/image" Target="../media/image3.png"/><Relationship Id="rId2" Type="http://schemas.openxmlformats.org/officeDocument/2006/relationships/slideLayout" Target="../slideLayouts/slideLayout30.xml"/><Relationship Id="rId16" Type="http://schemas.openxmlformats.org/officeDocument/2006/relationships/slideLayout" Target="../slideLayouts/slideLayout44.xml"/><Relationship Id="rId20" Type="http://schemas.openxmlformats.org/officeDocument/2006/relationships/slideLayout" Target="../slideLayouts/slideLayout48.xml"/><Relationship Id="rId29" Type="http://schemas.openxmlformats.org/officeDocument/2006/relationships/slideLayout" Target="../slideLayouts/slideLayout57.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24" Type="http://schemas.openxmlformats.org/officeDocument/2006/relationships/slideLayout" Target="../slideLayouts/slideLayout52.xml"/><Relationship Id="rId32" Type="http://schemas.openxmlformats.org/officeDocument/2006/relationships/image" Target="../media/image2.png"/><Relationship Id="rId5" Type="http://schemas.openxmlformats.org/officeDocument/2006/relationships/slideLayout" Target="../slideLayouts/slideLayout33.xml"/><Relationship Id="rId15" Type="http://schemas.openxmlformats.org/officeDocument/2006/relationships/slideLayout" Target="../slideLayouts/slideLayout43.xml"/><Relationship Id="rId23" Type="http://schemas.openxmlformats.org/officeDocument/2006/relationships/slideLayout" Target="../slideLayouts/slideLayout51.xml"/><Relationship Id="rId28" Type="http://schemas.openxmlformats.org/officeDocument/2006/relationships/slideLayout" Target="../slideLayouts/slideLayout56.xml"/><Relationship Id="rId36" Type="http://schemas.openxmlformats.org/officeDocument/2006/relationships/image" Target="../media/image6.svg"/><Relationship Id="rId10" Type="http://schemas.openxmlformats.org/officeDocument/2006/relationships/slideLayout" Target="../slideLayouts/slideLayout38.xml"/><Relationship Id="rId19" Type="http://schemas.openxmlformats.org/officeDocument/2006/relationships/slideLayout" Target="../slideLayouts/slideLayout47.xml"/><Relationship Id="rId31" Type="http://schemas.openxmlformats.org/officeDocument/2006/relationships/image" Target="../media/image1.png"/><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slideLayout" Target="../slideLayouts/slideLayout42.xml"/><Relationship Id="rId22" Type="http://schemas.openxmlformats.org/officeDocument/2006/relationships/slideLayout" Target="../slideLayouts/slideLayout50.xml"/><Relationship Id="rId27" Type="http://schemas.openxmlformats.org/officeDocument/2006/relationships/slideLayout" Target="../slideLayouts/slideLayout55.xml"/><Relationship Id="rId30" Type="http://schemas.openxmlformats.org/officeDocument/2006/relationships/theme" Target="../theme/theme2.xml"/><Relationship Id="rId35" Type="http://schemas.openxmlformats.org/officeDocument/2006/relationships/image" Target="../media/image5.png"/><Relationship Id="rId8" Type="http://schemas.openxmlformats.org/officeDocument/2006/relationships/slideLayout" Target="../slideLayouts/slideLayout36.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70.xml"/><Relationship Id="rId18" Type="http://schemas.openxmlformats.org/officeDocument/2006/relationships/slideLayout" Target="../slideLayouts/slideLayout75.xml"/><Relationship Id="rId26" Type="http://schemas.openxmlformats.org/officeDocument/2006/relationships/slideLayout" Target="../slideLayouts/slideLayout83.xml"/><Relationship Id="rId3" Type="http://schemas.openxmlformats.org/officeDocument/2006/relationships/slideLayout" Target="../slideLayouts/slideLayout60.xml"/><Relationship Id="rId21" Type="http://schemas.openxmlformats.org/officeDocument/2006/relationships/slideLayout" Target="../slideLayouts/slideLayout78.xml"/><Relationship Id="rId34" Type="http://schemas.openxmlformats.org/officeDocument/2006/relationships/image" Target="../media/image4.svg"/><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5" Type="http://schemas.openxmlformats.org/officeDocument/2006/relationships/slideLayout" Target="../slideLayouts/slideLayout82.xml"/><Relationship Id="rId33" Type="http://schemas.openxmlformats.org/officeDocument/2006/relationships/image" Target="../media/image3.png"/><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slideLayout" Target="../slideLayouts/slideLayout77.xml"/><Relationship Id="rId29" Type="http://schemas.openxmlformats.org/officeDocument/2006/relationships/slideLayout" Target="../slideLayouts/slideLayout86.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24" Type="http://schemas.openxmlformats.org/officeDocument/2006/relationships/slideLayout" Target="../slideLayouts/slideLayout81.xml"/><Relationship Id="rId32" Type="http://schemas.openxmlformats.org/officeDocument/2006/relationships/image" Target="../media/image2.png"/><Relationship Id="rId5" Type="http://schemas.openxmlformats.org/officeDocument/2006/relationships/slideLayout" Target="../slideLayouts/slideLayout62.xml"/><Relationship Id="rId15" Type="http://schemas.openxmlformats.org/officeDocument/2006/relationships/slideLayout" Target="../slideLayouts/slideLayout72.xml"/><Relationship Id="rId23" Type="http://schemas.openxmlformats.org/officeDocument/2006/relationships/slideLayout" Target="../slideLayouts/slideLayout80.xml"/><Relationship Id="rId28" Type="http://schemas.openxmlformats.org/officeDocument/2006/relationships/slideLayout" Target="../slideLayouts/slideLayout85.xml"/><Relationship Id="rId36" Type="http://schemas.openxmlformats.org/officeDocument/2006/relationships/image" Target="../media/image6.svg"/><Relationship Id="rId10" Type="http://schemas.openxmlformats.org/officeDocument/2006/relationships/slideLayout" Target="../slideLayouts/slideLayout67.xml"/><Relationship Id="rId19" Type="http://schemas.openxmlformats.org/officeDocument/2006/relationships/slideLayout" Target="../slideLayouts/slideLayout76.xml"/><Relationship Id="rId31" Type="http://schemas.openxmlformats.org/officeDocument/2006/relationships/image" Target="../media/image1.png"/><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 Id="rId22" Type="http://schemas.openxmlformats.org/officeDocument/2006/relationships/slideLayout" Target="../slideLayouts/slideLayout79.xml"/><Relationship Id="rId27" Type="http://schemas.openxmlformats.org/officeDocument/2006/relationships/slideLayout" Target="../slideLayouts/slideLayout84.xml"/><Relationship Id="rId30" Type="http://schemas.openxmlformats.org/officeDocument/2006/relationships/theme" Target="../theme/theme3.xml"/><Relationship Id="rId35" Type="http://schemas.openxmlformats.org/officeDocument/2006/relationships/image" Target="../media/image5.png"/><Relationship Id="rId8" Type="http://schemas.openxmlformats.org/officeDocument/2006/relationships/slideLayout" Target="../slideLayouts/slideLayout65.xml"/></Relationships>
</file>

<file path=ppt/slideMasters/_rels/slideMaster4.xml.rels><?xml version="1.0" encoding="UTF-8" standalone="yes"?>
<Relationships xmlns="http://schemas.openxmlformats.org/package/2006/relationships"><Relationship Id="rId13" Type="http://schemas.openxmlformats.org/officeDocument/2006/relationships/slideLayout" Target="../slideLayouts/slideLayout99.xml"/><Relationship Id="rId18" Type="http://schemas.openxmlformats.org/officeDocument/2006/relationships/slideLayout" Target="../slideLayouts/slideLayout104.xml"/><Relationship Id="rId26" Type="http://schemas.openxmlformats.org/officeDocument/2006/relationships/slideLayout" Target="../slideLayouts/slideLayout112.xml"/><Relationship Id="rId3" Type="http://schemas.openxmlformats.org/officeDocument/2006/relationships/slideLayout" Target="../slideLayouts/slideLayout89.xml"/><Relationship Id="rId21" Type="http://schemas.openxmlformats.org/officeDocument/2006/relationships/slideLayout" Target="../slideLayouts/slideLayout107.xml"/><Relationship Id="rId34" Type="http://schemas.openxmlformats.org/officeDocument/2006/relationships/image" Target="../media/image4.svg"/><Relationship Id="rId7" Type="http://schemas.openxmlformats.org/officeDocument/2006/relationships/slideLayout" Target="../slideLayouts/slideLayout93.xml"/><Relationship Id="rId12" Type="http://schemas.openxmlformats.org/officeDocument/2006/relationships/slideLayout" Target="../slideLayouts/slideLayout98.xml"/><Relationship Id="rId17" Type="http://schemas.openxmlformats.org/officeDocument/2006/relationships/slideLayout" Target="../slideLayouts/slideLayout103.xml"/><Relationship Id="rId25" Type="http://schemas.openxmlformats.org/officeDocument/2006/relationships/slideLayout" Target="../slideLayouts/slideLayout111.xml"/><Relationship Id="rId33" Type="http://schemas.openxmlformats.org/officeDocument/2006/relationships/image" Target="../media/image3.png"/><Relationship Id="rId2" Type="http://schemas.openxmlformats.org/officeDocument/2006/relationships/slideLayout" Target="../slideLayouts/slideLayout88.xml"/><Relationship Id="rId16" Type="http://schemas.openxmlformats.org/officeDocument/2006/relationships/slideLayout" Target="../slideLayouts/slideLayout102.xml"/><Relationship Id="rId20" Type="http://schemas.openxmlformats.org/officeDocument/2006/relationships/slideLayout" Target="../slideLayouts/slideLayout106.xml"/><Relationship Id="rId29" Type="http://schemas.openxmlformats.org/officeDocument/2006/relationships/slideLayout" Target="../slideLayouts/slideLayout115.xml"/><Relationship Id="rId1" Type="http://schemas.openxmlformats.org/officeDocument/2006/relationships/slideLayout" Target="../slideLayouts/slideLayout87.xml"/><Relationship Id="rId6" Type="http://schemas.openxmlformats.org/officeDocument/2006/relationships/slideLayout" Target="../slideLayouts/slideLayout92.xml"/><Relationship Id="rId11" Type="http://schemas.openxmlformats.org/officeDocument/2006/relationships/slideLayout" Target="../slideLayouts/slideLayout97.xml"/><Relationship Id="rId24" Type="http://schemas.openxmlformats.org/officeDocument/2006/relationships/slideLayout" Target="../slideLayouts/slideLayout110.xml"/><Relationship Id="rId32" Type="http://schemas.openxmlformats.org/officeDocument/2006/relationships/image" Target="../media/image2.png"/><Relationship Id="rId5" Type="http://schemas.openxmlformats.org/officeDocument/2006/relationships/slideLayout" Target="../slideLayouts/slideLayout91.xml"/><Relationship Id="rId15" Type="http://schemas.openxmlformats.org/officeDocument/2006/relationships/slideLayout" Target="../slideLayouts/slideLayout101.xml"/><Relationship Id="rId23" Type="http://schemas.openxmlformats.org/officeDocument/2006/relationships/slideLayout" Target="../slideLayouts/slideLayout109.xml"/><Relationship Id="rId28" Type="http://schemas.openxmlformats.org/officeDocument/2006/relationships/slideLayout" Target="../slideLayouts/slideLayout114.xml"/><Relationship Id="rId36" Type="http://schemas.openxmlformats.org/officeDocument/2006/relationships/image" Target="../media/image6.svg"/><Relationship Id="rId10" Type="http://schemas.openxmlformats.org/officeDocument/2006/relationships/slideLayout" Target="../slideLayouts/slideLayout96.xml"/><Relationship Id="rId19" Type="http://schemas.openxmlformats.org/officeDocument/2006/relationships/slideLayout" Target="../slideLayouts/slideLayout105.xml"/><Relationship Id="rId31" Type="http://schemas.openxmlformats.org/officeDocument/2006/relationships/image" Target="../media/image1.png"/><Relationship Id="rId4" Type="http://schemas.openxmlformats.org/officeDocument/2006/relationships/slideLayout" Target="../slideLayouts/slideLayout90.xml"/><Relationship Id="rId9" Type="http://schemas.openxmlformats.org/officeDocument/2006/relationships/slideLayout" Target="../slideLayouts/slideLayout95.xml"/><Relationship Id="rId14" Type="http://schemas.openxmlformats.org/officeDocument/2006/relationships/slideLayout" Target="../slideLayouts/slideLayout100.xml"/><Relationship Id="rId22" Type="http://schemas.openxmlformats.org/officeDocument/2006/relationships/slideLayout" Target="../slideLayouts/slideLayout108.xml"/><Relationship Id="rId27" Type="http://schemas.openxmlformats.org/officeDocument/2006/relationships/slideLayout" Target="../slideLayouts/slideLayout113.xml"/><Relationship Id="rId30" Type="http://schemas.openxmlformats.org/officeDocument/2006/relationships/theme" Target="../theme/theme4.xml"/><Relationship Id="rId35" Type="http://schemas.openxmlformats.org/officeDocument/2006/relationships/image" Target="../media/image5.png"/><Relationship Id="rId8" Type="http://schemas.openxmlformats.org/officeDocument/2006/relationships/slideLayout" Target="../slideLayouts/slideLayout94.xml"/></Relationships>
</file>

<file path=ppt/slideMasters/_rels/slideMaster5.xml.rels><?xml version="1.0" encoding="UTF-8" standalone="yes"?>
<Relationships xmlns="http://schemas.openxmlformats.org/package/2006/relationships"><Relationship Id="rId13" Type="http://schemas.openxmlformats.org/officeDocument/2006/relationships/slideLayout" Target="../slideLayouts/slideLayout128.xml"/><Relationship Id="rId18" Type="http://schemas.openxmlformats.org/officeDocument/2006/relationships/slideLayout" Target="../slideLayouts/slideLayout133.xml"/><Relationship Id="rId26" Type="http://schemas.openxmlformats.org/officeDocument/2006/relationships/slideLayout" Target="../slideLayouts/slideLayout141.xml"/><Relationship Id="rId3" Type="http://schemas.openxmlformats.org/officeDocument/2006/relationships/slideLayout" Target="../slideLayouts/slideLayout118.xml"/><Relationship Id="rId21" Type="http://schemas.openxmlformats.org/officeDocument/2006/relationships/slideLayout" Target="../slideLayouts/slideLayout136.xml"/><Relationship Id="rId34" Type="http://schemas.openxmlformats.org/officeDocument/2006/relationships/image" Target="../media/image5.png"/><Relationship Id="rId7" Type="http://schemas.openxmlformats.org/officeDocument/2006/relationships/slideLayout" Target="../slideLayouts/slideLayout122.xml"/><Relationship Id="rId12" Type="http://schemas.openxmlformats.org/officeDocument/2006/relationships/slideLayout" Target="../slideLayouts/slideLayout127.xml"/><Relationship Id="rId17" Type="http://schemas.openxmlformats.org/officeDocument/2006/relationships/slideLayout" Target="../slideLayouts/slideLayout132.xml"/><Relationship Id="rId25" Type="http://schemas.openxmlformats.org/officeDocument/2006/relationships/slideLayout" Target="../slideLayouts/slideLayout140.xml"/><Relationship Id="rId33" Type="http://schemas.openxmlformats.org/officeDocument/2006/relationships/image" Target="../media/image4.svg"/><Relationship Id="rId2" Type="http://schemas.openxmlformats.org/officeDocument/2006/relationships/slideLayout" Target="../slideLayouts/slideLayout117.xml"/><Relationship Id="rId16" Type="http://schemas.openxmlformats.org/officeDocument/2006/relationships/slideLayout" Target="../slideLayouts/slideLayout131.xml"/><Relationship Id="rId20" Type="http://schemas.openxmlformats.org/officeDocument/2006/relationships/slideLayout" Target="../slideLayouts/slideLayout135.xml"/><Relationship Id="rId29" Type="http://schemas.openxmlformats.org/officeDocument/2006/relationships/theme" Target="../theme/theme5.xml"/><Relationship Id="rId1" Type="http://schemas.openxmlformats.org/officeDocument/2006/relationships/slideLayout" Target="../slideLayouts/slideLayout116.xml"/><Relationship Id="rId6" Type="http://schemas.openxmlformats.org/officeDocument/2006/relationships/slideLayout" Target="../slideLayouts/slideLayout121.xml"/><Relationship Id="rId11" Type="http://schemas.openxmlformats.org/officeDocument/2006/relationships/slideLayout" Target="../slideLayouts/slideLayout126.xml"/><Relationship Id="rId24" Type="http://schemas.openxmlformats.org/officeDocument/2006/relationships/slideLayout" Target="../slideLayouts/slideLayout139.xml"/><Relationship Id="rId32" Type="http://schemas.openxmlformats.org/officeDocument/2006/relationships/image" Target="../media/image3.png"/><Relationship Id="rId5" Type="http://schemas.openxmlformats.org/officeDocument/2006/relationships/slideLayout" Target="../slideLayouts/slideLayout120.xml"/><Relationship Id="rId15" Type="http://schemas.openxmlformats.org/officeDocument/2006/relationships/slideLayout" Target="../slideLayouts/slideLayout130.xml"/><Relationship Id="rId23" Type="http://schemas.openxmlformats.org/officeDocument/2006/relationships/slideLayout" Target="../slideLayouts/slideLayout138.xml"/><Relationship Id="rId28" Type="http://schemas.openxmlformats.org/officeDocument/2006/relationships/slideLayout" Target="../slideLayouts/slideLayout143.xml"/><Relationship Id="rId10" Type="http://schemas.openxmlformats.org/officeDocument/2006/relationships/slideLayout" Target="../slideLayouts/slideLayout125.xml"/><Relationship Id="rId19" Type="http://schemas.openxmlformats.org/officeDocument/2006/relationships/slideLayout" Target="../slideLayouts/slideLayout134.xml"/><Relationship Id="rId31" Type="http://schemas.openxmlformats.org/officeDocument/2006/relationships/image" Target="../media/image2.png"/><Relationship Id="rId4" Type="http://schemas.openxmlformats.org/officeDocument/2006/relationships/slideLayout" Target="../slideLayouts/slideLayout119.xml"/><Relationship Id="rId9" Type="http://schemas.openxmlformats.org/officeDocument/2006/relationships/slideLayout" Target="../slideLayouts/slideLayout124.xml"/><Relationship Id="rId14" Type="http://schemas.openxmlformats.org/officeDocument/2006/relationships/slideLayout" Target="../slideLayouts/slideLayout129.xml"/><Relationship Id="rId22" Type="http://schemas.openxmlformats.org/officeDocument/2006/relationships/slideLayout" Target="../slideLayouts/slideLayout137.xml"/><Relationship Id="rId27" Type="http://schemas.openxmlformats.org/officeDocument/2006/relationships/slideLayout" Target="../slideLayouts/slideLayout142.xml"/><Relationship Id="rId30" Type="http://schemas.openxmlformats.org/officeDocument/2006/relationships/image" Target="../media/image1.png"/><Relationship Id="rId35" Type="http://schemas.openxmlformats.org/officeDocument/2006/relationships/image" Target="../media/image6.svg"/><Relationship Id="rId8" Type="http://schemas.openxmlformats.org/officeDocument/2006/relationships/slideLayout" Target="../slideLayouts/slideLayout12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0"/>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2">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1EE5598D-4247-D88A-4EF7-CF7C3F783AEE}"/>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3D25BD65-FCEC-4006-81F1-BAD1E21B8222}"/>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 id="214748370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646D1913-F208-4140-D71C-180ACB4EBF5F}"/>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 id="2147483728" r:id="rId20"/>
    <p:sldLayoutId id="2147483729" r:id="rId21"/>
    <p:sldLayoutId id="2147483730" r:id="rId22"/>
    <p:sldLayoutId id="2147483731" r:id="rId23"/>
    <p:sldLayoutId id="2147483732" r:id="rId24"/>
    <p:sldLayoutId id="2147483733" r:id="rId25"/>
    <p:sldLayoutId id="2147483734" r:id="rId26"/>
    <p:sldLayoutId id="2147483735" r:id="rId27"/>
    <p:sldLayoutId id="2147483736" r:id="rId28"/>
    <p:sldLayoutId id="214748373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1"/>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2"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3">
            <a:extLst>
              <a:ext uri="{28A0092B-C50C-407E-A947-70E740481C1C}">
                <a14:useLocalDpi xmlns:a14="http://schemas.microsoft.com/office/drawing/2010/main" val="0"/>
              </a:ext>
              <a:ext uri="{96DAC541-7B7A-43D3-8B79-37D633B846F1}">
                <asvg:svgBlip xmlns:asvg="http://schemas.microsoft.com/office/drawing/2016/SVG/main" r:embed="rId34"/>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D10211D1-423D-CBD7-1BD8-B9EB8B51D98D}"/>
              </a:ext>
            </a:extLst>
          </p:cNvPr>
          <p:cNvPicPr>
            <a:picLocks noChangeAspect="1"/>
          </p:cNvPicPr>
          <p:nvPr userDrawn="1"/>
        </p:nvPicPr>
        <p:blipFill>
          <a:blip r:embed="rId35">
            <a:extLst>
              <a:ext uri="{28A0092B-C50C-407E-A947-70E740481C1C}">
                <a14:useLocalDpi xmlns:a14="http://schemas.microsoft.com/office/drawing/2010/main" val="0"/>
              </a:ext>
              <a:ext uri="{96DAC541-7B7A-43D3-8B79-37D633B846F1}">
                <asvg:svgBlip xmlns:asvg="http://schemas.microsoft.com/office/drawing/2016/SVG/main" r:embed="rId36"/>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 id="2147483752" r:id="rId14"/>
    <p:sldLayoutId id="2147483753" r:id="rId15"/>
    <p:sldLayoutId id="2147483754" r:id="rId16"/>
    <p:sldLayoutId id="2147483755" r:id="rId17"/>
    <p:sldLayoutId id="2147483756" r:id="rId18"/>
    <p:sldLayoutId id="2147483757" r:id="rId19"/>
    <p:sldLayoutId id="2147483758" r:id="rId20"/>
    <p:sldLayoutId id="2147483759" r:id="rId21"/>
    <p:sldLayoutId id="2147483760" r:id="rId22"/>
    <p:sldLayoutId id="2147483761" r:id="rId23"/>
    <p:sldLayoutId id="2147483762" r:id="rId24"/>
    <p:sldLayoutId id="2147483763" r:id="rId25"/>
    <p:sldLayoutId id="2147483764" r:id="rId26"/>
    <p:sldLayoutId id="2147483765" r:id="rId27"/>
    <p:sldLayoutId id="2147483766" r:id="rId28"/>
    <p:sldLayoutId id="2147483767" r:id="rId29"/>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22926" y="244896"/>
            <a:ext cx="7818803" cy="663574"/>
          </a:xfrm>
          <a:prstGeom prst="rect">
            <a:avLst/>
          </a:prstGeom>
        </p:spPr>
        <p:txBody>
          <a:bodyPr vert="horz" lIns="91440" tIns="45720" rIns="91440" bIns="45720" rtlCol="0" anchor="ctr">
            <a:normAutofit/>
          </a:bodyPr>
          <a:lstStyle/>
          <a:p>
            <a:r>
              <a:rPr lang="zh-CN" altLang="en-US" dirty="0"/>
              <a:t>单击此处编辑标题样式</a:t>
            </a:r>
            <a:endParaRPr lang="en-US" dirty="0"/>
          </a:p>
        </p:txBody>
      </p:sp>
      <p:pic>
        <p:nvPicPr>
          <p:cNvPr id="8" name="图片 7" descr="logo"/>
          <p:cNvPicPr>
            <a:picLocks noChangeAspect="1"/>
          </p:cNvPicPr>
          <p:nvPr userDrawn="1"/>
        </p:nvPicPr>
        <p:blipFill>
          <a:blip r:embed="rId30"/>
          <a:stretch>
            <a:fillRect/>
          </a:stretch>
        </p:blipFill>
        <p:spPr>
          <a:xfrm>
            <a:off x="9831803" y="337230"/>
            <a:ext cx="1989632" cy="609029"/>
          </a:xfrm>
          <a:prstGeom prst="rect">
            <a:avLst/>
          </a:prstGeom>
        </p:spPr>
      </p:pic>
      <p:pic>
        <p:nvPicPr>
          <p:cNvPr id="16" name="图片 15"/>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10207867" y="6411030"/>
            <a:ext cx="1536140" cy="163687"/>
          </a:xfrm>
          <a:prstGeom prst="rect">
            <a:avLst/>
          </a:prstGeom>
        </p:spPr>
      </p:pic>
      <p:pic>
        <p:nvPicPr>
          <p:cNvPr id="5" name="图形 4"/>
          <p:cNvPicPr>
            <a:picLocks noChangeAspect="1"/>
          </p:cNvPicPr>
          <p:nvPr userDrawn="1"/>
        </p:nvPicPr>
        <p:blipFill>
          <a:blip r:embed="rId32">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667004" y="238598"/>
            <a:ext cx="586348" cy="707661"/>
          </a:xfrm>
          <a:prstGeom prst="rect">
            <a:avLst/>
          </a:prstGeom>
        </p:spPr>
      </p:pic>
      <p:pic>
        <p:nvPicPr>
          <p:cNvPr id="3" name="图形 2">
            <a:extLst>
              <a:ext uri="{FF2B5EF4-FFF2-40B4-BE49-F238E27FC236}">
                <a16:creationId xmlns:a16="http://schemas.microsoft.com/office/drawing/2014/main" id="{E9E1C71C-7FE8-FA39-610C-A63F5CE3989E}"/>
              </a:ext>
            </a:extLst>
          </p:cNvPr>
          <p:cNvPicPr>
            <a:picLocks noChangeAspect="1"/>
          </p:cNvPicPr>
          <p:nvPr userDrawn="1"/>
        </p:nvPicPr>
        <p:blipFill>
          <a:blip r:embed="rId34">
            <a:extLst>
              <a:ext uri="{28A0092B-C50C-407E-A947-70E740481C1C}">
                <a14:useLocalDpi xmlns:a14="http://schemas.microsoft.com/office/drawing/2010/main" val="0"/>
              </a:ext>
              <a:ext uri="{96DAC541-7B7A-43D3-8B79-37D633B846F1}">
                <asvg:svgBlip xmlns:asvg="http://schemas.microsoft.com/office/drawing/2016/SVG/main" r:embed="rId35"/>
              </a:ext>
            </a:extLst>
          </a:blip>
          <a:stretch>
            <a:fillRect/>
          </a:stretch>
        </p:blipFill>
        <p:spPr>
          <a:xfrm>
            <a:off x="612961" y="6445516"/>
            <a:ext cx="5662333" cy="205300"/>
          </a:xfrm>
          <a:prstGeom prst="rect">
            <a:avLst/>
          </a:prstGeom>
        </p:spPr>
      </p:pic>
    </p:spTree>
  </p:cSld>
  <p:clrMap bg1="lt1" tx1="dk1" bg2="lt2" tx2="dk2" accent1="accent1" accent2="accent2" accent3="accent3" accent4="accent4" accent5="accent5" accent6="accent6" hlink="hlink" folHlink="folHlink"/>
  <p:sldLayoutIdLst>
    <p:sldLayoutId id="2147483769"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 id="2147483781" r:id="rId12"/>
    <p:sldLayoutId id="2147483782" r:id="rId13"/>
    <p:sldLayoutId id="2147483783" r:id="rId14"/>
    <p:sldLayoutId id="2147483784" r:id="rId15"/>
    <p:sldLayoutId id="2147483785" r:id="rId16"/>
    <p:sldLayoutId id="2147483786" r:id="rId17"/>
    <p:sldLayoutId id="2147483787" r:id="rId18"/>
    <p:sldLayoutId id="2147483788" r:id="rId19"/>
    <p:sldLayoutId id="2147483789" r:id="rId20"/>
    <p:sldLayoutId id="2147483790" r:id="rId21"/>
    <p:sldLayoutId id="2147483791" r:id="rId22"/>
    <p:sldLayoutId id="2147483792" r:id="rId23"/>
    <p:sldLayoutId id="2147483793" r:id="rId24"/>
    <p:sldLayoutId id="2147483794" r:id="rId25"/>
    <p:sldLayoutId id="2147483795" r:id="rId26"/>
    <p:sldLayoutId id="2147483796" r:id="rId27"/>
    <p:sldLayoutId id="2147483797" r:id="rId28"/>
  </p:sldLayoutIdLst>
  <p:hf hdr="0"/>
  <p:txStyles>
    <p:title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0.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60.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0.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0.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60.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0.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6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9.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7.xml"/></Relationships>
</file>

<file path=ppt/slides/_rels/slide31.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p:cNvSpPr>
            <a:spLocks noGrp="1"/>
          </p:cNvSpPr>
          <p:nvPr>
            <p:ph type="body" sz="quarter" idx="16"/>
          </p:nvPr>
        </p:nvSpPr>
        <p:spPr>
          <a:xfrm>
            <a:off x="3386408" y="2737367"/>
            <a:ext cx="5419184" cy="691633"/>
          </a:xfrm>
        </p:spPr>
        <p:txBody>
          <a:bodyPr vert="horz" lIns="91440" tIns="45720" rIns="91440" bIns="45720" rtlCol="0" anchor="ctr">
            <a:noAutofit/>
          </a:bodyPr>
          <a:lstStyle/>
          <a:p>
            <a:pPr algn="ctr" defTabSz="914400">
              <a:lnSpc>
                <a:spcPct val="90000"/>
              </a:lnSpc>
              <a:spcBef>
                <a:spcPct val="0"/>
              </a:spcBef>
            </a:pPr>
            <a:r>
              <a:rPr lang="zh-CN" altLang="en-US" sz="4000" b="1" dirty="0">
                <a:cs typeface="+mj-cs"/>
              </a:rPr>
              <a:t>任职资格评审汇报</a:t>
            </a:r>
          </a:p>
          <a:p>
            <a:pPr defTabSz="914400">
              <a:lnSpc>
                <a:spcPct val="90000"/>
              </a:lnSpc>
              <a:spcBef>
                <a:spcPct val="0"/>
              </a:spcBef>
            </a:pPr>
            <a:endParaRPr lang="zh-CN" altLang="en-US" sz="4000" b="1" dirty="0">
              <a:cs typeface="+mj-cs"/>
            </a:endParaRPr>
          </a:p>
        </p:txBody>
      </p:sp>
      <p:sp>
        <p:nvSpPr>
          <p:cNvPr id="5" name="文本占位符 4"/>
          <p:cNvSpPr>
            <a:spLocks noGrp="1"/>
          </p:cNvSpPr>
          <p:nvPr>
            <p:ph type="body" sz="quarter" idx="17"/>
          </p:nvPr>
        </p:nvSpPr>
        <p:spPr>
          <a:xfrm>
            <a:off x="3521703" y="3748527"/>
            <a:ext cx="5419184" cy="531846"/>
          </a:xfrm>
        </p:spPr>
        <p:txBody>
          <a:bodyPr/>
          <a:lstStyle/>
          <a:p>
            <a:pPr algn="ctr"/>
            <a:r>
              <a:rPr lang="zh-CN" altLang="en-US" dirty="0">
                <a:latin typeface="微软雅黑 Light" panose="020B0502040204020203" pitchFamily="34" charset="-122"/>
                <a:ea typeface="微软雅黑 Light" panose="020B0502040204020203" pitchFamily="34" charset="-122"/>
              </a:rPr>
              <a:t>李世龙</a:t>
            </a:r>
            <a:endParaRPr lang="en-US" altLang="zh-CN" dirty="0">
              <a:latin typeface="微软雅黑 Light" panose="020B0502040204020203" pitchFamily="34" charset="-122"/>
              <a:ea typeface="微软雅黑 Light" panose="020B0502040204020203" pitchFamily="34" charset="-122"/>
            </a:endParaRPr>
          </a:p>
          <a:p>
            <a:pPr algn="ctr"/>
            <a:r>
              <a:rPr lang="zh-CN" altLang="en-US" dirty="0">
                <a:latin typeface="微软雅黑 Light" panose="020B0502040204020203" pitchFamily="34" charset="-122"/>
                <a:ea typeface="微软雅黑 Light" panose="020B0502040204020203" pitchFamily="34" charset="-122"/>
              </a:rPr>
              <a:t>研发三部  </a:t>
            </a:r>
            <a:r>
              <a:rPr lang="en-US" altLang="zh-CN" dirty="0">
                <a:latin typeface="微软雅黑 Light" panose="020B0502040204020203" pitchFamily="34" charset="-122"/>
                <a:ea typeface="微软雅黑 Light" panose="020B0502040204020203" pitchFamily="34" charset="-122"/>
              </a:rPr>
              <a:t>Java</a:t>
            </a:r>
            <a:r>
              <a:rPr lang="zh-CN" altLang="en-US" dirty="0">
                <a:latin typeface="微软雅黑 Light" panose="020B0502040204020203" pitchFamily="34" charset="-122"/>
                <a:ea typeface="微软雅黑 Light" panose="020B0502040204020203" pitchFamily="34" charset="-122"/>
              </a:rPr>
              <a:t>研发工程师</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文本占位符 17"/>
          <p:cNvSpPr>
            <a:spLocks noGrp="1"/>
          </p:cNvSpPr>
          <p:nvPr>
            <p:ph type="body" sz="quarter" idx="4294967295"/>
          </p:nvPr>
        </p:nvSpPr>
        <p:spPr>
          <a:xfrm>
            <a:off x="6377734" y="4759325"/>
            <a:ext cx="4008755" cy="398145"/>
          </a:xfrm>
        </p:spPr>
        <p:txBody>
          <a:body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后续工作的规划/展望</a:t>
            </a:r>
          </a:p>
        </p:txBody>
      </p:sp>
      <p:sp>
        <p:nvSpPr>
          <p:cNvPr id="8" name="文本占位符 17"/>
          <p:cNvSpPr>
            <a:spLocks noGrp="1"/>
          </p:cNvSpPr>
          <p:nvPr/>
        </p:nvSpPr>
        <p:spPr>
          <a:xfrm>
            <a:off x="6377099" y="6157191"/>
            <a:ext cx="4008943" cy="39798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kern="1200">
                <a:solidFill>
                  <a:srgbClr val="383736"/>
                </a:solidFill>
                <a:latin typeface="思源黑体 CN Normal" panose="020B0400000000000000" pitchFamily="34" charset="-128"/>
                <a:ea typeface="思源黑体 CN Normal" panose="020B04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zh-CN" altLang="en-US" sz="2000">
              <a:ea typeface="宋体" panose="02010600030101010101" pitchFamily="2" charset="-122"/>
            </a:endParaRPr>
          </a:p>
        </p:txBody>
      </p:sp>
      <p:sp>
        <p:nvSpPr>
          <p:cNvPr id="9" name="文本占位符 17"/>
          <p:cNvSpPr>
            <a:spLocks noGrp="1"/>
          </p:cNvSpPr>
          <p:nvPr/>
        </p:nvSpPr>
        <p:spPr>
          <a:xfrm>
            <a:off x="6376911" y="5987415"/>
            <a:ext cx="4008943" cy="39751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200" b="1" kern="1200">
                <a:solidFill>
                  <a:srgbClr val="383736"/>
                </a:solidFill>
                <a:latin typeface="思源黑体 CN Normal" panose="020B0400000000000000" pitchFamily="34" charset="-128"/>
                <a:ea typeface="思源黑体 CN Normal" panose="020B0400000000000000"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FontTx/>
            </a:pPr>
            <a:r>
              <a:rPr lang="zh-CN" altLang="en-US" sz="2200" dirty="0">
                <a:cs typeface="+mj-cs"/>
              </a:rPr>
              <a:t>对公司和部门的意见和建议</a:t>
            </a:r>
          </a:p>
          <a:p>
            <a:endParaRPr lang="zh-CN" altLang="en-US" sz="1400" dirty="0">
              <a:ea typeface="宋体" panose="02010600030101010101" pitchFamily="2" charset="-122"/>
            </a:endParaRPr>
          </a:p>
        </p:txBody>
      </p:sp>
      <p:cxnSp>
        <p:nvCxnSpPr>
          <p:cNvPr id="2" name="直接连接符 18"/>
          <p:cNvCxnSpPr/>
          <p:nvPr userDrawn="1"/>
        </p:nvCxnSpPr>
        <p:spPr>
          <a:xfrm flipH="1">
            <a:off x="1214686" y="2921337"/>
            <a:ext cx="757737"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19"/>
          <p:cNvCxnSpPr/>
          <p:nvPr userDrawn="1"/>
        </p:nvCxnSpPr>
        <p:spPr>
          <a:xfrm>
            <a:off x="2086723" y="3721614"/>
            <a:ext cx="1800200" cy="0"/>
          </a:xfrm>
          <a:prstGeom prst="line">
            <a:avLst/>
          </a:prstGeom>
          <a:ln w="22225">
            <a:solidFill>
              <a:schemeClr val="tx2">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39" name="文本占位符 30"/>
          <p:cNvSpPr>
            <a:spLocks noGrp="1"/>
          </p:cNvSpPr>
          <p:nvPr/>
        </p:nvSpPr>
        <p:spPr>
          <a:xfrm>
            <a:off x="2055101" y="3115905"/>
            <a:ext cx="1831822" cy="451980"/>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2800" b="1">
                <a:solidFill>
                  <a:srgbClr val="383736"/>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zh-CN" altLang="en-US" dirty="0"/>
              <a:t>目录</a:t>
            </a:r>
          </a:p>
        </p:txBody>
      </p:sp>
      <p:grpSp>
        <p:nvGrpSpPr>
          <p:cNvPr id="46" name="组合 45"/>
          <p:cNvGrpSpPr/>
          <p:nvPr/>
        </p:nvGrpSpPr>
        <p:grpSpPr>
          <a:xfrm>
            <a:off x="5177790" y="843915"/>
            <a:ext cx="814070" cy="814070"/>
            <a:chOff x="6984" y="1839"/>
            <a:chExt cx="1282" cy="1282"/>
          </a:xfrm>
        </p:grpSpPr>
        <p:sp>
          <p:nvSpPr>
            <p:cNvPr id="10" name="iṣ1idé"/>
            <p:cNvSpPr/>
            <p:nvPr userDrawn="1"/>
          </p:nvSpPr>
          <p:spPr bwMode="auto">
            <a:xfrm>
              <a:off x="6984" y="1839"/>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8" name="文本占位符 30"/>
            <p:cNvSpPr>
              <a:spLocks noGrp="1"/>
            </p:cNvSpPr>
            <p:nvPr/>
          </p:nvSpPr>
          <p:spPr>
            <a:xfrm>
              <a:off x="7371" y="2255"/>
              <a:ext cx="510" cy="472"/>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1</a:t>
              </a:r>
              <a:endParaRPr kumimoji="1" lang="zh-CN" altLang="en-US" dirty="0"/>
            </a:p>
          </p:txBody>
        </p:sp>
      </p:grpSp>
      <p:grpSp>
        <p:nvGrpSpPr>
          <p:cNvPr id="47" name="组合 46"/>
          <p:cNvGrpSpPr/>
          <p:nvPr/>
        </p:nvGrpSpPr>
        <p:grpSpPr>
          <a:xfrm>
            <a:off x="5196205" y="2084070"/>
            <a:ext cx="814070" cy="814070"/>
            <a:chOff x="7013" y="3748"/>
            <a:chExt cx="1282" cy="1282"/>
          </a:xfrm>
        </p:grpSpPr>
        <p:sp>
          <p:nvSpPr>
            <p:cNvPr id="25" name="ïṣlídé"/>
            <p:cNvSpPr/>
            <p:nvPr userDrawn="1"/>
          </p:nvSpPr>
          <p:spPr bwMode="auto">
            <a:xfrm>
              <a:off x="7013" y="3748"/>
              <a:ext cx="1282" cy="128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29" name="文本占位符 30"/>
            <p:cNvSpPr>
              <a:spLocks noGrp="1"/>
            </p:cNvSpPr>
            <p:nvPr/>
          </p:nvSpPr>
          <p:spPr>
            <a:xfrm>
              <a:off x="7407" y="4192"/>
              <a:ext cx="510" cy="535"/>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2</a:t>
              </a:r>
              <a:endParaRPr kumimoji="1" lang="zh-CN" altLang="en-US" dirty="0"/>
            </a:p>
          </p:txBody>
        </p:sp>
      </p:grpSp>
      <p:grpSp>
        <p:nvGrpSpPr>
          <p:cNvPr id="48" name="组合 47"/>
          <p:cNvGrpSpPr/>
          <p:nvPr/>
        </p:nvGrpSpPr>
        <p:grpSpPr>
          <a:xfrm>
            <a:off x="5196205" y="3324225"/>
            <a:ext cx="814070" cy="814070"/>
            <a:chOff x="7013" y="5657"/>
            <a:chExt cx="1282" cy="1282"/>
          </a:xfrm>
        </p:grpSpPr>
        <p:sp>
          <p:nvSpPr>
            <p:cNvPr id="27" name="ïṥlíḋe"/>
            <p:cNvSpPr/>
            <p:nvPr userDrawn="1"/>
          </p:nvSpPr>
          <p:spPr bwMode="auto">
            <a:xfrm>
              <a:off x="7013" y="5657"/>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30" name="文本占位符 30"/>
            <p:cNvSpPr>
              <a:spLocks noGrp="1"/>
            </p:cNvSpPr>
            <p:nvPr/>
          </p:nvSpPr>
          <p:spPr>
            <a:xfrm>
              <a:off x="7393" y="6055"/>
              <a:ext cx="510" cy="5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3</a:t>
              </a:r>
              <a:endParaRPr kumimoji="1" lang="zh-CN" altLang="en-US" dirty="0"/>
            </a:p>
          </p:txBody>
        </p:sp>
      </p:grpSp>
      <p:grpSp>
        <p:nvGrpSpPr>
          <p:cNvPr id="49" name="组合 48"/>
          <p:cNvGrpSpPr/>
          <p:nvPr/>
        </p:nvGrpSpPr>
        <p:grpSpPr>
          <a:xfrm>
            <a:off x="5177790" y="4564380"/>
            <a:ext cx="814070" cy="814070"/>
            <a:chOff x="6984" y="7483"/>
            <a:chExt cx="1282" cy="1282"/>
          </a:xfrm>
        </p:grpSpPr>
        <p:sp>
          <p:nvSpPr>
            <p:cNvPr id="24" name="îslïdè"/>
            <p:cNvSpPr/>
            <p:nvPr userDrawn="1"/>
          </p:nvSpPr>
          <p:spPr bwMode="auto">
            <a:xfrm>
              <a:off x="6984" y="7483"/>
              <a:ext cx="1282" cy="1282"/>
            </a:xfrm>
            <a:prstGeom prst="diamond">
              <a:avLst/>
            </a:prstGeom>
            <a:solidFill>
              <a:schemeClr val="bg1">
                <a:lumMod val="50000"/>
              </a:schemeClr>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lumMod val="100000"/>
                  </a:schemeClr>
                </a:solidFill>
                <a:latin typeface="思源黑体 CN Normal" panose="020B0400000000000000" pitchFamily="34" charset="-128"/>
                <a:ea typeface="思源黑体 CN Normal" panose="020B0400000000000000" pitchFamily="34" charset="-128"/>
              </a:endParaRPr>
            </a:p>
          </p:txBody>
        </p:sp>
        <p:sp>
          <p:nvSpPr>
            <p:cNvPr id="31" name="文本占位符 30"/>
            <p:cNvSpPr>
              <a:spLocks noGrp="1"/>
            </p:cNvSpPr>
            <p:nvPr/>
          </p:nvSpPr>
          <p:spPr>
            <a:xfrm>
              <a:off x="7373" y="7905"/>
              <a:ext cx="510" cy="51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4</a:t>
              </a:r>
              <a:endParaRPr kumimoji="1" lang="zh-CN" altLang="en-US" dirty="0"/>
            </a:p>
          </p:txBody>
        </p:sp>
      </p:grpSp>
      <p:grpSp>
        <p:nvGrpSpPr>
          <p:cNvPr id="50" name="组合 49"/>
          <p:cNvGrpSpPr/>
          <p:nvPr/>
        </p:nvGrpSpPr>
        <p:grpSpPr>
          <a:xfrm>
            <a:off x="5201285" y="5804535"/>
            <a:ext cx="814070" cy="814070"/>
            <a:chOff x="7021" y="9081"/>
            <a:chExt cx="1282" cy="1282"/>
          </a:xfrm>
        </p:grpSpPr>
        <p:sp>
          <p:nvSpPr>
            <p:cNvPr id="34" name="ïṥlíḋe"/>
            <p:cNvSpPr/>
            <p:nvPr userDrawn="1"/>
          </p:nvSpPr>
          <p:spPr bwMode="auto">
            <a:xfrm>
              <a:off x="7021" y="9081"/>
              <a:ext cx="1282" cy="1282"/>
            </a:xfrm>
            <a:prstGeom prst="diamond">
              <a:avLst/>
            </a:prstGeom>
            <a:solidFill>
              <a:srgbClr val="154996"/>
            </a:solidFill>
            <a:ln w="19050">
              <a:noFill/>
              <a:round/>
            </a:ln>
          </p:spPr>
          <p:txBody>
            <a:bodyPr rot="0" spcFirstLastPara="0" vert="horz" wrap="square" lIns="91440" tIns="45720" rIns="91440" bIns="45720" anchor="ctr" anchorCtr="1" forceAA="0" compatLnSpc="1">
              <a:normAutofit/>
            </a:bodyPr>
            <a:lstStyle/>
            <a:p>
              <a:pPr algn="ctr"/>
              <a:endParaRPr lang="en-US" altLang="zh-CN" sz="1600" b="1" dirty="0">
                <a:solidFill>
                  <a:schemeClr val="bg1"/>
                </a:solidFill>
                <a:latin typeface="思源黑体 CN Normal" panose="020B0400000000000000" pitchFamily="34" charset="-128"/>
                <a:ea typeface="思源黑体 CN Normal" panose="020B0400000000000000" pitchFamily="34" charset="-128"/>
              </a:endParaRPr>
            </a:p>
          </p:txBody>
        </p:sp>
        <p:sp>
          <p:nvSpPr>
            <p:cNvPr id="35" name="文本占位符 30"/>
            <p:cNvSpPr>
              <a:spLocks noGrp="1"/>
            </p:cNvSpPr>
            <p:nvPr/>
          </p:nvSpPr>
          <p:spPr>
            <a:xfrm>
              <a:off x="7401" y="9479"/>
              <a:ext cx="510" cy="516"/>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sz="1600" b="1">
                  <a:solidFill>
                    <a:schemeClr val="bg1"/>
                  </a:solidFill>
                  <a:latin typeface="思源黑体 CN Normal" panose="020B0400000000000000" pitchFamily="34" charset="-128"/>
                  <a:ea typeface="思源黑体 CN Normal" panose="020B0400000000000000" pitchFamily="34" charset="-128"/>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1" lang="en-US" altLang="zh-CN" dirty="0"/>
                <a:t>5</a:t>
              </a:r>
              <a:endParaRPr kumimoji="1" lang="zh-CN" altLang="en-US" dirty="0"/>
            </a:p>
          </p:txBody>
        </p:sp>
      </p:grpSp>
      <p:sp>
        <p:nvSpPr>
          <p:cNvPr id="38" name="文本占位符 15"/>
          <p:cNvSpPr>
            <a:spLocks noGrp="1"/>
          </p:cNvSpPr>
          <p:nvPr/>
        </p:nvSpPr>
        <p:spPr>
          <a:xfrm>
            <a:off x="6377099" y="3600370"/>
            <a:ext cx="4008755" cy="397510"/>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入职后的工作内容</a:t>
            </a:r>
          </a:p>
        </p:txBody>
      </p:sp>
      <p:sp>
        <p:nvSpPr>
          <p:cNvPr id="40" name="标题 10"/>
          <p:cNvSpPr>
            <a:spLocks noGrp="1"/>
          </p:cNvSpPr>
          <p:nvPr/>
        </p:nvSpPr>
        <p:spPr>
          <a:xfrm>
            <a:off x="6377099" y="1066482"/>
            <a:ext cx="4009390" cy="36893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2800" kern="1200">
                <a:solidFill>
                  <a:srgbClr val="383736"/>
                </a:solidFill>
                <a:latin typeface="思源黑体 CN Normal" panose="020B0400000000000000" pitchFamily="34" charset="-128"/>
                <a:ea typeface="思源黑体 CN Normal" panose="020B0400000000000000" pitchFamily="34" charset="-128"/>
                <a:cs typeface="+mj-cs"/>
              </a:defRPr>
            </a:lvl1pPr>
          </a:lstStyle>
          <a:p>
            <a:pPr algn="l">
              <a:buClrTx/>
              <a:buSzTx/>
              <a:buFontTx/>
            </a:pPr>
            <a:r>
              <a:rPr lang="zh-CN" altLang="en-US" sz="2200" b="1" dirty="0"/>
              <a:t>自我介绍</a:t>
            </a:r>
          </a:p>
        </p:txBody>
      </p:sp>
      <p:sp>
        <p:nvSpPr>
          <p:cNvPr id="41" name="文本占位符 13"/>
          <p:cNvSpPr>
            <a:spLocks noGrp="1"/>
          </p:cNvSpPr>
          <p:nvPr/>
        </p:nvSpPr>
        <p:spPr>
          <a:xfrm>
            <a:off x="6260465" y="2384266"/>
            <a:ext cx="4008755" cy="398145"/>
          </a:xfr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algn="l">
              <a:buClrTx/>
              <a:buSzTx/>
              <a:buFontTx/>
              <a:buNone/>
            </a:pPr>
            <a:r>
              <a:rPr lang="zh-CN" altLang="en-US" sz="2200" b="1" dirty="0">
                <a:solidFill>
                  <a:srgbClr val="383736"/>
                </a:solidFill>
                <a:latin typeface="思源黑体 CN Normal" panose="020B0400000000000000" pitchFamily="34" charset="-128"/>
                <a:ea typeface="思源黑体 CN Normal" panose="020B0400000000000000" pitchFamily="34" charset="-128"/>
                <a:cs typeface="+mj-cs"/>
              </a:rPr>
              <a:t>入职前的工作经历</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1</a:t>
            </a:r>
            <a:r>
              <a:rPr lang="zh-CN" altLang="en-US" dirty="0">
                <a:sym typeface="+mn-ea"/>
              </a:rPr>
              <a:t>、自我介绍</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3</a:t>
            </a:fld>
            <a:endParaRPr lang="zh-CN" altLang="en-US"/>
          </a:p>
        </p:txBody>
      </p:sp>
      <p:sp>
        <p:nvSpPr>
          <p:cNvPr id="6" name="文本框 5">
            <a:extLst>
              <a:ext uri="{FF2B5EF4-FFF2-40B4-BE49-F238E27FC236}">
                <a16:creationId xmlns:a16="http://schemas.microsoft.com/office/drawing/2014/main" id="{0842C924-2B2F-43AC-B37E-A95A47E575A2}"/>
              </a:ext>
            </a:extLst>
          </p:cNvPr>
          <p:cNvSpPr txBox="1"/>
          <p:nvPr/>
        </p:nvSpPr>
        <p:spPr>
          <a:xfrm>
            <a:off x="1962118" y="1174799"/>
            <a:ext cx="7703977" cy="4524315"/>
          </a:xfrm>
          <a:prstGeom prst="rect">
            <a:avLst/>
          </a:prstGeom>
          <a:noFill/>
        </p:spPr>
        <p:txBody>
          <a:bodyPr wrap="square">
            <a:spAutoFit/>
          </a:bodyPr>
          <a:lstStyle/>
          <a:p>
            <a:r>
              <a:rPr lang="zh-CN" altLang="en-US" sz="1800" b="1" dirty="0"/>
              <a:t>李世龙                         </a:t>
            </a:r>
            <a:r>
              <a:rPr lang="en-US" altLang="zh-CN" sz="1800" b="1" dirty="0"/>
              <a:t>26</a:t>
            </a:r>
            <a:r>
              <a:rPr lang="zh-CN" altLang="en-US" sz="1800" b="1" dirty="0"/>
              <a:t>岁                   本科              湖南农业大学（</a:t>
            </a:r>
            <a:r>
              <a:rPr lang="en-US" altLang="zh-CN" sz="1800" b="1" dirty="0"/>
              <a:t>2017-2021</a:t>
            </a:r>
            <a:r>
              <a:rPr lang="zh-CN" altLang="en-US" sz="1800" b="1" dirty="0"/>
              <a:t>）</a:t>
            </a:r>
            <a:endParaRPr lang="en-US" altLang="zh-CN" sz="1800" b="1" dirty="0"/>
          </a:p>
          <a:p>
            <a:endParaRPr lang="en-US" altLang="zh-CN" b="1" dirty="0"/>
          </a:p>
          <a:p>
            <a:r>
              <a:rPr lang="en-US" altLang="zh-CN" sz="1600" b="1" dirty="0"/>
              <a:t>Java</a:t>
            </a:r>
            <a:r>
              <a:rPr lang="zh-CN" altLang="en-US" sz="1600" b="1" dirty="0"/>
              <a:t>基础</a:t>
            </a:r>
            <a:r>
              <a:rPr lang="zh-CN" altLang="en-US" sz="1800" b="1" dirty="0"/>
              <a:t>：</a:t>
            </a:r>
            <a:endParaRPr lang="en-US" altLang="zh-CN" sz="1800" b="1" dirty="0"/>
          </a:p>
          <a:p>
            <a:r>
              <a:rPr lang="en-US" altLang="zh-CN" sz="1400" b="1" dirty="0"/>
              <a:t>	</a:t>
            </a:r>
            <a:r>
              <a:rPr lang="zh-CN" altLang="en-US" sz="1400" dirty="0"/>
              <a:t>精通</a:t>
            </a:r>
            <a:r>
              <a:rPr lang="en-US" altLang="zh-CN" sz="1400" dirty="0"/>
              <a:t>Java</a:t>
            </a:r>
            <a:r>
              <a:rPr lang="zh-CN" altLang="en-US" sz="1400" dirty="0"/>
              <a:t>基础，包括但不限于基础语法、集合框架、反射、代理及多线程等。</a:t>
            </a:r>
            <a:endParaRPr lang="en-US" altLang="zh-CN" sz="1400" dirty="0"/>
          </a:p>
          <a:p>
            <a:r>
              <a:rPr lang="en-US" altLang="zh-CN" sz="1400" dirty="0"/>
              <a:t>	</a:t>
            </a:r>
            <a:r>
              <a:rPr lang="zh-CN" altLang="en-US" sz="1400" dirty="0"/>
              <a:t>深度掌握</a:t>
            </a:r>
            <a:r>
              <a:rPr lang="en-US" altLang="zh-CN" sz="1400" dirty="0"/>
              <a:t>JVM</a:t>
            </a:r>
            <a:r>
              <a:rPr lang="zh-CN" altLang="en-US" sz="1400" dirty="0"/>
              <a:t>内部机制，具体涉及内存管理、垃圾收集策略以及类加载流程等。</a:t>
            </a:r>
            <a:endParaRPr lang="en-US" altLang="zh-CN" sz="1400" dirty="0"/>
          </a:p>
          <a:p>
            <a:r>
              <a:rPr lang="en-US" altLang="zh-CN" sz="1400" dirty="0"/>
              <a:t>	</a:t>
            </a:r>
            <a:r>
              <a:rPr lang="zh-CN" altLang="en-US" sz="1400" dirty="0"/>
              <a:t>对相关设计模式有丰富的使用经验，如策略模式，责任链模式等。</a:t>
            </a:r>
            <a:endParaRPr lang="en-US" altLang="zh-CN" sz="1400" dirty="0"/>
          </a:p>
          <a:p>
            <a:r>
              <a:rPr lang="en-US" altLang="zh-CN" sz="1400" b="1" dirty="0"/>
              <a:t>	</a:t>
            </a:r>
            <a:r>
              <a:rPr lang="zh-CN" altLang="en-US" sz="1400" dirty="0"/>
              <a:t>对 </a:t>
            </a:r>
            <a:r>
              <a:rPr lang="en-US" altLang="zh-CN" sz="1400" dirty="0"/>
              <a:t>SpringBoot</a:t>
            </a:r>
            <a:r>
              <a:rPr lang="zh-CN" altLang="en-US" sz="1400" dirty="0"/>
              <a:t>、</a:t>
            </a:r>
            <a:r>
              <a:rPr lang="en-US" altLang="zh-CN" sz="1400" dirty="0"/>
              <a:t>Mybatis</a:t>
            </a:r>
            <a:r>
              <a:rPr lang="zh-CN" altLang="en-US" sz="1400" dirty="0"/>
              <a:t>有深刻理解。熟练使用</a:t>
            </a:r>
            <a:r>
              <a:rPr lang="en-US" altLang="zh-CN" sz="1400" dirty="0"/>
              <a:t>SpringCloud</a:t>
            </a:r>
            <a:r>
              <a:rPr lang="zh-CN" altLang="en-US" sz="1400" dirty="0"/>
              <a:t>及其相关组件。</a:t>
            </a:r>
            <a:endParaRPr lang="en-US" altLang="zh-CN" sz="1400" dirty="0"/>
          </a:p>
          <a:p>
            <a:endParaRPr lang="en-US" altLang="zh-CN" sz="1600" dirty="0"/>
          </a:p>
          <a:p>
            <a:r>
              <a:rPr lang="zh-CN" altLang="en-US" sz="1600" b="1" dirty="0"/>
              <a:t>数据库：</a:t>
            </a:r>
            <a:endParaRPr lang="en-US" altLang="zh-CN" sz="1600" b="1" dirty="0"/>
          </a:p>
          <a:p>
            <a:r>
              <a:rPr lang="en-US" altLang="zh-CN" sz="1600" b="1" dirty="0"/>
              <a:t>	</a:t>
            </a:r>
            <a:r>
              <a:rPr lang="zh-CN" altLang="en-US" sz="1400" dirty="0"/>
              <a:t>深入理解</a:t>
            </a:r>
            <a:r>
              <a:rPr lang="en-US" altLang="zh-CN" sz="1400" dirty="0"/>
              <a:t>Mysql</a:t>
            </a:r>
            <a:r>
              <a:rPr lang="zh-CN" altLang="en-US" sz="1400" dirty="0"/>
              <a:t>及其原理、包括索引优化、锁机制管理及事务处理等。</a:t>
            </a:r>
            <a:endParaRPr lang="en-US" altLang="zh-CN" sz="1400" dirty="0"/>
          </a:p>
          <a:p>
            <a:r>
              <a:rPr lang="en-US" altLang="zh-CN" sz="1400" b="1" dirty="0"/>
              <a:t>	</a:t>
            </a:r>
            <a:r>
              <a:rPr lang="zh-CN" altLang="en-US" sz="1400" dirty="0"/>
              <a:t>拥有丰富的</a:t>
            </a:r>
            <a:r>
              <a:rPr lang="en-US" altLang="zh-CN" sz="1400" dirty="0"/>
              <a:t>SQL </a:t>
            </a:r>
            <a:r>
              <a:rPr lang="zh-CN" altLang="en-US" sz="1400" dirty="0"/>
              <a:t>优化经验</a:t>
            </a:r>
            <a:endParaRPr lang="en-US" altLang="zh-CN" sz="1400" dirty="0"/>
          </a:p>
          <a:p>
            <a:endParaRPr lang="en-US" altLang="zh-CN" dirty="0"/>
          </a:p>
          <a:p>
            <a:r>
              <a:rPr lang="zh-CN" altLang="en-US" sz="1600" b="1" dirty="0"/>
              <a:t>中间件：</a:t>
            </a:r>
            <a:endParaRPr lang="en-US" altLang="zh-CN" sz="1600" b="1" dirty="0"/>
          </a:p>
          <a:p>
            <a:r>
              <a:rPr lang="en-US" altLang="zh-CN" sz="1600" b="1" dirty="0"/>
              <a:t>	</a:t>
            </a:r>
            <a:r>
              <a:rPr lang="en-US" altLang="zh-CN" sz="1600" dirty="0"/>
              <a:t>Redis: </a:t>
            </a:r>
            <a:r>
              <a:rPr lang="zh-CN" altLang="en-US" sz="1400" dirty="0"/>
              <a:t>熟练使用</a:t>
            </a:r>
            <a:r>
              <a:rPr lang="en-US" altLang="zh-CN" sz="1400" dirty="0"/>
              <a:t>Redis</a:t>
            </a:r>
            <a:r>
              <a:rPr lang="zh-CN" altLang="en-US" sz="1400" dirty="0"/>
              <a:t>并且理解工作原理，包括持久化策略、内存优化机制，以及针对缓存穿透、雪崩等问题的解决方案，以及集群模式。</a:t>
            </a:r>
            <a:endParaRPr lang="en-US" altLang="zh-CN" sz="1400" dirty="0"/>
          </a:p>
          <a:p>
            <a:r>
              <a:rPr lang="en-US" altLang="zh-CN" sz="1400" dirty="0"/>
              <a:t>	</a:t>
            </a:r>
            <a:r>
              <a:rPr lang="en-US" altLang="zh-CN" sz="1600" dirty="0"/>
              <a:t>RabbitMQ:</a:t>
            </a:r>
            <a:r>
              <a:rPr lang="zh-CN" altLang="en-US" sz="1400" dirty="0"/>
              <a:t>掌握</a:t>
            </a:r>
            <a:r>
              <a:rPr lang="en-US" altLang="zh-CN" sz="1400" dirty="0"/>
              <a:t>rabbitMQ</a:t>
            </a:r>
            <a:r>
              <a:rPr lang="zh-CN" altLang="en-US" sz="1400" dirty="0"/>
              <a:t>的使用，具备处理消息丢失和重复消费问题的实战经验。</a:t>
            </a:r>
            <a:endParaRPr lang="en-US" altLang="zh-CN" sz="1400" dirty="0"/>
          </a:p>
          <a:p>
            <a:endParaRPr lang="en-US" altLang="zh-CN" sz="1800" dirty="0"/>
          </a:p>
          <a:p>
            <a:endParaRPr lang="zh-CN" altLang="en-US" sz="1800" dirty="0"/>
          </a:p>
        </p:txBody>
      </p:sp>
    </p:spTree>
    <p:extLst>
      <p:ext uri="{BB962C8B-B14F-4D97-AF65-F5344CB8AC3E}">
        <p14:creationId xmlns:p14="http://schemas.microsoft.com/office/powerpoint/2010/main" val="18452445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2</a:t>
            </a:r>
            <a:r>
              <a:rPr lang="zh-CN" altLang="en-US" dirty="0">
                <a:sym typeface="+mn-ea"/>
              </a:rPr>
              <a:t>、工作经历</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4</a:t>
            </a:fld>
            <a:endParaRPr lang="zh-CN" altLang="en-US"/>
          </a:p>
        </p:txBody>
      </p:sp>
      <p:sp>
        <p:nvSpPr>
          <p:cNvPr id="6" name="文本框 5">
            <a:extLst>
              <a:ext uri="{FF2B5EF4-FFF2-40B4-BE49-F238E27FC236}">
                <a16:creationId xmlns:a16="http://schemas.microsoft.com/office/drawing/2014/main" id="{EC205609-58E4-4249-8F4E-6C679E684BF2}"/>
              </a:ext>
            </a:extLst>
          </p:cNvPr>
          <p:cNvSpPr txBox="1"/>
          <p:nvPr/>
        </p:nvSpPr>
        <p:spPr>
          <a:xfrm>
            <a:off x="1458294" y="1006125"/>
            <a:ext cx="9004040" cy="5170646"/>
          </a:xfrm>
          <a:prstGeom prst="rect">
            <a:avLst/>
          </a:prstGeom>
          <a:noFill/>
        </p:spPr>
        <p:txBody>
          <a:bodyPr wrap="square">
            <a:spAutoFit/>
          </a:bodyPr>
          <a:lstStyle/>
          <a:p>
            <a:r>
              <a:rPr lang="en-US" altLang="zh-CN" b="1" dirty="0"/>
              <a:t>1</a:t>
            </a:r>
            <a:r>
              <a:rPr lang="zh-CN" altLang="en-US" b="1" dirty="0"/>
              <a:t>、深圳中软国际科技服务有限公司        </a:t>
            </a:r>
            <a:r>
              <a:rPr lang="en-US" altLang="zh-CN" b="1" dirty="0"/>
              <a:t>Java</a:t>
            </a:r>
            <a:r>
              <a:rPr lang="zh-CN" altLang="en-US" b="1" dirty="0"/>
              <a:t>后端开发工程师                      </a:t>
            </a:r>
            <a:r>
              <a:rPr lang="en-US" altLang="zh-CN" b="1" dirty="0"/>
              <a:t>2024.07-2025.07</a:t>
            </a:r>
          </a:p>
          <a:p>
            <a:endParaRPr lang="en-US" altLang="zh-CN" dirty="0"/>
          </a:p>
          <a:p>
            <a:r>
              <a:rPr lang="en-US" altLang="zh-CN" sz="2000" b="1" dirty="0"/>
              <a:t>	</a:t>
            </a:r>
            <a:r>
              <a:rPr lang="zh-CN" altLang="en-US" sz="1600" b="1" dirty="0"/>
              <a:t>华为知识能力中心</a:t>
            </a:r>
            <a:r>
              <a:rPr lang="en-US" altLang="zh-CN" sz="1600" b="1" dirty="0"/>
              <a:t>——</a:t>
            </a:r>
            <a:r>
              <a:rPr lang="zh-CN" altLang="en-US" sz="1600" b="1" dirty="0"/>
              <a:t>知识库：</a:t>
            </a:r>
            <a:r>
              <a:rPr lang="zh-CN" altLang="en-US" sz="1400" dirty="0"/>
              <a:t>为全球一线服务人员、消费者、提供终端产品信息、服务、维修指导等领域知 识。一线服务人员可通过知识库快速定位并解决消费者问题。</a:t>
            </a:r>
            <a:endParaRPr lang="en-US" altLang="zh-CN" sz="1400" dirty="0"/>
          </a:p>
          <a:p>
            <a:r>
              <a:rPr lang="en-US" altLang="zh-CN" b="1" dirty="0"/>
              <a:t>	</a:t>
            </a:r>
            <a:r>
              <a:rPr lang="zh-CN" altLang="en-US" sz="1600" b="1" dirty="0"/>
              <a:t>工作内容：</a:t>
            </a:r>
            <a:r>
              <a:rPr lang="zh-CN" altLang="en-US" dirty="0"/>
              <a:t> </a:t>
            </a:r>
            <a:r>
              <a:rPr lang="zh-CN" altLang="en-US" sz="1400" dirty="0"/>
              <a:t>优化项目架构，使之符合</a:t>
            </a:r>
            <a:r>
              <a:rPr lang="en-US" altLang="zh-CN" sz="1400" dirty="0"/>
              <a:t>COLA</a:t>
            </a:r>
            <a:r>
              <a:rPr lang="zh-CN" altLang="en-US" sz="1400" dirty="0"/>
              <a:t>架构风格。文件上传安全校验整合及使用责任链模式优化。使用</a:t>
            </a:r>
            <a:r>
              <a:rPr lang="en-US" altLang="zh-CN" sz="1400" dirty="0"/>
              <a:t>Redis</a:t>
            </a:r>
            <a:r>
              <a:rPr lang="zh-CN" altLang="en-US" sz="1400" dirty="0"/>
              <a:t>。自定义分布式锁注解。慢</a:t>
            </a:r>
            <a:r>
              <a:rPr lang="en-US" altLang="zh-CN" sz="1400" dirty="0"/>
              <a:t>SQL</a:t>
            </a:r>
            <a:r>
              <a:rPr lang="zh-CN" altLang="en-US" sz="1400" dirty="0"/>
              <a:t>优化，平均优化</a:t>
            </a:r>
            <a:r>
              <a:rPr lang="en-US" altLang="zh-CN" sz="1400" dirty="0"/>
              <a:t>3-5</a:t>
            </a:r>
            <a:r>
              <a:rPr lang="zh-CN" altLang="en-US" sz="1400" dirty="0"/>
              <a:t>倍。</a:t>
            </a:r>
            <a:endParaRPr lang="en-US" altLang="zh-CN" sz="1400" b="1" dirty="0"/>
          </a:p>
          <a:p>
            <a:endParaRPr lang="en-US" altLang="zh-CN" sz="1400" b="1" dirty="0"/>
          </a:p>
          <a:p>
            <a:endParaRPr lang="en-US" altLang="zh-CN" b="1" dirty="0"/>
          </a:p>
          <a:p>
            <a:r>
              <a:rPr lang="en-US" altLang="zh-CN" b="1" dirty="0"/>
              <a:t>2</a:t>
            </a:r>
            <a:r>
              <a:rPr lang="zh-CN" altLang="en-US" sz="1800" b="1" dirty="0"/>
              <a:t>、 深圳觉行科技有限公司                       </a:t>
            </a:r>
            <a:r>
              <a:rPr lang="en-US" altLang="zh-CN" sz="1800" b="1" dirty="0"/>
              <a:t>Java</a:t>
            </a:r>
            <a:r>
              <a:rPr lang="zh-CN" altLang="en-US" b="1" dirty="0"/>
              <a:t>后端开发工程师                       </a:t>
            </a:r>
            <a:r>
              <a:rPr lang="en-US" altLang="zh-CN" b="1" dirty="0"/>
              <a:t>2021.09-2024.05 </a:t>
            </a:r>
            <a:endParaRPr lang="en-US" altLang="zh-CN" sz="1800" b="1" dirty="0"/>
          </a:p>
          <a:p>
            <a:r>
              <a:rPr lang="en-US" altLang="zh-CN" b="1" dirty="0"/>
              <a:t>	</a:t>
            </a:r>
          </a:p>
          <a:p>
            <a:r>
              <a:rPr lang="en-US" altLang="zh-CN" b="1" dirty="0"/>
              <a:t>	</a:t>
            </a:r>
            <a:r>
              <a:rPr lang="zh-CN" altLang="en-US" sz="1600" b="1" dirty="0"/>
              <a:t>医保智能审核系统：</a:t>
            </a:r>
            <a:r>
              <a:rPr lang="zh-CN" altLang="en-US" sz="1400" dirty="0"/>
              <a:t>为医院使用医保的病人病案提供预检服务，帮助医院顺利完成医保局归档，具体包括：为医生 提供可自主配置的审核规则，对病例中的收费信息及用药规范等，进行审核判断是否存在违规用药及违规收费的情况</a:t>
            </a:r>
            <a:r>
              <a:rPr lang="zh-CN" altLang="en-US" sz="1600" dirty="0"/>
              <a:t>。</a:t>
            </a:r>
            <a:endParaRPr lang="en-US" altLang="zh-CN" sz="1600" dirty="0"/>
          </a:p>
          <a:p>
            <a:r>
              <a:rPr lang="en-US" altLang="zh-CN" sz="1400" dirty="0"/>
              <a:t>	</a:t>
            </a:r>
            <a:r>
              <a:rPr lang="zh-CN" altLang="en-US" sz="1600" b="1" dirty="0"/>
              <a:t>工作内容</a:t>
            </a:r>
            <a:r>
              <a:rPr lang="zh-CN" altLang="en-US" sz="1400" dirty="0"/>
              <a:t>： 重构该系统、优化规则整体审核流程，优化所有具体审核校验规则，使整体审核速度优化五倍以上。重新设计数据库表。</a:t>
            </a:r>
            <a:endParaRPr lang="en-US" altLang="zh-CN" sz="1400" dirty="0"/>
          </a:p>
          <a:p>
            <a:endParaRPr lang="en-US" altLang="zh-CN" dirty="0"/>
          </a:p>
          <a:p>
            <a:r>
              <a:rPr lang="en-US" altLang="zh-CN" sz="1800" b="1" dirty="0"/>
              <a:t>	</a:t>
            </a:r>
            <a:r>
              <a:rPr lang="en-US" altLang="zh-CN" sz="1600" b="1" dirty="0"/>
              <a:t>DIP </a:t>
            </a:r>
            <a:r>
              <a:rPr lang="zh-CN" altLang="en-US" sz="1600" b="1" dirty="0"/>
              <a:t>精细化管理系统</a:t>
            </a:r>
            <a:r>
              <a:rPr lang="zh-CN" altLang="en-US" b="1" dirty="0"/>
              <a:t>：</a:t>
            </a:r>
            <a:r>
              <a:rPr lang="zh-CN" altLang="en-US" dirty="0"/>
              <a:t>为</a:t>
            </a:r>
            <a:r>
              <a:rPr lang="zh-CN" altLang="en-US" sz="1400" dirty="0"/>
              <a:t>医院医保病例提供 </a:t>
            </a:r>
            <a:r>
              <a:rPr lang="en-US" altLang="zh-CN" sz="1400" dirty="0"/>
              <a:t>DIP </a:t>
            </a:r>
            <a:r>
              <a:rPr lang="zh-CN" altLang="en-US" sz="1400" dirty="0"/>
              <a:t>预分组功能，并通过预测的分组，为医院提供盈亏预测、病案评分等功能。</a:t>
            </a:r>
            <a:endParaRPr lang="en-US" altLang="zh-CN" sz="1400" dirty="0"/>
          </a:p>
          <a:p>
            <a:r>
              <a:rPr lang="en-US" altLang="zh-CN" sz="1800" b="1" dirty="0"/>
              <a:t>	</a:t>
            </a:r>
            <a:r>
              <a:rPr lang="zh-CN" altLang="en-US" sz="1600" b="1" dirty="0"/>
              <a:t>工作内容</a:t>
            </a:r>
            <a:r>
              <a:rPr lang="zh-CN" altLang="en-US" dirty="0"/>
              <a:t>： </a:t>
            </a:r>
            <a:r>
              <a:rPr lang="zh-CN" altLang="en-US" sz="1400" dirty="0"/>
              <a:t>主导医保结算清单功能的设计及上线，引入</a:t>
            </a:r>
            <a:r>
              <a:rPr lang="en-US" altLang="zh-CN" sz="1400" dirty="0"/>
              <a:t>Redis </a:t>
            </a:r>
            <a:r>
              <a:rPr lang="zh-CN" altLang="en-US" sz="1400" dirty="0"/>
              <a:t>提升查询速度，引入</a:t>
            </a:r>
            <a:r>
              <a:rPr lang="en-US" altLang="zh-CN" sz="1400" dirty="0" err="1"/>
              <a:t>MyBatisPlus</a:t>
            </a:r>
            <a:r>
              <a:rPr lang="zh-CN" altLang="en-US" sz="1400" dirty="0"/>
              <a:t>，提升开发效率等。</a:t>
            </a:r>
            <a:endParaRPr lang="en-US" altLang="zh-CN"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a:t>
            </a:r>
            <a:r>
              <a:rPr lang="zh-CN" altLang="en-US" dirty="0"/>
              <a:t>入职后的主要工作</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5</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247970" y="802183"/>
            <a:ext cx="10067730" cy="5386090"/>
          </a:xfrm>
          <a:prstGeom prst="rect">
            <a:avLst/>
          </a:prstGeom>
          <a:noFill/>
        </p:spPr>
        <p:txBody>
          <a:bodyPr wrap="square">
            <a:spAutoFit/>
          </a:bodyPr>
          <a:lstStyle/>
          <a:p>
            <a:endParaRPr lang="en-US" altLang="zh-CN" sz="1800" b="1" dirty="0"/>
          </a:p>
          <a:p>
            <a:r>
              <a:rPr lang="zh-CN" altLang="en-US" sz="1800" b="1" dirty="0"/>
              <a:t>入职时间</a:t>
            </a:r>
            <a:r>
              <a:rPr lang="zh-CN" altLang="en-US" sz="1800" dirty="0"/>
              <a:t>：</a:t>
            </a:r>
            <a:r>
              <a:rPr lang="en-US" altLang="zh-CN" sz="1600" dirty="0"/>
              <a:t>2025</a:t>
            </a:r>
            <a:r>
              <a:rPr lang="zh-CN" altLang="en-US" sz="1600" dirty="0"/>
              <a:t>年</a:t>
            </a:r>
            <a:r>
              <a:rPr lang="en-US" altLang="zh-CN" sz="1600" dirty="0"/>
              <a:t>10</a:t>
            </a:r>
            <a:r>
              <a:rPr lang="zh-CN" altLang="en-US" sz="1600" dirty="0"/>
              <a:t>月</a:t>
            </a:r>
            <a:r>
              <a:rPr lang="en-US" altLang="zh-CN" sz="1600" dirty="0"/>
              <a:t>20</a:t>
            </a:r>
            <a:r>
              <a:rPr lang="zh-CN" altLang="en-US" sz="1600" dirty="0"/>
              <a:t>日。</a:t>
            </a:r>
            <a:endParaRPr lang="en-US" altLang="zh-CN" sz="1600" dirty="0"/>
          </a:p>
          <a:p>
            <a:endParaRPr lang="en-US" altLang="zh-CN" b="1" dirty="0"/>
          </a:p>
          <a:p>
            <a:r>
              <a:rPr lang="zh-CN" altLang="en-US" b="1" dirty="0"/>
              <a:t>岗位</a:t>
            </a:r>
            <a:r>
              <a:rPr lang="zh-CN" altLang="en-US" dirty="0"/>
              <a:t>：</a:t>
            </a:r>
            <a:r>
              <a:rPr lang="en-US" altLang="zh-CN" sz="1600" dirty="0"/>
              <a:t>Java </a:t>
            </a:r>
            <a:r>
              <a:rPr lang="zh-CN" altLang="en-US" sz="1600" dirty="0"/>
              <a:t>高级开发工程师</a:t>
            </a:r>
            <a:endParaRPr lang="en-US" altLang="zh-CN" sz="1600" dirty="0"/>
          </a:p>
          <a:p>
            <a:endParaRPr lang="en-US" altLang="zh-CN" dirty="0"/>
          </a:p>
          <a:p>
            <a:r>
              <a:rPr lang="zh-CN" altLang="en-US" b="1" dirty="0"/>
              <a:t>工作内容</a:t>
            </a:r>
            <a:r>
              <a:rPr lang="zh-CN" altLang="en-US" dirty="0"/>
              <a:t>：</a:t>
            </a:r>
            <a:r>
              <a:rPr lang="zh-CN" altLang="en-US" sz="1600" dirty="0">
                <a:latin typeface="仿宋" panose="02010609060101010101" pitchFamily="49" charset="-122"/>
                <a:ea typeface="仿宋" panose="02010609060101010101" pitchFamily="49" charset="-122"/>
              </a:rPr>
              <a:t>主要负责</a:t>
            </a:r>
            <a:r>
              <a:rPr lang="en-US" altLang="zh-CN" sz="1600" dirty="0">
                <a:latin typeface="仿宋" panose="02010609060101010101" pitchFamily="49" charset="-122"/>
                <a:ea typeface="仿宋" panose="02010609060101010101" pitchFamily="49" charset="-122"/>
              </a:rPr>
              <a:t> AppServer</a:t>
            </a:r>
            <a:r>
              <a:rPr lang="zh-CN" altLang="en-US" sz="1600" dirty="0">
                <a:latin typeface="仿宋" panose="02010609060101010101" pitchFamily="49" charset="-122"/>
                <a:ea typeface="仿宋" panose="02010609060101010101" pitchFamily="49" charset="-122"/>
              </a:rPr>
              <a:t>（应用服务器）的开发工作。包括标准版、企业版、轻量版、</a:t>
            </a:r>
            <a:r>
              <a:rPr lang="en-US" altLang="zh-CN" sz="1600" dirty="0">
                <a:latin typeface="仿宋" panose="02010609060101010101" pitchFamily="49" charset="-122"/>
                <a:ea typeface="仿宋" panose="02010609060101010101" pitchFamily="49" charset="-122"/>
              </a:rPr>
              <a:t>SpringBoot</a:t>
            </a:r>
            <a:r>
              <a:rPr lang="zh-CN" altLang="en-US" sz="1600" dirty="0">
                <a:latin typeface="仿宋" panose="02010609060101010101" pitchFamily="49" charset="-122"/>
                <a:ea typeface="仿宋" panose="02010609060101010101" pitchFamily="49" charset="-122"/>
              </a:rPr>
              <a:t>版的各个版本的应用服务器的需求开发、</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修复、现场问题处理等。以及相关依赖插件的研发工作，如 </a:t>
            </a: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等。</a:t>
            </a:r>
            <a:endParaRPr lang="en-US" altLang="zh-CN" sz="1600" dirty="0">
              <a:latin typeface="仿宋" panose="02010609060101010101" pitchFamily="49" charset="-122"/>
              <a:ea typeface="仿宋" panose="02010609060101010101" pitchFamily="49" charset="-122"/>
            </a:endParaRPr>
          </a:p>
          <a:p>
            <a:endParaRPr lang="en-US" altLang="zh-CN" dirty="0"/>
          </a:p>
          <a:p>
            <a:r>
              <a:rPr lang="zh-CN" altLang="en-US" b="1" dirty="0"/>
              <a:t>具体内容</a:t>
            </a:r>
            <a:r>
              <a:rPr lang="zh-CN" altLang="en-US" dirty="0"/>
              <a:t>：</a:t>
            </a:r>
            <a:endParaRPr lang="en-US" altLang="zh-CN" dirty="0"/>
          </a:p>
          <a:p>
            <a:r>
              <a:rPr lang="en-US" altLang="zh-CN" dirty="0"/>
              <a:t>	1.</a:t>
            </a:r>
            <a:r>
              <a:rPr lang="zh-CN" altLang="en-US" dirty="0"/>
              <a:t> </a:t>
            </a:r>
            <a:r>
              <a:rPr lang="zh-CN" altLang="en-US" b="1" dirty="0"/>
              <a:t>需求开发</a:t>
            </a:r>
            <a:r>
              <a:rPr lang="zh-CN" altLang="en-US" sz="1600" dirty="0"/>
              <a:t>（</a:t>
            </a:r>
            <a:r>
              <a:rPr lang="en-US" altLang="zh-CN" sz="1600" dirty="0"/>
              <a:t>12</a:t>
            </a:r>
            <a:r>
              <a:rPr lang="zh-CN" altLang="en-US" sz="1600" dirty="0"/>
              <a:t>个）</a:t>
            </a:r>
            <a:endParaRPr lang="en-US" altLang="zh-CN" sz="1600" dirty="0"/>
          </a:p>
          <a:p>
            <a:r>
              <a:rPr lang="en-US" altLang="zh-CN" sz="1600" dirty="0"/>
              <a:t>		</a:t>
            </a:r>
            <a:r>
              <a:rPr lang="zh-CN" altLang="en-US" sz="1600" dirty="0">
                <a:latin typeface="仿宋" panose="02010609060101010101" pitchFamily="49" charset="-122"/>
                <a:ea typeface="仿宋" panose="02010609060101010101" pitchFamily="49" charset="-122"/>
              </a:rPr>
              <a:t>包括</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新增实例健康度、部署应用时新增附加类库参数、连接器应用支持编辑自定义属性和资源适配器属性、新增</a:t>
            </a:r>
            <a:r>
              <a:rPr lang="en-US" altLang="zh-CN" sz="1600" dirty="0">
                <a:latin typeface="仿宋" panose="02010609060101010101" pitchFamily="49" charset="-122"/>
                <a:ea typeface="仿宋" panose="02010609060101010101" pitchFamily="49" charset="-122"/>
              </a:rPr>
              <a:t>DMS</a:t>
            </a:r>
            <a:r>
              <a:rPr lang="zh-CN" altLang="en-US" sz="1600" dirty="0">
                <a:latin typeface="仿宋" panose="02010609060101010101" pitchFamily="49" charset="-122"/>
                <a:ea typeface="仿宋" panose="02010609060101010101" pitchFamily="49" charset="-122"/>
              </a:rPr>
              <a:t>与节点补丁版本校验提示、</a:t>
            </a: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使用</a:t>
            </a:r>
            <a:r>
              <a:rPr lang="en-US" altLang="zh-CN" sz="1600" dirty="0">
                <a:latin typeface="仿宋" panose="02010609060101010101" pitchFamily="49" charset="-122"/>
                <a:ea typeface="仿宋" panose="02010609060101010101" pitchFamily="49" charset="-122"/>
              </a:rPr>
              <a:t>logback</a:t>
            </a:r>
            <a:r>
              <a:rPr lang="zh-CN" altLang="en-US" sz="1600" dirty="0">
                <a:latin typeface="仿宋" panose="02010609060101010101" pitchFamily="49" charset="-122"/>
                <a:ea typeface="仿宋" panose="02010609060101010101" pitchFamily="49" charset="-122"/>
              </a:rPr>
              <a:t>替换</a:t>
            </a:r>
            <a:r>
              <a:rPr lang="en-US" altLang="zh-CN" sz="1600" dirty="0">
                <a:latin typeface="仿宋" panose="02010609060101010101" pitchFamily="49" charset="-122"/>
                <a:ea typeface="仿宋" panose="02010609060101010101" pitchFamily="49" charset="-122"/>
              </a:rPr>
              <a:t>log4j</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ASM </a:t>
            </a:r>
            <a:r>
              <a:rPr lang="zh-CN" altLang="en-US" sz="1600" dirty="0">
                <a:latin typeface="仿宋" panose="02010609060101010101" pitchFamily="49" charset="-122"/>
                <a:ea typeface="仿宋" panose="02010609060101010101" pitchFamily="49" charset="-122"/>
              </a:rPr>
              <a:t>字节码升级等。</a:t>
            </a:r>
            <a:endParaRPr lang="en-US" altLang="zh-CN" sz="1600" dirty="0">
              <a:latin typeface="仿宋" panose="02010609060101010101" pitchFamily="49" charset="-122"/>
              <a:ea typeface="仿宋" panose="02010609060101010101" pitchFamily="49" charset="-122"/>
            </a:endParaRPr>
          </a:p>
          <a:p>
            <a:endParaRPr lang="en-US" altLang="zh-CN" sz="1600" dirty="0"/>
          </a:p>
          <a:p>
            <a:r>
              <a:rPr lang="en-US" altLang="zh-CN" sz="1600" dirty="0"/>
              <a:t>	2.</a:t>
            </a:r>
            <a:r>
              <a:rPr lang="en-US" altLang="zh-CN" b="1" dirty="0"/>
              <a:t>Bug</a:t>
            </a:r>
            <a:r>
              <a:rPr lang="zh-CN" altLang="en-US" b="1" dirty="0"/>
              <a:t>修复</a:t>
            </a:r>
            <a:r>
              <a:rPr lang="en-US" altLang="zh-CN" dirty="0"/>
              <a:t> </a:t>
            </a:r>
            <a:r>
              <a:rPr lang="zh-CN" altLang="en-US" dirty="0"/>
              <a:t>（</a:t>
            </a:r>
            <a:r>
              <a:rPr lang="en-US" altLang="zh-CN" dirty="0"/>
              <a:t>98</a:t>
            </a:r>
            <a:r>
              <a:rPr lang="zh-CN" altLang="en-US" dirty="0"/>
              <a:t>个）</a:t>
            </a:r>
            <a:endParaRPr lang="en-US" altLang="zh-CN" dirty="0"/>
          </a:p>
          <a:p>
            <a:r>
              <a:rPr lang="en-US" altLang="zh-CN" b="1" dirty="0"/>
              <a:t>		</a:t>
            </a:r>
            <a:r>
              <a:rPr lang="zh-CN" altLang="en-US" sz="1600" dirty="0">
                <a:latin typeface="仿宋" panose="02010609060101010101" pitchFamily="49" charset="-122"/>
                <a:ea typeface="仿宋" panose="02010609060101010101" pitchFamily="49" charset="-122"/>
              </a:rPr>
              <a:t>包括 同步</a:t>
            </a:r>
            <a:r>
              <a:rPr lang="en-US" altLang="zh-CN" sz="1600" dirty="0">
                <a:latin typeface="仿宋" panose="02010609060101010101" pitchFamily="49" charset="-122"/>
                <a:ea typeface="仿宋" panose="02010609060101010101" pitchFamily="49" charset="-122"/>
              </a:rPr>
              <a:t>Tomcat</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Myfaces</a:t>
            </a:r>
            <a:r>
              <a:rPr lang="zh-CN" altLang="en-US" sz="1600" dirty="0">
                <a:latin typeface="仿宋" panose="02010609060101010101" pitchFamily="49" charset="-122"/>
                <a:ea typeface="仿宋" panose="02010609060101010101" pitchFamily="49" charset="-122"/>
              </a:rPr>
              <a:t>等相关漏洞修复、也包括 </a:t>
            </a:r>
            <a:r>
              <a:rPr lang="en-US" altLang="zh-CN" sz="1600" dirty="0">
                <a:latin typeface="仿宋" panose="02010609060101010101" pitchFamily="49" charset="-122"/>
                <a:ea typeface="仿宋" panose="02010609060101010101" pitchFamily="49" charset="-122"/>
              </a:rPr>
              <a:t>CLI </a:t>
            </a:r>
            <a:r>
              <a:rPr lang="zh-CN" altLang="en-US" sz="1600" dirty="0">
                <a:latin typeface="仿宋" panose="02010609060101010101" pitchFamily="49" charset="-122"/>
                <a:ea typeface="仿宋" panose="02010609060101010101" pitchFamily="49" charset="-122"/>
              </a:rPr>
              <a:t>命令行模块、控制台、</a:t>
            </a:r>
            <a:r>
              <a:rPr lang="en-US" altLang="zh-CN" sz="1600" dirty="0" err="1">
                <a:latin typeface="仿宋" panose="02010609060101010101" pitchFamily="49" charset="-122"/>
                <a:ea typeface="仿宋" panose="02010609060101010101" pitchFamily="49" charset="-122"/>
              </a:rPr>
              <a:t>Jdbc</a:t>
            </a:r>
            <a:r>
              <a:rPr lang="zh-CN" altLang="en-US" sz="1600" dirty="0">
                <a:latin typeface="仿宋" panose="02010609060101010101" pitchFamily="49" charset="-122"/>
                <a:ea typeface="仿宋" panose="02010609060101010101" pitchFamily="49" charset="-122"/>
              </a:rPr>
              <a:t>模块、</a:t>
            </a:r>
            <a:r>
              <a:rPr lang="en-US" altLang="zh-CN" sz="1600" dirty="0" err="1">
                <a:latin typeface="仿宋" panose="02010609060101010101" pitchFamily="49" charset="-122"/>
                <a:ea typeface="仿宋" panose="02010609060101010101" pitchFamily="49" charset="-122"/>
              </a:rPr>
              <a:t>jmx</a:t>
            </a:r>
            <a:r>
              <a:rPr lang="zh-CN" altLang="en-US" sz="1600" dirty="0">
                <a:latin typeface="仿宋" panose="02010609060101010101" pitchFamily="49" charset="-122"/>
                <a:ea typeface="仿宋" panose="02010609060101010101" pitchFamily="49" charset="-122"/>
              </a:rPr>
              <a:t>注册等相关模块的</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修复。</a:t>
            </a:r>
            <a:endParaRPr lang="en-US" altLang="zh-CN" sz="1600" dirty="0">
              <a:latin typeface="仿宋" panose="02010609060101010101" pitchFamily="49" charset="-122"/>
              <a:ea typeface="仿宋" panose="02010609060101010101" pitchFamily="49" charset="-122"/>
            </a:endParaRPr>
          </a:p>
          <a:p>
            <a:endParaRPr lang="en-US" altLang="zh-CN" sz="1600" b="1" dirty="0"/>
          </a:p>
          <a:p>
            <a:r>
              <a:rPr lang="en-US" altLang="zh-CN" sz="1600" b="1" dirty="0"/>
              <a:t>	3.</a:t>
            </a:r>
            <a:r>
              <a:rPr lang="zh-CN" altLang="en-US" sz="1600" b="1" dirty="0"/>
              <a:t>现场问题处理</a:t>
            </a:r>
            <a:r>
              <a:rPr lang="zh-CN" altLang="en-US" sz="1600" dirty="0"/>
              <a:t>（</a:t>
            </a:r>
            <a:r>
              <a:rPr lang="en-US" altLang="zh-CN" sz="1600" dirty="0"/>
              <a:t>2</a:t>
            </a:r>
            <a:r>
              <a:rPr lang="zh-CN" altLang="en-US" sz="1600" dirty="0"/>
              <a:t>个）</a:t>
            </a:r>
            <a:endParaRPr lang="en-US" altLang="zh-CN" sz="1600" b="1" dirty="0"/>
          </a:p>
          <a:p>
            <a:r>
              <a:rPr lang="en-US" altLang="zh-CN" dirty="0"/>
              <a:t>		</a:t>
            </a:r>
            <a:r>
              <a:rPr lang="zh-CN" altLang="en-US" sz="1600" dirty="0">
                <a:latin typeface="仿宋" panose="02010609060101010101" pitchFamily="49" charset="-122"/>
                <a:ea typeface="仿宋" panose="02010609060101010101" pitchFamily="49" charset="-122"/>
              </a:rPr>
              <a:t>包括</a:t>
            </a:r>
            <a:r>
              <a:rPr lang="en-US" altLang="zh-CN" sz="1600" dirty="0">
                <a:latin typeface="仿宋" panose="02010609060101010101" pitchFamily="49" charset="-122"/>
                <a:ea typeface="仿宋" panose="02010609060101010101" pitchFamily="49" charset="-122"/>
              </a:rPr>
              <a:t>License</a:t>
            </a:r>
            <a:r>
              <a:rPr lang="zh-CN" altLang="en-US" sz="1600" dirty="0">
                <a:latin typeface="仿宋" panose="02010609060101010101" pitchFamily="49" charset="-122"/>
                <a:ea typeface="仿宋" panose="02010609060101010101" pitchFamily="49" charset="-122"/>
              </a:rPr>
              <a:t>输出信息不正确等等。</a:t>
            </a:r>
            <a:r>
              <a:rPr lang="en-US" altLang="zh-CN" dirty="0"/>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60DAD-5B75-1E5E-CF1D-5217E6C876D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A45B26D5-3613-FC8B-AF79-EAD28C69FFDE}"/>
              </a:ext>
            </a:extLst>
          </p:cNvPr>
          <p:cNvSpPr>
            <a:spLocks noGrp="1"/>
          </p:cNvSpPr>
          <p:nvPr>
            <p:ph type="title"/>
          </p:nvPr>
        </p:nvSpPr>
        <p:spPr/>
        <p:txBody>
          <a:bodyPr/>
          <a:lstStyle/>
          <a:p>
            <a:r>
              <a:rPr lang="en-US" altLang="zh-CN" dirty="0"/>
              <a:t>3</a:t>
            </a:r>
            <a:r>
              <a:rPr lang="zh-CN" altLang="en-US" dirty="0"/>
              <a:t>入职后的主要工作 </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DEDF3D0D-EECF-6881-A0EC-F8169D11442B}"/>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6</a:t>
            </a:fld>
            <a:endParaRPr lang="zh-CN" altLang="en-US"/>
          </a:p>
        </p:txBody>
      </p:sp>
      <p:sp>
        <p:nvSpPr>
          <p:cNvPr id="6" name="文本框 5">
            <a:extLst>
              <a:ext uri="{FF2B5EF4-FFF2-40B4-BE49-F238E27FC236}">
                <a16:creationId xmlns:a16="http://schemas.microsoft.com/office/drawing/2014/main" id="{B38EDE5F-CEDE-7A90-6C52-98D2FB5DD371}"/>
              </a:ext>
            </a:extLst>
          </p:cNvPr>
          <p:cNvSpPr txBox="1"/>
          <p:nvPr/>
        </p:nvSpPr>
        <p:spPr>
          <a:xfrm>
            <a:off x="1452650" y="908470"/>
            <a:ext cx="8589994" cy="3816429"/>
          </a:xfrm>
          <a:prstGeom prst="rect">
            <a:avLst/>
          </a:prstGeom>
          <a:noFill/>
        </p:spPr>
        <p:txBody>
          <a:bodyPr wrap="square">
            <a:spAutoFit/>
          </a:bodyPr>
          <a:lstStyle/>
          <a:p>
            <a:r>
              <a:rPr lang="zh-CN" altLang="en-US" b="1" dirty="0"/>
              <a:t>一、新增实例健康度功能</a:t>
            </a:r>
            <a:endParaRPr lang="en-US" altLang="zh-CN" b="1" dirty="0"/>
          </a:p>
          <a:p>
            <a:r>
              <a:rPr lang="en-US" altLang="zh-CN" b="1" dirty="0"/>
              <a:t>	</a:t>
            </a:r>
          </a:p>
          <a:p>
            <a:r>
              <a:rPr lang="en-US" altLang="zh-CN" dirty="0"/>
              <a:t>	</a:t>
            </a:r>
            <a:r>
              <a:rPr lang="en-US" altLang="zh-CN" b="1" dirty="0"/>
              <a:t>1. </a:t>
            </a:r>
            <a:r>
              <a:rPr lang="zh-CN" altLang="en-US" b="1" dirty="0"/>
              <a:t>功能概述</a:t>
            </a:r>
            <a:endParaRPr lang="en-US" altLang="zh-CN" b="1" dirty="0"/>
          </a:p>
          <a:p>
            <a:r>
              <a:rPr lang="en-US" altLang="zh-CN" dirty="0"/>
              <a:t>		</a:t>
            </a:r>
            <a:r>
              <a:rPr lang="zh-CN" altLang="en-US" sz="1600" dirty="0">
                <a:latin typeface="仿宋" panose="02010609060101010101" pitchFamily="49" charset="-122"/>
                <a:ea typeface="仿宋" panose="02010609060101010101" pitchFamily="49" charset="-122"/>
              </a:rPr>
              <a:t>可以实时监控实例的健康状态，从 </a:t>
            </a:r>
            <a:r>
              <a:rPr lang="en-US" altLang="zh-CN" sz="1600" dirty="0">
                <a:latin typeface="仿宋" panose="02010609060101010101" pitchFamily="49" charset="-122"/>
                <a:ea typeface="仿宋" panose="02010609060101010101" pitchFamily="49" charset="-122"/>
              </a:rPr>
              <a:t>CPU</a:t>
            </a:r>
            <a:r>
              <a:rPr lang="zh-CN" altLang="en-US" sz="1600" dirty="0">
                <a:latin typeface="仿宋" panose="02010609060101010101" pitchFamily="49" charset="-122"/>
                <a:ea typeface="仿宋" panose="02010609060101010101" pitchFamily="49" charset="-122"/>
              </a:rPr>
              <a:t>使用率、内存使用率、</a:t>
            </a:r>
            <a:r>
              <a:rPr lang="en-US" altLang="zh-CN" sz="1600" dirty="0">
                <a:latin typeface="仿宋" panose="02010609060101010101" pitchFamily="49" charset="-122"/>
                <a:ea typeface="仿宋" panose="02010609060101010101" pitchFamily="49" charset="-122"/>
              </a:rPr>
              <a:t>FullGC</a:t>
            </a:r>
            <a:r>
              <a:rPr lang="zh-CN" altLang="en-US" sz="1600" dirty="0">
                <a:latin typeface="仿宋" panose="02010609060101010101" pitchFamily="49" charset="-122"/>
                <a:ea typeface="仿宋" panose="02010609060101010101" pitchFamily="49" charset="-122"/>
              </a:rPr>
              <a:t>次数、</a:t>
            </a:r>
            <a:r>
              <a:rPr lang="en-US" altLang="zh-CN" sz="1600" dirty="0">
                <a:latin typeface="仿宋" panose="02010609060101010101" pitchFamily="49" charset="-122"/>
                <a:ea typeface="仿宋" panose="02010609060101010101" pitchFamily="49" charset="-122"/>
              </a:rPr>
              <a:t>FullGC</a:t>
            </a:r>
            <a:r>
              <a:rPr lang="zh-CN" altLang="en-US" sz="1600" dirty="0">
                <a:latin typeface="仿宋" panose="02010609060101010101" pitchFamily="49" charset="-122"/>
                <a:ea typeface="仿宋" panose="02010609060101010101" pitchFamily="49" charset="-122"/>
              </a:rPr>
              <a:t>时间、</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超时时间、</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等待任务数、</a:t>
            </a:r>
            <a:r>
              <a:rPr lang="en-US" altLang="zh-CN" sz="1600" dirty="0">
                <a:latin typeface="仿宋" panose="02010609060101010101" pitchFamily="49" charset="-122"/>
                <a:ea typeface="仿宋" panose="02010609060101010101" pitchFamily="49" charset="-122"/>
              </a:rPr>
              <a:t>HTTP</a:t>
            </a:r>
            <a:r>
              <a:rPr lang="zh-CN" altLang="en-US" sz="1600" dirty="0">
                <a:latin typeface="仿宋" panose="02010609060101010101" pitchFamily="49" charset="-122"/>
                <a:ea typeface="仿宋" panose="02010609060101010101" pitchFamily="49" charset="-122"/>
              </a:rPr>
              <a:t>错误数、</a:t>
            </a:r>
            <a:r>
              <a:rPr lang="en-US" altLang="zh-CN" sz="1600" dirty="0">
                <a:latin typeface="仿宋" panose="02010609060101010101" pitchFamily="49" charset="-122"/>
                <a:ea typeface="仿宋" panose="02010609060101010101" pitchFamily="49" charset="-122"/>
              </a:rPr>
              <a:t>JDBC </a:t>
            </a:r>
            <a:r>
              <a:rPr lang="zh-CN" altLang="en-US" sz="1600" dirty="0">
                <a:latin typeface="仿宋" panose="02010609060101010101" pitchFamily="49" charset="-122"/>
                <a:ea typeface="仿宋" panose="02010609060101010101" pitchFamily="49" charset="-122"/>
              </a:rPr>
              <a:t>等待请求数、</a:t>
            </a:r>
            <a:r>
              <a:rPr lang="en-US" altLang="zh-CN" sz="1600" dirty="0">
                <a:latin typeface="仿宋" panose="02010609060101010101" pitchFamily="49" charset="-122"/>
                <a:ea typeface="仿宋" panose="02010609060101010101" pitchFamily="49" charset="-122"/>
              </a:rPr>
              <a:t>JDBC</a:t>
            </a:r>
            <a:r>
              <a:rPr lang="zh-CN" altLang="en-US" sz="1600" dirty="0">
                <a:latin typeface="仿宋" panose="02010609060101010101" pitchFamily="49" charset="-122"/>
                <a:ea typeface="仿宋" panose="02010609060101010101" pitchFamily="49" charset="-122"/>
              </a:rPr>
              <a:t>泄露连接数、回滚事务。多个维度评分，按照评分将实例分为 </a:t>
            </a:r>
            <a:r>
              <a:rPr lang="en-US" altLang="zh-CN" sz="1600" dirty="0">
                <a:latin typeface="仿宋" panose="02010609060101010101" pitchFamily="49" charset="-122"/>
                <a:ea typeface="仿宋" panose="02010609060101010101" pitchFamily="49" charset="-122"/>
              </a:rPr>
              <a:t>Health</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Warning</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Fault </a:t>
            </a:r>
            <a:r>
              <a:rPr lang="zh-CN" altLang="en-US" sz="1600" dirty="0">
                <a:latin typeface="仿宋" panose="02010609060101010101" pitchFamily="49" charset="-122"/>
                <a:ea typeface="仿宋" panose="02010609060101010101" pitchFamily="49" charset="-122"/>
              </a:rPr>
              <a:t>三种健康度、并给出一个综合健康度。</a:t>
            </a:r>
            <a:endParaRPr lang="en-US" altLang="zh-CN" sz="16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en-US" altLang="zh-CN" sz="1600" dirty="0">
                <a:latin typeface="仿宋" panose="02010609060101010101" pitchFamily="49" charset="-122"/>
                <a:ea typeface="仿宋" panose="02010609060101010101" pitchFamily="49" charset="-122"/>
              </a:rPr>
              <a:t>	</a:t>
            </a:r>
            <a:r>
              <a:rPr lang="en-US" altLang="zh-CN" b="1" dirty="0"/>
              <a:t>2.</a:t>
            </a:r>
            <a:r>
              <a:rPr lang="en-US" altLang="zh-CN" b="1" dirty="0">
                <a:latin typeface="+mn-ea"/>
              </a:rPr>
              <a:t> </a:t>
            </a:r>
            <a:r>
              <a:rPr lang="zh-CN" altLang="en-US" b="1" dirty="0">
                <a:latin typeface="+mn-ea"/>
              </a:rPr>
              <a:t>功能详细说明</a:t>
            </a:r>
            <a:endParaRPr lang="en-US" altLang="zh-CN" b="1" dirty="0">
              <a:latin typeface="+mn-ea"/>
            </a:endParaRPr>
          </a:p>
          <a:p>
            <a:r>
              <a:rPr lang="en-US" altLang="zh-CN" b="1" dirty="0">
                <a:latin typeface="+mn-ea"/>
              </a:rPr>
              <a:t>		</a:t>
            </a:r>
            <a:r>
              <a:rPr lang="zh-CN" altLang="en-US" sz="1600" dirty="0">
                <a:latin typeface="仿宋" panose="02010609060101010101" pitchFamily="49" charset="-122"/>
                <a:ea typeface="仿宋" panose="02010609060101010101" pitchFamily="49" charset="-122"/>
              </a:rPr>
              <a:t>用户可以在监控配置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实例状态配置中配置监控规则，并开启、在实例信息详情页中会展示当前实例的总体健康状态，点击可展示其详细信息。</a:t>
            </a:r>
            <a:endParaRPr lang="en-US" altLang="zh-CN" sz="1600" dirty="0">
              <a:latin typeface="仿宋" panose="02010609060101010101" pitchFamily="49" charset="-122"/>
              <a:ea typeface="仿宋" panose="02010609060101010101" pitchFamily="49" charset="-122"/>
            </a:endParaRPr>
          </a:p>
          <a:p>
            <a:endParaRPr lang="zh-CN" altLang="en-US" b="1" dirty="0">
              <a:latin typeface="+mn-ea"/>
            </a:endParaRPr>
          </a:p>
          <a:p>
            <a:endParaRPr lang="en-US" altLang="zh-CN" dirty="0"/>
          </a:p>
          <a:p>
            <a:endParaRPr lang="zh-CN" altLang="en-US" sz="1800" dirty="0"/>
          </a:p>
        </p:txBody>
      </p:sp>
      <p:pic>
        <p:nvPicPr>
          <p:cNvPr id="3" name="图片 2">
            <a:extLst>
              <a:ext uri="{FF2B5EF4-FFF2-40B4-BE49-F238E27FC236}">
                <a16:creationId xmlns:a16="http://schemas.microsoft.com/office/drawing/2014/main" id="{11E6A0A8-A23D-BD7C-A5AA-57A883813893}"/>
              </a:ext>
            </a:extLst>
          </p:cNvPr>
          <p:cNvPicPr>
            <a:picLocks noChangeAspect="1"/>
          </p:cNvPicPr>
          <p:nvPr/>
        </p:nvPicPr>
        <p:blipFill>
          <a:blip r:embed="rId2"/>
          <a:stretch>
            <a:fillRect/>
          </a:stretch>
        </p:blipFill>
        <p:spPr>
          <a:xfrm>
            <a:off x="838686" y="3989803"/>
            <a:ext cx="3424711" cy="2366545"/>
          </a:xfrm>
          <a:prstGeom prst="rect">
            <a:avLst/>
          </a:prstGeom>
        </p:spPr>
      </p:pic>
      <p:pic>
        <p:nvPicPr>
          <p:cNvPr id="8" name="图片 7">
            <a:extLst>
              <a:ext uri="{FF2B5EF4-FFF2-40B4-BE49-F238E27FC236}">
                <a16:creationId xmlns:a16="http://schemas.microsoft.com/office/drawing/2014/main" id="{40BDB382-AAC8-9836-C581-E79B6959F98C}"/>
              </a:ext>
            </a:extLst>
          </p:cNvPr>
          <p:cNvPicPr>
            <a:picLocks noChangeAspect="1"/>
          </p:cNvPicPr>
          <p:nvPr/>
        </p:nvPicPr>
        <p:blipFill>
          <a:blip r:embed="rId3"/>
          <a:stretch>
            <a:fillRect/>
          </a:stretch>
        </p:blipFill>
        <p:spPr>
          <a:xfrm>
            <a:off x="4602079" y="3989803"/>
            <a:ext cx="3549316" cy="2366545"/>
          </a:xfrm>
          <a:prstGeom prst="rect">
            <a:avLst/>
          </a:prstGeom>
        </p:spPr>
      </p:pic>
      <p:pic>
        <p:nvPicPr>
          <p:cNvPr id="10" name="图片 9">
            <a:extLst>
              <a:ext uri="{FF2B5EF4-FFF2-40B4-BE49-F238E27FC236}">
                <a16:creationId xmlns:a16="http://schemas.microsoft.com/office/drawing/2014/main" id="{13665F87-C4C8-52F6-D9D7-5C7CB558C3A2}"/>
              </a:ext>
            </a:extLst>
          </p:cNvPr>
          <p:cNvPicPr>
            <a:picLocks noChangeAspect="1"/>
          </p:cNvPicPr>
          <p:nvPr/>
        </p:nvPicPr>
        <p:blipFill>
          <a:blip r:embed="rId4"/>
          <a:stretch>
            <a:fillRect/>
          </a:stretch>
        </p:blipFill>
        <p:spPr>
          <a:xfrm>
            <a:off x="8405856" y="3989804"/>
            <a:ext cx="2538870" cy="2310807"/>
          </a:xfrm>
          <a:prstGeom prst="rect">
            <a:avLst/>
          </a:prstGeom>
        </p:spPr>
      </p:pic>
    </p:spTree>
    <p:extLst>
      <p:ext uri="{BB962C8B-B14F-4D97-AF65-F5344CB8AC3E}">
        <p14:creationId xmlns:p14="http://schemas.microsoft.com/office/powerpoint/2010/main" val="20357826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BF7DC-1368-EC98-1B16-E6B4E522C19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8C4131C-5020-788F-74A6-5A02EA8138F9}"/>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27031568-4251-1653-9687-57D5EE99B4D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7</a:t>
            </a:fld>
            <a:endParaRPr lang="zh-CN" altLang="en-US"/>
          </a:p>
        </p:txBody>
      </p:sp>
      <p:sp>
        <p:nvSpPr>
          <p:cNvPr id="6" name="文本框 5">
            <a:extLst>
              <a:ext uri="{FF2B5EF4-FFF2-40B4-BE49-F238E27FC236}">
                <a16:creationId xmlns:a16="http://schemas.microsoft.com/office/drawing/2014/main" id="{65814FB2-13B6-16F4-1FDE-A89C47A132CD}"/>
              </a:ext>
            </a:extLst>
          </p:cNvPr>
          <p:cNvSpPr txBox="1"/>
          <p:nvPr/>
        </p:nvSpPr>
        <p:spPr>
          <a:xfrm>
            <a:off x="1123931" y="954608"/>
            <a:ext cx="4707374" cy="2954655"/>
          </a:xfrm>
          <a:prstGeom prst="rect">
            <a:avLst/>
          </a:prstGeom>
          <a:noFill/>
        </p:spPr>
        <p:txBody>
          <a:bodyPr wrap="square">
            <a:spAutoFit/>
          </a:bodyPr>
          <a:lstStyle/>
          <a:p>
            <a:r>
              <a:rPr lang="zh-CN" altLang="en-US" b="1" dirty="0"/>
              <a:t>一、新增实例健康度功能</a:t>
            </a:r>
            <a:endParaRPr lang="en-US" altLang="zh-CN" b="1" dirty="0"/>
          </a:p>
          <a:p>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sz="1600" b="1" dirty="0">
                <a:latin typeface="+mn-ea"/>
              </a:rPr>
              <a:t>核心亮点：</a:t>
            </a:r>
            <a:endParaRPr lang="en-US" altLang="zh-CN" sz="1600" b="1" dirty="0">
              <a:latin typeface="+mn-ea"/>
            </a:endParaRPr>
          </a:p>
          <a:p>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使用</a:t>
            </a:r>
            <a:r>
              <a:rPr lang="zh-CN" altLang="en-US" sz="1600" b="1" dirty="0">
                <a:latin typeface="华文中宋" panose="02010600040101010101" pitchFamily="2" charset="-122"/>
                <a:ea typeface="华文中宋" panose="02010600040101010101" pitchFamily="2" charset="-122"/>
              </a:rPr>
              <a:t>工厂模式</a:t>
            </a:r>
            <a:r>
              <a:rPr lang="en-US" altLang="zh-CN"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建造者模式</a:t>
            </a:r>
            <a:r>
              <a:rPr lang="en-US" altLang="zh-CN"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责任链模式</a:t>
            </a:r>
            <a:r>
              <a:rPr lang="en-US" altLang="zh-CN" sz="1600" b="1"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模板方法模式</a:t>
            </a:r>
            <a:r>
              <a:rPr lang="zh-CN" altLang="en-US" sz="1600" dirty="0">
                <a:latin typeface="仿宋" panose="02010609060101010101" pitchFamily="49" charset="-122"/>
                <a:ea typeface="仿宋" panose="02010609060101010101" pitchFamily="49" charset="-122"/>
              </a:rPr>
              <a:t>完成，整体架构符合</a:t>
            </a:r>
            <a:r>
              <a:rPr lang="zh-CN" altLang="en-US" sz="1600" b="1" dirty="0">
                <a:latin typeface="华文中宋" panose="02010600040101010101" pitchFamily="2" charset="-122"/>
                <a:ea typeface="华文中宋" panose="02010600040101010101" pitchFamily="2" charset="-122"/>
              </a:rPr>
              <a:t>高内聚低耦合</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易扩展，易维护，可配置性强。符合</a:t>
            </a:r>
            <a:r>
              <a:rPr lang="zh-CN" altLang="en-US" sz="1600" b="1" dirty="0">
                <a:latin typeface="华文中宋" panose="02010600040101010101" pitchFamily="2" charset="-122"/>
                <a:ea typeface="华文中宋" panose="02010600040101010101" pitchFamily="2" charset="-122"/>
              </a:rPr>
              <a:t>开闭原则</a:t>
            </a:r>
            <a:r>
              <a:rPr lang="zh-CN" altLang="en-US" sz="1600" dirty="0">
                <a:latin typeface="华文中宋" panose="02010600040101010101" pitchFamily="2" charset="-122"/>
                <a:ea typeface="华文中宋" panose="02010600040101010101" pitchFamily="2" charset="-122"/>
              </a:rPr>
              <a:t>、</a:t>
            </a:r>
            <a:r>
              <a:rPr lang="zh-CN" altLang="en-US" sz="1600" b="1" dirty="0">
                <a:latin typeface="华文中宋" panose="02010600040101010101" pitchFamily="2" charset="-122"/>
                <a:ea typeface="华文中宋" panose="02010600040101010101" pitchFamily="2" charset="-122"/>
              </a:rPr>
              <a:t>单一职责原则</a:t>
            </a:r>
            <a:r>
              <a:rPr lang="zh-CN" altLang="en-US" sz="1600" dirty="0">
                <a:latin typeface="仿宋" panose="02010609060101010101" pitchFamily="49" charset="-122"/>
                <a:ea typeface="仿宋" panose="02010609060101010101" pitchFamily="49" charset="-122"/>
              </a:rPr>
              <a:t>等软件设计原则。</a:t>
            </a:r>
            <a:endParaRPr lang="en-US" altLang="zh-CN" sz="1600" dirty="0">
              <a:latin typeface="仿宋" panose="02010609060101010101" pitchFamily="49" charset="-122"/>
              <a:ea typeface="仿宋" panose="02010609060101010101" pitchFamily="49" charset="-122"/>
            </a:endParaRPr>
          </a:p>
          <a:p>
            <a:endParaRPr lang="en-US" altLang="zh-CN" sz="1600" b="1" dirty="0">
              <a:latin typeface="+mn-ea"/>
            </a:endParaRPr>
          </a:p>
          <a:p>
            <a:endParaRPr lang="zh-CN" altLang="en-US" sz="1800" dirty="0"/>
          </a:p>
        </p:txBody>
      </p:sp>
      <p:pic>
        <p:nvPicPr>
          <p:cNvPr id="3" name="图片 2">
            <a:extLst>
              <a:ext uri="{FF2B5EF4-FFF2-40B4-BE49-F238E27FC236}">
                <a16:creationId xmlns:a16="http://schemas.microsoft.com/office/drawing/2014/main" id="{4EEC0CB6-445D-AE5E-B5E9-EE4CFE26ED85}"/>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16583443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7E5C8-BBCD-89E0-8307-CFD19CDF973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4620580-786E-D944-C9A8-5D257AAEA508}"/>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2F430838-08B2-E9F9-ED8D-0C45E63B70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8</a:t>
            </a:fld>
            <a:endParaRPr lang="zh-CN" altLang="en-US"/>
          </a:p>
        </p:txBody>
      </p:sp>
      <p:sp>
        <p:nvSpPr>
          <p:cNvPr id="6" name="文本框 5">
            <a:extLst>
              <a:ext uri="{FF2B5EF4-FFF2-40B4-BE49-F238E27FC236}">
                <a16:creationId xmlns:a16="http://schemas.microsoft.com/office/drawing/2014/main" id="{42FE3491-1665-EA27-DF24-B6D0B4FC73C9}"/>
              </a:ext>
            </a:extLst>
          </p:cNvPr>
          <p:cNvSpPr txBox="1"/>
          <p:nvPr/>
        </p:nvSpPr>
        <p:spPr>
          <a:xfrm>
            <a:off x="550426" y="908470"/>
            <a:ext cx="5260826" cy="5355312"/>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en-US" altLang="zh-CN" sz="1600" b="1" dirty="0">
                <a:latin typeface="+mn-ea"/>
              </a:rPr>
              <a:t>1</a:t>
            </a:r>
            <a:r>
              <a:rPr lang="zh-CN" altLang="en-US" sz="1600" b="1" dirty="0">
                <a:latin typeface="+mn-ea"/>
              </a:rPr>
              <a:t>）服务管理层：</a:t>
            </a:r>
            <a:endParaRPr lang="en-US" altLang="zh-CN" sz="1600" b="1" dirty="0">
              <a:latin typeface="+mn-ea"/>
            </a:endParaRP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设计</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HealthCheckMonitorService</a:t>
            </a:r>
            <a:r>
              <a:rPr lang="zh-CN" altLang="en-US" sz="1600" dirty="0">
                <a:latin typeface="仿宋" panose="02010609060101010101" pitchFamily="49" charset="-122"/>
                <a:ea typeface="仿宋" panose="02010609060101010101" pitchFamily="49" charset="-122"/>
              </a:rPr>
              <a:t> 负责健康检查的核心状态管理（启动、停止、重置、获取匹配结果），内部维护 </a:t>
            </a:r>
            <a:r>
              <a:rPr lang="en-US" altLang="zh-CN" sz="1600" dirty="0">
                <a:latin typeface="仿宋" panose="02010609060101010101" pitchFamily="49" charset="-122"/>
                <a:ea typeface="仿宋" panose="02010609060101010101" pitchFamily="49" charset="-122"/>
              </a:rPr>
              <a:t>matches</a:t>
            </a:r>
            <a:r>
              <a:rPr lang="zh-CN" altLang="en-US" sz="1600" dirty="0">
                <a:latin typeface="仿宋" panose="02010609060101010101" pitchFamily="49" charset="-122"/>
                <a:ea typeface="仿宋" panose="02010609060101010101" pitchFamily="49" charset="-122"/>
              </a:rPr>
              <a:t> 存储检测结果。</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HealthCheckMonitorFactory</a:t>
            </a:r>
            <a:r>
              <a:rPr lang="zh-CN" altLang="en-US" sz="1600" dirty="0">
                <a:latin typeface="仿宋" panose="02010609060101010101" pitchFamily="49" charset="-122"/>
                <a:ea typeface="仿宋" panose="02010609060101010101" pitchFamily="49" charset="-122"/>
              </a:rPr>
              <a:t> 作为服务工厂，统一管理服务的生命周期（刷新、启动、停止）和健康状态获取，并提供获取特定规则链（如 </a:t>
            </a:r>
            <a:r>
              <a:rPr lang="en-US" altLang="zh-CN" sz="1600" dirty="0">
                <a:latin typeface="仿宋" panose="02010609060101010101" pitchFamily="49" charset="-122"/>
                <a:ea typeface="仿宋" panose="02010609060101010101" pitchFamily="49" charset="-122"/>
              </a:rPr>
              <a:t>CPU/</a:t>
            </a:r>
            <a:r>
              <a:rPr lang="zh-CN" altLang="en-US" sz="1600" dirty="0">
                <a:latin typeface="仿宋" panose="02010609060101010101" pitchFamily="49" charset="-122"/>
                <a:ea typeface="仿宋" panose="02010609060101010101" pitchFamily="49" charset="-122"/>
              </a:rPr>
              <a:t>内存规则链、异常规则链）的方法。</a:t>
            </a: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好处</a:t>
            </a:r>
          </a:p>
          <a:p>
            <a:pPr lvl="1"/>
            <a:r>
              <a:rPr lang="zh-CN" altLang="en-US" sz="1600" b="1" dirty="0">
                <a:latin typeface="仿宋" panose="02010609060101010101" pitchFamily="49" charset="-122"/>
                <a:ea typeface="仿宋" panose="02010609060101010101" pitchFamily="49" charset="-122"/>
              </a:rPr>
              <a:t>单一职责</a:t>
            </a:r>
            <a:r>
              <a:rPr lang="zh-CN" altLang="en-US" sz="1600" dirty="0">
                <a:latin typeface="仿宋" panose="02010609060101010101" pitchFamily="49" charset="-122"/>
                <a:ea typeface="仿宋" panose="02010609060101010101" pitchFamily="49" charset="-122"/>
              </a:rPr>
              <a:t>：服务与工厂分离，服务专注状态与执行，工厂负责创建与生命周期管理。</a:t>
            </a:r>
          </a:p>
          <a:p>
            <a:pPr lvl="1"/>
            <a:r>
              <a:rPr lang="zh-CN" altLang="en-US" sz="1600" b="1" dirty="0">
                <a:latin typeface="仿宋" panose="02010609060101010101" pitchFamily="49" charset="-122"/>
                <a:ea typeface="仿宋" panose="02010609060101010101" pitchFamily="49" charset="-122"/>
              </a:rPr>
              <a:t>集中管理</a:t>
            </a:r>
            <a:r>
              <a:rPr lang="zh-CN" altLang="en-US" sz="1600" dirty="0">
                <a:latin typeface="仿宋" panose="02010609060101010101" pitchFamily="49" charset="-122"/>
                <a:ea typeface="仿宋" panose="02010609060101010101" pitchFamily="49" charset="-122"/>
              </a:rPr>
              <a:t>：通过工厂统一控制服务实例，便于全局配置与资源控制。</a:t>
            </a:r>
          </a:p>
          <a:p>
            <a:pPr lvl="1"/>
            <a:r>
              <a:rPr lang="zh-CN" altLang="en-US" sz="1600" b="1" dirty="0">
                <a:latin typeface="仿宋" panose="02010609060101010101" pitchFamily="49" charset="-122"/>
                <a:ea typeface="仿宋" panose="02010609060101010101" pitchFamily="49" charset="-122"/>
              </a:rPr>
              <a:t>扩展性</a:t>
            </a:r>
            <a:r>
              <a:rPr lang="zh-CN" altLang="en-US" sz="1600" dirty="0">
                <a:latin typeface="仿宋" panose="02010609060101010101" pitchFamily="49" charset="-122"/>
                <a:ea typeface="仿宋" panose="02010609060101010101" pitchFamily="49" charset="-122"/>
              </a:rPr>
              <a:t>：新增健康检查维度只需扩展工厂方法，不影响核心服务逻辑。</a:t>
            </a:r>
          </a:p>
        </p:txBody>
      </p:sp>
      <p:pic>
        <p:nvPicPr>
          <p:cNvPr id="3" name="图片 2">
            <a:extLst>
              <a:ext uri="{FF2B5EF4-FFF2-40B4-BE49-F238E27FC236}">
                <a16:creationId xmlns:a16="http://schemas.microsoft.com/office/drawing/2014/main" id="{D5083A5A-6E9F-8D24-B304-909C88ADABC6}"/>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282279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920BD-CC5D-D819-A522-FA9B57FC36F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4748926-2604-C348-BAE0-52F6936B1699}"/>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88013F6B-347A-50C3-198C-EEC399F20F9D}"/>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9</a:t>
            </a:fld>
            <a:endParaRPr lang="zh-CN" altLang="en-US"/>
          </a:p>
        </p:txBody>
      </p:sp>
      <p:sp>
        <p:nvSpPr>
          <p:cNvPr id="6" name="文本框 5">
            <a:extLst>
              <a:ext uri="{FF2B5EF4-FFF2-40B4-BE49-F238E27FC236}">
                <a16:creationId xmlns:a16="http://schemas.microsoft.com/office/drawing/2014/main" id="{D5B81426-0FAA-49EE-3955-929F305F6C56}"/>
              </a:ext>
            </a:extLst>
          </p:cNvPr>
          <p:cNvSpPr txBox="1"/>
          <p:nvPr/>
        </p:nvSpPr>
        <p:spPr>
          <a:xfrm>
            <a:off x="550426" y="908470"/>
            <a:ext cx="5260826" cy="5386090"/>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en-US" altLang="zh-CN" b="1" dirty="0"/>
              <a:t>2</a:t>
            </a:r>
            <a:r>
              <a:rPr lang="zh-CN" altLang="en-US" b="1" dirty="0"/>
              <a:t>）规则链与任务执行层</a:t>
            </a:r>
            <a:r>
              <a:rPr lang="zh-CN" altLang="en-US" sz="1600" b="1" dirty="0">
                <a:latin typeface="+mn-ea"/>
              </a:rPr>
              <a:t>：</a:t>
            </a:r>
            <a:endParaRPr lang="en-US" altLang="zh-CN" sz="1600" b="1" dirty="0">
              <a:latin typeface="+mn-ea"/>
            </a:endParaRP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设计</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CheckHealthTask</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继承 </a:t>
            </a:r>
            <a:r>
              <a:rPr lang="en-US" altLang="zh-CN" sz="1600" dirty="0">
                <a:latin typeface="仿宋" panose="02010609060101010101" pitchFamily="49" charset="-122"/>
                <a:ea typeface="仿宋" panose="02010609060101010101" pitchFamily="49" charset="-122"/>
              </a:rPr>
              <a:t>Thread</a:t>
            </a:r>
            <a:r>
              <a:rPr lang="zh-CN" altLang="en-US" sz="1600" dirty="0">
                <a:latin typeface="仿宋" panose="02010609060101010101" pitchFamily="49" charset="-122"/>
                <a:ea typeface="仿宋" panose="02010609060101010101" pitchFamily="49" charset="-122"/>
              </a:rPr>
              <a:t>，作为独立执行单元，通过 </a:t>
            </a:r>
            <a:r>
              <a:rPr lang="en-US" altLang="zh-CN" sz="1600" dirty="0">
                <a:latin typeface="仿宋" panose="02010609060101010101" pitchFamily="49" charset="-122"/>
                <a:ea typeface="仿宋" panose="02010609060101010101" pitchFamily="49" charset="-122"/>
              </a:rPr>
              <a:t>setChain </a:t>
            </a:r>
            <a:r>
              <a:rPr lang="zh-CN" altLang="en-US" sz="1600" dirty="0">
                <a:latin typeface="仿宋" panose="02010609060101010101" pitchFamily="49" charset="-122"/>
                <a:ea typeface="仿宋" panose="02010609060101010101" pitchFamily="49" charset="-122"/>
              </a:rPr>
              <a:t>注入 </a:t>
            </a:r>
            <a:r>
              <a:rPr lang="en-US" altLang="zh-CN" sz="1600" dirty="0">
                <a:latin typeface="仿宋" panose="02010609060101010101" pitchFamily="49" charset="-122"/>
                <a:ea typeface="仿宋" panose="02010609060101010101" pitchFamily="49" charset="-122"/>
              </a:rPr>
              <a:t>RuleChain </a:t>
            </a:r>
            <a:r>
              <a:rPr lang="zh-CN" altLang="en-US" sz="1600" dirty="0">
                <a:latin typeface="仿宋" panose="02010609060101010101" pitchFamily="49" charset="-122"/>
                <a:ea typeface="仿宋" panose="02010609060101010101" pitchFamily="49" charset="-122"/>
              </a:rPr>
              <a:t>并在 </a:t>
            </a:r>
            <a:r>
              <a:rPr lang="en-US" altLang="zh-CN" sz="1600" dirty="0">
                <a:latin typeface="仿宋" panose="02010609060101010101" pitchFamily="49" charset="-122"/>
                <a:ea typeface="仿宋" panose="02010609060101010101" pitchFamily="49" charset="-122"/>
              </a:rPr>
              <a:t>run </a:t>
            </a:r>
            <a:r>
              <a:rPr lang="zh-CN" altLang="en-US" sz="1600" dirty="0">
                <a:latin typeface="仿宋" panose="02010609060101010101" pitchFamily="49" charset="-122"/>
                <a:ea typeface="仿宋" panose="02010609060101010101" pitchFamily="49" charset="-122"/>
              </a:rPr>
              <a:t>中执行检查。</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RuleChain </a:t>
            </a:r>
            <a:r>
              <a:rPr lang="zh-CN" altLang="en-US" sz="1600" dirty="0">
                <a:latin typeface="仿宋" panose="02010609060101010101" pitchFamily="49" charset="-122"/>
                <a:ea typeface="仿宋" panose="02010609060101010101" pitchFamily="49" charset="-122"/>
              </a:rPr>
              <a:t>是责任链接口，定义 </a:t>
            </a:r>
            <a:r>
              <a:rPr lang="en-US" altLang="zh-CN" sz="1600" dirty="0">
                <a:latin typeface="仿宋" panose="02010609060101010101" pitchFamily="49" charset="-122"/>
                <a:ea typeface="仿宋" panose="02010609060101010101" pitchFamily="49" charset="-122"/>
              </a:rPr>
              <a:t>check() </a:t>
            </a:r>
            <a:r>
              <a:rPr lang="zh-CN" altLang="en-US" sz="1600" dirty="0">
                <a:latin typeface="仿宋" panose="02010609060101010101" pitchFamily="49" charset="-122"/>
                <a:ea typeface="仿宋" panose="02010609060101010101" pitchFamily="49" charset="-122"/>
              </a:rPr>
              <a:t>和 </a:t>
            </a:r>
            <a:r>
              <a:rPr lang="en-US" altLang="zh-CN" sz="1600" dirty="0">
                <a:latin typeface="仿宋" panose="02010609060101010101" pitchFamily="49" charset="-122"/>
                <a:ea typeface="仿宋" panose="02010609060101010101" pitchFamily="49" charset="-122"/>
              </a:rPr>
              <a:t>getMatches()</a:t>
            </a:r>
            <a:r>
              <a:rPr lang="zh-CN" altLang="en-US" sz="1600" dirty="0">
                <a:latin typeface="仿宋" panose="02010609060101010101" pitchFamily="49" charset="-122"/>
                <a:ea typeface="仿宋" panose="02010609060101010101" pitchFamily="49" charset="-122"/>
              </a:rPr>
              <a:t>。</a:t>
            </a:r>
            <a:br>
              <a:rPr lang="zh-CN" altLang="en-US" sz="1600" dirty="0">
                <a:latin typeface="仿宋" panose="02010609060101010101" pitchFamily="49" charset="-122"/>
                <a:ea typeface="仿宋" panose="02010609060101010101" pitchFamily="49" charset="-122"/>
              </a:rPr>
            </a:br>
            <a:r>
              <a:rPr lang="en-US" altLang="zh-CN" sz="1600" dirty="0">
                <a:latin typeface="仿宋" panose="02010609060101010101" pitchFamily="49" charset="-122"/>
                <a:ea typeface="仿宋" panose="02010609060101010101" pitchFamily="49" charset="-122"/>
              </a:rPr>
              <a:t>	</a:t>
            </a:r>
            <a:r>
              <a:rPr lang="en-US" altLang="zh-CN" sz="1600" b="1" dirty="0">
                <a:ea typeface="仿宋" panose="02010609060101010101" pitchFamily="49" charset="-122"/>
              </a:rPr>
              <a:t>HealthCheckMonitorChain</a:t>
            </a:r>
            <a:r>
              <a:rPr lang="en-US" altLang="zh-CN" sz="1600"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是其实现，内部维护一组 </a:t>
            </a:r>
            <a:r>
              <a:rPr lang="en-US" altLang="zh-CN" sz="1600" dirty="0">
                <a:latin typeface="仿宋" panose="02010609060101010101" pitchFamily="49" charset="-122"/>
                <a:ea typeface="仿宋" panose="02010609060101010101" pitchFamily="49" charset="-122"/>
              </a:rPr>
              <a:t>Rule </a:t>
            </a:r>
            <a:r>
              <a:rPr lang="zh-CN" altLang="en-US" sz="1600" dirty="0">
                <a:latin typeface="仿宋" panose="02010609060101010101" pitchFamily="49" charset="-122"/>
                <a:ea typeface="仿宋" panose="02010609060101010101" pitchFamily="49" charset="-122"/>
              </a:rPr>
              <a:t>规则，按顺序执行，并将各规则匹配结果汇总到 </a:t>
            </a:r>
            <a:r>
              <a:rPr lang="en-US" altLang="zh-CN" sz="1600" dirty="0">
                <a:latin typeface="仿宋" panose="02010609060101010101" pitchFamily="49" charset="-122"/>
                <a:ea typeface="仿宋" panose="02010609060101010101" pitchFamily="49" charset="-122"/>
              </a:rPr>
              <a:t>matches</a:t>
            </a:r>
            <a:r>
              <a:rPr lang="zh-CN" altLang="en-US" sz="1600" dirty="0">
                <a:latin typeface="仿宋" panose="02010609060101010101" pitchFamily="49" charset="-122"/>
                <a:ea typeface="仿宋" panose="02010609060101010101" pitchFamily="49" charset="-122"/>
              </a:rPr>
              <a:t>。</a:t>
            </a:r>
          </a:p>
          <a:p>
            <a:endParaRPr lang="en-US" altLang="zh-CN" sz="1600" b="1" dirty="0">
              <a:latin typeface="仿宋" panose="02010609060101010101" pitchFamily="49" charset="-122"/>
              <a:ea typeface="仿宋" panose="02010609060101010101" pitchFamily="49" charset="-122"/>
            </a:endParaRPr>
          </a:p>
          <a:p>
            <a:r>
              <a:rPr lang="zh-CN" altLang="en-US" sz="1600" b="1" dirty="0">
                <a:latin typeface="+mn-ea"/>
              </a:rPr>
              <a:t>好处</a:t>
            </a:r>
            <a:endParaRPr lang="zh-CN" altLang="en-US" sz="1600" dirty="0">
              <a:latin typeface="+mn-ea"/>
            </a:endParaRPr>
          </a:p>
          <a:p>
            <a:pPr lvl="1"/>
            <a:r>
              <a:rPr lang="zh-CN" altLang="en-US" sz="1600" b="1" dirty="0">
                <a:latin typeface="仿宋" panose="02010609060101010101" pitchFamily="49" charset="-122"/>
                <a:ea typeface="仿宋" panose="02010609060101010101" pitchFamily="49" charset="-122"/>
              </a:rPr>
              <a:t>异步执行</a:t>
            </a:r>
            <a:r>
              <a:rPr lang="zh-CN" altLang="en-US" sz="1600" dirty="0">
                <a:latin typeface="仿宋" panose="02010609060101010101" pitchFamily="49" charset="-122"/>
                <a:ea typeface="仿宋" panose="02010609060101010101" pitchFamily="49" charset="-122"/>
              </a:rPr>
              <a:t>：检查任务独立线程运行，避免阻塞主流程。</a:t>
            </a:r>
          </a:p>
          <a:p>
            <a:pPr lvl="1"/>
            <a:r>
              <a:rPr lang="zh-CN" altLang="en-US" sz="1600" b="1" dirty="0">
                <a:latin typeface="仿宋" panose="02010609060101010101" pitchFamily="49" charset="-122"/>
                <a:ea typeface="仿宋" panose="02010609060101010101" pitchFamily="49" charset="-122"/>
              </a:rPr>
              <a:t>责任链模式</a:t>
            </a:r>
            <a:r>
              <a:rPr lang="zh-CN" altLang="en-US" sz="1600" dirty="0">
                <a:latin typeface="仿宋" panose="02010609060101010101" pitchFamily="49" charset="-122"/>
                <a:ea typeface="仿宋" panose="02010609060101010101" pitchFamily="49" charset="-122"/>
              </a:rPr>
              <a:t>：规则按链式顺序执行，解耦规则之间的依赖，新增</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删除规则不影响整体结构。</a:t>
            </a:r>
          </a:p>
          <a:p>
            <a:pPr lvl="1"/>
            <a:r>
              <a:rPr lang="zh-CN" altLang="en-US" sz="1600" b="1" dirty="0">
                <a:latin typeface="仿宋" panose="02010609060101010101" pitchFamily="49" charset="-122"/>
                <a:ea typeface="仿宋" panose="02010609060101010101" pitchFamily="49" charset="-122"/>
              </a:rPr>
              <a:t>结果聚合</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HealthCheckMonitorChain </a:t>
            </a:r>
            <a:r>
              <a:rPr lang="zh-CN" altLang="en-US" sz="1600" dirty="0">
                <a:latin typeface="仿宋" panose="02010609060101010101" pitchFamily="49" charset="-122"/>
                <a:ea typeface="仿宋" panose="02010609060101010101" pitchFamily="49" charset="-122"/>
              </a:rPr>
              <a:t>统一收集所有规则匹配结果，便于上层一次性获取完整健康状态。</a:t>
            </a:r>
          </a:p>
        </p:txBody>
      </p:sp>
      <p:pic>
        <p:nvPicPr>
          <p:cNvPr id="3" name="图片 2">
            <a:extLst>
              <a:ext uri="{FF2B5EF4-FFF2-40B4-BE49-F238E27FC236}">
                <a16:creationId xmlns:a16="http://schemas.microsoft.com/office/drawing/2014/main" id="{EDA73110-2D67-3888-F178-A75E8094283A}"/>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3393152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61EB5-48F0-765D-86C1-43C35B18A44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3D3E6AE-3BEA-7F90-AC3F-27D2F2D0AE0A}"/>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CD627507-9A2D-9B62-F06F-47A0B626BC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10</a:t>
            </a:fld>
            <a:endParaRPr lang="zh-CN" altLang="en-US"/>
          </a:p>
        </p:txBody>
      </p:sp>
      <p:sp>
        <p:nvSpPr>
          <p:cNvPr id="6" name="文本框 5">
            <a:extLst>
              <a:ext uri="{FF2B5EF4-FFF2-40B4-BE49-F238E27FC236}">
                <a16:creationId xmlns:a16="http://schemas.microsoft.com/office/drawing/2014/main" id="{A835E654-F499-709D-515F-7C1CF89CD3AF}"/>
              </a:ext>
            </a:extLst>
          </p:cNvPr>
          <p:cNvSpPr txBox="1"/>
          <p:nvPr/>
        </p:nvSpPr>
        <p:spPr>
          <a:xfrm>
            <a:off x="550426" y="908470"/>
            <a:ext cx="5260826" cy="4955203"/>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b="1" dirty="0"/>
              <a:t> </a:t>
            </a:r>
            <a:r>
              <a:rPr lang="en-US" altLang="zh-CN" b="1" dirty="0"/>
              <a:t>3</a:t>
            </a:r>
            <a:r>
              <a:rPr lang="zh-CN" altLang="en-US" b="1" dirty="0"/>
              <a:t>）规则抽象与构建层：</a:t>
            </a:r>
          </a:p>
          <a:p>
            <a:endParaRPr lang="en-US" altLang="zh-CN" sz="2000" b="1" dirty="0">
              <a:latin typeface="仿宋" panose="02010609060101010101" pitchFamily="49" charset="-122"/>
              <a:ea typeface="仿宋" panose="02010609060101010101" pitchFamily="49" charset="-122"/>
            </a:endParaRPr>
          </a:p>
          <a:p>
            <a:r>
              <a:rPr lang="zh-CN" altLang="en-US" sz="1400" b="1" dirty="0">
                <a:latin typeface="+mn-ea"/>
              </a:rPr>
              <a:t>设计</a:t>
            </a:r>
            <a:endParaRPr lang="en-US" altLang="zh-CN" sz="1400" b="1" dirty="0">
              <a:latin typeface="仿宋" panose="02010609060101010101" pitchFamily="49" charset="-122"/>
              <a:ea typeface="仿宋" panose="02010609060101010101" pitchFamily="49" charset="-122"/>
            </a:endParaRPr>
          </a:p>
          <a:p>
            <a:r>
              <a:rPr lang="en-US" altLang="zh-CN" sz="1400" b="1"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AbstractRule</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为模板方法基类，封装了规则共有的属性（队列、</a:t>
            </a:r>
            <a:r>
              <a:rPr lang="en-US" altLang="zh-CN" sz="1400" dirty="0">
                <a:latin typeface="仿宋" panose="02010609060101010101" pitchFamily="49" charset="-122"/>
                <a:ea typeface="仿宋" panose="02010609060101010101" pitchFamily="49" charset="-122"/>
              </a:rPr>
              <a:t>MBean</a:t>
            </a:r>
            <a:r>
              <a:rPr lang="zh-CN" altLang="en-US" sz="1400" dirty="0">
                <a:latin typeface="仿宋" panose="02010609060101010101" pitchFamily="49" charset="-122"/>
                <a:ea typeface="仿宋" panose="02010609060101010101" pitchFamily="49" charset="-122"/>
              </a:rPr>
              <a:t>、属性、阈值、间隔等）和抽象方法（</a:t>
            </a:r>
            <a:r>
              <a:rPr lang="en-US" altLang="zh-CN" sz="1400" dirty="0">
                <a:latin typeface="仿宋" panose="02010609060101010101" pitchFamily="49" charset="-122"/>
                <a:ea typeface="仿宋" panose="02010609060101010101" pitchFamily="49" charset="-122"/>
              </a:rPr>
              <a:t>checkData</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formatValue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getValue</a:t>
            </a:r>
            <a:r>
              <a:rPr lang="zh-CN" altLang="en-US" sz="1400" dirty="0">
                <a:latin typeface="仿宋" panose="02010609060101010101" pitchFamily="49" charset="-122"/>
                <a:ea typeface="仿宋" panose="02010609060101010101" pitchFamily="49" charset="-122"/>
              </a:rPr>
              <a:t>）。</a:t>
            </a:r>
            <a:br>
              <a:rPr lang="en-US" altLang="zh-CN" sz="1400" dirty="0">
                <a:latin typeface="仿宋" panose="02010609060101010101" pitchFamily="49" charset="-122"/>
                <a:ea typeface="仿宋" panose="02010609060101010101" pitchFamily="49" charset="-122"/>
              </a:rPr>
            </a:br>
            <a:r>
              <a:rPr lang="en-US" altLang="zh-CN" sz="1400"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RuleFactory</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接口定义规则链与规则列表的构建方法，</a:t>
            </a:r>
            <a:r>
              <a:rPr lang="en-US" altLang="zh-CN" sz="1400" dirty="0">
                <a:latin typeface="仿宋" panose="02010609060101010101" pitchFamily="49" charset="-122"/>
                <a:ea typeface="仿宋" panose="02010609060101010101" pitchFamily="49" charset="-122"/>
              </a:rPr>
              <a:t>RuleFactoryImpl </a:t>
            </a:r>
            <a:r>
              <a:rPr lang="zh-CN" altLang="en-US" sz="1400" dirty="0">
                <a:latin typeface="仿宋" panose="02010609060101010101" pitchFamily="49" charset="-122"/>
                <a:ea typeface="仿宋" panose="02010609060101010101" pitchFamily="49" charset="-122"/>
              </a:rPr>
              <a:t>通过组合多个 </a:t>
            </a:r>
            <a:r>
              <a:rPr lang="en-US" altLang="zh-CN" sz="1400" dirty="0">
                <a:latin typeface="仿宋" panose="02010609060101010101" pitchFamily="49" charset="-122"/>
                <a:ea typeface="仿宋" panose="02010609060101010101" pitchFamily="49" charset="-122"/>
              </a:rPr>
              <a:t>RuleBuilder </a:t>
            </a:r>
            <a:r>
              <a:rPr lang="zh-CN" altLang="en-US" sz="1400" dirty="0">
                <a:latin typeface="仿宋" panose="02010609060101010101" pitchFamily="49" charset="-122"/>
                <a:ea typeface="仿宋" panose="02010609060101010101" pitchFamily="49" charset="-122"/>
              </a:rPr>
              <a:t>来动态构建规则链。</a:t>
            </a:r>
            <a:br>
              <a:rPr lang="zh-CN" altLang="en-US" sz="1400" dirty="0">
                <a:latin typeface="仿宋" panose="02010609060101010101" pitchFamily="49" charset="-122"/>
                <a:ea typeface="仿宋" panose="02010609060101010101" pitchFamily="49" charset="-122"/>
              </a:rPr>
            </a:br>
            <a:r>
              <a:rPr lang="en-US" altLang="zh-CN" sz="1400" dirty="0">
                <a:latin typeface="仿宋" panose="02010609060101010101" pitchFamily="49" charset="-122"/>
                <a:ea typeface="仿宋" panose="02010609060101010101" pitchFamily="49" charset="-122"/>
              </a:rPr>
              <a:t>	</a:t>
            </a:r>
            <a:r>
              <a:rPr lang="en-US" altLang="zh-CN" sz="1400" b="1" dirty="0">
                <a:ea typeface="仿宋" panose="02010609060101010101" pitchFamily="49" charset="-122"/>
              </a:rPr>
              <a:t>BaseRuleBuilder</a:t>
            </a:r>
            <a:r>
              <a:rPr lang="en-US" altLang="zh-CN" sz="1400" dirty="0">
                <a:latin typeface="仿宋" panose="02010609060101010101" pitchFamily="49" charset="-122"/>
                <a:ea typeface="仿宋" panose="02010609060101010101" pitchFamily="49" charset="-122"/>
              </a:rPr>
              <a:t> </a:t>
            </a:r>
            <a:r>
              <a:rPr lang="zh-CN" altLang="en-US" sz="1400" dirty="0">
                <a:latin typeface="仿宋" panose="02010609060101010101" pitchFamily="49" charset="-122"/>
                <a:ea typeface="仿宋" panose="02010609060101010101" pitchFamily="49" charset="-122"/>
              </a:rPr>
              <a:t>及其子类（如 </a:t>
            </a:r>
            <a:r>
              <a:rPr lang="en-US" altLang="zh-CN" sz="1400" dirty="0">
                <a:latin typeface="仿宋" panose="02010609060101010101" pitchFamily="49" charset="-122"/>
                <a:ea typeface="仿宋" panose="02010609060101010101" pitchFamily="49" charset="-122"/>
              </a:rPr>
              <a:t>LongTypeRuleBuilder</a:t>
            </a:r>
            <a:r>
              <a:rPr lang="zh-CN" altLang="en-US" sz="1400" dirty="0">
                <a:latin typeface="仿宋" panose="02010609060101010101" pitchFamily="49" charset="-122"/>
                <a:ea typeface="仿宋" panose="02010609060101010101" pitchFamily="49" charset="-122"/>
              </a:rPr>
              <a:t>）采用建造者模式，逐步构建具体规则（如 </a:t>
            </a:r>
            <a:r>
              <a:rPr lang="en-US" altLang="zh-CN" sz="1400" dirty="0">
                <a:latin typeface="仿宋" panose="02010609060101010101" pitchFamily="49" charset="-122"/>
                <a:ea typeface="仿宋" panose="02010609060101010101" pitchFamily="49" charset="-122"/>
              </a:rPr>
              <a:t>CpuRule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MemoryUsageRule</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FullGcRule </a:t>
            </a:r>
            <a:r>
              <a:rPr lang="zh-CN" altLang="en-US" sz="1400" dirty="0">
                <a:latin typeface="仿宋" panose="02010609060101010101" pitchFamily="49" charset="-122"/>
                <a:ea typeface="仿宋" panose="02010609060101010101" pitchFamily="49" charset="-122"/>
              </a:rPr>
              <a:t>等）。</a:t>
            </a:r>
            <a:endParaRPr lang="en-US" altLang="zh-CN" sz="1400" b="1" dirty="0">
              <a:latin typeface="仿宋" panose="02010609060101010101" pitchFamily="49" charset="-122"/>
              <a:ea typeface="仿宋" panose="02010609060101010101" pitchFamily="49" charset="-122"/>
            </a:endParaRPr>
          </a:p>
          <a:p>
            <a:endParaRPr lang="en-US" altLang="zh-CN" sz="1400" b="1" dirty="0">
              <a:latin typeface="+mn-ea"/>
            </a:endParaRPr>
          </a:p>
          <a:p>
            <a:r>
              <a:rPr lang="zh-CN" altLang="en-US" sz="1400" b="1" dirty="0">
                <a:latin typeface="+mn-ea"/>
              </a:rPr>
              <a:t>好处</a:t>
            </a:r>
            <a:endParaRPr lang="zh-CN" altLang="en-US" sz="1400" dirty="0">
              <a:latin typeface="+mn-ea"/>
            </a:endParaRPr>
          </a:p>
          <a:p>
            <a:r>
              <a:rPr lang="en-US" altLang="zh-CN" sz="1400" b="1"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模板方法模式</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AbstractRule</a:t>
            </a:r>
            <a:r>
              <a:rPr lang="zh-CN" altLang="en-US" sz="1400" dirty="0">
                <a:latin typeface="仿宋" panose="02010609060101010101" pitchFamily="49" charset="-122"/>
                <a:ea typeface="仿宋" panose="02010609060101010101" pitchFamily="49" charset="-122"/>
              </a:rPr>
              <a:t> 将通用逻辑（如数据获取、阈值比较、连续次数判断）固化，子类只需实现特定类型的格式化与检查，减少重复代码。</a:t>
            </a:r>
          </a:p>
          <a:p>
            <a:r>
              <a:rPr lang="en-US" altLang="zh-CN" sz="1400" b="1"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工厂</a:t>
            </a:r>
            <a:r>
              <a:rPr lang="en-US" altLang="zh-CN" sz="1400" b="1" dirty="0">
                <a:latin typeface="仿宋" panose="02010609060101010101" pitchFamily="49" charset="-122"/>
                <a:ea typeface="仿宋" panose="02010609060101010101" pitchFamily="49" charset="-122"/>
              </a:rPr>
              <a:t>+</a:t>
            </a:r>
            <a:r>
              <a:rPr lang="zh-CN" altLang="en-US" sz="1400" b="1" dirty="0">
                <a:latin typeface="仿宋" panose="02010609060101010101" pitchFamily="49" charset="-122"/>
                <a:ea typeface="仿宋" panose="02010609060101010101" pitchFamily="49" charset="-122"/>
              </a:rPr>
              <a:t>建造者结合</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RuleFactory</a:t>
            </a:r>
            <a:r>
              <a:rPr lang="zh-CN" altLang="en-US" sz="1400" dirty="0">
                <a:latin typeface="仿宋" panose="02010609060101010101" pitchFamily="49" charset="-122"/>
                <a:ea typeface="仿宋" panose="02010609060101010101" pitchFamily="49" charset="-122"/>
              </a:rPr>
              <a:t> 屏蔽规则链的复杂构建过程，</a:t>
            </a:r>
            <a:r>
              <a:rPr lang="en-US" altLang="zh-CN" sz="1400" dirty="0">
                <a:latin typeface="仿宋" panose="02010609060101010101" pitchFamily="49" charset="-122"/>
                <a:ea typeface="仿宋" panose="02010609060101010101" pitchFamily="49" charset="-122"/>
              </a:rPr>
              <a:t>RuleBuilder</a:t>
            </a:r>
            <a:r>
              <a:rPr lang="zh-CN" altLang="en-US" sz="1400" dirty="0">
                <a:latin typeface="仿宋" panose="02010609060101010101" pitchFamily="49" charset="-122"/>
                <a:ea typeface="仿宋" panose="02010609060101010101" pitchFamily="49" charset="-122"/>
              </a:rPr>
              <a:t> 支持灵活配置不同规则，便于扩展新规则类型。</a:t>
            </a:r>
          </a:p>
        </p:txBody>
      </p:sp>
      <p:pic>
        <p:nvPicPr>
          <p:cNvPr id="3" name="图片 2">
            <a:extLst>
              <a:ext uri="{FF2B5EF4-FFF2-40B4-BE49-F238E27FC236}">
                <a16:creationId xmlns:a16="http://schemas.microsoft.com/office/drawing/2014/main" id="{841E55A1-1840-5E42-3DF2-BFD112FA411E}"/>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33452740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BEB45-48C6-41AD-CC36-3FCC78727EA8}"/>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F92C1CE-EE15-B8C3-EF78-A447AECDC7FD}"/>
              </a:ext>
            </a:extLst>
          </p:cNvPr>
          <p:cNvSpPr>
            <a:spLocks noGrp="1"/>
          </p:cNvSpPr>
          <p:nvPr>
            <p:ph type="title"/>
          </p:nvPr>
        </p:nvSpPr>
        <p:spPr/>
        <p:txBody>
          <a:bodyPr/>
          <a:lstStyle/>
          <a:p>
            <a:r>
              <a:rPr lang="en-US" altLang="zh-CN" dirty="0"/>
              <a:t>3</a:t>
            </a:r>
            <a:r>
              <a:rPr lang="zh-CN" altLang="en-US" dirty="0"/>
              <a:t>入职后的主要工作</a:t>
            </a:r>
            <a:r>
              <a:rPr lang="en-US" altLang="zh-CN" dirty="0"/>
              <a:t>——</a:t>
            </a:r>
            <a:r>
              <a:rPr lang="zh-CN" altLang="en-US" dirty="0"/>
              <a:t> 需求详细展示 </a:t>
            </a:r>
            <a:endParaRPr lang="en-US" altLang="zh-CN" dirty="0"/>
          </a:p>
        </p:txBody>
      </p:sp>
      <p:sp>
        <p:nvSpPr>
          <p:cNvPr id="4" name="灯片编号占位符 3">
            <a:extLst>
              <a:ext uri="{FF2B5EF4-FFF2-40B4-BE49-F238E27FC236}">
                <a16:creationId xmlns:a16="http://schemas.microsoft.com/office/drawing/2014/main" id="{4D6CE410-68B0-5FF2-6393-BFD8EB9CB33F}"/>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11</a:t>
            </a:fld>
            <a:endParaRPr lang="zh-CN" altLang="en-US"/>
          </a:p>
        </p:txBody>
      </p:sp>
      <p:sp>
        <p:nvSpPr>
          <p:cNvPr id="6" name="文本框 5">
            <a:extLst>
              <a:ext uri="{FF2B5EF4-FFF2-40B4-BE49-F238E27FC236}">
                <a16:creationId xmlns:a16="http://schemas.microsoft.com/office/drawing/2014/main" id="{E3AC8466-ADEF-2CF8-FC36-7A1162C16D46}"/>
              </a:ext>
            </a:extLst>
          </p:cNvPr>
          <p:cNvSpPr txBox="1"/>
          <p:nvPr/>
        </p:nvSpPr>
        <p:spPr>
          <a:xfrm>
            <a:off x="550426" y="908470"/>
            <a:ext cx="5260826" cy="4616648"/>
          </a:xfrm>
          <a:prstGeom prst="rect">
            <a:avLst/>
          </a:prstGeom>
          <a:noFill/>
        </p:spPr>
        <p:txBody>
          <a:bodyPr wrap="square">
            <a:spAutoFit/>
          </a:bodyPr>
          <a:lstStyle/>
          <a:p>
            <a:r>
              <a:rPr lang="zh-CN" altLang="en-US" b="1" dirty="0"/>
              <a:t>一、新增实例健康度功能</a:t>
            </a:r>
            <a:endParaRPr lang="en-US" altLang="zh-CN" dirty="0"/>
          </a:p>
          <a:p>
            <a:r>
              <a:rPr lang="en-US" altLang="zh-CN" dirty="0"/>
              <a:t>  3. </a:t>
            </a:r>
            <a:r>
              <a:rPr lang="zh-CN" altLang="en-US" b="1" dirty="0"/>
              <a:t>功能整体设计</a:t>
            </a:r>
            <a:endParaRPr lang="en-US" altLang="zh-CN" b="1" dirty="0"/>
          </a:p>
          <a:p>
            <a:endParaRPr lang="en-US" altLang="zh-CN" b="1" dirty="0"/>
          </a:p>
          <a:p>
            <a:r>
              <a:rPr lang="zh-CN" altLang="en-US" b="1" dirty="0"/>
              <a:t> </a:t>
            </a:r>
            <a:r>
              <a:rPr lang="en-US" altLang="zh-CN" b="1" dirty="0"/>
              <a:t>4</a:t>
            </a:r>
            <a:r>
              <a:rPr lang="zh-CN" altLang="en-US" b="1" dirty="0"/>
              <a:t>）具体规则实现层：</a:t>
            </a:r>
          </a:p>
          <a:p>
            <a:endParaRPr lang="en-US" altLang="zh-CN" sz="2000" b="1" dirty="0">
              <a:latin typeface="仿宋" panose="02010609060101010101" pitchFamily="49" charset="-122"/>
              <a:ea typeface="仿宋" panose="02010609060101010101" pitchFamily="49" charset="-122"/>
            </a:endParaRPr>
          </a:p>
          <a:p>
            <a:r>
              <a:rPr lang="zh-CN" altLang="en-US" sz="1400" b="1" dirty="0">
                <a:latin typeface="+mn-ea"/>
              </a:rPr>
              <a:t>设计</a:t>
            </a:r>
            <a:endParaRPr lang="en-US" altLang="zh-CN" sz="1400" b="1" dirty="0">
              <a:latin typeface="仿宋" panose="02010609060101010101" pitchFamily="49" charset="-122"/>
              <a:ea typeface="仿宋" panose="02010609060101010101" pitchFamily="49" charset="-122"/>
            </a:endParaRPr>
          </a:p>
          <a:p>
            <a:r>
              <a:rPr lang="en-US" altLang="zh-CN" sz="1600" b="1" dirty="0">
                <a:latin typeface="仿宋" panose="02010609060101010101" pitchFamily="49" charset="-122"/>
                <a:ea typeface="仿宋" panose="02010609060101010101" pitchFamily="49" charset="-122"/>
              </a:rPr>
              <a:t>	</a:t>
            </a:r>
            <a:r>
              <a:rPr lang="zh-CN" altLang="en-US" sz="1600" dirty="0">
                <a:latin typeface="仿宋" panose="02010609060101010101" pitchFamily="49" charset="-122"/>
                <a:ea typeface="仿宋" panose="02010609060101010101" pitchFamily="49" charset="-122"/>
              </a:rPr>
              <a:t>各具体规则继承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，实现特定资源类型的数据采集与健康判断逻辑。例如 </a:t>
            </a:r>
            <a:r>
              <a:rPr lang="en-US" altLang="zh-CN" sz="1600" dirty="0">
                <a:latin typeface="仿宋" panose="02010609060101010101" pitchFamily="49" charset="-122"/>
                <a:ea typeface="仿宋" panose="02010609060101010101" pitchFamily="49" charset="-122"/>
              </a:rPr>
              <a:t>CpuRule</a:t>
            </a:r>
            <a:r>
              <a:rPr lang="zh-CN" altLang="en-US" sz="1600" dirty="0">
                <a:latin typeface="仿宋" panose="02010609060101010101" pitchFamily="49" charset="-122"/>
                <a:ea typeface="仿宋" panose="02010609060101010101" pitchFamily="49" charset="-122"/>
              </a:rPr>
              <a:t> 获取 </a:t>
            </a:r>
            <a:r>
              <a:rPr lang="en-US" altLang="zh-CN" sz="1600" dirty="0">
                <a:latin typeface="仿宋" panose="02010609060101010101" pitchFamily="49" charset="-122"/>
                <a:ea typeface="仿宋" panose="02010609060101010101" pitchFamily="49" charset="-122"/>
              </a:rPr>
              <a:t>CPU </a:t>
            </a:r>
            <a:r>
              <a:rPr lang="zh-CN" altLang="en-US" sz="1600" dirty="0">
                <a:latin typeface="仿宋" panose="02010609060101010101" pitchFamily="49" charset="-122"/>
                <a:ea typeface="仿宋" panose="02010609060101010101" pitchFamily="49" charset="-122"/>
              </a:rPr>
              <a:t>使用率，</a:t>
            </a:r>
            <a:r>
              <a:rPr lang="en-US" altLang="zh-CN" sz="1600" dirty="0">
                <a:latin typeface="仿宋" panose="02010609060101010101" pitchFamily="49" charset="-122"/>
                <a:ea typeface="仿宋" panose="02010609060101010101" pitchFamily="49" charset="-122"/>
              </a:rPr>
              <a:t>FullGcRule</a:t>
            </a:r>
            <a:r>
              <a:rPr lang="zh-CN" altLang="en-US" sz="1600" dirty="0">
                <a:latin typeface="仿宋" panose="02010609060101010101" pitchFamily="49" charset="-122"/>
                <a:ea typeface="仿宋" panose="02010609060101010101" pitchFamily="49" charset="-122"/>
              </a:rPr>
              <a:t> 检测 </a:t>
            </a:r>
            <a:r>
              <a:rPr lang="en-US" altLang="zh-CN" sz="1600" dirty="0">
                <a:latin typeface="仿宋" panose="02010609060101010101" pitchFamily="49" charset="-122"/>
                <a:ea typeface="仿宋" panose="02010609060101010101" pitchFamily="49" charset="-122"/>
              </a:rPr>
              <a:t>Full GC </a:t>
            </a:r>
            <a:r>
              <a:rPr lang="zh-CN" altLang="en-US" sz="1600" dirty="0">
                <a:latin typeface="仿宋" panose="02010609060101010101" pitchFamily="49" charset="-122"/>
                <a:ea typeface="仿宋" panose="02010609060101010101" pitchFamily="49" charset="-122"/>
              </a:rPr>
              <a:t>频率。</a:t>
            </a:r>
            <a:endParaRPr lang="en-US" altLang="zh-CN" sz="1600" b="1" dirty="0">
              <a:latin typeface="仿宋" panose="02010609060101010101" pitchFamily="49" charset="-122"/>
              <a:ea typeface="仿宋" panose="02010609060101010101" pitchFamily="49" charset="-122"/>
            </a:endParaRPr>
          </a:p>
          <a:p>
            <a:endParaRPr lang="en-US" altLang="zh-CN" sz="1400" b="1" dirty="0">
              <a:latin typeface="+mn-ea"/>
            </a:endParaRPr>
          </a:p>
          <a:p>
            <a:r>
              <a:rPr lang="zh-CN" altLang="en-US" sz="1400" b="1" dirty="0">
                <a:latin typeface="+mn-ea"/>
              </a:rPr>
              <a:t>好处</a:t>
            </a:r>
            <a:endParaRPr lang="zh-CN" altLang="en-US" sz="1400" dirty="0">
              <a:latin typeface="+mn-ea"/>
            </a:endParaRPr>
          </a:p>
          <a:p>
            <a:r>
              <a:rPr lang="en-US" altLang="zh-CN" sz="14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开闭原则</a:t>
            </a:r>
            <a:r>
              <a:rPr lang="zh-CN" altLang="en-US" sz="1600" dirty="0">
                <a:latin typeface="仿宋" panose="02010609060101010101" pitchFamily="49" charset="-122"/>
                <a:ea typeface="仿宋" panose="02010609060101010101" pitchFamily="49" charset="-122"/>
              </a:rPr>
              <a:t>：新增健康检查指标（如磁盘使用率、网络延迟）只需新增一个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 子类及对应 </a:t>
            </a:r>
            <a:r>
              <a:rPr lang="en-US" altLang="zh-CN" sz="1600" dirty="0">
                <a:latin typeface="仿宋" panose="02010609060101010101" pitchFamily="49" charset="-122"/>
                <a:ea typeface="仿宋" panose="02010609060101010101" pitchFamily="49" charset="-122"/>
              </a:rPr>
              <a:t>Builder</a:t>
            </a:r>
            <a:r>
              <a:rPr lang="zh-CN" altLang="en-US" sz="1600" dirty="0">
                <a:latin typeface="仿宋" panose="02010609060101010101" pitchFamily="49" charset="-122"/>
                <a:ea typeface="仿宋" panose="02010609060101010101" pitchFamily="49" charset="-122"/>
              </a:rPr>
              <a:t>，无需修改现有规则链与调度逻辑。</a:t>
            </a:r>
          </a:p>
          <a:p>
            <a:r>
              <a:rPr lang="en-US" altLang="zh-CN" sz="16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类型安全</a:t>
            </a:r>
            <a:r>
              <a:rPr lang="zh-CN" altLang="en-US" sz="1600" dirty="0">
                <a:latin typeface="仿宋" panose="02010609060101010101" pitchFamily="49" charset="-122"/>
                <a:ea typeface="仿宋" panose="02010609060101010101" pitchFamily="49" charset="-122"/>
              </a:rPr>
              <a:t>：通过泛型 </a:t>
            </a:r>
            <a:r>
              <a:rPr lang="en-US" altLang="zh-CN" sz="1600" dirty="0">
                <a:latin typeface="仿宋" panose="02010609060101010101" pitchFamily="49" charset="-122"/>
                <a:ea typeface="仿宋" panose="02010609060101010101" pitchFamily="49" charset="-122"/>
              </a:rPr>
              <a:t>AbstractRule&lt;T&gt;</a:t>
            </a:r>
            <a:r>
              <a:rPr lang="zh-CN" altLang="en-US" sz="1600" dirty="0">
                <a:latin typeface="仿宋" panose="02010609060101010101" pitchFamily="49" charset="-122"/>
                <a:ea typeface="仿宋" panose="02010609060101010101" pitchFamily="49" charset="-122"/>
              </a:rPr>
              <a:t> 明确规则处理的数据类型（如 </a:t>
            </a:r>
            <a:r>
              <a:rPr lang="en-US" altLang="zh-CN" sz="1600" dirty="0">
                <a:latin typeface="仿宋" panose="02010609060101010101" pitchFamily="49" charset="-122"/>
                <a:ea typeface="仿宋" panose="02010609060101010101" pitchFamily="49" charset="-122"/>
              </a:rPr>
              <a:t>Double</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Long</a:t>
            </a:r>
            <a:r>
              <a:rPr lang="zh-CN" altLang="en-US" sz="1600" dirty="0">
                <a:latin typeface="仿宋" panose="02010609060101010101" pitchFamily="49" charset="-122"/>
                <a:ea typeface="仿宋" panose="02010609060101010101" pitchFamily="49" charset="-122"/>
              </a:rPr>
              <a:t>），避免类型转换错误。</a:t>
            </a:r>
          </a:p>
          <a:p>
            <a:r>
              <a:rPr lang="en-US" altLang="zh-CN" sz="1600" b="1" dirty="0">
                <a:latin typeface="仿宋" panose="02010609060101010101" pitchFamily="49" charset="-122"/>
                <a:ea typeface="仿宋" panose="02010609060101010101" pitchFamily="49" charset="-122"/>
              </a:rPr>
              <a:t>	</a:t>
            </a:r>
            <a:r>
              <a:rPr lang="zh-CN" altLang="en-US" sz="1600" b="1" dirty="0">
                <a:latin typeface="仿宋" panose="02010609060101010101" pitchFamily="49" charset="-122"/>
                <a:ea typeface="仿宋" panose="02010609060101010101" pitchFamily="49" charset="-122"/>
              </a:rPr>
              <a:t>复用性</a:t>
            </a:r>
            <a:r>
              <a:rPr lang="zh-CN" altLang="en-US" sz="1600" dirty="0">
                <a:latin typeface="仿宋" panose="02010609060101010101" pitchFamily="49" charset="-122"/>
                <a:ea typeface="仿宋" panose="02010609060101010101" pitchFamily="49" charset="-122"/>
              </a:rPr>
              <a:t>：同一类规则（如所有数值阈值型规则）可复用 </a:t>
            </a:r>
            <a:r>
              <a:rPr lang="en-US" altLang="zh-CN" sz="1600" dirty="0">
                <a:latin typeface="仿宋" panose="02010609060101010101" pitchFamily="49" charset="-122"/>
                <a:ea typeface="仿宋" panose="02010609060101010101" pitchFamily="49" charset="-122"/>
              </a:rPr>
              <a:t>AbstractRule</a:t>
            </a:r>
            <a:r>
              <a:rPr lang="zh-CN" altLang="en-US" sz="1600" dirty="0">
                <a:latin typeface="仿宋" panose="02010609060101010101" pitchFamily="49" charset="-122"/>
                <a:ea typeface="仿宋" panose="02010609060101010101" pitchFamily="49" charset="-122"/>
              </a:rPr>
              <a:t> 的通用算法逻辑。</a:t>
            </a:r>
          </a:p>
        </p:txBody>
      </p:sp>
      <p:pic>
        <p:nvPicPr>
          <p:cNvPr id="3" name="图片 2">
            <a:extLst>
              <a:ext uri="{FF2B5EF4-FFF2-40B4-BE49-F238E27FC236}">
                <a16:creationId xmlns:a16="http://schemas.microsoft.com/office/drawing/2014/main" id="{4FAD3C82-94B5-DABF-58A3-E234C70E3A62}"/>
              </a:ext>
            </a:extLst>
          </p:cNvPr>
          <p:cNvPicPr>
            <a:picLocks noChangeAspect="1"/>
          </p:cNvPicPr>
          <p:nvPr/>
        </p:nvPicPr>
        <p:blipFill>
          <a:blip r:embed="rId2"/>
          <a:stretch>
            <a:fillRect/>
          </a:stretch>
        </p:blipFill>
        <p:spPr>
          <a:xfrm>
            <a:off x="5931568" y="1355327"/>
            <a:ext cx="6051731" cy="4263420"/>
          </a:xfrm>
          <a:prstGeom prst="rect">
            <a:avLst/>
          </a:prstGeom>
        </p:spPr>
      </p:pic>
    </p:spTree>
    <p:extLst>
      <p:ext uri="{BB962C8B-B14F-4D97-AF65-F5344CB8AC3E}">
        <p14:creationId xmlns:p14="http://schemas.microsoft.com/office/powerpoint/2010/main" val="9354942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3.1</a:t>
            </a:r>
            <a:r>
              <a:rPr lang="zh-CN" altLang="en-US" dirty="0"/>
              <a:t> 主要工作成果</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12</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12334" y="827907"/>
            <a:ext cx="9367035" cy="5201424"/>
          </a:xfrm>
          <a:prstGeom prst="rect">
            <a:avLst/>
          </a:prstGeom>
          <a:noFill/>
        </p:spPr>
        <p:txBody>
          <a:bodyPr wrap="square">
            <a:spAutoFit/>
          </a:bodyPr>
          <a:lstStyle/>
          <a:p>
            <a:r>
              <a:rPr lang="zh-CN" altLang="en-US" sz="1800" b="1" dirty="0">
                <a:latin typeface="+mn-ea"/>
              </a:rPr>
              <a:t>一、主要工作成绩</a:t>
            </a:r>
            <a:endParaRPr lang="en-US" altLang="zh-CN" sz="1800" b="1" dirty="0">
              <a:latin typeface="+mn-ea"/>
            </a:endParaRPr>
          </a:p>
          <a:p>
            <a:endParaRPr lang="en-US" altLang="zh-CN" sz="1800" dirty="0"/>
          </a:p>
          <a:p>
            <a:pPr marL="342900" indent="-342900">
              <a:buAutoNum type="arabicPeriod"/>
            </a:pPr>
            <a:r>
              <a:rPr lang="zh-CN" altLang="en-US" sz="1600" dirty="0">
                <a:latin typeface="仿宋" panose="02010609060101010101" pitchFamily="49" charset="-122"/>
                <a:ea typeface="仿宋" panose="02010609060101010101" pitchFamily="49" charset="-122"/>
              </a:rPr>
              <a:t>各个版本各个模块及子组件的需求均有所涉及，对于各模块都有一定的熟悉程度。</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zh-CN" altLang="en-US" sz="1600" dirty="0">
                <a:latin typeface="仿宋" panose="02010609060101010101" pitchFamily="49" charset="-122"/>
                <a:ea typeface="仿宋" panose="02010609060101010101" pitchFamily="49" charset="-122"/>
              </a:rPr>
              <a:t>独立承担了部署应用增加附加类库属性，从需求到测试的相关工作。对于核心应用部署，及其类加载流程有一定的了解。</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en-US" altLang="zh-CN" sz="1600" dirty="0">
                <a:latin typeface="仿宋" panose="02010609060101010101" pitchFamily="49" charset="-122"/>
                <a:ea typeface="仿宋" panose="02010609060101010101" pitchFamily="49" charset="-122"/>
              </a:rPr>
              <a:t>AppGuard</a:t>
            </a:r>
            <a:r>
              <a:rPr lang="zh-CN" altLang="en-US" sz="1600" dirty="0">
                <a:latin typeface="仿宋" panose="02010609060101010101" pitchFamily="49" charset="-122"/>
                <a:ea typeface="仿宋" panose="02010609060101010101" pitchFamily="49" charset="-122"/>
              </a:rPr>
              <a:t>日志模块，切换日志框架后，对功能做了优化，后续如需要切换其他日志框架只需要替换</a:t>
            </a:r>
            <a:r>
              <a:rPr lang="en-US" altLang="zh-CN" sz="1600" dirty="0">
                <a:latin typeface="仿宋" panose="02010609060101010101" pitchFamily="49" charset="-122"/>
                <a:ea typeface="仿宋" panose="02010609060101010101" pitchFamily="49" charset="-122"/>
              </a:rPr>
              <a:t>pom</a:t>
            </a:r>
            <a:r>
              <a:rPr lang="zh-CN" altLang="en-US" sz="1600" dirty="0">
                <a:latin typeface="仿宋" panose="02010609060101010101" pitchFamily="49" charset="-122"/>
                <a:ea typeface="仿宋" panose="02010609060101010101" pitchFamily="49" charset="-122"/>
              </a:rPr>
              <a:t>依赖即可</a:t>
            </a:r>
            <a:endParaRPr lang="en-US" altLang="zh-CN" sz="1600" dirty="0">
              <a:latin typeface="仿宋" panose="02010609060101010101" pitchFamily="49" charset="-122"/>
              <a:ea typeface="仿宋" panose="02010609060101010101" pitchFamily="49" charset="-122"/>
            </a:endParaRPr>
          </a:p>
          <a:p>
            <a:pPr marL="342900" indent="-342900">
              <a:buAutoNum type="arabicPeriod"/>
            </a:pPr>
            <a:endParaRPr lang="en-US" altLang="zh-CN" sz="1800" dirty="0">
              <a:latin typeface="仿宋" panose="02010609060101010101" pitchFamily="49" charset="-122"/>
              <a:ea typeface="仿宋" panose="02010609060101010101" pitchFamily="49" charset="-122"/>
            </a:endParaRPr>
          </a:p>
          <a:p>
            <a:r>
              <a:rPr lang="zh-CN" altLang="en-US" b="1" dirty="0">
                <a:latin typeface="+mn-ea"/>
              </a:rPr>
              <a:t>二、工作改进总结</a:t>
            </a:r>
            <a:endParaRPr lang="en-US" altLang="zh-CN" b="1" dirty="0">
              <a:latin typeface="+mn-ea"/>
            </a:endParaRPr>
          </a:p>
          <a:p>
            <a:endParaRPr lang="en-US" altLang="zh-CN" b="1" dirty="0">
              <a:latin typeface="+mn-ea"/>
            </a:endParaRPr>
          </a:p>
          <a:p>
            <a:pPr marL="342900" indent="-342900">
              <a:buAutoNum type="arabicPeriod"/>
            </a:pPr>
            <a:r>
              <a:rPr lang="zh-CN" altLang="en-US" sz="1600" b="1" dirty="0">
                <a:latin typeface="华文中宋" panose="02010600040101010101" pitchFamily="2" charset="-122"/>
                <a:ea typeface="华文中宋" panose="02010600040101010101" pitchFamily="2" charset="-122"/>
              </a:rPr>
              <a:t>加深产品宏观理解</a:t>
            </a:r>
            <a:r>
              <a:rPr lang="zh-CN" altLang="en-US" sz="1600" dirty="0">
                <a:latin typeface="仿宋" panose="02010609060101010101" pitchFamily="49" charset="-122"/>
                <a:ea typeface="仿宋" panose="02010609060101010101" pitchFamily="49" charset="-122"/>
              </a:rPr>
              <a:t>：对于产品的整体熟悉程度还不够，导致在工作中出现重复造轮子的情况。实际上产品上已经有相关的工具类。</a:t>
            </a:r>
            <a:endParaRPr lang="en-US" altLang="zh-CN" sz="1600" dirty="0">
              <a:latin typeface="仿宋" panose="02010609060101010101" pitchFamily="49" charset="-122"/>
              <a:ea typeface="仿宋" panose="02010609060101010101" pitchFamily="49" charset="-122"/>
            </a:endParaRPr>
          </a:p>
          <a:p>
            <a:pPr lvl="1"/>
            <a:endParaRPr lang="en-US" altLang="zh-CN" sz="1600" dirty="0">
              <a:latin typeface="仿宋" panose="02010609060101010101" pitchFamily="49" charset="-122"/>
              <a:ea typeface="仿宋" panose="02010609060101010101" pitchFamily="49" charset="-122"/>
            </a:endParaRPr>
          </a:p>
          <a:p>
            <a:pPr marL="342900" indent="-342900">
              <a:buAutoNum type="arabicPeriod"/>
            </a:pPr>
            <a:r>
              <a:rPr lang="zh-CN" altLang="en-US" sz="1600" b="1" dirty="0">
                <a:latin typeface="华文中宋" panose="02010600040101010101" pitchFamily="2" charset="-122"/>
                <a:ea typeface="华文中宋" panose="02010600040101010101" pitchFamily="2" charset="-122"/>
              </a:rPr>
              <a:t>保持严谨、注意细节</a:t>
            </a:r>
            <a:r>
              <a:rPr lang="zh-CN" altLang="en-US" sz="1600" dirty="0">
                <a:latin typeface="仿宋" panose="02010609060101010101" pitchFamily="49" charset="-122"/>
                <a:ea typeface="仿宋" panose="02010609060101010101" pitchFamily="49" charset="-122"/>
              </a:rPr>
              <a:t>：对于工作产出需要保持高度的严谨，细节可能注意的不到位。工作中出现过，代码规范不符合原有风格，修改相关</a:t>
            </a:r>
            <a:r>
              <a:rPr lang="en-US" altLang="zh-CN" sz="1600" dirty="0">
                <a:latin typeface="仿宋" panose="02010609060101010101" pitchFamily="49" charset="-122"/>
                <a:ea typeface="仿宋" panose="02010609060101010101" pitchFamily="49" charset="-122"/>
              </a:rPr>
              <a:t>Bug</a:t>
            </a:r>
            <a:r>
              <a:rPr lang="zh-CN" altLang="en-US" sz="1600" dirty="0">
                <a:latin typeface="仿宋" panose="02010609060101010101" pitchFamily="49" charset="-122"/>
                <a:ea typeface="仿宋" panose="02010609060101010101" pitchFamily="49" charset="-122"/>
              </a:rPr>
              <a:t>问题后没有注意修改代码引起的其他场景可能会出现问题等。</a:t>
            </a:r>
            <a:endParaRPr lang="en-US" altLang="zh-CN" sz="16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pPr marL="342900" indent="-342900">
              <a:buAutoNum type="arabicPeriod" startAt="3"/>
            </a:pPr>
            <a:r>
              <a:rPr lang="zh-CN" altLang="en-US" sz="1600" b="1" dirty="0">
                <a:latin typeface="华文中宋" panose="02010600040101010101" pitchFamily="2" charset="-122"/>
                <a:ea typeface="华文中宋" panose="02010600040101010101" pitchFamily="2" charset="-122"/>
              </a:rPr>
              <a:t>充分沟通、充分理解需求</a:t>
            </a:r>
            <a:r>
              <a:rPr lang="zh-CN" altLang="en-US"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对于相关需求一定要进行充分的沟通，把每一个细节都理解透。否则会导致出现，工作产出与需求不符合的情况。</a:t>
            </a:r>
            <a:endParaRPr lang="en-US" altLang="zh-CN" sz="1600" dirty="0">
              <a:latin typeface="仿宋" panose="02010609060101010101" pitchFamily="49" charset="-122"/>
              <a:ea typeface="仿宋" panose="02010609060101010101" pitchFamily="49" charset="-122"/>
            </a:endParaRPr>
          </a:p>
        </p:txBody>
      </p:sp>
    </p:spTree>
    <p:extLst>
      <p:ext uri="{BB962C8B-B14F-4D97-AF65-F5344CB8AC3E}">
        <p14:creationId xmlns:p14="http://schemas.microsoft.com/office/powerpoint/2010/main" val="9586199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13</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600436" y="1061198"/>
            <a:ext cx="4991472" cy="5047536"/>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latin typeface="+mn-ea"/>
              </a:rPr>
              <a:t>概述</a:t>
            </a:r>
            <a:r>
              <a:rPr lang="en-US" altLang="zh-CN" b="1" dirty="0">
                <a:latin typeface="+mn-ea"/>
              </a:rPr>
              <a:t>: </a:t>
            </a:r>
          </a:p>
          <a:p>
            <a:r>
              <a:rPr lang="en-US" altLang="zh-CN" sz="1800" b="1" dirty="0">
                <a:latin typeface="+mn-ea"/>
              </a:rPr>
              <a:t>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模块是指提供命令交互方式来管理和操作系统。一个良好的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框架能够显著降低运维复杂度，提升系统的可控性。</a:t>
            </a:r>
            <a:endParaRPr lang="en-US" altLang="zh-CN" sz="14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zh-CN" altLang="en-US" b="1" dirty="0">
                <a:latin typeface="+mn-ea"/>
              </a:rPr>
              <a:t>整体框架说明：</a:t>
            </a:r>
            <a:endParaRPr lang="en-US" altLang="zh-CN" b="1" dirty="0">
              <a:latin typeface="+mn-ea"/>
            </a:endParaRPr>
          </a:p>
          <a:p>
            <a:r>
              <a:rPr lang="en-US" altLang="zh-CN" b="1" dirty="0">
                <a:latin typeface="+mn-ea"/>
              </a:rPr>
              <a:t>	</a:t>
            </a:r>
            <a:r>
              <a:rPr lang="zh-CN" altLang="en-US" sz="1400" dirty="0">
                <a:latin typeface="仿宋" panose="02010609060101010101" pitchFamily="49" charset="-122"/>
                <a:ea typeface="仿宋" panose="02010609060101010101" pitchFamily="49" charset="-122"/>
              </a:rPr>
              <a:t>该框架分为：入口与对象创建层、命令抽象与远程适配层、核心业务逻辑骨架层、具体命令与处理器编排层、具体处理器实现层。</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仿宋" panose="02010609060101010101" pitchFamily="49" charset="-122"/>
                <a:ea typeface="仿宋" panose="02010609060101010101" pitchFamily="49" charset="-122"/>
              </a:rPr>
              <a:t>整体上，该设计通过 </a:t>
            </a:r>
            <a:r>
              <a:rPr lang="zh-CN" altLang="en-US" sz="1400" b="1" dirty="0">
                <a:latin typeface="仿宋" panose="02010609060101010101" pitchFamily="49" charset="-122"/>
                <a:ea typeface="仿宋" panose="02010609060101010101" pitchFamily="49" charset="-122"/>
              </a:rPr>
              <a:t>分层抽象 </a:t>
            </a:r>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工厂解耦</a:t>
            </a:r>
            <a:r>
              <a:rPr lang="zh-CN" altLang="en-US" sz="1400" dirty="0">
                <a:latin typeface="仿宋" panose="02010609060101010101" pitchFamily="49" charset="-122"/>
                <a:ea typeface="仿宋" panose="02010609060101010101" pitchFamily="49" charset="-122"/>
              </a:rPr>
              <a:t> </a:t>
            </a:r>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责任链拆分</a:t>
            </a:r>
            <a:r>
              <a:rPr lang="zh-CN" altLang="en-US" sz="1400" dirty="0">
                <a:latin typeface="仿宋" panose="02010609060101010101" pitchFamily="49" charset="-122"/>
                <a:ea typeface="仿宋" panose="02010609060101010101" pitchFamily="49" charset="-122"/>
              </a:rPr>
              <a:t>，实现了：</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高扩展性</a:t>
            </a:r>
            <a:r>
              <a:rPr lang="zh-CN" altLang="en-US" sz="1400" dirty="0">
                <a:latin typeface="仿宋" panose="02010609060101010101" pitchFamily="49" charset="-122"/>
                <a:ea typeface="仿宋" panose="02010609060101010101" pitchFamily="49" charset="-122"/>
              </a:rPr>
              <a:t>：新增命令、新增处理步骤几乎不修改原有代码。</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高可维护性</a:t>
            </a:r>
            <a:r>
              <a:rPr lang="zh-CN" altLang="en-US" sz="1400" dirty="0">
                <a:latin typeface="仿宋" panose="02010609060101010101" pitchFamily="49" charset="-122"/>
                <a:ea typeface="仿宋" panose="02010609060101010101" pitchFamily="49" charset="-122"/>
              </a:rPr>
              <a:t>：每个类职责清晰，流程统一。</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统一管理</a:t>
            </a:r>
            <a:r>
              <a:rPr lang="zh-CN" altLang="en-US" sz="1400" dirty="0">
                <a:latin typeface="仿宋" panose="02010609060101010101" pitchFamily="49" charset="-122"/>
                <a:ea typeface="仿宋" panose="02010609060101010101" pitchFamily="49" charset="-122"/>
              </a:rPr>
              <a:t>：本地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与远程管理共享相同的命令模型，便于统一监控与控制。</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灵活的执行顺序控制</a:t>
            </a:r>
            <a:r>
              <a:rPr lang="zh-CN" altLang="en-US" sz="1400" dirty="0">
                <a:latin typeface="仿宋" panose="02010609060101010101" pitchFamily="49" charset="-122"/>
                <a:ea typeface="仿宋" panose="02010609060101010101" pitchFamily="49" charset="-122"/>
              </a:rPr>
              <a:t>：通过优先级队列，命令内部步骤可动态排序，无需硬编码</a:t>
            </a:r>
            <a:r>
              <a:rPr lang="zh-CN" altLang="en-US" sz="1600" dirty="0">
                <a:latin typeface="仿宋" panose="02010609060101010101" pitchFamily="49" charset="-122"/>
                <a:ea typeface="仿宋" panose="02010609060101010101" pitchFamily="49" charset="-122"/>
              </a:rPr>
              <a:t>。</a:t>
            </a:r>
          </a:p>
        </p:txBody>
      </p:sp>
      <p:pic>
        <p:nvPicPr>
          <p:cNvPr id="10" name="图片 9">
            <a:extLst>
              <a:ext uri="{FF2B5EF4-FFF2-40B4-BE49-F238E27FC236}">
                <a16:creationId xmlns:a16="http://schemas.microsoft.com/office/drawing/2014/main" id="{3C62BCA2-B7F8-2DAE-E0B0-7946FED66C4A}"/>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2662118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0D6E8-500B-9603-8576-E091083F7F2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1FC6A792-2E5D-7BCE-A016-F1739FD9C45F}"/>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CC74D79D-C449-2B3C-7198-64F6C8CF589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14</a:t>
            </a:fld>
            <a:endParaRPr lang="zh-CN" altLang="en-US"/>
          </a:p>
        </p:txBody>
      </p:sp>
      <p:sp>
        <p:nvSpPr>
          <p:cNvPr id="6" name="文本框 5">
            <a:extLst>
              <a:ext uri="{FF2B5EF4-FFF2-40B4-BE49-F238E27FC236}">
                <a16:creationId xmlns:a16="http://schemas.microsoft.com/office/drawing/2014/main" id="{0BEB0D6C-5A41-C748-FB45-9C392F6AC7C5}"/>
              </a:ext>
            </a:extLst>
          </p:cNvPr>
          <p:cNvSpPr txBox="1"/>
          <p:nvPr/>
        </p:nvSpPr>
        <p:spPr>
          <a:xfrm>
            <a:off x="398213" y="908470"/>
            <a:ext cx="4991472" cy="5478423"/>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第一层：入口与对象创建层 </a:t>
            </a:r>
            <a:r>
              <a:rPr lang="en-US" altLang="zh-CN" b="1" dirty="0"/>
              <a:t>(CLI / Main &amp; CommandFactory)</a:t>
            </a:r>
          </a:p>
          <a:p>
            <a:endParaRPr lang="en-US" altLang="zh-CN" b="1" dirty="0"/>
          </a:p>
          <a:p>
            <a:r>
              <a:rPr lang="zh-CN" altLang="en-US" b="1" dirty="0"/>
              <a:t>设计总结：</a:t>
            </a:r>
          </a:p>
          <a:p>
            <a:pPr lvl="1"/>
            <a:r>
              <a:rPr lang="zh-CN" altLang="en-US" sz="1600" b="1" dirty="0">
                <a:latin typeface="仿宋" panose="02010609060101010101" pitchFamily="49" charset="-122"/>
                <a:ea typeface="仿宋" panose="02010609060101010101" pitchFamily="49" charset="-122"/>
              </a:rPr>
              <a:t>统一入口</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CLI / Main</a:t>
            </a:r>
            <a:r>
              <a:rPr lang="zh-CN" altLang="en-US" sz="1600" dirty="0">
                <a:latin typeface="仿宋" panose="02010609060101010101" pitchFamily="49" charset="-122"/>
                <a:ea typeface="仿宋" panose="02010609060101010101" pitchFamily="49" charset="-122"/>
              </a:rPr>
              <a:t> 是程序的唯一入口点。</a:t>
            </a:r>
          </a:p>
          <a:p>
            <a:pPr lvl="1"/>
            <a:r>
              <a:rPr lang="zh-CN" altLang="en-US" sz="1600" b="1" dirty="0">
                <a:latin typeface="仿宋" panose="02010609060101010101" pitchFamily="49" charset="-122"/>
                <a:ea typeface="仿宋" panose="02010609060101010101" pitchFamily="49" charset="-122"/>
              </a:rPr>
              <a:t>工厂模式</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CommandFactory</a:t>
            </a:r>
            <a:r>
              <a:rPr lang="zh-CN" altLang="en-US" sz="1600" dirty="0">
                <a:latin typeface="仿宋" panose="02010609060101010101" pitchFamily="49" charset="-122"/>
                <a:ea typeface="仿宋" panose="02010609060101010101" pitchFamily="49" charset="-122"/>
              </a:rPr>
              <a:t> 负责根据 </a:t>
            </a:r>
            <a:r>
              <a:rPr lang="en-US" altLang="zh-CN" sz="1600" dirty="0">
                <a:latin typeface="仿宋" panose="02010609060101010101" pitchFamily="49" charset="-122"/>
                <a:ea typeface="仿宋" panose="02010609060101010101" pitchFamily="49" charset="-122"/>
              </a:rPr>
              <a:t>CommandDescriptor</a:t>
            </a:r>
            <a:r>
              <a:rPr lang="zh-CN" altLang="en-US" sz="1600" dirty="0">
                <a:latin typeface="仿宋" panose="02010609060101010101" pitchFamily="49" charset="-122"/>
                <a:ea typeface="仿宋" panose="02010609060101010101" pitchFamily="49" charset="-122"/>
              </a:rPr>
              <a:t>（配置文件）来创建具体的命令对象。它维护了一个 </a:t>
            </a:r>
            <a:r>
              <a:rPr lang="en-US" altLang="zh-CN" sz="1600" dirty="0">
                <a:latin typeface="仿宋" panose="02010609060101010101" pitchFamily="49" charset="-122"/>
                <a:ea typeface="仿宋" panose="02010609060101010101" pitchFamily="49" charset="-122"/>
              </a:rPr>
              <a:t>Map</a:t>
            </a:r>
            <a:r>
              <a:rPr lang="zh-CN" altLang="en-US" sz="1600" dirty="0">
                <a:latin typeface="仿宋" panose="02010609060101010101" pitchFamily="49" charset="-122"/>
                <a:ea typeface="仿宋" panose="02010609060101010101" pitchFamily="49" charset="-122"/>
              </a:rPr>
              <a:t>，将命令字符串映射到具体的类描述符。</a:t>
            </a:r>
            <a:endParaRPr lang="en-US" altLang="zh-CN" sz="1600" dirty="0">
              <a:latin typeface="仿宋" panose="02010609060101010101" pitchFamily="49" charset="-122"/>
              <a:ea typeface="仿宋" panose="02010609060101010101" pitchFamily="49" charset="-122"/>
            </a:endParaRPr>
          </a:p>
          <a:p>
            <a:pPr lvl="1"/>
            <a:endParaRPr lang="zh-CN" altLang="en-US" sz="16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600" b="1" dirty="0">
                <a:latin typeface="仿宋" panose="02010609060101010101" pitchFamily="49" charset="-122"/>
                <a:ea typeface="仿宋" panose="02010609060101010101" pitchFamily="49" charset="-122"/>
              </a:rPr>
              <a:t>解耦</a:t>
            </a:r>
            <a:r>
              <a:rPr lang="zh-CN" altLang="en-US" sz="1600" dirty="0">
                <a:latin typeface="仿宋" panose="02010609060101010101" pitchFamily="49" charset="-122"/>
                <a:ea typeface="仿宋" panose="02010609060101010101" pitchFamily="49" charset="-122"/>
              </a:rPr>
              <a:t>：主程序不需要知道具体有哪些命令类，只需要通过工厂获取。</a:t>
            </a:r>
          </a:p>
          <a:p>
            <a:pPr lvl="1"/>
            <a:r>
              <a:rPr lang="zh-CN" altLang="en-US" sz="1600" b="1" dirty="0">
                <a:latin typeface="仿宋" panose="02010609060101010101" pitchFamily="49" charset="-122"/>
                <a:ea typeface="仿宋" panose="02010609060101010101" pitchFamily="49" charset="-122"/>
              </a:rPr>
              <a:t>配置驱动</a:t>
            </a:r>
            <a:r>
              <a:rPr lang="zh-CN" altLang="en-US" sz="1600" dirty="0">
                <a:latin typeface="仿宋" panose="02010609060101010101" pitchFamily="49" charset="-122"/>
                <a:ea typeface="仿宋" panose="02010609060101010101" pitchFamily="49" charset="-122"/>
              </a:rPr>
              <a:t>：通过外部配置文件（</a:t>
            </a:r>
            <a:r>
              <a:rPr lang="en-US" altLang="zh-CN" sz="1600" dirty="0">
                <a:latin typeface="仿宋" panose="02010609060101010101" pitchFamily="49" charset="-122"/>
                <a:ea typeface="仿宋" panose="02010609060101010101" pitchFamily="49" charset="-122"/>
              </a:rPr>
              <a:t>CommandDescriptor</a:t>
            </a:r>
            <a:r>
              <a:rPr lang="zh-CN" altLang="en-US" sz="1600" dirty="0">
                <a:latin typeface="仿宋" panose="02010609060101010101" pitchFamily="49" charset="-122"/>
                <a:ea typeface="仿宋" panose="02010609060101010101" pitchFamily="49" charset="-122"/>
              </a:rPr>
              <a:t>）管理命令，意味着增加新命令可能只需要修改配置或注册，而不需要修改核心启动代码，符合开闭原则。</a:t>
            </a:r>
          </a:p>
          <a:p>
            <a:pPr lvl="1"/>
            <a:r>
              <a:rPr lang="zh-CN" altLang="en-US" sz="1600" b="1" dirty="0">
                <a:latin typeface="仿宋" panose="02010609060101010101" pitchFamily="49" charset="-122"/>
                <a:ea typeface="仿宋" panose="02010609060101010101" pitchFamily="49" charset="-122"/>
              </a:rPr>
              <a:t>集中管理</a:t>
            </a:r>
            <a:r>
              <a:rPr lang="zh-CN" altLang="en-US" sz="1600" dirty="0">
                <a:latin typeface="仿宋" panose="02010609060101010101" pitchFamily="49" charset="-122"/>
                <a:ea typeface="仿宋" panose="02010609060101010101" pitchFamily="49" charset="-122"/>
              </a:rPr>
              <a:t>：所有的命令创建逻辑集中在一处，便于维护。</a:t>
            </a:r>
          </a:p>
        </p:txBody>
      </p:sp>
      <p:pic>
        <p:nvPicPr>
          <p:cNvPr id="10" name="图片 9">
            <a:extLst>
              <a:ext uri="{FF2B5EF4-FFF2-40B4-BE49-F238E27FC236}">
                <a16:creationId xmlns:a16="http://schemas.microsoft.com/office/drawing/2014/main" id="{0A1E263F-3827-0B8F-B501-F5A3D48F9B65}"/>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2415995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74299-FD54-5FD8-6CCE-8BEC9784F43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4C03DF33-8436-61D5-0E82-33A70E571367}"/>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10AC9EAE-F576-1F59-6A9C-683E08ABA0E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15</a:t>
            </a:fld>
            <a:endParaRPr lang="zh-CN" altLang="en-US"/>
          </a:p>
        </p:txBody>
      </p:sp>
      <p:sp>
        <p:nvSpPr>
          <p:cNvPr id="6" name="文本框 5">
            <a:extLst>
              <a:ext uri="{FF2B5EF4-FFF2-40B4-BE49-F238E27FC236}">
                <a16:creationId xmlns:a16="http://schemas.microsoft.com/office/drawing/2014/main" id="{64823D12-16C7-AF2B-D755-6CEA1B101941}"/>
              </a:ext>
            </a:extLst>
          </p:cNvPr>
          <p:cNvSpPr txBox="1"/>
          <p:nvPr/>
        </p:nvSpPr>
        <p:spPr>
          <a:xfrm>
            <a:off x="615461" y="1012954"/>
            <a:ext cx="5345723" cy="4832092"/>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第二层：命令抽象与远程适配层 </a:t>
            </a:r>
            <a:r>
              <a:rPr lang="en-US" altLang="zh-CN" b="1" dirty="0"/>
              <a:t>(Abstract CliCommand &amp; CliRemoteCommand)</a:t>
            </a:r>
          </a:p>
          <a:p>
            <a:endParaRPr lang="en-US" altLang="zh-CN" b="1" dirty="0"/>
          </a:p>
          <a:p>
            <a:r>
              <a:rPr lang="zh-CN" altLang="en-US" b="1" dirty="0"/>
              <a:t>设计总结：</a:t>
            </a:r>
          </a:p>
          <a:p>
            <a:pPr lvl="1"/>
            <a:r>
              <a:rPr lang="zh-CN" altLang="en-US" sz="1400" b="1" dirty="0">
                <a:latin typeface="仿宋" panose="02010609060101010101" pitchFamily="49" charset="-122"/>
                <a:ea typeface="仿宋" panose="02010609060101010101" pitchFamily="49" charset="-122"/>
              </a:rPr>
              <a:t>模版方法模式 </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Abstract CliCommand </a:t>
            </a:r>
            <a:r>
              <a:rPr lang="zh-CN" altLang="en-US" sz="1400" dirty="0">
                <a:latin typeface="仿宋" panose="02010609060101010101" pitchFamily="49" charset="-122"/>
                <a:ea typeface="仿宋" panose="02010609060101010101" pitchFamily="49" charset="-122"/>
              </a:rPr>
              <a:t>定义了所有命令的标准接口（</a:t>
            </a:r>
            <a:r>
              <a:rPr lang="en-US" altLang="zh-CN" sz="1400" dirty="0">
                <a:latin typeface="仿宋" panose="02010609060101010101" pitchFamily="49" charset="-122"/>
                <a:ea typeface="仿宋" panose="02010609060101010101" pitchFamily="49" charset="-122"/>
              </a:rPr>
              <a:t>execute, initialize, prepare</a:t>
            </a:r>
            <a:r>
              <a:rPr lang="zh-CN" altLang="en-US" sz="1400" dirty="0">
                <a:latin typeface="仿宋" panose="02010609060101010101" pitchFamily="49" charset="-122"/>
                <a:ea typeface="仿宋" panose="02010609060101010101" pitchFamily="49" charset="-122"/>
              </a:rPr>
              <a:t>），及执行流程。</a:t>
            </a:r>
          </a:p>
          <a:p>
            <a:pPr lvl="1"/>
            <a:r>
              <a:rPr lang="zh-CN" altLang="en-US" sz="1400" b="1" dirty="0">
                <a:latin typeface="仿宋" panose="02010609060101010101" pitchFamily="49" charset="-122"/>
                <a:ea typeface="仿宋" panose="02010609060101010101" pitchFamily="49" charset="-122"/>
              </a:rPr>
              <a:t>本地与远程分离</a:t>
            </a:r>
            <a:r>
              <a:rPr lang="zh-CN" altLang="en-US" sz="1400" dirty="0">
                <a:latin typeface="仿宋" panose="02010609060101010101" pitchFamily="49" charset="-122"/>
                <a:ea typeface="仿宋" panose="02010609060101010101" pitchFamily="49" charset="-122"/>
              </a:rPr>
              <a:t>：设计了具体的命令如 </a:t>
            </a:r>
            <a:r>
              <a:rPr lang="en-US" altLang="zh-CN" sz="1400" dirty="0">
                <a:latin typeface="仿宋" panose="02010609060101010101" pitchFamily="49" charset="-122"/>
                <a:ea typeface="仿宋" panose="02010609060101010101" pitchFamily="49" charset="-122"/>
              </a:rPr>
              <a:t>StartServerCommand</a:t>
            </a:r>
            <a:r>
              <a:rPr lang="zh-CN" altLang="en-US" sz="1400" dirty="0">
                <a:latin typeface="仿宋" panose="02010609060101010101" pitchFamily="49" charset="-122"/>
                <a:ea typeface="仿宋" panose="02010609060101010101" pitchFamily="49" charset="-122"/>
              </a:rPr>
              <a:t>（本地执行）和 </a:t>
            </a:r>
            <a:r>
              <a:rPr lang="en-US" altLang="zh-CN" sz="1400" dirty="0">
                <a:latin typeface="仿宋" panose="02010609060101010101" pitchFamily="49" charset="-122"/>
                <a:ea typeface="仿宋" panose="02010609060101010101" pitchFamily="49" charset="-122"/>
              </a:rPr>
              <a:t>CliRemoteCommand</a:t>
            </a:r>
            <a:r>
              <a:rPr lang="zh-CN" altLang="en-US" sz="1400" dirty="0">
                <a:latin typeface="仿宋" panose="02010609060101010101" pitchFamily="49" charset="-122"/>
                <a:ea typeface="仿宋" panose="02010609060101010101" pitchFamily="49" charset="-122"/>
              </a:rPr>
              <a:t>（远程执行）。</a:t>
            </a:r>
          </a:p>
          <a:p>
            <a:pPr lvl="1"/>
            <a:r>
              <a:rPr lang="zh-CN" altLang="en-US" sz="1400" b="1" dirty="0">
                <a:latin typeface="仿宋" panose="02010609060101010101" pitchFamily="49" charset="-122"/>
                <a:ea typeface="仿宋" panose="02010609060101010101" pitchFamily="49" charset="-122"/>
              </a:rPr>
              <a:t>远程桥接</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CliRemoteCommand </a:t>
            </a:r>
            <a:r>
              <a:rPr lang="zh-CN" altLang="en-US" sz="1400" dirty="0">
                <a:latin typeface="仿宋" panose="02010609060101010101" pitchFamily="49" charset="-122"/>
                <a:ea typeface="仿宋" panose="02010609060101010101" pitchFamily="49" charset="-122"/>
              </a:rPr>
              <a:t>通过 </a:t>
            </a:r>
            <a:r>
              <a:rPr lang="en-US" altLang="zh-CN" sz="1400" dirty="0">
                <a:latin typeface="仿宋" panose="02010609060101010101" pitchFamily="49" charset="-122"/>
                <a:ea typeface="仿宋" panose="02010609060101010101" pitchFamily="49" charset="-122"/>
              </a:rPr>
              <a:t>sendRemoteCommand() </a:t>
            </a:r>
            <a:r>
              <a:rPr lang="zh-CN" altLang="en-US" sz="1400" dirty="0">
                <a:latin typeface="仿宋" panose="02010609060101010101" pitchFamily="49" charset="-122"/>
                <a:ea typeface="仿宋" panose="02010609060101010101" pitchFamily="49" charset="-122"/>
              </a:rPr>
              <a:t>将请求发送给 </a:t>
            </a:r>
            <a:r>
              <a:rPr lang="en-US" altLang="zh-CN" sz="1400" dirty="0">
                <a:latin typeface="仿宋" panose="02010609060101010101" pitchFamily="49" charset="-122"/>
                <a:ea typeface="仿宋" panose="02010609060101010101" pitchFamily="49" charset="-122"/>
              </a:rPr>
              <a:t>AdminCommandServlet</a:t>
            </a:r>
            <a:r>
              <a:rPr lang="zh-CN" altLang="en-US" sz="1400" dirty="0">
                <a:latin typeface="仿宋" panose="02010609060101010101" pitchFamily="49" charset="-122"/>
                <a:ea typeface="仿宋" panose="02010609060101010101" pitchFamily="49" charset="-122"/>
              </a:rPr>
              <a:t>，实现了本地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到远程服务器的通信。</a:t>
            </a:r>
            <a:endParaRPr lang="en-US" altLang="zh-CN" sz="1400" dirty="0">
              <a:latin typeface="仿宋" panose="02010609060101010101" pitchFamily="49" charset="-122"/>
              <a:ea typeface="仿宋" panose="02010609060101010101" pitchFamily="49" charset="-122"/>
            </a:endParaRPr>
          </a:p>
          <a:p>
            <a:pPr lvl="1"/>
            <a:endParaRPr lang="zh-CN" altLang="en-US" sz="14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400" b="1" dirty="0">
                <a:latin typeface="仿宋" panose="02010609060101010101" pitchFamily="49" charset="-122"/>
                <a:ea typeface="仿宋" panose="02010609060101010101" pitchFamily="49" charset="-122"/>
              </a:rPr>
              <a:t>统一接口</a:t>
            </a:r>
            <a:r>
              <a:rPr lang="zh-CN" altLang="en-US" sz="1400" dirty="0">
                <a:latin typeface="仿宋" panose="02010609060101010101" pitchFamily="49" charset="-122"/>
                <a:ea typeface="仿宋" panose="02010609060101010101" pitchFamily="49" charset="-122"/>
              </a:rPr>
              <a:t>：无论本地执行还是远程执行，上层调用者看到的都是统一的 </a:t>
            </a:r>
            <a:r>
              <a:rPr lang="en-US" altLang="zh-CN" sz="1400" dirty="0">
                <a:latin typeface="仿宋" panose="02010609060101010101" pitchFamily="49" charset="-122"/>
                <a:ea typeface="仿宋" panose="02010609060101010101" pitchFamily="49" charset="-122"/>
              </a:rPr>
              <a:t>execute() </a:t>
            </a:r>
            <a:r>
              <a:rPr lang="zh-CN" altLang="en-US" sz="1400" dirty="0">
                <a:latin typeface="仿宋" panose="02010609060101010101" pitchFamily="49" charset="-122"/>
                <a:ea typeface="仿宋" panose="02010609060101010101" pitchFamily="49" charset="-122"/>
              </a:rPr>
              <a:t>接口，屏蔽了底层实现的复杂性。</a:t>
            </a:r>
          </a:p>
          <a:p>
            <a:pPr lvl="1"/>
            <a:r>
              <a:rPr lang="zh-CN" altLang="en-US" sz="1400" b="1" dirty="0">
                <a:latin typeface="仿宋" panose="02010609060101010101" pitchFamily="49" charset="-122"/>
                <a:ea typeface="仿宋" panose="02010609060101010101" pitchFamily="49" charset="-122"/>
              </a:rPr>
              <a:t>分布式能力</a:t>
            </a:r>
            <a:r>
              <a:rPr lang="zh-CN" altLang="en-US" sz="1400" dirty="0">
                <a:latin typeface="仿宋" panose="02010609060101010101" pitchFamily="49" charset="-122"/>
                <a:ea typeface="仿宋" panose="02010609060101010101" pitchFamily="49" charset="-122"/>
              </a:rPr>
              <a:t>：系统天然支持远程管理。本地 </a:t>
            </a:r>
            <a:r>
              <a:rPr lang="en-US" altLang="zh-CN" sz="1400" dirty="0">
                <a:latin typeface="仿宋" panose="02010609060101010101" pitchFamily="49" charset="-122"/>
                <a:ea typeface="仿宋" panose="02010609060101010101" pitchFamily="49" charset="-122"/>
              </a:rPr>
              <a:t>CLI </a:t>
            </a:r>
            <a:r>
              <a:rPr lang="zh-CN" altLang="en-US" sz="1400" dirty="0">
                <a:latin typeface="仿宋" panose="02010609060101010101" pitchFamily="49" charset="-122"/>
                <a:ea typeface="仿宋" panose="02010609060101010101" pitchFamily="49" charset="-122"/>
              </a:rPr>
              <a:t>可以作为一个代理，将繁重的管理任务转发给服务器端的 </a:t>
            </a:r>
            <a:r>
              <a:rPr lang="en-US" altLang="zh-CN" sz="1400" dirty="0">
                <a:latin typeface="仿宋" panose="02010609060101010101" pitchFamily="49" charset="-122"/>
                <a:ea typeface="仿宋" panose="02010609060101010101" pitchFamily="49" charset="-122"/>
              </a:rPr>
              <a:t>Servlet </a:t>
            </a:r>
            <a:r>
              <a:rPr lang="zh-CN" altLang="en-US" sz="1400" dirty="0">
                <a:latin typeface="仿宋" panose="02010609060101010101" pitchFamily="49" charset="-122"/>
                <a:ea typeface="仿宋" panose="02010609060101010101" pitchFamily="49" charset="-122"/>
              </a:rPr>
              <a:t>处理。</a:t>
            </a:r>
          </a:p>
        </p:txBody>
      </p:sp>
      <p:pic>
        <p:nvPicPr>
          <p:cNvPr id="10" name="图片 9">
            <a:extLst>
              <a:ext uri="{FF2B5EF4-FFF2-40B4-BE49-F238E27FC236}">
                <a16:creationId xmlns:a16="http://schemas.microsoft.com/office/drawing/2014/main" id="{9A69543F-8D72-DEDC-5C56-023310B8981F}"/>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13120128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C8BC9-8C52-74BD-79EE-0669FD135B14}"/>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61BF9C2-A5E8-EAA1-2069-9B2DA15568AD}"/>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8EC91EBC-61CE-31A3-7D12-FF9E6052A288}"/>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16</a:t>
            </a:fld>
            <a:endParaRPr lang="zh-CN" altLang="en-US"/>
          </a:p>
        </p:txBody>
      </p:sp>
      <p:sp>
        <p:nvSpPr>
          <p:cNvPr id="6" name="文本框 5">
            <a:extLst>
              <a:ext uri="{FF2B5EF4-FFF2-40B4-BE49-F238E27FC236}">
                <a16:creationId xmlns:a16="http://schemas.microsoft.com/office/drawing/2014/main" id="{41F33873-5564-0576-B22A-D4CC31598175}"/>
              </a:ext>
            </a:extLst>
          </p:cNvPr>
          <p:cNvSpPr txBox="1"/>
          <p:nvPr/>
        </p:nvSpPr>
        <p:spPr>
          <a:xfrm>
            <a:off x="442175" y="908470"/>
            <a:ext cx="5123356" cy="5232202"/>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第三层：核心业务逻辑骨架层 </a:t>
            </a:r>
            <a:r>
              <a:rPr lang="en-US" altLang="zh-CN" b="1" dirty="0"/>
              <a:t>(Abstract BaseAdminCommand)</a:t>
            </a:r>
          </a:p>
          <a:p>
            <a:endParaRPr lang="en-US" altLang="zh-CN" b="1" dirty="0"/>
          </a:p>
          <a:p>
            <a:r>
              <a:rPr lang="zh-CN" altLang="en-US" b="1" dirty="0"/>
              <a:t>设计总结：</a:t>
            </a:r>
          </a:p>
          <a:p>
            <a:pPr lvl="1"/>
            <a:r>
              <a:rPr lang="zh-CN" altLang="en-US" sz="1600" b="1" dirty="0">
                <a:latin typeface="仿宋" panose="02010609060101010101" pitchFamily="49" charset="-122"/>
                <a:ea typeface="仿宋" panose="02010609060101010101" pitchFamily="49" charset="-122"/>
              </a:rPr>
              <a:t>模板方法模式 </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Abstract BaseAdminCommand</a:t>
            </a:r>
            <a:r>
              <a:rPr lang="zh-CN" altLang="en-US" sz="1600" dirty="0">
                <a:latin typeface="仿宋" panose="02010609060101010101" pitchFamily="49" charset="-122"/>
                <a:ea typeface="仿宋" panose="02010609060101010101" pitchFamily="49" charset="-122"/>
              </a:rPr>
              <a:t> 定义了执行一个管理任务的标准流程：</a:t>
            </a:r>
          </a:p>
          <a:p>
            <a:pPr lvl="2"/>
            <a:r>
              <a:rPr lang="en-US" altLang="zh-CN" sz="1600" dirty="0">
                <a:latin typeface="仿宋" panose="02010609060101010101" pitchFamily="49" charset="-122"/>
                <a:ea typeface="仿宋" panose="02010609060101010101" pitchFamily="49" charset="-122"/>
              </a:rPr>
              <a:t>lock()</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加锁，防止并发冲突</a:t>
            </a:r>
            <a:r>
              <a:rPr lang="en-US" altLang="zh-CN" sz="1600" dirty="0">
                <a:latin typeface="仿宋" panose="02010609060101010101" pitchFamily="49" charset="-122"/>
                <a:ea typeface="仿宋" panose="02010609060101010101" pitchFamily="49" charset="-122"/>
              </a:rPr>
              <a:t>)</a:t>
            </a:r>
          </a:p>
          <a:p>
            <a:pPr lvl="2"/>
            <a:r>
              <a:rPr lang="en-US" altLang="zh-CN" sz="1600" dirty="0">
                <a:latin typeface="仿宋" panose="02010609060101010101" pitchFamily="49" charset="-122"/>
                <a:ea typeface="仿宋" panose="02010609060101010101" pitchFamily="49" charset="-122"/>
              </a:rPr>
              <a:t>validate()</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参数校验</a:t>
            </a:r>
            <a:r>
              <a:rPr lang="en-US" altLang="zh-CN" sz="1600" dirty="0">
                <a:latin typeface="仿宋" panose="02010609060101010101" pitchFamily="49" charset="-122"/>
                <a:ea typeface="仿宋" panose="02010609060101010101" pitchFamily="49" charset="-122"/>
              </a:rPr>
              <a:t>)</a:t>
            </a:r>
          </a:p>
          <a:p>
            <a:pPr lvl="2"/>
            <a:r>
              <a:rPr lang="en-US" altLang="zh-CN" sz="1600" dirty="0">
                <a:latin typeface="仿宋" panose="02010609060101010101" pitchFamily="49" charset="-122"/>
                <a:ea typeface="仿宋" panose="02010609060101010101" pitchFamily="49" charset="-122"/>
              </a:rPr>
              <a:t>prepareHandlers()</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准备处理器</a:t>
            </a:r>
            <a:r>
              <a:rPr lang="en-US" altLang="zh-CN" sz="1600" dirty="0">
                <a:latin typeface="仿宋" panose="02010609060101010101" pitchFamily="49" charset="-122"/>
                <a:ea typeface="仿宋" panose="02010609060101010101" pitchFamily="49" charset="-122"/>
              </a:rPr>
              <a:t>)</a:t>
            </a:r>
          </a:p>
          <a:p>
            <a:pPr lvl="2"/>
            <a:r>
              <a:rPr lang="en-US" altLang="zh-CN" sz="1600" dirty="0">
                <a:latin typeface="仿宋" panose="02010609060101010101" pitchFamily="49" charset="-122"/>
                <a:ea typeface="仿宋" panose="02010609060101010101" pitchFamily="49" charset="-122"/>
              </a:rPr>
              <a:t>doExecute()</a:t>
            </a:r>
            <a:r>
              <a:rPr lang="zh-CN" altLang="en-US" sz="1600" dirty="0">
                <a:latin typeface="仿宋" panose="02010609060101010101" pitchFamily="49" charset="-122"/>
                <a:ea typeface="仿宋" panose="02010609060101010101" pitchFamily="49" charset="-122"/>
              </a:rPr>
              <a:t> </a:t>
            </a:r>
            <a:r>
              <a:rPr lang="en-US" altLang="zh-CN" sz="1600" dirty="0">
                <a:latin typeface="仿宋" panose="02010609060101010101" pitchFamily="49" charset="-122"/>
                <a:ea typeface="仿宋" panose="02010609060101010101" pitchFamily="49" charset="-122"/>
              </a:rPr>
              <a:t>(</a:t>
            </a:r>
            <a:r>
              <a:rPr lang="zh-CN" altLang="en-US" sz="1600" dirty="0">
                <a:latin typeface="仿宋" panose="02010609060101010101" pitchFamily="49" charset="-122"/>
                <a:ea typeface="仿宋" panose="02010609060101010101" pitchFamily="49" charset="-122"/>
              </a:rPr>
              <a:t>执行具体业务逻辑，由子类实现</a:t>
            </a:r>
            <a:r>
              <a:rPr lang="en-US" altLang="zh-CN" sz="1600" dirty="0">
                <a:latin typeface="仿宋" panose="02010609060101010101" pitchFamily="49" charset="-122"/>
                <a:ea typeface="仿宋" panose="02010609060101010101" pitchFamily="49" charset="-122"/>
              </a:rPr>
              <a:t>)</a:t>
            </a:r>
          </a:p>
          <a:p>
            <a:pPr lvl="2"/>
            <a:endParaRPr lang="en-US" altLang="zh-CN" sz="16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600" b="1" dirty="0">
                <a:latin typeface="仿宋" panose="02010609060101010101" pitchFamily="49" charset="-122"/>
                <a:ea typeface="仿宋" panose="02010609060101010101" pitchFamily="49" charset="-122"/>
              </a:rPr>
              <a:t>流程标准化</a:t>
            </a:r>
            <a:r>
              <a:rPr lang="zh-CN" altLang="en-US" sz="1600" dirty="0">
                <a:latin typeface="仿宋" panose="02010609060101010101" pitchFamily="49" charset="-122"/>
                <a:ea typeface="仿宋" panose="02010609060101010101" pitchFamily="49" charset="-122"/>
              </a:rPr>
              <a:t>：强制所有管理命令都必须经过“校验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准备 </a:t>
            </a:r>
            <a:r>
              <a:rPr lang="en-US" altLang="zh-CN" sz="1600" dirty="0">
                <a:latin typeface="仿宋" panose="02010609060101010101" pitchFamily="49" charset="-122"/>
                <a:ea typeface="仿宋" panose="02010609060101010101" pitchFamily="49" charset="-122"/>
              </a:rPr>
              <a:t>-&gt; </a:t>
            </a:r>
            <a:r>
              <a:rPr lang="zh-CN" altLang="en-US" sz="1600" dirty="0">
                <a:latin typeface="仿宋" panose="02010609060101010101" pitchFamily="49" charset="-122"/>
                <a:ea typeface="仿宋" panose="02010609060101010101" pitchFamily="49" charset="-122"/>
              </a:rPr>
              <a:t>执行”的过程，避免了代码重复，保证了系统的安全性（如校验和锁）。</a:t>
            </a:r>
          </a:p>
          <a:p>
            <a:pPr lvl="1"/>
            <a:r>
              <a:rPr lang="zh-CN" altLang="en-US" sz="1600" b="1" dirty="0">
                <a:latin typeface="仿宋" panose="02010609060101010101" pitchFamily="49" charset="-122"/>
                <a:ea typeface="仿宋" panose="02010609060101010101" pitchFamily="49" charset="-122"/>
              </a:rPr>
              <a:t>逻辑复用</a:t>
            </a:r>
            <a:r>
              <a:rPr lang="zh-CN" altLang="en-US" sz="1600" dirty="0">
                <a:latin typeface="仿宋" panose="02010609060101010101" pitchFamily="49" charset="-122"/>
                <a:ea typeface="仿宋" panose="02010609060101010101" pitchFamily="49" charset="-122"/>
              </a:rPr>
              <a:t>：通用的逻辑（如加锁、校验）在父类实现，子类只需关注具体的业务逻辑 </a:t>
            </a:r>
            <a:r>
              <a:rPr lang="en-US" altLang="zh-CN" sz="1600" dirty="0">
                <a:latin typeface="仿宋" panose="02010609060101010101" pitchFamily="49" charset="-122"/>
                <a:ea typeface="仿宋" panose="02010609060101010101" pitchFamily="49" charset="-122"/>
              </a:rPr>
              <a:t>(doExecute)</a:t>
            </a:r>
            <a:r>
              <a:rPr lang="zh-CN" altLang="en-US" sz="1600" dirty="0">
                <a:latin typeface="仿宋" panose="02010609060101010101" pitchFamily="49" charset="-122"/>
                <a:ea typeface="仿宋" panose="02010609060101010101" pitchFamily="49" charset="-122"/>
              </a:rPr>
              <a:t>。</a:t>
            </a:r>
          </a:p>
        </p:txBody>
      </p:sp>
      <p:pic>
        <p:nvPicPr>
          <p:cNvPr id="10" name="图片 9">
            <a:extLst>
              <a:ext uri="{FF2B5EF4-FFF2-40B4-BE49-F238E27FC236}">
                <a16:creationId xmlns:a16="http://schemas.microsoft.com/office/drawing/2014/main" id="{9DBDE767-CA65-5D3B-0604-0C5D8069EE6D}"/>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14869019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1121C-654D-51A2-2BC6-9A64105039E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A8301E2-5E98-47EE-F4EE-13C7C89E6112}"/>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C32C3DDC-D5FA-B755-67CB-9A738863E069}"/>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17</a:t>
            </a:fld>
            <a:endParaRPr lang="zh-CN" altLang="en-US"/>
          </a:p>
        </p:txBody>
      </p:sp>
      <p:sp>
        <p:nvSpPr>
          <p:cNvPr id="6" name="文本框 5">
            <a:extLst>
              <a:ext uri="{FF2B5EF4-FFF2-40B4-BE49-F238E27FC236}">
                <a16:creationId xmlns:a16="http://schemas.microsoft.com/office/drawing/2014/main" id="{7F161CCD-12D3-AE24-36BE-002A87387BC8}"/>
              </a:ext>
            </a:extLst>
          </p:cNvPr>
          <p:cNvSpPr txBox="1"/>
          <p:nvPr/>
        </p:nvSpPr>
        <p:spPr>
          <a:xfrm>
            <a:off x="336666" y="923976"/>
            <a:ext cx="5562971" cy="5478423"/>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第四层：具体命令与处理器编排层 </a:t>
            </a:r>
            <a:r>
              <a:rPr lang="en-US" altLang="zh-CN" b="1" dirty="0"/>
              <a:t>(DeployApplicationCommand </a:t>
            </a:r>
            <a:r>
              <a:rPr lang="zh-CN" altLang="en-US" b="1" dirty="0"/>
              <a:t>等</a:t>
            </a:r>
            <a:r>
              <a:rPr lang="en-US" altLang="zh-CN" b="1" dirty="0"/>
              <a:t>)</a:t>
            </a:r>
          </a:p>
          <a:p>
            <a:endParaRPr lang="en-US" altLang="zh-CN" b="1" dirty="0"/>
          </a:p>
          <a:p>
            <a:r>
              <a:rPr lang="zh-CN" altLang="en-US" dirty="0"/>
              <a:t>设计总结：</a:t>
            </a:r>
          </a:p>
          <a:p>
            <a:pPr lvl="1"/>
            <a:r>
              <a:rPr lang="zh-CN" altLang="en-US" sz="1400" b="1" dirty="0">
                <a:latin typeface="仿宋" panose="02010609060101010101" pitchFamily="49" charset="-122"/>
                <a:ea typeface="仿宋" panose="02010609060101010101" pitchFamily="49" charset="-122"/>
              </a:rPr>
              <a:t>责任链模式</a:t>
            </a:r>
            <a:r>
              <a:rPr lang="zh-CN" altLang="en-US" sz="1400" dirty="0">
                <a:latin typeface="仿宋" panose="02010609060101010101" pitchFamily="49" charset="-122"/>
                <a:ea typeface="仿宋" panose="02010609060101010101" pitchFamily="49" charset="-122"/>
              </a:rPr>
              <a:t>：具体的命令类（如 </a:t>
            </a:r>
            <a:r>
              <a:rPr lang="en-US" altLang="zh-CN" sz="1400" dirty="0">
                <a:latin typeface="仿宋" panose="02010609060101010101" pitchFamily="49" charset="-122"/>
                <a:ea typeface="仿宋" panose="02010609060101010101" pitchFamily="49" charset="-122"/>
              </a:rPr>
              <a:t>DeployApplicationCommand</a:t>
            </a:r>
            <a:r>
              <a:rPr lang="zh-CN" altLang="en-US" sz="1400" dirty="0">
                <a:latin typeface="仿宋" panose="02010609060101010101" pitchFamily="49" charset="-122"/>
                <a:ea typeface="仿宋" panose="02010609060101010101" pitchFamily="49" charset="-122"/>
              </a:rPr>
              <a:t>）内部持有一个 </a:t>
            </a:r>
            <a:r>
              <a:rPr lang="en-US" altLang="zh-CN" sz="1400" dirty="0">
                <a:latin typeface="仿宋" panose="02010609060101010101" pitchFamily="49" charset="-122"/>
                <a:ea typeface="仿宋" panose="02010609060101010101" pitchFamily="49" charset="-122"/>
              </a:rPr>
              <a:t>PriorityQueue&lt;RemoteCommandHandler&gt;</a:t>
            </a:r>
            <a:r>
              <a:rPr lang="zh-CN" altLang="en-US" sz="1400" dirty="0">
                <a:latin typeface="仿宋" panose="02010609060101010101" pitchFamily="49" charset="-122"/>
                <a:ea typeface="仿宋" panose="02010609060101010101" pitchFamily="49" charset="-122"/>
              </a:rPr>
              <a:t>（优先级队列）。</a:t>
            </a:r>
          </a:p>
          <a:p>
            <a:pPr lvl="1"/>
            <a:r>
              <a:rPr lang="zh-CN" altLang="en-US" sz="1400" b="1" dirty="0">
                <a:latin typeface="仿宋" panose="02010609060101010101" pitchFamily="49" charset="-122"/>
                <a:ea typeface="仿宋" panose="02010609060101010101" pitchFamily="49" charset="-122"/>
              </a:rPr>
              <a:t>任务分解</a:t>
            </a:r>
            <a:r>
              <a:rPr lang="zh-CN" altLang="en-US" sz="1400" dirty="0">
                <a:latin typeface="仿宋" panose="02010609060101010101" pitchFamily="49" charset="-122"/>
                <a:ea typeface="仿宋" panose="02010609060101010101" pitchFamily="49" charset="-122"/>
              </a:rPr>
              <a:t>：复杂的命令（如部署应用）被分解为多个小的处理步骤（</a:t>
            </a:r>
            <a:r>
              <a:rPr lang="en-US" altLang="zh-CN" sz="1400" dirty="0">
                <a:latin typeface="仿宋" panose="02010609060101010101" pitchFamily="49" charset="-122"/>
                <a:ea typeface="仿宋" panose="02010609060101010101" pitchFamily="49" charset="-122"/>
              </a:rPr>
              <a:t>Handlers</a:t>
            </a:r>
            <a:r>
              <a:rPr lang="zh-CN" altLang="en-US" sz="1400" dirty="0">
                <a:latin typeface="仿宋" panose="02010609060101010101" pitchFamily="49" charset="-122"/>
                <a:ea typeface="仿宋" panose="02010609060101010101" pitchFamily="49" charset="-122"/>
              </a:rPr>
              <a:t>）。</a:t>
            </a:r>
          </a:p>
          <a:p>
            <a:pPr lvl="1"/>
            <a:r>
              <a:rPr lang="zh-CN" altLang="en-US" sz="1400" b="1" dirty="0">
                <a:latin typeface="仿宋" panose="02010609060101010101" pitchFamily="49" charset="-122"/>
                <a:ea typeface="仿宋" panose="02010609060101010101" pitchFamily="49" charset="-122"/>
              </a:rPr>
              <a:t>执行流程</a:t>
            </a:r>
            <a:r>
              <a:rPr lang="zh-CN" altLang="en-US" sz="1400" dirty="0">
                <a:latin typeface="仿宋" panose="02010609060101010101" pitchFamily="49" charset="-122"/>
                <a:ea typeface="仿宋" panose="02010609060101010101" pitchFamily="49" charset="-122"/>
              </a:rPr>
              <a:t>：在 </a:t>
            </a:r>
            <a:r>
              <a:rPr lang="en-US" altLang="zh-CN" sz="1400" dirty="0">
                <a:latin typeface="仿宋" panose="02010609060101010101" pitchFamily="49" charset="-122"/>
                <a:ea typeface="仿宋" panose="02010609060101010101" pitchFamily="49" charset="-122"/>
              </a:rPr>
              <a:t>doExecute()</a:t>
            </a:r>
            <a:r>
              <a:rPr lang="zh-CN" altLang="en-US" sz="1400" dirty="0">
                <a:latin typeface="仿宋" panose="02010609060101010101" pitchFamily="49" charset="-122"/>
                <a:ea typeface="仿宋" panose="02010609060101010101" pitchFamily="49" charset="-122"/>
              </a:rPr>
              <a:t> 中，命令会遍历这个处理器队列，依次调用它们的 </a:t>
            </a:r>
            <a:r>
              <a:rPr lang="en-US" altLang="zh-CN" sz="1400" dirty="0">
                <a:latin typeface="仿宋" panose="02010609060101010101" pitchFamily="49" charset="-122"/>
                <a:ea typeface="仿宋" panose="02010609060101010101" pitchFamily="49" charset="-122"/>
              </a:rPr>
              <a:t>handle()</a:t>
            </a:r>
            <a:r>
              <a:rPr lang="zh-CN" altLang="en-US" sz="1400" dirty="0">
                <a:latin typeface="仿宋" panose="02010609060101010101" pitchFamily="49" charset="-122"/>
                <a:ea typeface="仿宋" panose="02010609060101010101" pitchFamily="49" charset="-122"/>
              </a:rPr>
              <a:t> 方法。</a:t>
            </a:r>
            <a:endParaRPr lang="en-US" altLang="zh-CN" sz="1400" dirty="0">
              <a:latin typeface="仿宋" panose="02010609060101010101" pitchFamily="49" charset="-122"/>
              <a:ea typeface="仿宋" panose="02010609060101010101" pitchFamily="49" charset="-122"/>
            </a:endParaRPr>
          </a:p>
          <a:p>
            <a:pPr lvl="1"/>
            <a:endParaRPr lang="zh-CN" altLang="en-US" sz="1400" dirty="0">
              <a:latin typeface="仿宋" panose="02010609060101010101" pitchFamily="49" charset="-122"/>
              <a:ea typeface="仿宋" panose="02010609060101010101" pitchFamily="49" charset="-122"/>
            </a:endParaRPr>
          </a:p>
          <a:p>
            <a:r>
              <a:rPr lang="zh-CN" altLang="en-US" dirty="0"/>
              <a:t>设计好处：</a:t>
            </a:r>
          </a:p>
          <a:p>
            <a:pPr lvl="1"/>
            <a:r>
              <a:rPr lang="zh-CN" altLang="en-US" sz="1400" b="1" dirty="0">
                <a:latin typeface="仿宋" panose="02010609060101010101" pitchFamily="49" charset="-122"/>
                <a:ea typeface="仿宋" panose="02010609060101010101" pitchFamily="49" charset="-122"/>
              </a:rPr>
              <a:t>高内聚低耦合</a:t>
            </a:r>
            <a:r>
              <a:rPr lang="zh-CN" altLang="en-US" sz="1400" dirty="0">
                <a:latin typeface="仿宋" panose="02010609060101010101" pitchFamily="49" charset="-122"/>
                <a:ea typeface="仿宋" panose="02010609060101010101" pitchFamily="49" charset="-122"/>
              </a:rPr>
              <a:t>：将一个庞大的部署逻辑拆分成多个小的 </a:t>
            </a:r>
            <a:r>
              <a:rPr lang="en-US" altLang="zh-CN" sz="1400" dirty="0">
                <a:latin typeface="仿宋" panose="02010609060101010101" pitchFamily="49" charset="-122"/>
                <a:ea typeface="仿宋" panose="02010609060101010101" pitchFamily="49" charset="-122"/>
              </a:rPr>
              <a:t>Handler</a:t>
            </a:r>
            <a:r>
              <a:rPr lang="zh-CN" altLang="en-US" sz="1400" dirty="0">
                <a:latin typeface="仿宋" panose="02010609060101010101" pitchFamily="49" charset="-122"/>
                <a:ea typeface="仿宋" panose="02010609060101010101" pitchFamily="49" charset="-122"/>
              </a:rPr>
              <a:t>（如登录、校验属性、上传文件等），每个 </a:t>
            </a:r>
            <a:r>
              <a:rPr lang="en-US" altLang="zh-CN" sz="1400" dirty="0">
                <a:latin typeface="仿宋" panose="02010609060101010101" pitchFamily="49" charset="-122"/>
                <a:ea typeface="仿宋" panose="02010609060101010101" pitchFamily="49" charset="-122"/>
              </a:rPr>
              <a:t>Handler </a:t>
            </a:r>
            <a:r>
              <a:rPr lang="zh-CN" altLang="en-US" sz="1400" dirty="0">
                <a:latin typeface="仿宋" panose="02010609060101010101" pitchFamily="49" charset="-122"/>
                <a:ea typeface="仿宋" panose="02010609060101010101" pitchFamily="49" charset="-122"/>
              </a:rPr>
              <a:t>只负责一件事。</a:t>
            </a:r>
          </a:p>
          <a:p>
            <a:pPr lvl="1"/>
            <a:r>
              <a:rPr lang="zh-CN" altLang="en-US" sz="1400" b="1" dirty="0">
                <a:latin typeface="仿宋" panose="02010609060101010101" pitchFamily="49" charset="-122"/>
                <a:ea typeface="仿宋" panose="02010609060101010101" pitchFamily="49" charset="-122"/>
              </a:rPr>
              <a:t>灵活编排</a:t>
            </a:r>
            <a:r>
              <a:rPr lang="zh-CN" altLang="en-US" sz="1400" dirty="0">
                <a:latin typeface="仿宋" panose="02010609060101010101" pitchFamily="49" charset="-122"/>
                <a:ea typeface="仿宋" panose="02010609060101010101" pitchFamily="49" charset="-122"/>
              </a:rPr>
              <a:t>：使用 </a:t>
            </a:r>
            <a:r>
              <a:rPr lang="en-US" altLang="zh-CN" sz="1400" dirty="0">
                <a:latin typeface="仿宋" panose="02010609060101010101" pitchFamily="49" charset="-122"/>
                <a:ea typeface="仿宋" panose="02010609060101010101" pitchFamily="49" charset="-122"/>
              </a:rPr>
              <a:t>PriorityQueue</a:t>
            </a:r>
            <a:r>
              <a:rPr lang="zh-CN" altLang="en-US" sz="1400" dirty="0">
                <a:latin typeface="仿宋" panose="02010609060101010101" pitchFamily="49" charset="-122"/>
                <a:ea typeface="仿宋" panose="02010609060101010101" pitchFamily="49" charset="-122"/>
              </a:rPr>
              <a:t> 意味着可以通过 </a:t>
            </a:r>
            <a:r>
              <a:rPr lang="en-US" altLang="zh-CN" sz="1400" dirty="0">
                <a:latin typeface="仿宋" panose="02010609060101010101" pitchFamily="49" charset="-122"/>
                <a:ea typeface="仿宋" panose="02010609060101010101" pitchFamily="49" charset="-122"/>
              </a:rPr>
              <a:t>getIndex()</a:t>
            </a:r>
            <a:r>
              <a:rPr lang="zh-CN" altLang="en-US" sz="1400" dirty="0">
                <a:latin typeface="仿宋" panose="02010609060101010101" pitchFamily="49" charset="-122"/>
                <a:ea typeface="仿宋" panose="02010609060101010101" pitchFamily="49" charset="-122"/>
              </a:rPr>
              <a:t> 控制处理器的执行顺序。如果需要调整流程，只需调整 </a:t>
            </a:r>
            <a:r>
              <a:rPr lang="en-US" altLang="zh-CN" sz="1400" dirty="0">
                <a:latin typeface="仿宋" panose="02010609060101010101" pitchFamily="49" charset="-122"/>
                <a:ea typeface="仿宋" panose="02010609060101010101" pitchFamily="49" charset="-122"/>
              </a:rPr>
              <a:t>Handler </a:t>
            </a:r>
            <a:r>
              <a:rPr lang="zh-CN" altLang="en-US" sz="1400" dirty="0">
                <a:latin typeface="仿宋" panose="02010609060101010101" pitchFamily="49" charset="-122"/>
                <a:ea typeface="仿宋" panose="02010609060101010101" pitchFamily="49" charset="-122"/>
              </a:rPr>
              <a:t>的优先级或增删 </a:t>
            </a:r>
            <a:r>
              <a:rPr lang="en-US" altLang="zh-CN" sz="1400" dirty="0">
                <a:latin typeface="仿宋" panose="02010609060101010101" pitchFamily="49" charset="-122"/>
                <a:ea typeface="仿宋" panose="02010609060101010101" pitchFamily="49" charset="-122"/>
              </a:rPr>
              <a:t>Handler</a:t>
            </a:r>
            <a:r>
              <a:rPr lang="zh-CN" altLang="en-US" sz="1400" dirty="0">
                <a:latin typeface="仿宋" panose="02010609060101010101" pitchFamily="49" charset="-122"/>
                <a:ea typeface="仿宋" panose="02010609060101010101" pitchFamily="49" charset="-122"/>
              </a:rPr>
              <a:t>，而不需要重写整个命令类。</a:t>
            </a:r>
          </a:p>
          <a:p>
            <a:pPr lvl="1"/>
            <a:r>
              <a:rPr lang="zh-CN" altLang="en-US" sz="1400" b="1" dirty="0">
                <a:latin typeface="仿宋" panose="02010609060101010101" pitchFamily="49" charset="-122"/>
                <a:ea typeface="仿宋" panose="02010609060101010101" pitchFamily="49" charset="-122"/>
              </a:rPr>
              <a:t>易于测试</a:t>
            </a:r>
            <a:r>
              <a:rPr lang="zh-CN" altLang="en-US" sz="1400" dirty="0">
                <a:latin typeface="仿宋" panose="02010609060101010101" pitchFamily="49" charset="-122"/>
                <a:ea typeface="仿宋" panose="02010609060101010101" pitchFamily="49" charset="-122"/>
              </a:rPr>
              <a:t>：每个 </a:t>
            </a:r>
            <a:r>
              <a:rPr lang="en-US" altLang="zh-CN" sz="1400" dirty="0">
                <a:latin typeface="仿宋" panose="02010609060101010101" pitchFamily="49" charset="-122"/>
                <a:ea typeface="仿宋" panose="02010609060101010101" pitchFamily="49" charset="-122"/>
              </a:rPr>
              <a:t>Handler</a:t>
            </a:r>
            <a:r>
              <a:rPr lang="zh-CN" altLang="en-US" sz="1400" dirty="0">
                <a:latin typeface="仿宋" panose="02010609060101010101" pitchFamily="49" charset="-122"/>
                <a:ea typeface="仿宋" panose="02010609060101010101" pitchFamily="49" charset="-122"/>
              </a:rPr>
              <a:t> 都是独立的单元，非常容易进行单元测试。</a:t>
            </a:r>
          </a:p>
        </p:txBody>
      </p:sp>
      <p:pic>
        <p:nvPicPr>
          <p:cNvPr id="10" name="图片 9">
            <a:extLst>
              <a:ext uri="{FF2B5EF4-FFF2-40B4-BE49-F238E27FC236}">
                <a16:creationId xmlns:a16="http://schemas.microsoft.com/office/drawing/2014/main" id="{4F65852E-D1FA-5428-250F-AA58A8D73769}"/>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37425102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9F21A-E28C-288D-3AE5-6D1FEAAA6284}"/>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ADCEC6E6-243C-41F0-9445-CFB1E34ADEA5}"/>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46200F60-466D-E481-1594-B3CDD68A8759}"/>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18</a:t>
            </a:fld>
            <a:endParaRPr lang="zh-CN" altLang="en-US"/>
          </a:p>
        </p:txBody>
      </p:sp>
      <p:sp>
        <p:nvSpPr>
          <p:cNvPr id="6" name="文本框 5">
            <a:extLst>
              <a:ext uri="{FF2B5EF4-FFF2-40B4-BE49-F238E27FC236}">
                <a16:creationId xmlns:a16="http://schemas.microsoft.com/office/drawing/2014/main" id="{29DC1FA8-5BBB-F362-AFA3-787E1B2082E5}"/>
              </a:ext>
            </a:extLst>
          </p:cNvPr>
          <p:cNvSpPr txBox="1"/>
          <p:nvPr/>
        </p:nvSpPr>
        <p:spPr>
          <a:xfrm>
            <a:off x="600436" y="1061198"/>
            <a:ext cx="4991472" cy="4985980"/>
          </a:xfrm>
          <a:prstGeom prst="rect">
            <a:avLst/>
          </a:prstGeom>
          <a:noFill/>
        </p:spPr>
        <p:txBody>
          <a:bodyPr wrap="square">
            <a:spAutoFit/>
          </a:bodyPr>
          <a:lstStyle/>
          <a:p>
            <a:r>
              <a:rPr lang="zh-CN" altLang="en-US" sz="1800" b="1" dirty="0">
                <a:latin typeface="+mn-ea"/>
              </a:rPr>
              <a:t>一、命令行 </a:t>
            </a:r>
            <a:r>
              <a:rPr lang="en-US" altLang="zh-CN" sz="1800" b="1" dirty="0">
                <a:latin typeface="+mn-ea"/>
              </a:rPr>
              <a:t>CLI </a:t>
            </a:r>
            <a:r>
              <a:rPr lang="zh-CN" altLang="en-US" sz="1800" b="1" dirty="0">
                <a:latin typeface="+mn-ea"/>
              </a:rPr>
              <a:t>模块</a:t>
            </a:r>
            <a:endParaRPr lang="en-US" altLang="zh-CN" sz="1800" b="1" dirty="0">
              <a:latin typeface="+mn-ea"/>
            </a:endParaRPr>
          </a:p>
          <a:p>
            <a:endParaRPr lang="en-US" altLang="zh-CN" b="1" dirty="0">
              <a:latin typeface="+mn-ea"/>
            </a:endParaRPr>
          </a:p>
          <a:p>
            <a:r>
              <a:rPr lang="zh-CN" altLang="en-US" b="1" dirty="0"/>
              <a:t>第五层：具体处理器实现层 </a:t>
            </a:r>
            <a:r>
              <a:rPr lang="en-US" altLang="zh-CN" b="1" dirty="0"/>
              <a:t>(RemoteCommandHandler)</a:t>
            </a:r>
          </a:p>
          <a:p>
            <a:endParaRPr lang="en-US" altLang="zh-CN" b="1" dirty="0"/>
          </a:p>
          <a:p>
            <a:r>
              <a:rPr lang="zh-CN" altLang="en-US" b="1" dirty="0"/>
              <a:t>设计总结：</a:t>
            </a:r>
          </a:p>
          <a:p>
            <a:pPr lvl="1"/>
            <a:r>
              <a:rPr lang="zh-CN" altLang="en-US" sz="1600" b="1" dirty="0">
                <a:latin typeface="仿宋" panose="02010609060101010101" pitchFamily="49" charset="-122"/>
                <a:ea typeface="仿宋" panose="02010609060101010101" pitchFamily="49" charset="-122"/>
              </a:rPr>
              <a:t>接口定义</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RemoteCommandHandler</a:t>
            </a:r>
            <a:r>
              <a:rPr lang="zh-CN" altLang="en-US" sz="1600" dirty="0">
                <a:latin typeface="仿宋" panose="02010609060101010101" pitchFamily="49" charset="-122"/>
                <a:ea typeface="仿宋" panose="02010609060101010101" pitchFamily="49" charset="-122"/>
              </a:rPr>
              <a:t> 定义了处理器的标准行为 </a:t>
            </a:r>
            <a:r>
              <a:rPr lang="en-US" altLang="zh-CN" sz="1600" dirty="0">
                <a:latin typeface="仿宋" panose="02010609060101010101" pitchFamily="49" charset="-122"/>
                <a:ea typeface="仿宋" panose="02010609060101010101" pitchFamily="49" charset="-122"/>
              </a:rPr>
              <a:t>handle()</a:t>
            </a:r>
            <a:r>
              <a:rPr lang="zh-CN" altLang="en-US" sz="1600" dirty="0">
                <a:latin typeface="仿宋" panose="02010609060101010101" pitchFamily="49" charset="-122"/>
                <a:ea typeface="仿宋" panose="02010609060101010101" pitchFamily="49" charset="-122"/>
              </a:rPr>
              <a:t>。</a:t>
            </a:r>
          </a:p>
          <a:p>
            <a:pPr lvl="1"/>
            <a:r>
              <a:rPr lang="zh-CN" altLang="en-US" sz="1600" b="1" dirty="0">
                <a:latin typeface="仿宋" panose="02010609060101010101" pitchFamily="49" charset="-122"/>
                <a:ea typeface="仿宋" panose="02010609060101010101" pitchFamily="49" charset="-122"/>
              </a:rPr>
              <a:t>具体实现</a:t>
            </a:r>
            <a:r>
              <a:rPr lang="zh-CN" altLang="en-US" sz="1600" dirty="0">
                <a:latin typeface="仿宋" panose="02010609060101010101" pitchFamily="49" charset="-122"/>
                <a:ea typeface="仿宋" panose="02010609060101010101" pitchFamily="49" charset="-122"/>
              </a:rPr>
              <a:t>：如 </a:t>
            </a:r>
            <a:r>
              <a:rPr lang="en-US" altLang="zh-CN" sz="1600" dirty="0">
                <a:latin typeface="仿宋" panose="02010609060101010101" pitchFamily="49" charset="-122"/>
                <a:ea typeface="仿宋" panose="02010609060101010101" pitchFamily="49" charset="-122"/>
              </a:rPr>
              <a:t>LoginHandler</a:t>
            </a:r>
            <a:r>
              <a:rPr lang="zh-CN" altLang="en-US" sz="1600" dirty="0">
                <a:latin typeface="仿宋" panose="02010609060101010101" pitchFamily="49" charset="-122"/>
                <a:ea typeface="仿宋" panose="02010609060101010101" pitchFamily="49" charset="-122"/>
              </a:rPr>
              <a:t>（处理登录逻辑）、</a:t>
            </a:r>
            <a:r>
              <a:rPr lang="en-US" altLang="zh-CN" sz="1600" dirty="0">
                <a:latin typeface="仿宋" panose="02010609060101010101" pitchFamily="49" charset="-122"/>
                <a:ea typeface="仿宋" panose="02010609060101010101" pitchFamily="49" charset="-122"/>
              </a:rPr>
              <a:t>ValidPropertiesHandler</a:t>
            </a:r>
            <a:r>
              <a:rPr lang="zh-CN" altLang="en-US" sz="1600" dirty="0">
                <a:latin typeface="仿宋" panose="02010609060101010101" pitchFamily="49" charset="-122"/>
                <a:ea typeface="仿宋" panose="02010609060101010101" pitchFamily="49" charset="-122"/>
              </a:rPr>
              <a:t>（处理属性校验）。</a:t>
            </a:r>
            <a:endParaRPr lang="en-US" altLang="zh-CN" sz="1600" dirty="0">
              <a:latin typeface="仿宋" panose="02010609060101010101" pitchFamily="49" charset="-122"/>
              <a:ea typeface="仿宋" panose="02010609060101010101" pitchFamily="49" charset="-122"/>
            </a:endParaRPr>
          </a:p>
          <a:p>
            <a:pPr lvl="1"/>
            <a:endParaRPr lang="zh-CN" altLang="en-US" sz="1600" dirty="0">
              <a:latin typeface="仿宋" panose="02010609060101010101" pitchFamily="49" charset="-122"/>
              <a:ea typeface="仿宋" panose="02010609060101010101" pitchFamily="49" charset="-122"/>
            </a:endParaRPr>
          </a:p>
          <a:p>
            <a:r>
              <a:rPr lang="zh-CN" altLang="en-US" b="1" dirty="0"/>
              <a:t>设计好处：</a:t>
            </a:r>
          </a:p>
          <a:p>
            <a:pPr lvl="1"/>
            <a:r>
              <a:rPr lang="zh-CN" altLang="en-US" sz="1600" b="1" dirty="0">
                <a:latin typeface="仿宋" panose="02010609060101010101" pitchFamily="49" charset="-122"/>
                <a:ea typeface="仿宋" panose="02010609060101010101" pitchFamily="49" charset="-122"/>
              </a:rPr>
              <a:t>极致复用</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LoginHandler</a:t>
            </a:r>
            <a:r>
              <a:rPr lang="zh-CN" altLang="en-US" sz="1600" dirty="0">
                <a:latin typeface="仿宋" panose="02010609060101010101" pitchFamily="49" charset="-122"/>
                <a:ea typeface="仿宋" panose="02010609060101010101" pitchFamily="49" charset="-122"/>
              </a:rPr>
              <a:t> 可以被多个不同的命令（如部署命令、启动命令）复用，因为它们都需要先登录。</a:t>
            </a:r>
          </a:p>
          <a:p>
            <a:pPr lvl="1"/>
            <a:r>
              <a:rPr lang="zh-CN" altLang="en-US" sz="1600" b="1" dirty="0">
                <a:latin typeface="仿宋" panose="02010609060101010101" pitchFamily="49" charset="-122"/>
                <a:ea typeface="仿宋" panose="02010609060101010101" pitchFamily="49" charset="-122"/>
              </a:rPr>
              <a:t>扩展性强</a:t>
            </a:r>
            <a:r>
              <a:rPr lang="zh-CN" altLang="en-US" sz="1600" dirty="0">
                <a:latin typeface="仿宋" panose="02010609060101010101" pitchFamily="49" charset="-122"/>
                <a:ea typeface="仿宋" panose="02010609060101010101" pitchFamily="49" charset="-122"/>
              </a:rPr>
              <a:t>：如果需要在所有命令执行前增加一个“审计日志”功能，只需编写一个新的 </a:t>
            </a:r>
            <a:r>
              <a:rPr lang="en-US" altLang="zh-CN" sz="1600" dirty="0">
                <a:latin typeface="仿宋" panose="02010609060101010101" pitchFamily="49" charset="-122"/>
                <a:ea typeface="仿宋" panose="02010609060101010101" pitchFamily="49" charset="-122"/>
              </a:rPr>
              <a:t>AuditHandler</a:t>
            </a:r>
            <a:r>
              <a:rPr lang="zh-CN" altLang="en-US" sz="1600" dirty="0">
                <a:latin typeface="仿宋" panose="02010609060101010101" pitchFamily="49" charset="-122"/>
                <a:ea typeface="仿宋" panose="02010609060101010101" pitchFamily="49" charset="-122"/>
              </a:rPr>
              <a:t> 并将其加入队列即可，无需修改现有命令代码。</a:t>
            </a:r>
          </a:p>
        </p:txBody>
      </p:sp>
      <p:pic>
        <p:nvPicPr>
          <p:cNvPr id="10" name="图片 9">
            <a:extLst>
              <a:ext uri="{FF2B5EF4-FFF2-40B4-BE49-F238E27FC236}">
                <a16:creationId xmlns:a16="http://schemas.microsoft.com/office/drawing/2014/main" id="{D1647FCF-56AF-9C5B-4ED8-2FDE97E1C20D}"/>
              </a:ext>
            </a:extLst>
          </p:cNvPr>
          <p:cNvPicPr>
            <a:picLocks noChangeAspect="1"/>
          </p:cNvPicPr>
          <p:nvPr/>
        </p:nvPicPr>
        <p:blipFill>
          <a:blip r:embed="rId2"/>
          <a:stretch>
            <a:fillRect/>
          </a:stretch>
        </p:blipFill>
        <p:spPr>
          <a:xfrm>
            <a:off x="5899638" y="813582"/>
            <a:ext cx="5542457" cy="5542768"/>
          </a:xfrm>
          <a:prstGeom prst="rect">
            <a:avLst/>
          </a:prstGeom>
        </p:spPr>
      </p:pic>
    </p:spTree>
    <p:extLst>
      <p:ext uri="{BB962C8B-B14F-4D97-AF65-F5344CB8AC3E}">
        <p14:creationId xmlns:p14="http://schemas.microsoft.com/office/powerpoint/2010/main" val="13353831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E58B6-0184-881D-4214-687548498F2E}"/>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618930B-E672-9A2E-E124-679B50BBED37}"/>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7712FE2B-7756-3A55-D266-BC361CAA7F03}"/>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19</a:t>
            </a:fld>
            <a:endParaRPr lang="zh-CN" altLang="en-US"/>
          </a:p>
        </p:txBody>
      </p:sp>
      <p:sp>
        <p:nvSpPr>
          <p:cNvPr id="6" name="文本框 5">
            <a:extLst>
              <a:ext uri="{FF2B5EF4-FFF2-40B4-BE49-F238E27FC236}">
                <a16:creationId xmlns:a16="http://schemas.microsoft.com/office/drawing/2014/main" id="{4F3D5B82-4889-3729-016F-D9E1E6B1AC85}"/>
              </a:ext>
            </a:extLst>
          </p:cNvPr>
          <p:cNvSpPr txBox="1"/>
          <p:nvPr/>
        </p:nvSpPr>
        <p:spPr>
          <a:xfrm>
            <a:off x="600436" y="1061198"/>
            <a:ext cx="4991472" cy="5047536"/>
          </a:xfrm>
          <a:prstGeom prst="rect">
            <a:avLst/>
          </a:prstGeom>
          <a:noFill/>
        </p:spPr>
        <p:txBody>
          <a:bodyPr wrap="square">
            <a:spAutoFit/>
          </a:bodyPr>
          <a:lstStyle/>
          <a:p>
            <a:r>
              <a:rPr lang="zh-CN" altLang="en-US" sz="1800" b="1" dirty="0">
                <a:latin typeface="+mn-ea"/>
              </a:rPr>
              <a:t>二、监控模块</a:t>
            </a:r>
            <a:endParaRPr lang="en-US" altLang="zh-CN" sz="1800" b="1" dirty="0">
              <a:latin typeface="+mn-ea"/>
            </a:endParaRPr>
          </a:p>
          <a:p>
            <a:endParaRPr lang="en-US" altLang="zh-CN" b="1" dirty="0">
              <a:latin typeface="+mn-ea"/>
            </a:endParaRPr>
          </a:p>
          <a:p>
            <a:r>
              <a:rPr lang="zh-CN" altLang="en-US" b="1" dirty="0">
                <a:latin typeface="+mn-ea"/>
              </a:rPr>
              <a:t>概述</a:t>
            </a:r>
            <a:r>
              <a:rPr lang="en-US" altLang="zh-CN" b="1" dirty="0">
                <a:latin typeface="+mn-ea"/>
              </a:rPr>
              <a:t>: </a:t>
            </a:r>
          </a:p>
          <a:p>
            <a:r>
              <a:rPr lang="en-US" altLang="zh-CN" sz="1800" b="1" dirty="0">
                <a:latin typeface="+mn-ea"/>
              </a:rPr>
              <a:t>	</a:t>
            </a:r>
            <a:r>
              <a:rPr lang="zh-CN" altLang="en-US" sz="1400" dirty="0">
                <a:latin typeface="仿宋" panose="02010609060101010101" pitchFamily="49" charset="-122"/>
                <a:ea typeface="仿宋" panose="02010609060101010101" pitchFamily="49" charset="-122"/>
              </a:rPr>
              <a:t>监控模块是 </a:t>
            </a:r>
            <a:r>
              <a:rPr lang="en-US" altLang="zh-CN" sz="1400" dirty="0">
                <a:latin typeface="仿宋" panose="02010609060101010101" pitchFamily="49" charset="-122"/>
                <a:ea typeface="仿宋" panose="02010609060101010101" pitchFamily="49" charset="-122"/>
              </a:rPr>
              <a:t>BESAPP Server </a:t>
            </a:r>
            <a:r>
              <a:rPr lang="zh-CN" altLang="en-US" sz="1400" dirty="0">
                <a:latin typeface="仿宋" panose="02010609060101010101" pitchFamily="49" charset="-122"/>
                <a:ea typeface="仿宋" panose="02010609060101010101" pitchFamily="49" charset="-122"/>
              </a:rPr>
              <a:t>应用服务器中负责采集、聚合、存储应用运行指标的子模块，通过 </a:t>
            </a:r>
            <a:r>
              <a:rPr lang="en-US" altLang="zh-CN" sz="1400" dirty="0">
                <a:latin typeface="仿宋" panose="02010609060101010101" pitchFamily="49" charset="-122"/>
                <a:ea typeface="仿宋" panose="02010609060101010101" pitchFamily="49" charset="-122"/>
              </a:rPr>
              <a:t>JMX </a:t>
            </a:r>
            <a:r>
              <a:rPr lang="zh-CN" altLang="en-US" sz="1400" dirty="0">
                <a:latin typeface="仿宋" panose="02010609060101010101" pitchFamily="49" charset="-122"/>
                <a:ea typeface="仿宋" panose="02010609060101010101" pitchFamily="49" charset="-122"/>
              </a:rPr>
              <a:t>技术获取目标 </a:t>
            </a:r>
            <a:r>
              <a:rPr lang="en-US" altLang="zh-CN" sz="1400" dirty="0">
                <a:latin typeface="仿宋" panose="02010609060101010101" pitchFamily="49" charset="-122"/>
                <a:ea typeface="仿宋" panose="02010609060101010101" pitchFamily="49" charset="-122"/>
              </a:rPr>
              <a:t>JVM </a:t>
            </a:r>
            <a:r>
              <a:rPr lang="zh-CN" altLang="en-US" sz="1400" dirty="0">
                <a:latin typeface="仿宋" panose="02010609060101010101" pitchFamily="49" charset="-122"/>
                <a:ea typeface="仿宋" panose="02010609060101010101" pitchFamily="49" charset="-122"/>
              </a:rPr>
              <a:t>内部数据，并以插件化方式扩展指标类型，最终将指标按类型分组写入本地文件，支持文件轮转与压缩。</a:t>
            </a:r>
            <a:endParaRPr lang="en-US" altLang="zh-CN" sz="1400" dirty="0">
              <a:latin typeface="仿宋" panose="02010609060101010101" pitchFamily="49" charset="-122"/>
              <a:ea typeface="仿宋" panose="02010609060101010101" pitchFamily="49" charset="-122"/>
            </a:endParaRPr>
          </a:p>
          <a:p>
            <a:endParaRPr lang="en-US" altLang="zh-CN" sz="1600" dirty="0">
              <a:latin typeface="仿宋" panose="02010609060101010101" pitchFamily="49" charset="-122"/>
              <a:ea typeface="仿宋" panose="02010609060101010101" pitchFamily="49" charset="-122"/>
            </a:endParaRPr>
          </a:p>
          <a:p>
            <a:r>
              <a:rPr lang="zh-CN" altLang="en-US" b="1" dirty="0">
                <a:latin typeface="+mn-ea"/>
              </a:rPr>
              <a:t>整体框架说明：</a:t>
            </a:r>
            <a:endParaRPr lang="en-US" altLang="zh-CN" b="1" dirty="0">
              <a:latin typeface="+mn-ea"/>
            </a:endParaRPr>
          </a:p>
          <a:p>
            <a:r>
              <a:rPr lang="en-US" altLang="zh-CN" b="1" dirty="0">
                <a:latin typeface="+mn-ea"/>
              </a:rPr>
              <a:t>	</a:t>
            </a:r>
            <a:r>
              <a:rPr lang="zh-CN" altLang="en-US" sz="1400" dirty="0">
                <a:latin typeface="仿宋" panose="02010609060101010101" pitchFamily="49" charset="-122"/>
                <a:ea typeface="仿宋" panose="02010609060101010101" pitchFamily="49" charset="-122"/>
              </a:rPr>
              <a:t>该框架分为：入口层、配置层、连接层、采集层、数据模型层、写入层、服务层。</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仿宋" panose="02010609060101010101" pitchFamily="49" charset="-122"/>
                <a:ea typeface="仿宋" panose="02010609060101010101" pitchFamily="49" charset="-122"/>
              </a:rPr>
              <a:t>优势：</a:t>
            </a:r>
            <a:endParaRPr lang="en-US" altLang="zh-CN" sz="1400" dirty="0">
              <a:latin typeface="仿宋" panose="02010609060101010101" pitchFamily="49" charset="-122"/>
              <a:ea typeface="仿宋" panose="02010609060101010101" pitchFamily="49" charset="-122"/>
            </a:endParaRP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分层清晰</a:t>
            </a:r>
            <a:r>
              <a:rPr lang="zh-CN" altLang="en-US" sz="1400" dirty="0">
                <a:latin typeface="仿宋" panose="02010609060101010101" pitchFamily="49" charset="-122"/>
                <a:ea typeface="仿宋" panose="02010609060101010101" pitchFamily="49" charset="-122"/>
              </a:rPr>
              <a:t>：配置、调度、连接、采集、输出各层职责明确，降低耦合度</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高可扩展性</a:t>
            </a:r>
            <a:r>
              <a:rPr lang="zh-CN" altLang="en-US" sz="1400" dirty="0">
                <a:latin typeface="仿宋" panose="02010609060101010101" pitchFamily="49" charset="-122"/>
                <a:ea typeface="仿宋" panose="02010609060101010101" pitchFamily="49" charset="-122"/>
              </a:rPr>
              <a:t>：通过接口和工厂模式，新增采集器或输出器无需修改核心代码。</a:t>
            </a: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易测试</a:t>
            </a:r>
            <a:r>
              <a:rPr lang="zh-CN" altLang="en-US" sz="1400" dirty="0">
                <a:latin typeface="仿宋" panose="02010609060101010101" pitchFamily="49" charset="-122"/>
                <a:ea typeface="仿宋" panose="02010609060101010101" pitchFamily="49" charset="-122"/>
              </a:rPr>
              <a:t>：各组件依赖接口，可方便地使用 </a:t>
            </a:r>
            <a:r>
              <a:rPr lang="en-US" altLang="zh-CN" sz="1400" dirty="0">
                <a:latin typeface="仿宋" panose="02010609060101010101" pitchFamily="49" charset="-122"/>
                <a:ea typeface="仿宋" panose="02010609060101010101" pitchFamily="49" charset="-122"/>
              </a:rPr>
              <a:t>Mock </a:t>
            </a:r>
            <a:r>
              <a:rPr lang="zh-CN" altLang="en-US" sz="1400" dirty="0">
                <a:latin typeface="仿宋" panose="02010609060101010101" pitchFamily="49" charset="-122"/>
                <a:ea typeface="仿宋" panose="02010609060101010101" pitchFamily="49" charset="-122"/>
              </a:rPr>
              <a:t>进行单元测试。</a:t>
            </a:r>
            <a:endParaRPr lang="en-US" altLang="zh-CN" sz="1400" dirty="0">
              <a:latin typeface="仿宋" panose="02010609060101010101" pitchFamily="49" charset="-122"/>
              <a:ea typeface="仿宋" panose="02010609060101010101" pitchFamily="49" charset="-122"/>
            </a:endParaRPr>
          </a:p>
          <a:p>
            <a:r>
              <a:rPr lang="en-US" altLang="zh-CN" sz="1400" dirty="0">
                <a:latin typeface="仿宋" panose="02010609060101010101" pitchFamily="49" charset="-122"/>
                <a:ea typeface="仿宋" panose="02010609060101010101" pitchFamily="49" charset="-122"/>
              </a:rPr>
              <a:t>	</a:t>
            </a:r>
            <a:r>
              <a:rPr lang="zh-CN" altLang="en-US" sz="1400" b="1" dirty="0">
                <a:latin typeface="仿宋" panose="02010609060101010101" pitchFamily="49" charset="-122"/>
                <a:ea typeface="仿宋" panose="02010609060101010101" pitchFamily="49" charset="-122"/>
              </a:rPr>
              <a:t>灵活组装</a:t>
            </a:r>
            <a:r>
              <a:rPr lang="zh-CN" altLang="en-US" sz="1400" dirty="0">
                <a:latin typeface="仿宋" panose="02010609060101010101" pitchFamily="49" charset="-122"/>
                <a:ea typeface="仿宋" panose="02010609060101010101" pitchFamily="49" charset="-122"/>
              </a:rPr>
              <a:t>：通过 </a:t>
            </a:r>
            <a:r>
              <a:rPr lang="en-US" altLang="zh-CN" sz="1400" dirty="0">
                <a:latin typeface="仿宋" panose="02010609060101010101" pitchFamily="49" charset="-122"/>
                <a:ea typeface="仿宋" panose="02010609060101010101" pitchFamily="49" charset="-122"/>
              </a:rPr>
              <a:t>GroupedMetricWriter </a:t>
            </a:r>
            <a:r>
              <a:rPr lang="zh-CN" altLang="en-US" sz="1400" dirty="0">
                <a:latin typeface="仿宋" panose="02010609060101010101" pitchFamily="49" charset="-122"/>
                <a:ea typeface="仿宋" panose="02010609060101010101" pitchFamily="49" charset="-122"/>
              </a:rPr>
              <a:t>等组合模式，支持复杂输出路由需求。</a:t>
            </a:r>
            <a:endParaRPr lang="zh-CN" altLang="en-US" sz="1600" dirty="0">
              <a:latin typeface="仿宋" panose="02010609060101010101" pitchFamily="49" charset="-122"/>
              <a:ea typeface="仿宋" panose="02010609060101010101" pitchFamily="49" charset="-122"/>
            </a:endParaRPr>
          </a:p>
        </p:txBody>
      </p:sp>
      <p:pic>
        <p:nvPicPr>
          <p:cNvPr id="13" name="图片 12">
            <a:extLst>
              <a:ext uri="{FF2B5EF4-FFF2-40B4-BE49-F238E27FC236}">
                <a16:creationId xmlns:a16="http://schemas.microsoft.com/office/drawing/2014/main" id="{026C29E6-6AC9-DF76-4BBB-35A5EE0673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32942102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9D37C-3D8B-A390-2CE6-92C0A943BB31}"/>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79B0F75B-C156-6975-8A76-B564C0B8F36C}"/>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4702F129-8BA8-3034-7DB7-B0EB9361C8B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20</a:t>
            </a:fld>
            <a:endParaRPr lang="zh-CN" altLang="en-US"/>
          </a:p>
        </p:txBody>
      </p:sp>
      <p:sp>
        <p:nvSpPr>
          <p:cNvPr id="6" name="文本框 5">
            <a:extLst>
              <a:ext uri="{FF2B5EF4-FFF2-40B4-BE49-F238E27FC236}">
                <a16:creationId xmlns:a16="http://schemas.microsoft.com/office/drawing/2014/main" id="{E90EE6E2-8901-0862-A145-E302F4E03214}"/>
              </a:ext>
            </a:extLst>
          </p:cNvPr>
          <p:cNvSpPr txBox="1"/>
          <p:nvPr/>
        </p:nvSpPr>
        <p:spPr>
          <a:xfrm>
            <a:off x="477343" y="908470"/>
            <a:ext cx="4991472" cy="4985980"/>
          </a:xfrm>
          <a:prstGeom prst="rect">
            <a:avLst/>
          </a:prstGeom>
          <a:noFill/>
        </p:spPr>
        <p:txBody>
          <a:bodyPr wrap="square">
            <a:spAutoFit/>
          </a:bodyPr>
          <a:lstStyle/>
          <a:p>
            <a:r>
              <a:rPr lang="zh-CN" altLang="en-US" sz="1800" b="1" dirty="0">
                <a:latin typeface="+mn-ea"/>
              </a:rPr>
              <a:t>二、监控模块</a:t>
            </a:r>
            <a:endParaRPr lang="en-US" altLang="zh-CN" sz="1800" b="1" dirty="0">
              <a:latin typeface="+mn-ea"/>
            </a:endParaRPr>
          </a:p>
          <a:p>
            <a:endParaRPr lang="en-US" altLang="zh-CN" b="1" dirty="0">
              <a:latin typeface="+mn-ea"/>
            </a:endParaRPr>
          </a:p>
          <a:p>
            <a:r>
              <a:rPr lang="zh-CN" altLang="en-US" b="1" dirty="0"/>
              <a:t>第一层：入口层</a:t>
            </a:r>
          </a:p>
          <a:p>
            <a:endParaRPr lang="en-US" altLang="zh-CN" b="1" dirty="0"/>
          </a:p>
          <a:p>
            <a:r>
              <a:rPr lang="en-US" altLang="zh-CN" b="1" dirty="0">
                <a:sym typeface="+mn-ea"/>
              </a:rPr>
              <a:t>MonitorToolsMain</a:t>
            </a:r>
          </a:p>
          <a:p>
            <a:endParaRPr lang="en-US" altLang="zh-CN" dirty="0">
              <a:sym typeface="+mn-ea"/>
            </a:endParaRP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系统主入口，解析命令行参数并启动监控服务</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负责初始化整个监控系统，读取配置并创建核心服务组件</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支持不同的监控模式和参数设置，如监控间隔、输出路径等</a:t>
            </a:r>
            <a:endParaRPr lang="en-US" altLang="zh-CN" sz="1600" dirty="0">
              <a:latin typeface="仿宋" panose="02010609060101010101" pitchFamily="49" charset="-122"/>
              <a:ea typeface="仿宋" panose="02010609060101010101" pitchFamily="49" charset="-122"/>
              <a:sym typeface="+mn-ea"/>
            </a:endParaRPr>
          </a:p>
          <a:p>
            <a:endParaRPr lang="zh-CN" altLang="en-US" sz="1600" dirty="0">
              <a:latin typeface="仿宋" panose="02010609060101010101" pitchFamily="49" charset="-122"/>
              <a:ea typeface="仿宋" panose="02010609060101010101" pitchFamily="49" charset="-122"/>
              <a:sym typeface="+mn-ea"/>
            </a:endParaRPr>
          </a:p>
          <a:p>
            <a:r>
              <a:rPr lang="en-US" altLang="zh-CN" b="1" dirty="0">
                <a:sym typeface="+mn-ea"/>
              </a:rPr>
              <a:t>CommandParser</a:t>
            </a:r>
          </a:p>
          <a:p>
            <a:endParaRPr lang="en-US" altLang="zh-CN" dirty="0">
              <a:sym typeface="+mn-ea"/>
            </a:endParaRP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命令行参数解析器</a:t>
            </a:r>
          </a:p>
          <a:p>
            <a:r>
              <a:rPr lang="zh-CN" altLang="en-US" b="1" dirty="0">
                <a:sym typeface="+mn-ea"/>
              </a:rPr>
              <a:t>作用</a:t>
            </a:r>
            <a:r>
              <a:rPr lang="en-US" altLang="zh-CN" b="1" dirty="0">
                <a:sym typeface="+mn-ea"/>
              </a:rPr>
              <a:t>:</a:t>
            </a:r>
            <a:r>
              <a:rPr lang="en-US" altLang="zh-CN" dirty="0">
                <a:sym typeface="+mn-ea"/>
              </a:rPr>
              <a:t> </a:t>
            </a:r>
            <a:r>
              <a:rPr lang="zh-CN" altLang="en-US" sz="1600" dirty="0">
                <a:latin typeface="仿宋" panose="02010609060101010101" pitchFamily="49" charset="-122"/>
                <a:ea typeface="仿宋" panose="02010609060101010101" pitchFamily="49" charset="-122"/>
                <a:sym typeface="+mn-ea"/>
              </a:rPr>
              <a:t>解析用户输入的命令行参数，转换为系统配置</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支持多种参数格式，提供参数验证和默认值处理</a:t>
            </a:r>
          </a:p>
        </p:txBody>
      </p:sp>
      <p:pic>
        <p:nvPicPr>
          <p:cNvPr id="13" name="图片 12">
            <a:extLst>
              <a:ext uri="{FF2B5EF4-FFF2-40B4-BE49-F238E27FC236}">
                <a16:creationId xmlns:a16="http://schemas.microsoft.com/office/drawing/2014/main" id="{5A8C81CB-5A65-1967-27EF-406F17A14C5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32213581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62EBC-C314-C455-F1E8-3A4F0024473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3C0F5638-76A3-5831-5665-393CB6DC701E}"/>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18435316-88E8-933A-4800-67D792A9AEE5}"/>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21</a:t>
            </a:fld>
            <a:endParaRPr lang="zh-CN" altLang="en-US"/>
          </a:p>
        </p:txBody>
      </p:sp>
      <p:sp>
        <p:nvSpPr>
          <p:cNvPr id="6" name="文本框 5">
            <a:extLst>
              <a:ext uri="{FF2B5EF4-FFF2-40B4-BE49-F238E27FC236}">
                <a16:creationId xmlns:a16="http://schemas.microsoft.com/office/drawing/2014/main" id="{37FB024E-9506-BBE7-BEF2-6E960EFE5EB1}"/>
              </a:ext>
            </a:extLst>
          </p:cNvPr>
          <p:cNvSpPr txBox="1"/>
          <p:nvPr/>
        </p:nvSpPr>
        <p:spPr>
          <a:xfrm>
            <a:off x="433381" y="834725"/>
            <a:ext cx="5246449" cy="4801314"/>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第二层：配置层</a:t>
            </a:r>
          </a:p>
          <a:p>
            <a:endParaRPr lang="en-US" altLang="zh-CN" dirty="0">
              <a:sym typeface="+mn-ea"/>
            </a:endParaRPr>
          </a:p>
          <a:p>
            <a:r>
              <a:rPr lang="en-US" altLang="zh-CN" b="1" dirty="0">
                <a:latin typeface="+mn-ea"/>
                <a:sym typeface="+mn-ea"/>
              </a:rPr>
              <a:t>MonitorConfig</a:t>
            </a:r>
          </a:p>
          <a:p>
            <a:endParaRPr lang="en-US" altLang="zh-CN" b="1" dirty="0">
              <a:latin typeface="+mn-ea"/>
              <a:sym typeface="+mn-ea"/>
            </a:endParaRP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监控系统配置模型</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存储和提供系统各组件所需的配置信息</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包含监控目标、间隔、输出路径、轮转策略等配置参数</a:t>
            </a:r>
            <a:endParaRPr lang="en-US" altLang="zh-CN" sz="1600" dirty="0">
              <a:latin typeface="仿宋" panose="02010609060101010101" pitchFamily="49" charset="-122"/>
              <a:ea typeface="仿宋" panose="02010609060101010101" pitchFamily="49" charset="-122"/>
              <a:sym typeface="+mn-ea"/>
            </a:endParaRPr>
          </a:p>
          <a:p>
            <a:endParaRPr lang="zh-CN" altLang="en-US" b="1" dirty="0">
              <a:latin typeface="+mn-ea"/>
              <a:sym typeface="+mn-ea"/>
            </a:endParaRPr>
          </a:p>
          <a:p>
            <a:r>
              <a:rPr lang="en-US" altLang="zh-CN" b="1" dirty="0">
                <a:latin typeface="+mn-ea"/>
                <a:sym typeface="+mn-ea"/>
              </a:rPr>
              <a:t>CollectorFactory</a:t>
            </a:r>
          </a:p>
          <a:p>
            <a:endParaRPr lang="en-US" altLang="zh-CN" b="1" dirty="0">
              <a:latin typeface="+mn-ea"/>
              <a:sym typeface="+mn-ea"/>
            </a:endParaRP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采集器工厂</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根据配置创建和管理不同类型的指标采集器</a:t>
            </a:r>
          </a:p>
          <a:p>
            <a:r>
              <a:rPr lang="zh-CN" altLang="en-US" b="1" dirty="0">
                <a:latin typeface="+mn-ea"/>
                <a:sym typeface="+mn-ea"/>
              </a:rPr>
              <a:t>特点</a:t>
            </a:r>
            <a:r>
              <a:rPr lang="en-US" altLang="zh-CN" b="1" dirty="0">
                <a:latin typeface="+mn-ea"/>
                <a:sym typeface="+mn-ea"/>
              </a:rPr>
              <a:t>: </a:t>
            </a:r>
            <a:r>
              <a:rPr lang="zh-CN" altLang="en-US" sz="1400" dirty="0">
                <a:latin typeface="仿宋" panose="02010609060101010101" pitchFamily="49" charset="-122"/>
                <a:ea typeface="仿宋" panose="02010609060101010101" pitchFamily="49" charset="-122"/>
                <a:sym typeface="+mn-ea"/>
              </a:rPr>
              <a:t>支持动态创建采集器，根据配置的监控范围选择适当的采集器</a:t>
            </a:r>
            <a:endParaRPr lang="zh-CN" altLang="en-US" dirty="0">
              <a:latin typeface="仿宋" panose="02010609060101010101" pitchFamily="49" charset="-122"/>
              <a:ea typeface="仿宋" panose="02010609060101010101" pitchFamily="49" charset="-122"/>
              <a:sym typeface="+mn-ea"/>
            </a:endParaRPr>
          </a:p>
        </p:txBody>
      </p:sp>
      <p:pic>
        <p:nvPicPr>
          <p:cNvPr id="13" name="图片 12">
            <a:extLst>
              <a:ext uri="{FF2B5EF4-FFF2-40B4-BE49-F238E27FC236}">
                <a16:creationId xmlns:a16="http://schemas.microsoft.com/office/drawing/2014/main" id="{B6EDA095-7ED4-6B88-589C-E0C99E3729A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17708361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5F6B8-30DA-9B68-F112-8A8600E37B4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CD5EEB26-EB1A-4015-7BBD-564E961FC524}"/>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94EC6869-94C4-3EB4-00CD-B0BE4B6E237C}"/>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22</a:t>
            </a:fld>
            <a:endParaRPr lang="zh-CN" altLang="en-US"/>
          </a:p>
        </p:txBody>
      </p:sp>
      <p:sp>
        <p:nvSpPr>
          <p:cNvPr id="6" name="文本框 5">
            <a:extLst>
              <a:ext uri="{FF2B5EF4-FFF2-40B4-BE49-F238E27FC236}">
                <a16:creationId xmlns:a16="http://schemas.microsoft.com/office/drawing/2014/main" id="{92B5BE77-BA3D-4A96-7580-E395AF1DF410}"/>
              </a:ext>
            </a:extLst>
          </p:cNvPr>
          <p:cNvSpPr txBox="1"/>
          <p:nvPr/>
        </p:nvSpPr>
        <p:spPr>
          <a:xfrm>
            <a:off x="433381" y="834725"/>
            <a:ext cx="5246449" cy="5109091"/>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第三层：连接层</a:t>
            </a:r>
          </a:p>
          <a:p>
            <a:endParaRPr lang="en-US" altLang="zh-CN" dirty="0">
              <a:sym typeface="+mn-ea"/>
            </a:endParaRPr>
          </a:p>
          <a:p>
            <a:r>
              <a:rPr lang="en-US" altLang="zh-CN" b="1" dirty="0">
                <a:sym typeface="+mn-ea"/>
              </a:rPr>
              <a:t>JMX</a:t>
            </a:r>
            <a:r>
              <a:rPr lang="zh-CN" altLang="en-US" b="1" dirty="0">
                <a:sym typeface="+mn-ea"/>
              </a:rPr>
              <a:t>连接工厂</a:t>
            </a:r>
            <a:r>
              <a:rPr lang="en-US" altLang="zh-CN" b="1" dirty="0">
                <a:sym typeface="+mn-ea"/>
              </a:rPr>
              <a:t> (BESMBeanServerConnectionFactory)</a:t>
            </a:r>
          </a:p>
          <a:p>
            <a:r>
              <a:rPr lang="zh-CN" altLang="en-US" b="1" dirty="0">
                <a:sym typeface="+mn-ea"/>
              </a:rPr>
              <a:t>功能</a:t>
            </a:r>
            <a:r>
              <a:rPr lang="en-US" altLang="zh-CN" b="1" dirty="0">
                <a:sym typeface="+mn-ea"/>
              </a:rPr>
              <a:t>: </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连接创建和管理</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创建和维护与目标</a:t>
            </a:r>
            <a:r>
              <a:rPr lang="en-US" altLang="zh-CN" sz="1600" dirty="0">
                <a:latin typeface="仿宋" panose="02010609060101010101" pitchFamily="49" charset="-122"/>
                <a:ea typeface="仿宋" panose="02010609060101010101" pitchFamily="49" charset="-122"/>
                <a:sym typeface="+mn-ea"/>
              </a:rPr>
              <a:t>Java</a:t>
            </a:r>
            <a:r>
              <a:rPr lang="zh-CN" altLang="en-US" sz="1600" dirty="0">
                <a:latin typeface="仿宋" panose="02010609060101010101" pitchFamily="49" charset="-122"/>
                <a:ea typeface="仿宋" panose="02010609060101010101" pitchFamily="49" charset="-122"/>
                <a:sym typeface="+mn-ea"/>
              </a:rPr>
              <a:t>应用的</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a:t>
            </a:r>
            <a:endParaRPr lang="zh-CN" altLang="en-US" dirty="0">
              <a:latin typeface="仿宋" panose="02010609060101010101" pitchFamily="49" charset="-122"/>
              <a:ea typeface="仿宋" panose="02010609060101010101" pitchFamily="49" charset="-122"/>
              <a:sym typeface="+mn-ea"/>
            </a:endParaRPr>
          </a:p>
          <a:p>
            <a:r>
              <a:rPr lang="zh-CN" altLang="en-US" b="1" dirty="0">
                <a:sym typeface="+mn-ea"/>
              </a:rPr>
              <a:t>特点</a:t>
            </a:r>
            <a:r>
              <a:rPr lang="en-US" altLang="zh-CN" b="1" dirty="0">
                <a:sym typeface="+mn-ea"/>
              </a:rPr>
              <a:t>:</a:t>
            </a:r>
            <a:r>
              <a:rPr lang="en-US" altLang="zh-CN" dirty="0">
                <a:sym typeface="+mn-ea"/>
              </a:rPr>
              <a:t> </a:t>
            </a:r>
            <a:r>
              <a:rPr lang="zh-CN" altLang="en-US" sz="1600" dirty="0">
                <a:latin typeface="仿宋" panose="02010609060101010101" pitchFamily="49" charset="-122"/>
                <a:ea typeface="仿宋" panose="02010609060101010101" pitchFamily="49" charset="-122"/>
                <a:sym typeface="+mn-ea"/>
              </a:rPr>
              <a:t>支持连接重试、自动重连和连接池管理</a:t>
            </a:r>
            <a:endParaRPr lang="en-US" altLang="zh-CN" sz="1600" dirty="0">
              <a:latin typeface="仿宋" panose="02010609060101010101" pitchFamily="49" charset="-122"/>
              <a:ea typeface="仿宋" panose="02010609060101010101" pitchFamily="49" charset="-122"/>
              <a:sym typeface="+mn-ea"/>
            </a:endParaRPr>
          </a:p>
          <a:p>
            <a:endParaRPr lang="zh-CN" altLang="en-US" dirty="0">
              <a:sym typeface="+mn-ea"/>
            </a:endParaRPr>
          </a:p>
          <a:p>
            <a:r>
              <a:rPr lang="en-US" altLang="zh-CN" b="1" dirty="0">
                <a:sym typeface="+mn-ea"/>
              </a:rPr>
              <a:t>JMXConnector</a:t>
            </a:r>
          </a:p>
          <a:p>
            <a:r>
              <a:rPr lang="zh-CN" altLang="en-US" b="1" dirty="0">
                <a:sym typeface="+mn-ea"/>
              </a:rPr>
              <a:t>功能</a:t>
            </a:r>
            <a:r>
              <a:rPr lang="en-US" altLang="zh-CN" b="1" dirty="0">
                <a:sym typeface="+mn-ea"/>
              </a:rPr>
              <a:t>: </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连接器</a:t>
            </a:r>
          </a:p>
          <a:p>
            <a:r>
              <a:rPr lang="zh-CN" altLang="en-US" b="1" dirty="0">
                <a:sym typeface="+mn-ea"/>
              </a:rPr>
              <a:t>作用</a:t>
            </a:r>
            <a:r>
              <a:rPr lang="en-US" altLang="zh-CN" b="1" dirty="0">
                <a:sym typeface="+mn-ea"/>
              </a:rPr>
              <a:t>:</a:t>
            </a:r>
            <a:r>
              <a:rPr lang="en-US" altLang="zh-CN" dirty="0">
                <a:sym typeface="+mn-ea"/>
              </a:rPr>
              <a:t> </a:t>
            </a:r>
            <a:r>
              <a:rPr lang="zh-CN" altLang="en-US" sz="1600" dirty="0">
                <a:latin typeface="仿宋" panose="02010609060101010101" pitchFamily="49" charset="-122"/>
                <a:ea typeface="仿宋" panose="02010609060101010101" pitchFamily="49" charset="-122"/>
                <a:sym typeface="+mn-ea"/>
              </a:rPr>
              <a:t>提供与远程</a:t>
            </a:r>
            <a:r>
              <a:rPr lang="en-US" altLang="zh-CN" sz="1600" dirty="0">
                <a:latin typeface="仿宋" panose="02010609060101010101" pitchFamily="49" charset="-122"/>
                <a:ea typeface="仿宋" panose="02010609060101010101" pitchFamily="49" charset="-122"/>
                <a:sym typeface="+mn-ea"/>
              </a:rPr>
              <a:t>JVM</a:t>
            </a:r>
            <a:r>
              <a:rPr lang="zh-CN" altLang="en-US" sz="1600" dirty="0">
                <a:latin typeface="仿宋" panose="02010609060101010101" pitchFamily="49" charset="-122"/>
                <a:ea typeface="仿宋" panose="02010609060101010101" pitchFamily="49" charset="-122"/>
                <a:sym typeface="+mn-ea"/>
              </a:rPr>
              <a:t>通信的能力</a:t>
            </a:r>
            <a:endParaRPr lang="zh-CN" altLang="en-US" dirty="0">
              <a:latin typeface="仿宋" panose="02010609060101010101" pitchFamily="49" charset="-122"/>
              <a:ea typeface="仿宋" panose="02010609060101010101" pitchFamily="49" charset="-122"/>
              <a:sym typeface="+mn-ea"/>
            </a:endParaRP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封装底层</a:t>
            </a:r>
            <a:r>
              <a:rPr lang="en-US" altLang="zh-CN" sz="1600" dirty="0">
                <a:latin typeface="仿宋" panose="02010609060101010101" pitchFamily="49" charset="-122"/>
                <a:ea typeface="仿宋" panose="02010609060101010101" pitchFamily="49" charset="-122"/>
                <a:sym typeface="+mn-ea"/>
              </a:rPr>
              <a:t>JMX</a:t>
            </a:r>
            <a:r>
              <a:rPr lang="zh-CN" altLang="en-US" sz="1600" dirty="0">
                <a:latin typeface="仿宋" panose="02010609060101010101" pitchFamily="49" charset="-122"/>
                <a:ea typeface="仿宋" panose="02010609060101010101" pitchFamily="49" charset="-122"/>
                <a:sym typeface="+mn-ea"/>
              </a:rPr>
              <a:t>连接细节，处理连接异常</a:t>
            </a:r>
            <a:endParaRPr lang="en-US" altLang="zh-CN" sz="1600" dirty="0">
              <a:latin typeface="仿宋" panose="02010609060101010101" pitchFamily="49" charset="-122"/>
              <a:ea typeface="仿宋" panose="02010609060101010101" pitchFamily="49" charset="-122"/>
              <a:sym typeface="+mn-ea"/>
            </a:endParaRPr>
          </a:p>
          <a:p>
            <a:endParaRPr lang="zh-CN" altLang="en-US" dirty="0">
              <a:sym typeface="+mn-ea"/>
            </a:endParaRPr>
          </a:p>
          <a:p>
            <a:r>
              <a:rPr lang="en-US" altLang="zh-CN" b="1" dirty="0">
                <a:sym typeface="+mn-ea"/>
              </a:rPr>
              <a:t>MBeanServerConnection</a:t>
            </a:r>
          </a:p>
          <a:p>
            <a:r>
              <a:rPr lang="zh-CN" altLang="en-US" b="1" dirty="0">
                <a:sym typeface="+mn-ea"/>
              </a:rPr>
              <a:t>功能</a:t>
            </a:r>
            <a:r>
              <a:rPr lang="en-US" altLang="zh-CN" b="1" dirty="0">
                <a:sym typeface="+mn-ea"/>
              </a:rPr>
              <a:t>: </a:t>
            </a:r>
            <a:r>
              <a:rPr lang="en-US" altLang="zh-CN" sz="1600" dirty="0">
                <a:latin typeface="仿宋" panose="02010609060101010101" pitchFamily="49" charset="-122"/>
                <a:ea typeface="仿宋" panose="02010609060101010101" pitchFamily="49" charset="-122"/>
                <a:sym typeface="+mn-ea"/>
              </a:rPr>
              <a:t>MBean</a:t>
            </a:r>
            <a:r>
              <a:rPr lang="zh-CN" altLang="en-US" sz="1600" dirty="0">
                <a:latin typeface="仿宋" panose="02010609060101010101" pitchFamily="49" charset="-122"/>
                <a:ea typeface="仿宋" panose="02010609060101010101" pitchFamily="49" charset="-122"/>
                <a:sym typeface="+mn-ea"/>
              </a:rPr>
              <a:t>服务连接</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提供访问远程</a:t>
            </a:r>
            <a:r>
              <a:rPr lang="en-US" altLang="zh-CN" sz="1600" dirty="0">
                <a:latin typeface="仿宋" panose="02010609060101010101" pitchFamily="49" charset="-122"/>
                <a:ea typeface="仿宋" panose="02010609060101010101" pitchFamily="49" charset="-122"/>
                <a:sym typeface="+mn-ea"/>
              </a:rPr>
              <a:t>MBean</a:t>
            </a:r>
            <a:r>
              <a:rPr lang="zh-CN" altLang="en-US" sz="1600" dirty="0">
                <a:latin typeface="仿宋" panose="02010609060101010101" pitchFamily="49" charset="-122"/>
                <a:ea typeface="仿宋" panose="02010609060101010101" pitchFamily="49" charset="-122"/>
                <a:sym typeface="+mn-ea"/>
              </a:rPr>
              <a:t>属性和操作的能力</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是所有采集器获取指标数据的基础</a:t>
            </a:r>
          </a:p>
        </p:txBody>
      </p:sp>
      <p:pic>
        <p:nvPicPr>
          <p:cNvPr id="13" name="图片 12">
            <a:extLst>
              <a:ext uri="{FF2B5EF4-FFF2-40B4-BE49-F238E27FC236}">
                <a16:creationId xmlns:a16="http://schemas.microsoft.com/office/drawing/2014/main" id="{DE5A20B9-24E0-7E34-087B-F6CB986C159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21315617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4FDC1-875B-8DE4-D7A4-3F8D745A5240}"/>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FBDC43B0-627D-50C5-C169-4DA087A39F0E}"/>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11C11080-532E-178B-0754-499457BE7C12}"/>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23</a:t>
            </a:fld>
            <a:endParaRPr lang="zh-CN" altLang="en-US"/>
          </a:p>
        </p:txBody>
      </p:sp>
      <p:sp>
        <p:nvSpPr>
          <p:cNvPr id="6" name="文本框 5">
            <a:extLst>
              <a:ext uri="{FF2B5EF4-FFF2-40B4-BE49-F238E27FC236}">
                <a16:creationId xmlns:a16="http://schemas.microsoft.com/office/drawing/2014/main" id="{4DCE1AC9-C01E-A8D4-126D-D48E4F6124D6}"/>
              </a:ext>
            </a:extLst>
          </p:cNvPr>
          <p:cNvSpPr txBox="1"/>
          <p:nvPr/>
        </p:nvSpPr>
        <p:spPr>
          <a:xfrm>
            <a:off x="433381" y="834725"/>
            <a:ext cx="5246449" cy="5570756"/>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第四层：采集层</a:t>
            </a:r>
            <a:endParaRPr lang="en-US" altLang="zh-CN" dirty="0">
              <a:sym typeface="+mn-ea"/>
            </a:endParaRPr>
          </a:p>
          <a:p>
            <a:r>
              <a:rPr lang="en-US" altLang="zh-CN" b="1" dirty="0">
                <a:latin typeface="+mn-ea"/>
                <a:sym typeface="+mn-ea"/>
              </a:rPr>
              <a:t>MetricCollector (</a:t>
            </a:r>
            <a:r>
              <a:rPr lang="zh-CN" altLang="en-US" b="1" dirty="0">
                <a:latin typeface="+mn-ea"/>
                <a:sym typeface="+mn-ea"/>
              </a:rPr>
              <a:t>接口</a:t>
            </a:r>
            <a:r>
              <a:rPr lang="en-US" altLang="zh-CN" b="1" dirty="0">
                <a:latin typeface="+mn-ea"/>
                <a:sym typeface="+mn-ea"/>
              </a:rPr>
              <a:t>)</a:t>
            </a: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采集器接口规范</a:t>
            </a:r>
            <a:endParaRPr lang="zh-CN" altLang="en-US" dirty="0">
              <a:latin typeface="仿宋" panose="02010609060101010101" pitchFamily="49" charset="-122"/>
              <a:ea typeface="仿宋" panose="02010609060101010101" pitchFamily="49" charset="-122"/>
              <a:sym typeface="+mn-ea"/>
            </a:endParaRP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定义所有采集器必须实现的方法</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包含采集、分组和格式化等核心功能</a:t>
            </a:r>
            <a:endParaRPr lang="en-US" altLang="zh-CN" sz="1600" dirty="0">
              <a:latin typeface="仿宋" panose="02010609060101010101" pitchFamily="49" charset="-122"/>
              <a:ea typeface="仿宋" panose="02010609060101010101" pitchFamily="49" charset="-122"/>
              <a:sym typeface="+mn-ea"/>
            </a:endParaRPr>
          </a:p>
          <a:p>
            <a:endParaRPr lang="zh-CN" altLang="en-US" b="1" dirty="0">
              <a:latin typeface="+mn-ea"/>
              <a:sym typeface="+mn-ea"/>
            </a:endParaRPr>
          </a:p>
          <a:p>
            <a:r>
              <a:rPr lang="en-US" altLang="zh-CN" b="1" dirty="0">
                <a:latin typeface="+mn-ea"/>
                <a:sym typeface="+mn-ea"/>
              </a:rPr>
              <a:t>SessionCollector</a:t>
            </a:r>
          </a:p>
          <a:p>
            <a:r>
              <a:rPr lang="zh-CN" altLang="en-US" b="1" dirty="0">
                <a:latin typeface="+mn-ea"/>
                <a:sym typeface="+mn-ea"/>
              </a:rPr>
              <a:t>功能</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会话指标采集器</a:t>
            </a:r>
          </a:p>
          <a:p>
            <a:r>
              <a:rPr lang="zh-CN" altLang="en-US" b="1" dirty="0">
                <a:latin typeface="+mn-ea"/>
                <a:sym typeface="+mn-ea"/>
              </a:rPr>
              <a:t>作用</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采集</a:t>
            </a:r>
            <a:r>
              <a:rPr lang="en-US" altLang="zh-CN" sz="1600" dirty="0">
                <a:latin typeface="仿宋" panose="02010609060101010101" pitchFamily="49" charset="-122"/>
                <a:ea typeface="仿宋" panose="02010609060101010101" pitchFamily="49" charset="-122"/>
                <a:sym typeface="+mn-ea"/>
              </a:rPr>
              <a:t>Tomcat</a:t>
            </a:r>
            <a:r>
              <a:rPr lang="zh-CN" altLang="en-US" sz="1600" dirty="0">
                <a:latin typeface="仿宋" panose="02010609060101010101" pitchFamily="49" charset="-122"/>
                <a:ea typeface="仿宋" panose="02010609060101010101" pitchFamily="49" charset="-122"/>
                <a:sym typeface="+mn-ea"/>
              </a:rPr>
              <a:t>等容器的会话相关指标</a:t>
            </a:r>
          </a:p>
          <a:p>
            <a:r>
              <a:rPr lang="zh-CN" altLang="en-US" b="1" dirty="0">
                <a:latin typeface="+mn-ea"/>
                <a:sym typeface="+mn-ea"/>
              </a:rPr>
              <a:t>特点</a:t>
            </a:r>
            <a:r>
              <a:rPr lang="en-US" altLang="zh-CN" b="1" dirty="0">
                <a:latin typeface="+mn-ea"/>
                <a:sym typeface="+mn-ea"/>
              </a:rPr>
              <a:t>: </a:t>
            </a:r>
            <a:r>
              <a:rPr lang="zh-CN" altLang="en-US" sz="1600" dirty="0">
                <a:latin typeface="仿宋" panose="02010609060101010101" pitchFamily="49" charset="-122"/>
                <a:ea typeface="仿宋" panose="02010609060101010101" pitchFamily="49" charset="-122"/>
                <a:sym typeface="+mn-ea"/>
              </a:rPr>
              <a:t>监控活跃会话数、过期会话数等关键指标</a:t>
            </a:r>
            <a:endParaRPr lang="en-US" altLang="zh-CN" sz="1600" dirty="0">
              <a:latin typeface="仿宋" panose="02010609060101010101" pitchFamily="49" charset="-122"/>
              <a:ea typeface="仿宋" panose="02010609060101010101" pitchFamily="49" charset="-122"/>
              <a:sym typeface="+mn-ea"/>
            </a:endParaRPr>
          </a:p>
          <a:p>
            <a:endParaRPr lang="en-US" altLang="zh-CN" sz="1600" dirty="0">
              <a:latin typeface="仿宋" panose="02010609060101010101" pitchFamily="49" charset="-122"/>
              <a:ea typeface="仿宋" panose="02010609060101010101" pitchFamily="49" charset="-122"/>
              <a:sym typeface="+mn-ea"/>
            </a:endParaRPr>
          </a:p>
          <a:p>
            <a:endParaRPr lang="en-US" altLang="zh-CN" sz="1600" dirty="0">
              <a:latin typeface="仿宋" panose="02010609060101010101" pitchFamily="49" charset="-122"/>
              <a:ea typeface="仿宋" panose="02010609060101010101" pitchFamily="49" charset="-122"/>
              <a:sym typeface="+mn-ea"/>
            </a:endParaRPr>
          </a:p>
          <a:p>
            <a:r>
              <a:rPr lang="zh-CN" altLang="en-US" b="1" dirty="0">
                <a:sym typeface="+mn-ea"/>
              </a:rPr>
              <a:t>第五层：数据模型层</a:t>
            </a:r>
          </a:p>
          <a:p>
            <a:r>
              <a:rPr lang="en-US" altLang="zh-CN" b="1" dirty="0">
                <a:sym typeface="+mn-ea"/>
              </a:rPr>
              <a:t>Metric</a:t>
            </a: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指标数据模型</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封装单个指标的名称和值</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采用</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类型</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上下文</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指标</a:t>
            </a:r>
            <a:r>
              <a:rPr lang="en-US" altLang="zh-CN" sz="1600" dirty="0">
                <a:latin typeface="仿宋" panose="02010609060101010101" pitchFamily="49" charset="-122"/>
                <a:ea typeface="仿宋" panose="02010609060101010101" pitchFamily="49" charset="-122"/>
                <a:sym typeface="+mn-ea"/>
              </a:rPr>
              <a:t>"</a:t>
            </a:r>
            <a:r>
              <a:rPr lang="zh-CN" altLang="en-US" sz="1600" dirty="0">
                <a:latin typeface="仿宋" panose="02010609060101010101" pitchFamily="49" charset="-122"/>
                <a:ea typeface="仿宋" panose="02010609060101010101" pitchFamily="49" charset="-122"/>
                <a:sym typeface="+mn-ea"/>
              </a:rPr>
              <a:t>的命名规范，支持各种数据类型</a:t>
            </a:r>
            <a:endParaRPr lang="zh-CN" altLang="en-US" dirty="0">
              <a:latin typeface="仿宋" panose="02010609060101010101" pitchFamily="49" charset="-122"/>
              <a:ea typeface="仿宋" panose="02010609060101010101" pitchFamily="49" charset="-122"/>
              <a:sym typeface="+mn-ea"/>
            </a:endParaRPr>
          </a:p>
        </p:txBody>
      </p:sp>
      <p:pic>
        <p:nvPicPr>
          <p:cNvPr id="13" name="图片 12">
            <a:extLst>
              <a:ext uri="{FF2B5EF4-FFF2-40B4-BE49-F238E27FC236}">
                <a16:creationId xmlns:a16="http://schemas.microsoft.com/office/drawing/2014/main" id="{BBFE9E9D-01CB-9FF9-4946-4DB654A55D9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12271615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12022-A30F-B709-2B91-7E75765AB11D}"/>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CB05D944-F600-AC80-8F3E-80E5B3DB9694}"/>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055EB454-EE73-D7B7-834C-F52BAB1F7CEC}"/>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24</a:t>
            </a:fld>
            <a:endParaRPr lang="zh-CN" altLang="en-US"/>
          </a:p>
        </p:txBody>
      </p:sp>
      <p:sp>
        <p:nvSpPr>
          <p:cNvPr id="6" name="文本框 5">
            <a:extLst>
              <a:ext uri="{FF2B5EF4-FFF2-40B4-BE49-F238E27FC236}">
                <a16:creationId xmlns:a16="http://schemas.microsoft.com/office/drawing/2014/main" id="{6D11E010-51F0-4AAC-4AD1-DA9BD742B6E4}"/>
              </a:ext>
            </a:extLst>
          </p:cNvPr>
          <p:cNvSpPr txBox="1"/>
          <p:nvPr/>
        </p:nvSpPr>
        <p:spPr>
          <a:xfrm>
            <a:off x="433381" y="834725"/>
            <a:ext cx="5246449" cy="5262979"/>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第六层：写入层</a:t>
            </a:r>
            <a:endParaRPr lang="en-US" altLang="zh-CN" b="1" dirty="0"/>
          </a:p>
          <a:p>
            <a:endParaRPr lang="en-US" altLang="zh-CN" sz="1400" b="1" dirty="0">
              <a:sym typeface="+mn-ea"/>
            </a:endParaRPr>
          </a:p>
          <a:p>
            <a:r>
              <a:rPr lang="en-US" altLang="zh-CN" sz="1400" b="1" dirty="0">
                <a:sym typeface="+mn-ea"/>
              </a:rPr>
              <a:t>MetricWriter (</a:t>
            </a:r>
            <a:r>
              <a:rPr lang="zh-CN" altLang="en-US" sz="1400" b="1" dirty="0">
                <a:sym typeface="+mn-ea"/>
              </a:rPr>
              <a:t>接口</a:t>
            </a:r>
            <a:r>
              <a:rPr lang="en-US" altLang="zh-CN" sz="1400" b="1" dirty="0">
                <a:sym typeface="+mn-ea"/>
              </a:rPr>
              <a:t>)</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写入器接口规范</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定义所有写入器必须实现的方法</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提供数据持久化的统一接口</a:t>
            </a:r>
            <a:endParaRPr lang="en-US" altLang="zh-CN" sz="1400" dirty="0">
              <a:latin typeface="仿宋" panose="02010609060101010101" pitchFamily="49" charset="-122"/>
              <a:ea typeface="仿宋" panose="02010609060101010101" pitchFamily="49" charset="-122"/>
              <a:sym typeface="+mn-ea"/>
            </a:endParaRPr>
          </a:p>
          <a:p>
            <a:endParaRPr lang="zh-CN" altLang="en-US" sz="1400" dirty="0">
              <a:sym typeface="+mn-ea"/>
            </a:endParaRPr>
          </a:p>
          <a:p>
            <a:r>
              <a:rPr lang="en-US" altLang="zh-CN" sz="1400" b="1" dirty="0">
                <a:sym typeface="+mn-ea"/>
              </a:rPr>
              <a:t>GroupedMetricWriter</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分组写入器</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根据指标前缀将指标分组，并交给不同的写入器处理</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支持动态创建和注册写入器，实现指标分类存储</a:t>
            </a:r>
            <a:endParaRPr lang="en-US" altLang="zh-CN" sz="1400" dirty="0">
              <a:latin typeface="仿宋" panose="02010609060101010101" pitchFamily="49" charset="-122"/>
              <a:ea typeface="仿宋" panose="02010609060101010101" pitchFamily="49" charset="-122"/>
              <a:sym typeface="+mn-ea"/>
            </a:endParaRPr>
          </a:p>
          <a:p>
            <a:endParaRPr lang="zh-CN" altLang="en-US" sz="1400" dirty="0">
              <a:sym typeface="+mn-ea"/>
            </a:endParaRPr>
          </a:p>
          <a:p>
            <a:r>
              <a:rPr lang="en-US" altLang="zh-CN" sz="1400" b="1" dirty="0">
                <a:sym typeface="+mn-ea"/>
              </a:rPr>
              <a:t>TextMetricWriter</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文本写入器</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将指标以文本格式写入文件</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支持多种文本格式，处理文件创建和写入操作</a:t>
            </a:r>
            <a:endParaRPr lang="en-US" altLang="zh-CN" sz="1400" dirty="0">
              <a:latin typeface="仿宋" panose="02010609060101010101" pitchFamily="49" charset="-122"/>
              <a:ea typeface="仿宋" panose="02010609060101010101" pitchFamily="49" charset="-122"/>
              <a:sym typeface="+mn-ea"/>
            </a:endParaRPr>
          </a:p>
          <a:p>
            <a:endParaRPr lang="zh-CN" altLang="en-US" sz="1400" dirty="0">
              <a:sym typeface="+mn-ea"/>
            </a:endParaRPr>
          </a:p>
          <a:p>
            <a:r>
              <a:rPr lang="en-US" altLang="zh-CN" sz="1400" b="1" dirty="0">
                <a:sym typeface="+mn-ea"/>
              </a:rPr>
              <a:t>RotatingTextWriter</a:t>
            </a:r>
          </a:p>
          <a:p>
            <a:r>
              <a:rPr lang="zh-CN" altLang="en-US" sz="1400" b="1" dirty="0">
                <a:sym typeface="+mn-ea"/>
              </a:rPr>
              <a:t>功能</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轮转文本写入器</a:t>
            </a:r>
          </a:p>
          <a:p>
            <a:r>
              <a:rPr lang="zh-CN" altLang="en-US" sz="1400" b="1" dirty="0">
                <a:sym typeface="+mn-ea"/>
              </a:rPr>
              <a:t>作用</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在文本写入器基础上增加文件轮转功能</a:t>
            </a:r>
          </a:p>
          <a:p>
            <a:r>
              <a:rPr lang="zh-CN" altLang="en-US" sz="1400" b="1" dirty="0">
                <a:sym typeface="+mn-ea"/>
              </a:rPr>
              <a:t>特点</a:t>
            </a:r>
            <a:r>
              <a:rPr lang="en-US" altLang="zh-CN" sz="1400" b="1" dirty="0">
                <a:sym typeface="+mn-ea"/>
              </a:rPr>
              <a:t>: </a:t>
            </a:r>
            <a:r>
              <a:rPr lang="zh-CN" altLang="en-US" sz="1400" dirty="0">
                <a:latin typeface="仿宋" panose="02010609060101010101" pitchFamily="49" charset="-122"/>
                <a:ea typeface="仿宋" panose="02010609060101010101" pitchFamily="49" charset="-122"/>
                <a:sym typeface="+mn-ea"/>
              </a:rPr>
              <a:t>根据文件大小或时间自动轮转文件，支持压缩和保留策略</a:t>
            </a:r>
          </a:p>
        </p:txBody>
      </p:sp>
      <p:pic>
        <p:nvPicPr>
          <p:cNvPr id="13" name="图片 12">
            <a:extLst>
              <a:ext uri="{FF2B5EF4-FFF2-40B4-BE49-F238E27FC236}">
                <a16:creationId xmlns:a16="http://schemas.microsoft.com/office/drawing/2014/main" id="{FBCF74BF-6D52-8C5F-7691-A626DF576E7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13197674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F8B75-26B0-3A70-3827-CB4C85A62A2B}"/>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2B51AEE-3C7C-2ADA-DA64-189DD109F057}"/>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9B444967-BA98-0DB3-E074-5F549588297D}"/>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25</a:t>
            </a:fld>
            <a:endParaRPr lang="zh-CN" altLang="en-US"/>
          </a:p>
        </p:txBody>
      </p:sp>
      <p:sp>
        <p:nvSpPr>
          <p:cNvPr id="6" name="文本框 5">
            <a:extLst>
              <a:ext uri="{FF2B5EF4-FFF2-40B4-BE49-F238E27FC236}">
                <a16:creationId xmlns:a16="http://schemas.microsoft.com/office/drawing/2014/main" id="{0B091749-CDC6-7BF7-8AE7-46938807080C}"/>
              </a:ext>
            </a:extLst>
          </p:cNvPr>
          <p:cNvSpPr txBox="1"/>
          <p:nvPr/>
        </p:nvSpPr>
        <p:spPr>
          <a:xfrm>
            <a:off x="345459" y="908470"/>
            <a:ext cx="5246449" cy="4278094"/>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第七层：服务层</a:t>
            </a:r>
          </a:p>
          <a:p>
            <a:endParaRPr lang="en-US" altLang="zh-CN" dirty="0">
              <a:sym typeface="+mn-ea"/>
            </a:endParaRPr>
          </a:p>
          <a:p>
            <a:r>
              <a:rPr lang="en-US" altLang="zh-CN" b="1" dirty="0">
                <a:sym typeface="+mn-ea"/>
              </a:rPr>
              <a:t>MonitorService</a:t>
            </a:r>
          </a:p>
          <a:p>
            <a:endParaRPr lang="en-US" altLang="zh-CN" dirty="0">
              <a:sym typeface="+mn-ea"/>
            </a:endParaRP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监控核心服务</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协调整个监控流程，是系统的中枢</a:t>
            </a:r>
            <a:endParaRPr lang="zh-CN" altLang="en-US" dirty="0">
              <a:latin typeface="仿宋" panose="02010609060101010101" pitchFamily="49" charset="-122"/>
              <a:ea typeface="仿宋" panose="02010609060101010101" pitchFamily="49" charset="-122"/>
              <a:sym typeface="+mn-ea"/>
            </a:endParaRP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管理采集器和写入器生命周期，调度定期采集任务</a:t>
            </a:r>
            <a:endParaRPr lang="en-US" altLang="zh-CN" sz="1600" dirty="0">
              <a:latin typeface="仿宋" panose="02010609060101010101" pitchFamily="49" charset="-122"/>
              <a:ea typeface="仿宋" panose="02010609060101010101" pitchFamily="49" charset="-122"/>
              <a:sym typeface="+mn-ea"/>
            </a:endParaRPr>
          </a:p>
          <a:p>
            <a:endParaRPr lang="zh-CN" altLang="en-US" dirty="0">
              <a:sym typeface="+mn-ea"/>
            </a:endParaRPr>
          </a:p>
          <a:p>
            <a:r>
              <a:rPr lang="en-US" altLang="zh-CN" b="1" dirty="0">
                <a:sym typeface="+mn-ea"/>
              </a:rPr>
              <a:t>ScheduledExecutor</a:t>
            </a:r>
          </a:p>
          <a:p>
            <a:endParaRPr lang="en-US" altLang="zh-CN" dirty="0">
              <a:sym typeface="+mn-ea"/>
            </a:endParaRPr>
          </a:p>
          <a:p>
            <a:r>
              <a:rPr lang="zh-CN" altLang="en-US" b="1" dirty="0">
                <a:sym typeface="+mn-ea"/>
              </a:rPr>
              <a:t>功能</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任务调度器</a:t>
            </a:r>
          </a:p>
          <a:p>
            <a:r>
              <a:rPr lang="zh-CN" altLang="en-US" b="1" dirty="0">
                <a:sym typeface="+mn-ea"/>
              </a:rPr>
              <a:t>作用</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按指定间隔调度采集任务</a:t>
            </a:r>
          </a:p>
          <a:p>
            <a:r>
              <a:rPr lang="zh-CN" altLang="en-US" b="1" dirty="0">
                <a:sym typeface="+mn-ea"/>
              </a:rPr>
              <a:t>特点</a:t>
            </a:r>
            <a:r>
              <a:rPr lang="en-US" altLang="zh-CN" b="1" dirty="0">
                <a:sym typeface="+mn-ea"/>
              </a:rPr>
              <a:t>: </a:t>
            </a:r>
            <a:r>
              <a:rPr lang="zh-CN" altLang="en-US" sz="1600" dirty="0">
                <a:latin typeface="仿宋" panose="02010609060101010101" pitchFamily="49" charset="-122"/>
                <a:ea typeface="仿宋" panose="02010609060101010101" pitchFamily="49" charset="-122"/>
                <a:sym typeface="+mn-ea"/>
              </a:rPr>
              <a:t>支持定时任务、延迟执行和异常处理</a:t>
            </a:r>
          </a:p>
        </p:txBody>
      </p:sp>
      <p:pic>
        <p:nvPicPr>
          <p:cNvPr id="13" name="图片 12">
            <a:extLst>
              <a:ext uri="{FF2B5EF4-FFF2-40B4-BE49-F238E27FC236}">
                <a16:creationId xmlns:a16="http://schemas.microsoft.com/office/drawing/2014/main" id="{7D47B4B6-5230-74A4-C410-B7D718DC6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1908" y="908470"/>
            <a:ext cx="6354633" cy="5200264"/>
          </a:xfrm>
          <a:prstGeom prst="rect">
            <a:avLst/>
          </a:prstGeom>
        </p:spPr>
      </p:pic>
    </p:spTree>
    <p:extLst>
      <p:ext uri="{BB962C8B-B14F-4D97-AF65-F5344CB8AC3E}">
        <p14:creationId xmlns:p14="http://schemas.microsoft.com/office/powerpoint/2010/main" val="7886727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AA765-5CAC-53D9-0AE3-F84580C32455}"/>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009977AA-858E-F879-E604-1BB49C7C7F49}"/>
              </a:ext>
            </a:extLst>
          </p:cNvPr>
          <p:cNvSpPr>
            <a:spLocks noGrp="1"/>
          </p:cNvSpPr>
          <p:nvPr>
            <p:ph type="title"/>
          </p:nvPr>
        </p:nvSpPr>
        <p:spPr/>
        <p:txBody>
          <a:bodyPr/>
          <a:lstStyle/>
          <a:p>
            <a:r>
              <a:rPr lang="en-US" altLang="zh-CN" dirty="0"/>
              <a:t>3.2</a:t>
            </a:r>
            <a:r>
              <a:rPr lang="zh-CN" altLang="en-US" dirty="0"/>
              <a:t> 产品知识掌握情况</a:t>
            </a:r>
            <a:endParaRPr lang="en-US" altLang="zh-CN" dirty="0"/>
          </a:p>
        </p:txBody>
      </p:sp>
      <p:sp>
        <p:nvSpPr>
          <p:cNvPr id="4" name="灯片编号占位符 3">
            <a:extLst>
              <a:ext uri="{FF2B5EF4-FFF2-40B4-BE49-F238E27FC236}">
                <a16:creationId xmlns:a16="http://schemas.microsoft.com/office/drawing/2014/main" id="{2AD7560E-643E-5FA7-90D9-3F3269F1C8D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26</a:t>
            </a:fld>
            <a:endParaRPr lang="zh-CN" altLang="en-US"/>
          </a:p>
        </p:txBody>
      </p:sp>
      <p:sp>
        <p:nvSpPr>
          <p:cNvPr id="6" name="文本框 5">
            <a:extLst>
              <a:ext uri="{FF2B5EF4-FFF2-40B4-BE49-F238E27FC236}">
                <a16:creationId xmlns:a16="http://schemas.microsoft.com/office/drawing/2014/main" id="{B4989A74-E291-3859-2B2E-A43B6060E171}"/>
              </a:ext>
            </a:extLst>
          </p:cNvPr>
          <p:cNvSpPr txBox="1"/>
          <p:nvPr/>
        </p:nvSpPr>
        <p:spPr>
          <a:xfrm>
            <a:off x="345459" y="908470"/>
            <a:ext cx="5246449" cy="5078313"/>
          </a:xfrm>
          <a:prstGeom prst="rect">
            <a:avLst/>
          </a:prstGeom>
          <a:noFill/>
        </p:spPr>
        <p:txBody>
          <a:bodyPr wrap="square">
            <a:spAutoFit/>
          </a:bodyPr>
          <a:lstStyle/>
          <a:p>
            <a:r>
              <a:rPr lang="zh-CN" altLang="en-US" sz="2000" b="1" dirty="0">
                <a:latin typeface="+mn-ea"/>
              </a:rPr>
              <a:t>二、监控模块</a:t>
            </a:r>
            <a:endParaRPr lang="en-US" altLang="zh-CN" sz="2000" b="1" dirty="0">
              <a:latin typeface="+mn-ea"/>
            </a:endParaRPr>
          </a:p>
          <a:p>
            <a:endParaRPr lang="en-US" altLang="zh-CN" b="1" dirty="0">
              <a:latin typeface="+mn-ea"/>
            </a:endParaRPr>
          </a:p>
          <a:p>
            <a:r>
              <a:rPr lang="zh-CN" altLang="en-US" b="1" dirty="0"/>
              <a:t>流程说明：</a:t>
            </a:r>
            <a:endParaRPr lang="en-US" altLang="zh-CN" b="1" dirty="0"/>
          </a:p>
          <a:p>
            <a:endParaRPr lang="en-US" altLang="zh-CN" b="1" dirty="0"/>
          </a:p>
          <a:p>
            <a:r>
              <a:rPr lang="zh-CN" altLang="en-US" b="1" dirty="0"/>
              <a:t>初始化阶段</a:t>
            </a:r>
            <a:r>
              <a:rPr lang="zh-CN" altLang="en-US" dirty="0"/>
              <a:t>：</a:t>
            </a:r>
            <a:r>
              <a:rPr lang="en-US" altLang="zh-CN" sz="1600" dirty="0">
                <a:latin typeface="仿宋" panose="02010609060101010101" pitchFamily="49" charset="-122"/>
                <a:ea typeface="仿宋" panose="02010609060101010101" pitchFamily="49" charset="-122"/>
              </a:rPr>
              <a:t>MonitorToolsMain </a:t>
            </a:r>
            <a:r>
              <a:rPr lang="zh-CN" altLang="en-US" sz="1600" dirty="0">
                <a:latin typeface="仿宋" panose="02010609060101010101" pitchFamily="49" charset="-122"/>
                <a:ea typeface="仿宋" panose="02010609060101010101" pitchFamily="49" charset="-122"/>
              </a:rPr>
              <a:t>创建 </a:t>
            </a:r>
            <a:r>
              <a:rPr lang="en-US" altLang="zh-CN" sz="1600" dirty="0">
                <a:latin typeface="仿宋" panose="02010609060101010101" pitchFamily="49" charset="-122"/>
                <a:ea typeface="仿宋" panose="02010609060101010101" pitchFamily="49" charset="-122"/>
              </a:rPr>
              <a:t>MonitorService</a:t>
            </a:r>
            <a:r>
              <a:rPr lang="zh-CN" altLang="en-US" sz="1600" dirty="0">
                <a:latin typeface="仿宋" panose="02010609060101010101" pitchFamily="49" charset="-122"/>
                <a:ea typeface="仿宋" panose="02010609060101010101" pitchFamily="49" charset="-122"/>
              </a:rPr>
              <a:t>，后者建立 </a:t>
            </a:r>
            <a:r>
              <a:rPr lang="en-US" altLang="zh-CN" sz="1600" dirty="0">
                <a:latin typeface="仿宋" panose="02010609060101010101" pitchFamily="49" charset="-122"/>
                <a:ea typeface="仿宋" panose="02010609060101010101" pitchFamily="49" charset="-122"/>
              </a:rPr>
              <a:t>JMX </a:t>
            </a:r>
            <a:r>
              <a:rPr lang="zh-CN" altLang="en-US" sz="1600" dirty="0">
                <a:latin typeface="仿宋" panose="02010609060101010101" pitchFamily="49" charset="-122"/>
                <a:ea typeface="仿宋" panose="02010609060101010101" pitchFamily="49" charset="-122"/>
              </a:rPr>
              <a:t>连接、创建采集器、初始化写入器，并启动调度器。</a:t>
            </a:r>
            <a:endParaRPr lang="en-US" altLang="zh-CN" sz="1600" dirty="0">
              <a:latin typeface="仿宋" panose="02010609060101010101" pitchFamily="49" charset="-122"/>
              <a:ea typeface="仿宋" panose="02010609060101010101" pitchFamily="49" charset="-122"/>
            </a:endParaRPr>
          </a:p>
          <a:p>
            <a:endParaRPr lang="zh-CN" altLang="en-US" dirty="0"/>
          </a:p>
          <a:p>
            <a:r>
              <a:rPr lang="zh-CN" altLang="en-US" b="1" dirty="0"/>
              <a:t>采集阶段</a:t>
            </a:r>
            <a:r>
              <a:rPr lang="zh-CN" altLang="en-US" dirty="0"/>
              <a:t>：</a:t>
            </a:r>
            <a:r>
              <a:rPr lang="zh-CN" altLang="en-US" sz="1600" dirty="0">
                <a:latin typeface="仿宋" panose="02010609060101010101" pitchFamily="49" charset="-122"/>
                <a:ea typeface="仿宋" panose="02010609060101010101" pitchFamily="49" charset="-122"/>
              </a:rPr>
              <a:t>调度器周期性调用 </a:t>
            </a:r>
            <a:r>
              <a:rPr lang="en-US" altLang="zh-CN" sz="1600" dirty="0">
                <a:latin typeface="仿宋" panose="02010609060101010101" pitchFamily="49" charset="-122"/>
                <a:ea typeface="仿宋" panose="02010609060101010101" pitchFamily="49" charset="-122"/>
              </a:rPr>
              <a:t>collect</a:t>
            </a:r>
            <a:r>
              <a:rPr lang="zh-CN" altLang="en-US" sz="1600" dirty="0">
                <a:latin typeface="仿宋" panose="02010609060101010101" pitchFamily="49" charset="-122"/>
                <a:ea typeface="仿宋" panose="02010609060101010101" pitchFamily="49" charset="-122"/>
              </a:rPr>
              <a:t>，</a:t>
            </a:r>
            <a:r>
              <a:rPr lang="en-US" altLang="zh-CN" sz="1600" dirty="0">
                <a:latin typeface="仿宋" panose="02010609060101010101" pitchFamily="49" charset="-122"/>
                <a:ea typeface="仿宋" panose="02010609060101010101" pitchFamily="49" charset="-122"/>
              </a:rPr>
              <a:t>MonitorService </a:t>
            </a:r>
            <a:r>
              <a:rPr lang="zh-CN" altLang="en-US" sz="1600" dirty="0">
                <a:latin typeface="仿宋" panose="02010609060101010101" pitchFamily="49" charset="-122"/>
                <a:ea typeface="仿宋" panose="02010609060101010101" pitchFamily="49" charset="-122"/>
              </a:rPr>
              <a:t>依次调用每个采集器，通过 </a:t>
            </a:r>
            <a:r>
              <a:rPr lang="en-US" altLang="zh-CN" sz="1600" dirty="0">
                <a:latin typeface="仿宋" panose="02010609060101010101" pitchFamily="49" charset="-122"/>
                <a:ea typeface="仿宋" panose="02010609060101010101" pitchFamily="49" charset="-122"/>
              </a:rPr>
              <a:t>MBeanServerConnection </a:t>
            </a:r>
            <a:r>
              <a:rPr lang="zh-CN" altLang="en-US" sz="1600" dirty="0">
                <a:latin typeface="仿宋" panose="02010609060101010101" pitchFamily="49" charset="-122"/>
                <a:ea typeface="仿宋" panose="02010609060101010101" pitchFamily="49" charset="-122"/>
              </a:rPr>
              <a:t>获取指标并转换为 </a:t>
            </a:r>
            <a:r>
              <a:rPr lang="en-US" altLang="zh-CN" sz="1600" dirty="0">
                <a:latin typeface="仿宋" panose="02010609060101010101" pitchFamily="49" charset="-122"/>
                <a:ea typeface="仿宋" panose="02010609060101010101" pitchFamily="49" charset="-122"/>
              </a:rPr>
              <a:t>Metric </a:t>
            </a:r>
            <a:r>
              <a:rPr lang="zh-CN" altLang="en-US" sz="1600" dirty="0">
                <a:latin typeface="仿宋" panose="02010609060101010101" pitchFamily="49" charset="-122"/>
                <a:ea typeface="仿宋" panose="02010609060101010101" pitchFamily="49" charset="-122"/>
              </a:rPr>
              <a:t>列表。</a:t>
            </a:r>
            <a:endParaRPr lang="en-US" altLang="zh-CN" sz="1600" dirty="0">
              <a:latin typeface="仿宋" panose="02010609060101010101" pitchFamily="49" charset="-122"/>
              <a:ea typeface="仿宋" panose="02010609060101010101" pitchFamily="49" charset="-122"/>
            </a:endParaRPr>
          </a:p>
          <a:p>
            <a:endParaRPr lang="zh-CN" altLang="en-US" dirty="0"/>
          </a:p>
          <a:p>
            <a:r>
              <a:rPr lang="zh-CN" altLang="en-US" b="1" dirty="0"/>
              <a:t>写入阶段</a:t>
            </a:r>
            <a:r>
              <a:rPr lang="zh-CN" altLang="en-US" dirty="0"/>
              <a:t>：</a:t>
            </a:r>
            <a:r>
              <a:rPr lang="zh-CN" altLang="en-US" sz="1600" dirty="0">
                <a:latin typeface="仿宋" panose="02010609060101010101" pitchFamily="49" charset="-122"/>
                <a:ea typeface="仿宋" panose="02010609060101010101" pitchFamily="49" charset="-122"/>
              </a:rPr>
              <a:t>所有 </a:t>
            </a:r>
            <a:r>
              <a:rPr lang="en-US" altLang="zh-CN" sz="1600" dirty="0">
                <a:latin typeface="仿宋" panose="02010609060101010101" pitchFamily="49" charset="-122"/>
                <a:ea typeface="仿宋" panose="02010609060101010101" pitchFamily="49" charset="-122"/>
              </a:rPr>
              <a:t>Metric </a:t>
            </a:r>
            <a:r>
              <a:rPr lang="zh-CN" altLang="en-US" sz="1600" dirty="0">
                <a:latin typeface="仿宋" panose="02010609060101010101" pitchFamily="49" charset="-122"/>
                <a:ea typeface="仿宋" panose="02010609060101010101" pitchFamily="49" charset="-122"/>
              </a:rPr>
              <a:t>传给 </a:t>
            </a:r>
            <a:r>
              <a:rPr lang="en-US" altLang="zh-CN" sz="1600" dirty="0">
                <a:latin typeface="仿宋" panose="02010609060101010101" pitchFamily="49" charset="-122"/>
                <a:ea typeface="仿宋" panose="02010609060101010101" pitchFamily="49" charset="-122"/>
              </a:rPr>
              <a:t>GroupedMetricWriter</a:t>
            </a:r>
            <a:r>
              <a:rPr lang="zh-CN" altLang="en-US" sz="1600" dirty="0">
                <a:latin typeface="仿宋" panose="02010609060101010101" pitchFamily="49" charset="-122"/>
                <a:ea typeface="仿宋" panose="02010609060101010101" pitchFamily="49" charset="-122"/>
              </a:rPr>
              <a:t>，分组后由对应的 </a:t>
            </a:r>
            <a:r>
              <a:rPr lang="en-US" altLang="zh-CN" sz="1600" dirty="0">
                <a:latin typeface="仿宋" panose="02010609060101010101" pitchFamily="49" charset="-122"/>
                <a:ea typeface="仿宋" panose="02010609060101010101" pitchFamily="49" charset="-122"/>
              </a:rPr>
              <a:t>RotatingTextWriter </a:t>
            </a:r>
            <a:r>
              <a:rPr lang="zh-CN" altLang="en-US" sz="1600" dirty="0">
                <a:latin typeface="仿宋" panose="02010609060101010101" pitchFamily="49" charset="-122"/>
                <a:ea typeface="仿宋" panose="02010609060101010101" pitchFamily="49" charset="-122"/>
              </a:rPr>
              <a:t>写入文件，必要时执行轮转压缩。</a:t>
            </a:r>
            <a:endParaRPr lang="en-US" altLang="zh-CN" sz="1600" dirty="0">
              <a:latin typeface="仿宋" panose="02010609060101010101" pitchFamily="49" charset="-122"/>
              <a:ea typeface="仿宋" panose="02010609060101010101" pitchFamily="49" charset="-122"/>
            </a:endParaRPr>
          </a:p>
          <a:p>
            <a:endParaRPr lang="zh-CN" altLang="en-US" sz="1600" dirty="0">
              <a:latin typeface="仿宋" panose="02010609060101010101" pitchFamily="49" charset="-122"/>
              <a:ea typeface="仿宋" panose="02010609060101010101" pitchFamily="49" charset="-122"/>
            </a:endParaRPr>
          </a:p>
          <a:p>
            <a:r>
              <a:rPr lang="zh-CN" altLang="en-US" sz="1600" dirty="0">
                <a:latin typeface="仿宋" panose="02010609060101010101" pitchFamily="49" charset="-122"/>
                <a:ea typeface="仿宋" panose="02010609060101010101" pitchFamily="49" charset="-122"/>
              </a:rPr>
              <a:t>循环持续直到服务停止。</a:t>
            </a:r>
          </a:p>
          <a:p>
            <a:endParaRPr lang="zh-CN" altLang="en-US" sz="1600" dirty="0">
              <a:latin typeface="仿宋" panose="02010609060101010101" pitchFamily="49" charset="-122"/>
              <a:ea typeface="仿宋" panose="02010609060101010101" pitchFamily="49" charset="-122"/>
              <a:sym typeface="+mn-ea"/>
            </a:endParaRPr>
          </a:p>
        </p:txBody>
      </p:sp>
      <p:pic>
        <p:nvPicPr>
          <p:cNvPr id="8" name="图片 7">
            <a:extLst>
              <a:ext uri="{FF2B5EF4-FFF2-40B4-BE49-F238E27FC236}">
                <a16:creationId xmlns:a16="http://schemas.microsoft.com/office/drawing/2014/main" id="{F8279893-FFF0-77C1-408E-157C0528385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671039" y="738065"/>
            <a:ext cx="6459415" cy="5618285"/>
          </a:xfrm>
          <a:prstGeom prst="rect">
            <a:avLst/>
          </a:prstGeom>
        </p:spPr>
      </p:pic>
    </p:spTree>
    <p:extLst>
      <p:ext uri="{BB962C8B-B14F-4D97-AF65-F5344CB8AC3E}">
        <p14:creationId xmlns:p14="http://schemas.microsoft.com/office/powerpoint/2010/main" val="23068874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F3B8C1-CCDF-DE6F-DD85-720AEF0D44E9}"/>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CE1E9D0-3A0F-AB49-F546-A0E6B79B13BD}"/>
              </a:ext>
            </a:extLst>
          </p:cNvPr>
          <p:cNvSpPr>
            <a:spLocks noGrp="1"/>
          </p:cNvSpPr>
          <p:nvPr>
            <p:ph type="title"/>
          </p:nvPr>
        </p:nvSpPr>
        <p:spPr/>
        <p:txBody>
          <a:bodyPr/>
          <a:lstStyle/>
          <a:p>
            <a:r>
              <a:rPr lang="en-US" altLang="zh-CN" dirty="0"/>
              <a:t>3.2</a:t>
            </a:r>
            <a:r>
              <a:rPr lang="zh-CN" altLang="en-US" dirty="0"/>
              <a:t> 产品知识掌握情况</a:t>
            </a:r>
            <a:r>
              <a:rPr lang="en-US" altLang="zh-CN" dirty="0"/>
              <a:t>——</a:t>
            </a:r>
            <a:r>
              <a:rPr lang="zh-CN" altLang="en-US" dirty="0"/>
              <a:t>其他产品</a:t>
            </a:r>
            <a:endParaRPr lang="en-US" altLang="zh-CN" dirty="0"/>
          </a:p>
        </p:txBody>
      </p:sp>
      <p:sp>
        <p:nvSpPr>
          <p:cNvPr id="4" name="灯片编号占位符 3">
            <a:extLst>
              <a:ext uri="{FF2B5EF4-FFF2-40B4-BE49-F238E27FC236}">
                <a16:creationId xmlns:a16="http://schemas.microsoft.com/office/drawing/2014/main" id="{4463555E-B0C0-C03B-BEB8-8C008320CAE4}"/>
              </a:ext>
            </a:extLst>
          </p:cNvPr>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27</a:t>
            </a:fld>
            <a:endParaRPr lang="zh-CN" altLang="en-US"/>
          </a:p>
        </p:txBody>
      </p:sp>
      <p:sp>
        <p:nvSpPr>
          <p:cNvPr id="6" name="文本框 5">
            <a:extLst>
              <a:ext uri="{FF2B5EF4-FFF2-40B4-BE49-F238E27FC236}">
                <a16:creationId xmlns:a16="http://schemas.microsoft.com/office/drawing/2014/main" id="{AE95B2B3-5026-C3B2-7594-0E02A47B382B}"/>
              </a:ext>
            </a:extLst>
          </p:cNvPr>
          <p:cNvSpPr txBox="1"/>
          <p:nvPr/>
        </p:nvSpPr>
        <p:spPr>
          <a:xfrm>
            <a:off x="1492898" y="908470"/>
            <a:ext cx="7558453" cy="2308324"/>
          </a:xfrm>
          <a:prstGeom prst="rect">
            <a:avLst/>
          </a:prstGeom>
          <a:noFill/>
        </p:spPr>
        <p:txBody>
          <a:bodyPr wrap="square">
            <a:spAutoFit/>
          </a:bodyPr>
          <a:lstStyle/>
          <a:p>
            <a:r>
              <a:rPr lang="zh-CN" altLang="en-US" sz="1800" dirty="0"/>
              <a:t>入职以来的用到的产品知识掌握情况，其他产品知识了解情况</a:t>
            </a:r>
            <a:endParaRPr lang="en-US" altLang="zh-CN" sz="1800" dirty="0"/>
          </a:p>
          <a:p>
            <a:endParaRPr lang="en-US" altLang="zh-CN" dirty="0"/>
          </a:p>
          <a:p>
            <a:r>
              <a:rPr lang="en-US" altLang="zh-CN" sz="1800" dirty="0">
                <a:latin typeface="仿宋" panose="02010609060101010101" pitchFamily="49" charset="-122"/>
                <a:ea typeface="仿宋" panose="02010609060101010101" pitchFamily="49" charset="-122"/>
              </a:rPr>
              <a:t>1</a:t>
            </a:r>
            <a:r>
              <a:rPr lang="zh-CN" altLang="en-US" sz="1800" dirty="0">
                <a:latin typeface="仿宋" panose="02010609060101010101" pitchFamily="49" charset="-122"/>
                <a:ea typeface="仿宋" panose="02010609060101010101" pitchFamily="49" charset="-122"/>
              </a:rPr>
              <a:t>、对</a:t>
            </a:r>
            <a:r>
              <a:rPr lang="en-US" altLang="zh-CN" sz="1800" dirty="0">
                <a:latin typeface="仿宋" panose="02010609060101010101" pitchFamily="49" charset="-122"/>
                <a:ea typeface="仿宋" panose="02010609060101010101" pitchFamily="49" charset="-122"/>
              </a:rPr>
              <a:t>BES MQ</a:t>
            </a:r>
            <a:r>
              <a:rPr lang="zh-CN" altLang="en-US" sz="1800" dirty="0">
                <a:latin typeface="仿宋" panose="02010609060101010101" pitchFamily="49" charset="-122"/>
                <a:ea typeface="仿宋" panose="02010609060101010101" pitchFamily="49" charset="-122"/>
              </a:rPr>
              <a:t>有些微了解，在修复连接器应用的相关 </a:t>
            </a:r>
            <a:r>
              <a:rPr lang="en-US" altLang="zh-CN" dirty="0">
                <a:latin typeface="仿宋" panose="02010609060101010101" pitchFamily="49" charset="-122"/>
                <a:ea typeface="仿宋" panose="02010609060101010101" pitchFamily="49" charset="-122"/>
              </a:rPr>
              <a:t>Bug </a:t>
            </a:r>
            <a:r>
              <a:rPr lang="zh-CN" altLang="en-US" sz="1800" dirty="0">
                <a:latin typeface="仿宋" panose="02010609060101010101" pitchFamily="49" charset="-122"/>
                <a:ea typeface="仿宋" panose="02010609060101010101" pitchFamily="49" charset="-122"/>
              </a:rPr>
              <a:t>中，有接触。</a:t>
            </a:r>
            <a:endParaRPr lang="en-US" altLang="zh-CN" sz="1800" dirty="0">
              <a:latin typeface="仿宋" panose="02010609060101010101" pitchFamily="49" charset="-122"/>
              <a:ea typeface="仿宋" panose="02010609060101010101" pitchFamily="49" charset="-122"/>
            </a:endParaRPr>
          </a:p>
          <a:p>
            <a:endParaRPr lang="en-US" altLang="zh-CN" dirty="0">
              <a:latin typeface="仿宋" panose="02010609060101010101" pitchFamily="49" charset="-122"/>
              <a:ea typeface="仿宋" panose="02010609060101010101" pitchFamily="49" charset="-122"/>
            </a:endParaRPr>
          </a:p>
          <a:p>
            <a:r>
              <a:rPr lang="en-US" altLang="zh-CN" sz="1800" dirty="0">
                <a:latin typeface="仿宋" panose="02010609060101010101" pitchFamily="49" charset="-122"/>
                <a:ea typeface="仿宋" panose="02010609060101010101" pitchFamily="49" charset="-122"/>
              </a:rPr>
              <a:t>2</a:t>
            </a:r>
            <a:r>
              <a:rPr lang="zh-CN" altLang="en-US" sz="1800" dirty="0">
                <a:latin typeface="仿宋" panose="02010609060101010101" pitchFamily="49" charset="-122"/>
                <a:ea typeface="仿宋" panose="02010609060101010101" pitchFamily="49" charset="-122"/>
              </a:rPr>
              <a:t>、对于 </a:t>
            </a:r>
            <a:r>
              <a:rPr lang="en-US" altLang="zh-CN" sz="1800" dirty="0">
                <a:latin typeface="仿宋" panose="02010609060101010101" pitchFamily="49" charset="-122"/>
                <a:ea typeface="仿宋" panose="02010609060101010101" pitchFamily="49" charset="-122"/>
              </a:rPr>
              <a:t>License Manager </a:t>
            </a:r>
            <a:r>
              <a:rPr lang="zh-CN" altLang="en-US" sz="1800" dirty="0">
                <a:latin typeface="仿宋" panose="02010609060101010101" pitchFamily="49" charset="-122"/>
                <a:ea typeface="仿宋" panose="02010609060101010101" pitchFamily="49" charset="-122"/>
              </a:rPr>
              <a:t>有些微了解，在修复 </a:t>
            </a:r>
            <a:r>
              <a:rPr lang="en-US" altLang="zh-CN" sz="1800" dirty="0">
                <a:latin typeface="仿宋" panose="02010609060101010101" pitchFamily="49" charset="-122"/>
                <a:ea typeface="仿宋" panose="02010609060101010101" pitchFamily="49" charset="-122"/>
              </a:rPr>
              <a:t>License </a:t>
            </a:r>
            <a:r>
              <a:rPr lang="zh-CN" altLang="en-US" sz="1800" dirty="0">
                <a:latin typeface="仿宋" panose="02010609060101010101" pitchFamily="49" charset="-122"/>
                <a:ea typeface="仿宋" panose="02010609060101010101" pitchFamily="49" charset="-122"/>
              </a:rPr>
              <a:t>相关 </a:t>
            </a:r>
            <a:r>
              <a:rPr lang="en-US" altLang="zh-CN" sz="1800" dirty="0">
                <a:latin typeface="仿宋" panose="02010609060101010101" pitchFamily="49" charset="-122"/>
                <a:ea typeface="仿宋" panose="02010609060101010101" pitchFamily="49" charset="-122"/>
              </a:rPr>
              <a:t>Bug </a:t>
            </a:r>
            <a:r>
              <a:rPr lang="zh-CN" altLang="en-US" sz="1800" dirty="0">
                <a:latin typeface="仿宋" panose="02010609060101010101" pitchFamily="49" charset="-122"/>
                <a:ea typeface="仿宋" panose="02010609060101010101" pitchFamily="49" charset="-122"/>
              </a:rPr>
              <a:t>中对接过。</a:t>
            </a:r>
            <a:endParaRPr lang="en-US" altLang="zh-CN" sz="1800" dirty="0">
              <a:latin typeface="仿宋" panose="02010609060101010101" pitchFamily="49" charset="-122"/>
              <a:ea typeface="仿宋" panose="02010609060101010101" pitchFamily="49" charset="-122"/>
            </a:endParaRPr>
          </a:p>
          <a:p>
            <a:endParaRPr lang="en-US" altLang="zh-CN" dirty="0"/>
          </a:p>
          <a:p>
            <a:endParaRPr lang="zh-CN" altLang="en-US" sz="1800" dirty="0"/>
          </a:p>
        </p:txBody>
      </p:sp>
    </p:spTree>
    <p:extLst>
      <p:ext uri="{BB962C8B-B14F-4D97-AF65-F5344CB8AC3E}">
        <p14:creationId xmlns:p14="http://schemas.microsoft.com/office/powerpoint/2010/main" val="19402054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t>3.3</a:t>
            </a:r>
            <a:r>
              <a:rPr lang="zh-CN" altLang="en-US" dirty="0"/>
              <a:t> 制度遵守</a:t>
            </a:r>
            <a:endParaRPr lang="en-US" altLang="zh-CN"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28</a:t>
            </a:fld>
            <a:endParaRPr lang="zh-CN" altLang="en-US"/>
          </a:p>
        </p:txBody>
      </p:sp>
      <p:sp>
        <p:nvSpPr>
          <p:cNvPr id="6" name="文本框 5">
            <a:extLst>
              <a:ext uri="{FF2B5EF4-FFF2-40B4-BE49-F238E27FC236}">
                <a16:creationId xmlns:a16="http://schemas.microsoft.com/office/drawing/2014/main" id="{A58177F5-65D3-43AB-9A21-DFEA8277BB18}"/>
              </a:ext>
            </a:extLst>
          </p:cNvPr>
          <p:cNvSpPr txBox="1"/>
          <p:nvPr/>
        </p:nvSpPr>
        <p:spPr>
          <a:xfrm>
            <a:off x="1492898" y="908470"/>
            <a:ext cx="8649477" cy="2862322"/>
          </a:xfrm>
          <a:prstGeom prst="rect">
            <a:avLst/>
          </a:prstGeom>
          <a:noFill/>
        </p:spPr>
        <p:txBody>
          <a:bodyPr wrap="square">
            <a:spAutoFit/>
          </a:bodyPr>
          <a:lstStyle/>
          <a:p>
            <a:r>
              <a:rPr lang="zh-CN" altLang="en-US" dirty="0"/>
              <a:t>对内部协作组织架构的了解情况，工作规范要求的执行情况，工作流程执行的情况</a:t>
            </a:r>
          </a:p>
          <a:p>
            <a:endParaRPr lang="en-US" altLang="zh-CN" dirty="0"/>
          </a:p>
          <a:p>
            <a:r>
              <a:rPr lang="en-US" altLang="zh-CN" dirty="0">
                <a:latin typeface="仿宋" panose="02010609060101010101" pitchFamily="49" charset="-122"/>
                <a:ea typeface="仿宋" panose="02010609060101010101" pitchFamily="49" charset="-122"/>
              </a:rPr>
              <a:t>1. </a:t>
            </a:r>
            <a:r>
              <a:rPr lang="zh-CN" altLang="en-US" dirty="0">
                <a:latin typeface="仿宋" panose="02010609060101010101" pitchFamily="49" charset="-122"/>
                <a:ea typeface="仿宋" panose="02010609060101010101" pitchFamily="49" charset="-122"/>
              </a:rPr>
              <a:t>了解公司现有产品、研发和测试团队的协同开发流程；</a:t>
            </a:r>
          </a:p>
          <a:p>
            <a:endParaRPr lang="zh-CN" altLang="en-US" dirty="0">
              <a:latin typeface="仿宋" panose="02010609060101010101" pitchFamily="49" charset="-122"/>
              <a:ea typeface="仿宋" panose="02010609060101010101" pitchFamily="49" charset="-122"/>
            </a:endParaRPr>
          </a:p>
          <a:p>
            <a:r>
              <a:rPr lang="en-US" altLang="zh-CN" dirty="0">
                <a:latin typeface="仿宋" panose="02010609060101010101" pitchFamily="49" charset="-122"/>
                <a:ea typeface="仿宋" panose="02010609060101010101" pitchFamily="49" charset="-122"/>
              </a:rPr>
              <a:t>2. </a:t>
            </a:r>
            <a:r>
              <a:rPr lang="zh-CN" altLang="en-US" dirty="0">
                <a:latin typeface="仿宋" panose="02010609060101010101" pitchFamily="49" charset="-122"/>
                <a:ea typeface="仿宋" panose="02010609060101010101" pitchFamily="49" charset="-122"/>
              </a:rPr>
              <a:t>平时都是严格遵守公司考勤制度，没有补卡、缺勤过。</a:t>
            </a:r>
            <a:endParaRPr lang="zh-CN" altLang="zh-CN" dirty="0">
              <a:latin typeface="仿宋" panose="02010609060101010101" pitchFamily="49" charset="-122"/>
              <a:ea typeface="仿宋" panose="02010609060101010101" pitchFamily="49" charset="-122"/>
            </a:endParaRPr>
          </a:p>
          <a:p>
            <a:endParaRPr lang="zh-CN" altLang="en-US" dirty="0">
              <a:latin typeface="仿宋" panose="02010609060101010101" pitchFamily="49" charset="-122"/>
              <a:ea typeface="仿宋" panose="02010609060101010101" pitchFamily="49" charset="-122"/>
            </a:endParaRPr>
          </a:p>
          <a:p>
            <a:r>
              <a:rPr lang="en-US" altLang="zh-CN" dirty="0">
                <a:latin typeface="仿宋" panose="02010609060101010101" pitchFamily="49" charset="-122"/>
                <a:ea typeface="仿宋" panose="02010609060101010101" pitchFamily="49" charset="-122"/>
              </a:rPr>
              <a:t>3. </a:t>
            </a:r>
            <a:r>
              <a:rPr lang="zh-CN" altLang="en-US" dirty="0">
                <a:latin typeface="仿宋" panose="02010609060101010101" pitchFamily="49" charset="-122"/>
                <a:ea typeface="仿宋" panose="02010609060101010101" pitchFamily="49" charset="-122"/>
              </a:rPr>
              <a:t>严格遵守公司研发制度，包括</a:t>
            </a:r>
            <a:r>
              <a:rPr lang="en-US" altLang="zh-CN" dirty="0">
                <a:latin typeface="仿宋" panose="02010609060101010101" pitchFamily="49" charset="-122"/>
                <a:ea typeface="仿宋" panose="02010609060101010101" pitchFamily="49" charset="-122"/>
              </a:rPr>
              <a:t> Git </a:t>
            </a:r>
            <a:r>
              <a:rPr lang="zh-CN" altLang="en-US" dirty="0">
                <a:latin typeface="仿宋" panose="02010609060101010101" pitchFamily="49" charset="-122"/>
                <a:ea typeface="仿宋" panose="02010609060101010101" pitchFamily="49" charset="-122"/>
              </a:rPr>
              <a:t>分支规范、代码规范、工时制度以及日报和周报制度。</a:t>
            </a:r>
          </a:p>
          <a:p>
            <a:endParaRPr lang="zh-CN" altLang="en-US" dirty="0"/>
          </a:p>
          <a:p>
            <a:endParaRPr lang="zh-CN" altLang="en-US" dirty="0"/>
          </a:p>
        </p:txBody>
      </p:sp>
    </p:spTree>
    <p:extLst>
      <p:ext uri="{BB962C8B-B14F-4D97-AF65-F5344CB8AC3E}">
        <p14:creationId xmlns:p14="http://schemas.microsoft.com/office/powerpoint/2010/main" val="37846724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p:nvPr>
        </p:nvSpPr>
        <p:spPr/>
        <p:txBody>
          <a:bodyPr/>
          <a:lstStyle/>
          <a:p>
            <a:r>
              <a:rPr lang="en-US" altLang="zh-CN" dirty="0">
                <a:sym typeface="+mn-ea"/>
              </a:rPr>
              <a:t>4</a:t>
            </a:r>
            <a:r>
              <a:rPr lang="zh-CN" altLang="en-US" dirty="0">
                <a:sym typeface="+mn-ea"/>
              </a:rPr>
              <a:t>、工作的规划</a:t>
            </a:r>
            <a:r>
              <a:rPr lang="en-US" altLang="zh-CN" dirty="0">
                <a:sym typeface="+mn-ea"/>
              </a:rPr>
              <a:t>/</a:t>
            </a:r>
            <a:r>
              <a:rPr lang="zh-CN" altLang="en-US" dirty="0">
                <a:ea typeface="宋体" panose="02010600030101010101" pitchFamily="2" charset="-122"/>
                <a:sym typeface="+mn-ea"/>
              </a:rPr>
              <a:t>展望</a:t>
            </a:r>
            <a:endParaRPr lang="zh-CN" altLang="en-US" dirty="0"/>
          </a:p>
        </p:txBody>
      </p:sp>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29</a:t>
            </a:fld>
            <a:endParaRPr lang="zh-CN" altLang="en-US"/>
          </a:p>
        </p:txBody>
      </p:sp>
      <p:sp>
        <p:nvSpPr>
          <p:cNvPr id="6" name="文本框 5">
            <a:extLst>
              <a:ext uri="{FF2B5EF4-FFF2-40B4-BE49-F238E27FC236}">
                <a16:creationId xmlns:a16="http://schemas.microsoft.com/office/drawing/2014/main" id="{603B0BE6-45D4-49E9-BE50-F7C6D79E2571}"/>
              </a:ext>
            </a:extLst>
          </p:cNvPr>
          <p:cNvSpPr txBox="1"/>
          <p:nvPr/>
        </p:nvSpPr>
        <p:spPr>
          <a:xfrm>
            <a:off x="1474237" y="908470"/>
            <a:ext cx="9171992" cy="4524315"/>
          </a:xfrm>
          <a:prstGeom prst="rect">
            <a:avLst/>
          </a:prstGeom>
          <a:noFill/>
        </p:spPr>
        <p:txBody>
          <a:bodyPr wrap="square">
            <a:spAutoFit/>
          </a:bodyPr>
          <a:lstStyle/>
          <a:p>
            <a:r>
              <a:rPr lang="zh-CN" altLang="en-US" dirty="0"/>
              <a:t>后面</a:t>
            </a:r>
            <a:r>
              <a:rPr lang="en-US" altLang="zh-CN" dirty="0"/>
              <a:t>3-6</a:t>
            </a:r>
            <a:r>
              <a:rPr lang="zh-CN" altLang="en-US" dirty="0"/>
              <a:t>个月的工作计划，对后续个人发展的规划</a:t>
            </a:r>
          </a:p>
          <a:p>
            <a:endParaRPr lang="zh-CN" altLang="en-US" dirty="0"/>
          </a:p>
          <a:p>
            <a:r>
              <a:rPr lang="en-US" altLang="zh-CN" dirty="0"/>
              <a:t>1</a:t>
            </a:r>
            <a:r>
              <a:rPr lang="en-US" altLang="zh-CN" b="1" dirty="0"/>
              <a:t>.</a:t>
            </a:r>
            <a:r>
              <a:rPr lang="zh-CN" altLang="en-US" b="1" dirty="0"/>
              <a:t>产品方面</a:t>
            </a:r>
            <a:r>
              <a:rPr lang="zh-CN" altLang="en-US" dirty="0"/>
              <a:t>：</a:t>
            </a:r>
            <a:r>
              <a:rPr lang="zh-CN" altLang="en-US" dirty="0">
                <a:latin typeface="仿宋" panose="02010609060101010101" pitchFamily="49" charset="-122"/>
                <a:ea typeface="仿宋" panose="02010609060101010101" pitchFamily="49" charset="-122"/>
              </a:rPr>
              <a:t>继续深入使用并理解公司</a:t>
            </a:r>
            <a:r>
              <a:rPr lang="en-US" altLang="zh-CN" dirty="0">
                <a:latin typeface="仿宋" panose="02010609060101010101" pitchFamily="49" charset="-122"/>
                <a:ea typeface="仿宋" panose="02010609060101010101" pitchFamily="49" charset="-122"/>
              </a:rPr>
              <a:t> BES </a:t>
            </a:r>
            <a:r>
              <a:rPr lang="zh-CN" altLang="en-US" dirty="0">
                <a:latin typeface="仿宋" panose="02010609060101010101" pitchFamily="49" charset="-122"/>
                <a:ea typeface="仿宋" panose="02010609060101010101" pitchFamily="49" charset="-122"/>
              </a:rPr>
              <a:t>产品，同时完成领导安排的其他产品学习任务，确保熟练掌握产品的各项功能</a:t>
            </a:r>
            <a:r>
              <a:rPr lang="zh-CN" altLang="en-US" dirty="0"/>
              <a:t>。</a:t>
            </a:r>
          </a:p>
          <a:p>
            <a:endParaRPr lang="zh-CN" altLang="en-US" dirty="0"/>
          </a:p>
          <a:p>
            <a:r>
              <a:rPr lang="en-US" altLang="zh-CN" dirty="0"/>
              <a:t>2.</a:t>
            </a:r>
            <a:r>
              <a:rPr lang="zh-CN" altLang="en-US" b="1" dirty="0"/>
              <a:t>技术方面</a:t>
            </a:r>
            <a:r>
              <a:rPr lang="zh-CN" altLang="en-US" dirty="0"/>
              <a:t>：</a:t>
            </a:r>
            <a:r>
              <a:rPr lang="zh-CN" altLang="en-US" dirty="0">
                <a:latin typeface="仿宋" panose="02010609060101010101" pitchFamily="49" charset="-122"/>
                <a:ea typeface="仿宋" panose="02010609060101010101" pitchFamily="49" charset="-122"/>
              </a:rPr>
              <a:t>围绕公司产品，深入钻研技术，理解其底层技术原理与细节，力求将产品做到极致。参与技术创新，提出可能的优化方案或新功能。</a:t>
            </a:r>
          </a:p>
          <a:p>
            <a:endParaRPr lang="zh-CN" altLang="en-US" dirty="0"/>
          </a:p>
          <a:p>
            <a:r>
              <a:rPr lang="en-US" altLang="zh-CN" b="1" dirty="0"/>
              <a:t>3.</a:t>
            </a:r>
            <a:r>
              <a:rPr lang="zh-CN" altLang="en-US" b="1" dirty="0"/>
              <a:t>项目与协作方面</a:t>
            </a:r>
            <a:r>
              <a:rPr lang="zh-CN" altLang="en-US" dirty="0"/>
              <a:t>：</a:t>
            </a:r>
            <a:r>
              <a:rPr lang="zh-CN" altLang="en-US" dirty="0">
                <a:latin typeface="仿宋" panose="02010609060101010101" pitchFamily="49" charset="-122"/>
                <a:ea typeface="仿宋" panose="02010609060101010101" pitchFamily="49" charset="-122"/>
              </a:rPr>
              <a:t>加强与其他部门（如测试、产品等）的协作，确保项目顺利推进，提升团队的整体工作效率。</a:t>
            </a:r>
          </a:p>
          <a:p>
            <a:endParaRPr lang="zh-CN" altLang="en-US" dirty="0"/>
          </a:p>
          <a:p>
            <a:r>
              <a:rPr lang="en-US" altLang="zh-CN" b="1" dirty="0"/>
              <a:t>4.</a:t>
            </a:r>
            <a:r>
              <a:rPr lang="zh-CN" altLang="en-US" b="1" dirty="0"/>
              <a:t>自我提升</a:t>
            </a:r>
            <a:r>
              <a:rPr lang="zh-CN" altLang="en-US" dirty="0"/>
              <a:t>：</a:t>
            </a:r>
            <a:r>
              <a:rPr lang="zh-CN" altLang="en-US" dirty="0">
                <a:latin typeface="仿宋" panose="02010609060101010101" pitchFamily="49" charset="-122"/>
                <a:ea typeface="仿宋" panose="02010609060101010101" pitchFamily="49" charset="-122"/>
              </a:rPr>
              <a:t>积极参与</a:t>
            </a:r>
            <a:r>
              <a:rPr lang="en-US" altLang="zh-CN" dirty="0">
                <a:latin typeface="仿宋" panose="02010609060101010101" pitchFamily="49" charset="-122"/>
                <a:ea typeface="仿宋" panose="02010609060101010101" pitchFamily="49" charset="-122"/>
              </a:rPr>
              <a:t>AI</a:t>
            </a:r>
            <a:r>
              <a:rPr lang="zh-CN" altLang="en-US" dirty="0">
                <a:latin typeface="仿宋" panose="02010609060101010101" pitchFamily="49" charset="-122"/>
                <a:ea typeface="仿宋" panose="02010609060101010101" pitchFamily="49" charset="-122"/>
              </a:rPr>
              <a:t>相关技术的学习与应用，提升自己的技术深度与广度，同时也关注软技能的发展，提升沟通与项目管理能力。</a:t>
            </a:r>
          </a:p>
          <a:p>
            <a:endParaRPr lang="zh-CN" altLang="en-US" dirty="0"/>
          </a:p>
          <a:p>
            <a:endParaRPr lang="zh-CN" altLang="en-US" dirty="0"/>
          </a:p>
          <a:p>
            <a:endParaRPr lang="zh-CN" alt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4294967295"/>
          </p:nvPr>
        </p:nvSpPr>
        <p:spPr>
          <a:xfrm>
            <a:off x="9448800" y="6356350"/>
            <a:ext cx="2743200" cy="365125"/>
          </a:xfrm>
        </p:spPr>
        <p:txBody>
          <a:bodyPr/>
          <a:lstStyle/>
          <a:p>
            <a:fld id="{7D9BB5D0-35E4-459D-AEF3-FE4D7C45CC19}" type="slidenum">
              <a:rPr lang="zh-CN" altLang="en-US" smtClean="0"/>
              <a:t>30</a:t>
            </a:fld>
            <a:endParaRPr lang="zh-CN" altLang="en-US"/>
          </a:p>
        </p:txBody>
      </p:sp>
      <p:sp>
        <p:nvSpPr>
          <p:cNvPr id="7" name="标题 6">
            <a:extLst>
              <a:ext uri="{FF2B5EF4-FFF2-40B4-BE49-F238E27FC236}">
                <a16:creationId xmlns:a16="http://schemas.microsoft.com/office/drawing/2014/main" id="{E04710D3-C34A-404F-9B72-C44462861EB4}"/>
              </a:ext>
            </a:extLst>
          </p:cNvPr>
          <p:cNvSpPr>
            <a:spLocks noGrp="1"/>
          </p:cNvSpPr>
          <p:nvPr>
            <p:ph type="title"/>
          </p:nvPr>
        </p:nvSpPr>
        <p:spPr/>
        <p:txBody>
          <a:bodyPr/>
          <a:lstStyle/>
          <a:p>
            <a:r>
              <a:rPr lang="en-US" altLang="zh-CN" dirty="0"/>
              <a:t>5</a:t>
            </a:r>
            <a:r>
              <a:rPr lang="zh-CN" altLang="en-US" dirty="0"/>
              <a:t>、对公司和部门的意见和建议</a:t>
            </a:r>
          </a:p>
        </p:txBody>
      </p:sp>
      <p:sp>
        <p:nvSpPr>
          <p:cNvPr id="3" name="文本框 2">
            <a:extLst>
              <a:ext uri="{FF2B5EF4-FFF2-40B4-BE49-F238E27FC236}">
                <a16:creationId xmlns:a16="http://schemas.microsoft.com/office/drawing/2014/main" id="{ED5C519D-3BF4-35CF-118D-DCF54DBCC57F}"/>
              </a:ext>
            </a:extLst>
          </p:cNvPr>
          <p:cNvSpPr txBox="1"/>
          <p:nvPr/>
        </p:nvSpPr>
        <p:spPr>
          <a:xfrm>
            <a:off x="844325" y="919238"/>
            <a:ext cx="10608081" cy="5693866"/>
          </a:xfrm>
          <a:prstGeom prst="rect">
            <a:avLst/>
          </a:prstGeom>
          <a:noFill/>
        </p:spPr>
        <p:txBody>
          <a:bodyPr wrap="square">
            <a:spAutoFit/>
          </a:bodyPr>
          <a:lstStyle/>
          <a:p>
            <a:r>
              <a:rPr lang="zh-CN" altLang="en-US" sz="1400" dirty="0">
                <a:latin typeface="华文中宋" panose="02010600040101010101" pitchFamily="2" charset="-122"/>
                <a:ea typeface="华文中宋" panose="02010600040101010101" pitchFamily="2" charset="-122"/>
              </a:rPr>
              <a:t>非常感恩公司和领导的信任，给我提供了这个宝贵的机会。加入公司已有五个月，我对公司文化和部门团队氛围深感欣慰，并且对工作内容逐步熟悉。</a:t>
            </a:r>
          </a:p>
          <a:p>
            <a:endParaRPr lang="zh-CN" altLang="en-US" sz="1400" dirty="0">
              <a:latin typeface="华文中宋" panose="02010600040101010101" pitchFamily="2" charset="-122"/>
              <a:ea typeface="华文中宋" panose="02010600040101010101" pitchFamily="2" charset="-122"/>
            </a:endParaRPr>
          </a:p>
          <a:p>
            <a:r>
              <a:rPr lang="zh-CN" altLang="en-US" sz="1400" dirty="0">
                <a:latin typeface="华文中宋" panose="02010600040101010101" pitchFamily="2" charset="-122"/>
                <a:ea typeface="华文中宋" panose="02010600040101010101" pitchFamily="2" charset="-122"/>
              </a:rPr>
              <a:t>以下是我个人的一些小建议，提的不对，请见谅：</a:t>
            </a:r>
            <a:endParaRPr lang="en-US" altLang="zh-CN" sz="1400" dirty="0">
              <a:latin typeface="华文中宋" panose="02010600040101010101" pitchFamily="2" charset="-122"/>
              <a:ea typeface="华文中宋" panose="02010600040101010101" pitchFamily="2" charset="-122"/>
            </a:endParaRPr>
          </a:p>
          <a:p>
            <a:endParaRPr lang="zh-CN" altLang="en-US" sz="1400" dirty="0"/>
          </a:p>
          <a:p>
            <a:r>
              <a:rPr lang="zh-CN" altLang="en-US" sz="1400" dirty="0">
                <a:latin typeface="华文中宋" panose="02010600040101010101" pitchFamily="2" charset="-122"/>
                <a:ea typeface="华文中宋" panose="02010600040101010101" pitchFamily="2" charset="-122"/>
                <a:sym typeface="+mn-ea"/>
              </a:rPr>
              <a:t>（</a:t>
            </a:r>
            <a:r>
              <a:rPr lang="en-US" altLang="zh-CN" sz="1400" dirty="0">
                <a:latin typeface="华文中宋" panose="02010600040101010101" pitchFamily="2" charset="-122"/>
                <a:ea typeface="华文中宋" panose="02010600040101010101" pitchFamily="2" charset="-122"/>
                <a:sym typeface="+mn-ea"/>
              </a:rPr>
              <a:t>1</a:t>
            </a:r>
            <a:r>
              <a:rPr lang="zh-CN" altLang="en-US" sz="1400" dirty="0">
                <a:latin typeface="华文中宋" panose="02010600040101010101" pitchFamily="2" charset="-122"/>
                <a:ea typeface="华文中宋" panose="02010600040101010101" pitchFamily="2" charset="-122"/>
                <a:sym typeface="+mn-ea"/>
              </a:rPr>
              <a:t>）</a:t>
            </a:r>
            <a:r>
              <a:rPr lang="zh-CN" altLang="en-US" sz="1400" b="1" dirty="0">
                <a:latin typeface="华文中宋" panose="02010600040101010101" pitchFamily="2" charset="-122"/>
                <a:ea typeface="华文中宋" panose="02010600040101010101" pitchFamily="2" charset="-122"/>
                <a:sym typeface="+mn-ea"/>
              </a:rPr>
              <a:t>是否可以加强公司</a:t>
            </a:r>
            <a:r>
              <a:rPr lang="en-US" altLang="zh-CN" sz="1400" b="1" dirty="0">
                <a:latin typeface="华文中宋" panose="02010600040101010101" pitchFamily="2" charset="-122"/>
                <a:ea typeface="华文中宋" panose="02010600040101010101" pitchFamily="2" charset="-122"/>
                <a:sym typeface="+mn-ea"/>
              </a:rPr>
              <a:t>AI</a:t>
            </a:r>
            <a:r>
              <a:rPr lang="zh-CN" altLang="en-US" sz="1400" b="1" dirty="0">
                <a:latin typeface="华文中宋" panose="02010600040101010101" pitchFamily="2" charset="-122"/>
                <a:ea typeface="华文中宋" panose="02010600040101010101" pitchFamily="2" charset="-122"/>
                <a:sym typeface="+mn-ea"/>
              </a:rPr>
              <a:t>相关产品的建设。</a:t>
            </a:r>
          </a:p>
          <a:p>
            <a:r>
              <a:rPr lang="en-US" altLang="zh-CN" sz="1400" dirty="0"/>
              <a:t>	</a:t>
            </a:r>
          </a:p>
          <a:p>
            <a:r>
              <a:rPr lang="en-US" altLang="zh-CN" sz="1400" dirty="0"/>
              <a:t>	</a:t>
            </a:r>
            <a:r>
              <a:rPr lang="zh-CN" altLang="en-US" sz="1400" dirty="0">
                <a:latin typeface="仿宋" panose="02010609060101010101" pitchFamily="49" charset="-122"/>
                <a:ea typeface="仿宋" panose="02010609060101010101" pitchFamily="49" charset="-122"/>
              </a:rPr>
              <a:t>当前科技发展日新月异，我们目前公司内网的</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产品，我个人用下来的感觉是还比较稚嫩。网络上有一个词“古法编程”比较适合形容我们目前的工作方式。但外边的</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产品已经更新换代了好几轮。比如 </a:t>
            </a:r>
            <a:r>
              <a:rPr lang="en-US" altLang="zh-CN" sz="1400" dirty="0">
                <a:latin typeface="仿宋" panose="02010609060101010101" pitchFamily="49" charset="-122"/>
                <a:ea typeface="仿宋" panose="02010609060101010101" pitchFamily="49" charset="-122"/>
              </a:rPr>
              <a:t>Cursor</a:t>
            </a:r>
            <a:r>
              <a:rPr lang="zh-CN" altLang="en-US" sz="1400" dirty="0">
                <a:latin typeface="仿宋" panose="02010609060101010101" pitchFamily="49" charset="-122"/>
                <a:ea typeface="仿宋" panose="02010609060101010101" pitchFamily="49" charset="-122"/>
              </a:rPr>
              <a:t>、</a:t>
            </a:r>
            <a:r>
              <a:rPr lang="en-US" altLang="zh-CN" sz="1400" dirty="0">
                <a:latin typeface="仿宋" panose="02010609060101010101" pitchFamily="49" charset="-122"/>
                <a:ea typeface="仿宋" panose="02010609060101010101" pitchFamily="49" charset="-122"/>
              </a:rPr>
              <a:t>Claude Code</a:t>
            </a:r>
            <a:r>
              <a:rPr lang="zh-CN" altLang="en-US" sz="1400" dirty="0">
                <a:latin typeface="仿宋" panose="02010609060101010101" pitchFamily="49" charset="-122"/>
                <a:ea typeface="仿宋" panose="02010609060101010101" pitchFamily="49" charset="-122"/>
              </a:rPr>
              <a:t>、包括最近比较火的 </a:t>
            </a:r>
            <a:r>
              <a:rPr lang="en-US" altLang="zh-CN" sz="1400" dirty="0">
                <a:latin typeface="仿宋" panose="02010609060101010101" pitchFamily="49" charset="-122"/>
                <a:ea typeface="仿宋" panose="02010609060101010101" pitchFamily="49" charset="-122"/>
              </a:rPr>
              <a:t>OpenClaw</a:t>
            </a:r>
            <a:r>
              <a:rPr lang="zh-CN" altLang="en-US" sz="1400" dirty="0">
                <a:latin typeface="仿宋" panose="02010609060101010101" pitchFamily="49" charset="-122"/>
                <a:ea typeface="仿宋" panose="02010609060101010101" pitchFamily="49" charset="-122"/>
              </a:rPr>
              <a:t>等。我平时个人用下来能很明显的能感觉到对于工作效率的提升是非常夸张的。希望公司能够加强</a:t>
            </a:r>
            <a:r>
              <a:rPr lang="en-US" altLang="zh-CN" sz="1400" dirty="0">
                <a:latin typeface="仿宋" panose="02010609060101010101" pitchFamily="49" charset="-122"/>
                <a:ea typeface="仿宋" panose="02010609060101010101" pitchFamily="49" charset="-122"/>
              </a:rPr>
              <a:t>AI</a:t>
            </a:r>
            <a:r>
              <a:rPr lang="zh-CN" altLang="en-US" sz="1400" dirty="0">
                <a:latin typeface="仿宋" panose="02010609060101010101" pitchFamily="49" charset="-122"/>
                <a:ea typeface="仿宋" panose="02010609060101010101" pitchFamily="49" charset="-122"/>
              </a:rPr>
              <a:t>相关产品的建设。</a:t>
            </a:r>
            <a:endParaRPr lang="en-US" altLang="zh-CN" sz="1400" dirty="0">
              <a:latin typeface="仿宋" panose="02010609060101010101" pitchFamily="49" charset="-122"/>
              <a:ea typeface="仿宋" panose="02010609060101010101" pitchFamily="49" charset="-122"/>
            </a:endParaRPr>
          </a:p>
          <a:p>
            <a:endParaRPr lang="zh-CN" altLang="en-US" sz="1400" dirty="0"/>
          </a:p>
          <a:p>
            <a:r>
              <a:rPr lang="zh-CN" altLang="en-US" sz="1400" dirty="0">
                <a:latin typeface="华文中宋" panose="02010600040101010101" pitchFamily="2" charset="-122"/>
                <a:ea typeface="华文中宋" panose="02010600040101010101" pitchFamily="2" charset="-122"/>
              </a:rPr>
              <a:t>（</a:t>
            </a:r>
            <a:r>
              <a:rPr lang="en-US" altLang="zh-CN" sz="1400" dirty="0">
                <a:latin typeface="华文中宋" panose="02010600040101010101" pitchFamily="2" charset="-122"/>
                <a:ea typeface="华文中宋" panose="02010600040101010101" pitchFamily="2" charset="-122"/>
              </a:rPr>
              <a:t>2</a:t>
            </a:r>
            <a:r>
              <a:rPr lang="zh-CN" altLang="en-US" sz="1400" dirty="0">
                <a:latin typeface="华文中宋" panose="02010600040101010101" pitchFamily="2" charset="-122"/>
                <a:ea typeface="华文中宋" panose="02010600040101010101" pitchFamily="2" charset="-122"/>
              </a:rPr>
              <a:t>）</a:t>
            </a:r>
            <a:r>
              <a:rPr lang="zh-CN" altLang="en-US" sz="1400" b="1" dirty="0">
                <a:latin typeface="华文中宋" panose="02010600040101010101" pitchFamily="2" charset="-122"/>
                <a:ea typeface="华文中宋" panose="02010600040101010101" pitchFamily="2" charset="-122"/>
              </a:rPr>
              <a:t>是否可以搭建公共测试环境</a:t>
            </a:r>
            <a:endParaRPr lang="en-US" altLang="zh-CN" sz="1400" b="1" dirty="0">
              <a:latin typeface="华文中宋" panose="02010600040101010101" pitchFamily="2" charset="-122"/>
              <a:ea typeface="华文中宋" panose="02010600040101010101" pitchFamily="2" charset="-122"/>
            </a:endParaRPr>
          </a:p>
          <a:p>
            <a:r>
              <a:rPr lang="en-US" altLang="zh-CN" sz="1400" b="1" dirty="0">
                <a:latin typeface="华文中宋" panose="02010600040101010101" pitchFamily="2" charset="-122"/>
                <a:ea typeface="华文中宋" panose="02010600040101010101" pitchFamily="2" charset="-122"/>
              </a:rPr>
              <a:t>	</a:t>
            </a:r>
          </a:p>
          <a:p>
            <a:r>
              <a:rPr lang="en-US" altLang="zh-CN" sz="1400" b="1" dirty="0">
                <a:latin typeface="华文中宋" panose="02010600040101010101" pitchFamily="2" charset="-122"/>
                <a:ea typeface="华文中宋" panose="02010600040101010101" pitchFamily="2" charset="-122"/>
              </a:rPr>
              <a:t>	</a:t>
            </a:r>
            <a:r>
              <a:rPr lang="zh-CN" altLang="en-US" sz="1400" dirty="0">
                <a:latin typeface="仿宋" panose="02010609060101010101" pitchFamily="49" charset="-122"/>
                <a:ea typeface="仿宋" panose="02010609060101010101" pitchFamily="49" charset="-122"/>
              </a:rPr>
              <a:t>在之前的公司里，基本上都有类似于开发测试环境、</a:t>
            </a:r>
            <a:r>
              <a:rPr lang="en-US" altLang="zh-CN" sz="1400" dirty="0">
                <a:latin typeface="仿宋" panose="02010609060101010101" pitchFamily="49" charset="-122"/>
                <a:ea typeface="仿宋" panose="02010609060101010101" pitchFamily="49" charset="-122"/>
              </a:rPr>
              <a:t>SIT</a:t>
            </a:r>
            <a:r>
              <a:rPr lang="zh-CN" altLang="en-US" sz="1400" dirty="0">
                <a:latin typeface="仿宋" panose="02010609060101010101" pitchFamily="49" charset="-122"/>
                <a:ea typeface="仿宋" panose="02010609060101010101" pitchFamily="49" charset="-122"/>
              </a:rPr>
              <a:t>测试环境、</a:t>
            </a:r>
            <a:r>
              <a:rPr lang="en-US" altLang="zh-CN" sz="1400" dirty="0">
                <a:latin typeface="仿宋" panose="02010609060101010101" pitchFamily="49" charset="-122"/>
                <a:ea typeface="仿宋" panose="02010609060101010101" pitchFamily="49" charset="-122"/>
              </a:rPr>
              <a:t>UAT</a:t>
            </a:r>
            <a:r>
              <a:rPr lang="zh-CN" altLang="en-US" sz="1400" dirty="0">
                <a:latin typeface="仿宋" panose="02010609060101010101" pitchFamily="49" charset="-122"/>
                <a:ea typeface="仿宋" panose="02010609060101010101" pitchFamily="49" charset="-122"/>
              </a:rPr>
              <a:t>测试环境等。目前我们公司是每个人都用自己的测试环境，这在某些方面确实提供了遍历，比如不会出现多个人测试需要排队的情况，但是相应的也有一些弊端，比如一个问题，为了在本地进行复现，需要自己搭建环境，涉及数据库的也需要自己搭建，并且构造数据。能否构建公共测试环境呢。</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华文中宋" panose="02010600040101010101" pitchFamily="2" charset="-122"/>
                <a:ea typeface="华文中宋" panose="02010600040101010101" pitchFamily="2" charset="-122"/>
              </a:rPr>
              <a:t>（</a:t>
            </a:r>
            <a:r>
              <a:rPr lang="en-US" altLang="zh-CN" sz="1400" dirty="0">
                <a:latin typeface="华文中宋" panose="02010600040101010101" pitchFamily="2" charset="-122"/>
                <a:ea typeface="华文中宋" panose="02010600040101010101" pitchFamily="2" charset="-122"/>
              </a:rPr>
              <a:t>3</a:t>
            </a:r>
            <a:r>
              <a:rPr lang="zh-CN" altLang="en-US" sz="1400" dirty="0">
                <a:latin typeface="华文中宋" panose="02010600040101010101" pitchFamily="2" charset="-122"/>
                <a:ea typeface="华文中宋" panose="02010600040101010101" pitchFamily="2" charset="-122"/>
              </a:rPr>
              <a:t>）</a:t>
            </a:r>
            <a:r>
              <a:rPr lang="zh-CN" altLang="en-US" sz="1400" b="1" dirty="0">
                <a:latin typeface="华文中宋" panose="02010600040101010101" pitchFamily="2" charset="-122"/>
                <a:ea typeface="华文中宋" panose="02010600040101010101" pitchFamily="2" charset="-122"/>
              </a:rPr>
              <a:t>对部门的工作模式相关提议</a:t>
            </a:r>
            <a:endParaRPr lang="en-US" altLang="zh-CN" sz="1400" b="1" dirty="0">
              <a:latin typeface="华文中宋" panose="02010600040101010101" pitchFamily="2" charset="-122"/>
              <a:ea typeface="华文中宋" panose="02010600040101010101" pitchFamily="2" charset="-122"/>
            </a:endParaRPr>
          </a:p>
          <a:p>
            <a:endParaRPr lang="en-US" altLang="zh-CN" sz="1400" dirty="0">
              <a:latin typeface="华文中宋" panose="02010600040101010101" pitchFamily="2" charset="-122"/>
              <a:ea typeface="华文中宋" panose="02010600040101010101" pitchFamily="2" charset="-122"/>
            </a:endParaRPr>
          </a:p>
          <a:p>
            <a:r>
              <a:rPr lang="en-US" altLang="zh-CN" sz="1400" dirty="0">
                <a:latin typeface="华文中宋" panose="02010600040101010101" pitchFamily="2" charset="-122"/>
                <a:ea typeface="华文中宋" panose="02010600040101010101" pitchFamily="2" charset="-122"/>
              </a:rPr>
              <a:t>	</a:t>
            </a:r>
            <a:r>
              <a:rPr lang="zh-CN" altLang="en-US" sz="1400" dirty="0">
                <a:latin typeface="仿宋" panose="02010609060101010101" pitchFamily="49" charset="-122"/>
                <a:ea typeface="仿宋" panose="02010609060101010101" pitchFamily="49" charset="-122"/>
              </a:rPr>
              <a:t>我们目前是没有按照模块负责的管理的。目前的工作模式基本是根据个人的工作内容量来分配任务的，比如当前某个人工作内容完成的差不多了，就会优先给他安排新的任务。是否可以根据模块划分负责人呢？工作任务优先根据模块划分，如实在模块内容比较多再进行协调，在我的感觉里这样可以大大增加工作效率。现在可能会出现可能改动比较小，但是因为不熟悉那个模块而需要花费大量的时间。</a:t>
            </a:r>
            <a:endParaRPr lang="en-US" altLang="zh-CN" sz="1400" dirty="0">
              <a:latin typeface="仿宋" panose="02010609060101010101" pitchFamily="49" charset="-122"/>
              <a:ea typeface="仿宋" panose="02010609060101010101" pitchFamily="49" charset="-122"/>
            </a:endParaRPr>
          </a:p>
          <a:p>
            <a:endParaRPr lang="en-US" altLang="zh-CN" sz="1400" dirty="0">
              <a:latin typeface="仿宋" panose="02010609060101010101" pitchFamily="49" charset="-122"/>
              <a:ea typeface="仿宋" panose="02010609060101010101" pitchFamily="49" charset="-122"/>
            </a:endParaRPr>
          </a:p>
          <a:p>
            <a:r>
              <a:rPr lang="zh-CN" altLang="en-US" sz="1400" dirty="0">
                <a:latin typeface="华文中宋" panose="02010600040101010101" pitchFamily="2" charset="-122"/>
                <a:ea typeface="华文中宋" panose="02010600040101010101" pitchFamily="2" charset="-122"/>
              </a:rPr>
              <a:t>非常感觉公司提供的这次机会、上面都是我自己个人的不成熟看法，一定会存在错误、不客观、片面的看法。请大家包容！谢谢大家。</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形 8">
            <a:extLst>
              <a:ext uri="{FF2B5EF4-FFF2-40B4-BE49-F238E27FC236}">
                <a16:creationId xmlns:a16="http://schemas.microsoft.com/office/drawing/2014/main" id="{0ABC3076-E885-D848-AAF1-6B433CED924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204238" y="4271281"/>
            <a:ext cx="5783523" cy="278054"/>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 TOOLS.GUIDESSETTING" val="{&quot;Id&quot;:&quot;2d4375ee-8516-45e0-8956-45702a61a9b6&quot;,&quot;Name&quot;:&quot;iSlide&quot;,&quot;HeaderHeight&quot;:15.0,&quot;FooterHeight&quot;:9.0000000000000036,&quot;SideMargin&quot;:5.4999999999999982,&quot;TopMargin&quot;:0.0,&quot;BottomMargin&quot;:0.0,&quot;IntervalMargin&quot;:1.3999999999999997}"/>
  <p:tag name="ISLIDE.GUIDESSETTING" val="{&quot;Id&quot;:&quot;GuidesStyle_Normal&quot;,&quot;Name&quot;:&quot;正常&quot;,&quot;HeaderHeight&quot;:15.0,&quot;FooterHeight&quot;:9.0,&quot;SideMargin&quot;:5.5,&quot;TopMargin&quot;:0.0,&quot;BottomMargin&quot;:0.0,&quot;IntervalMargin&quot;:1.5}"/>
  <p:tag name="THINKCELLUNDODONOTDELETE" val="0"/>
  <p:tag name="ISLIDE.THEME" val="e36df2c5-b229-45ee-a5b1-3c8af6566644"/>
</p:tagLst>
</file>

<file path=ppt/tags/tag2.xml><?xml version="1.0" encoding="utf-8"?>
<p:tagLst xmlns:a="http://schemas.openxmlformats.org/drawingml/2006/main" xmlns:r="http://schemas.openxmlformats.org/officeDocument/2006/relationships" xmlns:p="http://schemas.openxmlformats.org/presentationml/2006/main">
  <p:tag name="ISLIDE.DIAGRAM" val="204291"/>
</p:tagLst>
</file>

<file path=ppt/tags/tag3.xml><?xml version="1.0" encoding="utf-8"?>
<p:tagLst xmlns:a="http://schemas.openxmlformats.org/drawingml/2006/main" xmlns:r="http://schemas.openxmlformats.org/officeDocument/2006/relationships" xmlns:p="http://schemas.openxmlformats.org/presentationml/2006/main">
  <p:tag name="ISLIDE.DIAGRAM" val="204291"/>
</p:tagLst>
</file>

<file path=ppt/tags/tag4.xml><?xml version="1.0" encoding="utf-8"?>
<p:tagLst xmlns:a="http://schemas.openxmlformats.org/drawingml/2006/main" xmlns:r="http://schemas.openxmlformats.org/officeDocument/2006/relationships" xmlns:p="http://schemas.openxmlformats.org/presentationml/2006/main">
  <p:tag name="ISLIDE.DIAGRAM" val="204291"/>
</p:tagLst>
</file>

<file path=ppt/tags/tag5.xml><?xml version="1.0" encoding="utf-8"?>
<p:tagLst xmlns:a="http://schemas.openxmlformats.org/drawingml/2006/main" xmlns:r="http://schemas.openxmlformats.org/officeDocument/2006/relationships" xmlns:p="http://schemas.openxmlformats.org/presentationml/2006/main">
  <p:tag name="ISLIDE.DIAGRAM" val="204291"/>
</p:tagLst>
</file>

<file path=ppt/tags/tag6.xml><?xml version="1.0" encoding="utf-8"?>
<p:tagLst xmlns:a="http://schemas.openxmlformats.org/drawingml/2006/main" xmlns:r="http://schemas.openxmlformats.org/officeDocument/2006/relationships" xmlns:p="http://schemas.openxmlformats.org/presentationml/2006/main">
  <p:tag name="ISLIDE.DIAGRAM" val="204291"/>
</p:tagLst>
</file>

<file path=ppt/theme/theme1.xml><?xml version="1.0" encoding="utf-8"?>
<a:theme xmlns:a="http://schemas.openxmlformats.org/drawingml/2006/main" name="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封面">
  <a:themeElements>
    <a:clrScheme name="宝兰德色彩">
      <a:dk1>
        <a:srgbClr val="000000"/>
      </a:dk1>
      <a:lt1>
        <a:srgbClr val="FFFFFF"/>
      </a:lt1>
      <a:dk2>
        <a:srgbClr val="768394"/>
      </a:dk2>
      <a:lt2>
        <a:srgbClr val="F0F0F0"/>
      </a:lt2>
      <a:accent1>
        <a:srgbClr val="134896"/>
      </a:accent1>
      <a:accent2>
        <a:srgbClr val="5D7FB7"/>
      </a:accent2>
      <a:accent3>
        <a:srgbClr val="0588FF"/>
      </a:accent3>
      <a:accent4>
        <a:srgbClr val="214463"/>
      </a:accent4>
      <a:accent5>
        <a:srgbClr val="97AED1"/>
      </a:accent5>
      <a:accent6>
        <a:srgbClr val="818E96"/>
      </a:accent6>
      <a:hlink>
        <a:srgbClr val="00A2FF"/>
      </a:hlink>
      <a:folHlink>
        <a:srgbClr val="E5E7E9"/>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1522</TotalTime>
  <Words>4412</Words>
  <Application>Microsoft Office PowerPoint</Application>
  <PresentationFormat>宽屏</PresentationFormat>
  <Paragraphs>437</Paragraphs>
  <Slides>31</Slides>
  <Notes>6</Notes>
  <HiddenSlides>0</HiddenSlides>
  <MMClips>0</MMClips>
  <ScaleCrop>false</ScaleCrop>
  <HeadingPairs>
    <vt:vector size="6" baseType="variant">
      <vt:variant>
        <vt:lpstr>已用的字体</vt:lpstr>
      </vt:variant>
      <vt:variant>
        <vt:i4>9</vt:i4>
      </vt:variant>
      <vt:variant>
        <vt:lpstr>主题</vt:lpstr>
      </vt:variant>
      <vt:variant>
        <vt:i4>5</vt:i4>
      </vt:variant>
      <vt:variant>
        <vt:lpstr>幻灯片标题</vt:lpstr>
      </vt:variant>
      <vt:variant>
        <vt:i4>31</vt:i4>
      </vt:variant>
    </vt:vector>
  </HeadingPairs>
  <TitlesOfParts>
    <vt:vector size="45" baseType="lpstr">
      <vt:lpstr>仿宋</vt:lpstr>
      <vt:lpstr>华文中宋</vt:lpstr>
      <vt:lpstr>思源黑体</vt:lpstr>
      <vt:lpstr>思源黑体 CN</vt:lpstr>
      <vt:lpstr>思源黑体 CN Normal</vt:lpstr>
      <vt:lpstr>宋体</vt:lpstr>
      <vt:lpstr>微软雅黑 Light</vt:lpstr>
      <vt:lpstr>Arial</vt:lpstr>
      <vt:lpstr>Calibri</vt:lpstr>
      <vt:lpstr>封面</vt:lpstr>
      <vt:lpstr>1_封面</vt:lpstr>
      <vt:lpstr>2_封面</vt:lpstr>
      <vt:lpstr>3_封面</vt:lpstr>
      <vt:lpstr>4_封面</vt:lpstr>
      <vt:lpstr>PowerPoint 演示文稿</vt:lpstr>
      <vt:lpstr>PowerPoint 演示文稿</vt:lpstr>
      <vt:lpstr>1、自我介绍</vt:lpstr>
      <vt:lpstr>2、工作经历</vt:lpstr>
      <vt:lpstr>3入职后的主要工作</vt:lpstr>
      <vt:lpstr>3入职后的主要工作 —— 需求详细展示 </vt:lpstr>
      <vt:lpstr>3入职后的主要工作—— 需求详细展示 </vt:lpstr>
      <vt:lpstr>3入职后的主要工作—— 需求详细展示 </vt:lpstr>
      <vt:lpstr>3入职后的主要工作—— 需求详细展示 </vt:lpstr>
      <vt:lpstr>3入职后的主要工作—— 需求详细展示 </vt:lpstr>
      <vt:lpstr>3入职后的主要工作—— 需求详细展示 </vt:lpstr>
      <vt:lpstr>3.1 主要工作成果</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vt:lpstr>
      <vt:lpstr>3.2 产品知识掌握情况——其他产品</vt:lpstr>
      <vt:lpstr>3.3 制度遵守</vt:lpstr>
      <vt:lpstr>4、工作的规划/展望</vt:lpstr>
      <vt:lpstr>5、对公司和部门的意见和建议</vt:lpstr>
      <vt:lpstr>PowerPoint 演示文稿</vt:lpstr>
    </vt:vector>
  </TitlesOfParts>
  <Manager>iSlide</Manager>
  <Company>iSlide</Company>
  <LinksUpToDate>false</LinksUpToDate>
  <SharedDoc>false</SharedDoc>
  <HyperlinkBase>https://www.islide.cc</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iSlide</dc:creator>
  <cp:lastModifiedBy>che You</cp:lastModifiedBy>
  <cp:revision>434</cp:revision>
  <cp:lastPrinted>2018-04-12T16:00:00Z</cp:lastPrinted>
  <dcterms:created xsi:type="dcterms:W3CDTF">2018-04-12T16:00:00Z</dcterms:created>
  <dcterms:modified xsi:type="dcterms:W3CDTF">2026-03-26T06:56:08Z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Slide.Theme">
    <vt:lpwstr>48706f29-9ca0-418e-876d-de7b156ca083</vt:lpwstr>
  </property>
  <property fmtid="{D5CDD505-2E9C-101B-9397-08002B2CF9AE}" pid="3" name="KSOProductBuildVer">
    <vt:lpwstr>2052-11.1.0.10578</vt:lpwstr>
  </property>
  <property fmtid="{D5CDD505-2E9C-101B-9397-08002B2CF9AE}" pid="4" name="ICV">
    <vt:lpwstr>FCC6211B1AE34F619C95CBB8A7E3FB85</vt:lpwstr>
  </property>
</Properties>
</file>