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ags/tag2.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3.xml" ContentType="application/vnd.ms-office.chartstyle+xml"/>
  <Override PartName="/ppt/charts/colors3.xml" ContentType="application/vnd.ms-office.chartcolorstyle+xml"/>
  <Override PartName="/ppt/charts/chart7.xml" ContentType="application/vnd.openxmlformats-officedocument.drawingml.chart+xml"/>
  <Override PartName="/ppt/charts/style4.xml" ContentType="application/vnd.ms-office.chartstyle+xml"/>
  <Override PartName="/ppt/charts/colors4.xml" ContentType="application/vnd.ms-office.chartcolorstyle+xml"/>
  <Override PartName="/ppt/charts/chart8.xml" ContentType="application/vnd.openxmlformats-officedocument.drawingml.chart+xml"/>
  <Override PartName="/ppt/charts/style5.xml" ContentType="application/vnd.ms-office.chartstyle+xml"/>
  <Override PartName="/ppt/charts/colors5.xml" ContentType="application/vnd.ms-office.chartcolorstyle+xml"/>
  <Override PartName="/ppt/charts/chart9.xml" ContentType="application/vnd.openxmlformats-officedocument.drawingml.chart+xml"/>
  <Override PartName="/ppt/charts/style6.xml" ContentType="application/vnd.ms-office.chartstyle+xml"/>
  <Override PartName="/ppt/charts/colors6.xml" ContentType="application/vnd.ms-office.chartcolorstyle+xml"/>
  <Override PartName="/ppt/charts/chart10.xml" ContentType="application/vnd.openxmlformats-officedocument.drawingml.chart+xml"/>
  <Override PartName="/ppt/charts/style7.xml" ContentType="application/vnd.ms-office.chartstyle+xml"/>
  <Override PartName="/ppt/charts/colors7.xml" ContentType="application/vnd.ms-office.chartcolorstyl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charts/chart11.xml" ContentType="application/vnd.openxmlformats-officedocument.drawingml.chart+xml"/>
  <Override PartName="/ppt/charts/style8.xml" ContentType="application/vnd.ms-office.chartstyle+xml"/>
  <Override PartName="/ppt/charts/colors8.xml" ContentType="application/vnd.ms-office.chartcolorstyle+xml"/>
  <Override PartName="/ppt/charts/chart12.xml" ContentType="application/vnd.openxmlformats-officedocument.drawingml.chart+xml"/>
  <Override PartName="/ppt/charts/style9.xml" ContentType="application/vnd.ms-office.chartstyle+xml"/>
  <Override PartName="/ppt/charts/colors9.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20.xml" ContentType="application/vnd.openxmlformats-officedocument.drawingml.chart+xml"/>
  <Override PartName="/ppt/charts/style14.xml" ContentType="application/vnd.ms-office.chartstyle+xml"/>
  <Override PartName="/ppt/charts/colors14.xml" ContentType="application/vnd.ms-office.chartcolorstyl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3.xml" ContentType="application/vnd.openxmlformats-officedocument.theme+xml"/>
  <Override PartName="/ppt/tags/tag4.xml" ContentType="application/vnd.openxmlformats-officedocument.presentationml.tags+xml"/>
  <Override PartName="/ppt/charts/chart21.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2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27.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8.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9.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30.xml" ContentType="application/vnd.openxmlformats-officedocument.drawingml.chart+xml"/>
  <Override PartName="/ppt/charts/style21.xml" ContentType="application/vnd.ms-office.chartstyle+xml"/>
  <Override PartName="/ppt/charts/colors21.xml" ContentType="application/vnd.ms-office.chartcolorstyle+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theme/theme4.xml" ContentType="application/vnd.openxmlformats-officedocument.theme+xml"/>
  <Override PartName="/ppt/tags/tag5.xml" ContentType="application/vnd.openxmlformats-officedocument.presentationml.tags+xml"/>
  <Override PartName="/ppt/charts/chart31.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32.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37.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38.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39.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40.xml" ContentType="application/vnd.openxmlformats-officedocument.drawingml.chart+xml"/>
  <Override PartName="/ppt/charts/style28.xml" ContentType="application/vnd.ms-office.chartstyle+xml"/>
  <Override PartName="/ppt/charts/colors28.xml" ContentType="application/vnd.ms-office.chartcolorstyle+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theme/theme5.xml" ContentType="application/vnd.openxmlformats-officedocument.theme+xml"/>
  <Override PartName="/ppt/tags/tag6.xml" ContentType="application/vnd.openxmlformats-officedocument.presentationml.tags+xml"/>
  <Override PartName="/ppt/charts/chart41.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42.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47.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48.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49.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50.xml" ContentType="application/vnd.openxmlformats-officedocument.drawingml.chart+xml"/>
  <Override PartName="/ppt/charts/style35.xml" ContentType="application/vnd.ms-office.chartstyle+xml"/>
  <Override PartName="/ppt/charts/colors35.xml" ContentType="application/vnd.ms-office.chartcolorstyl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78" r:id="rId2"/>
    <p:sldMasterId id="2147483708" r:id="rId3"/>
    <p:sldMasterId id="2147483738" r:id="rId4"/>
    <p:sldMasterId id="2147483768" r:id="rId5"/>
  </p:sldMasterIdLst>
  <p:notesMasterIdLst>
    <p:notesMasterId r:id="rId37"/>
  </p:notesMasterIdLst>
  <p:sldIdLst>
    <p:sldId id="352" r:id="rId6"/>
    <p:sldId id="284" r:id="rId7"/>
    <p:sldId id="397" r:id="rId8"/>
    <p:sldId id="385" r:id="rId9"/>
    <p:sldId id="386" r:id="rId10"/>
    <p:sldId id="398" r:id="rId11"/>
    <p:sldId id="399" r:id="rId12"/>
    <p:sldId id="401" r:id="rId13"/>
    <p:sldId id="402" r:id="rId14"/>
    <p:sldId id="404" r:id="rId15"/>
    <p:sldId id="405" r:id="rId16"/>
    <p:sldId id="394" r:id="rId17"/>
    <p:sldId id="395" r:id="rId18"/>
    <p:sldId id="407" r:id="rId19"/>
    <p:sldId id="410" r:id="rId20"/>
    <p:sldId id="409" r:id="rId21"/>
    <p:sldId id="408" r:id="rId22"/>
    <p:sldId id="411" r:id="rId23"/>
    <p:sldId id="412" r:id="rId24"/>
    <p:sldId id="413" r:id="rId25"/>
    <p:sldId id="414" r:id="rId26"/>
    <p:sldId id="418" r:id="rId27"/>
    <p:sldId id="420" r:id="rId28"/>
    <p:sldId id="421" r:id="rId29"/>
    <p:sldId id="422" r:id="rId30"/>
    <p:sldId id="423" r:id="rId31"/>
    <p:sldId id="406" r:id="rId32"/>
    <p:sldId id="396" r:id="rId33"/>
    <p:sldId id="387" r:id="rId34"/>
    <p:sldId id="393" r:id="rId35"/>
    <p:sldId id="346" r:id="rId36"/>
  </p:sldIdLst>
  <p:sldSz cx="12192000" cy="6858000"/>
  <p:notesSz cx="6858000" cy="9144000"/>
  <p:custDataLst>
    <p:tags r:id="rId38"/>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A58"/>
    <a:srgbClr val="383736"/>
    <a:srgbClr val="FF6600"/>
    <a:srgbClr val="97AED1"/>
    <a:srgbClr val="124796"/>
    <a:srgbClr val="5C7FB7"/>
    <a:srgbClr val="FFA753"/>
    <a:srgbClr val="F3F6F5"/>
    <a:srgbClr val="4FBAFF"/>
    <a:srgbClr val="8FD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65" autoAdjust="0"/>
    <p:restoredTop sz="96360" autoAdjust="0"/>
  </p:normalViewPr>
  <p:slideViewPr>
    <p:cSldViewPr snapToGrid="0">
      <p:cViewPr varScale="1">
        <p:scale>
          <a:sx n="109" d="100"/>
          <a:sy n="109" d="100"/>
        </p:scale>
        <p:origin x="450" y="10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75" d="100"/>
        <a:sy n="75"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presProps" Target="presProps.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tableStyles" Target="tableStyles.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8" Type="http://schemas.openxmlformats.org/officeDocument/2006/relationships/slide" Target="slides/slide3.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ags" Target="tags/tag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1" Type="http://schemas.openxmlformats.org/officeDocument/2006/relationships/oleObject" Target="../embeddings/oleObject1.bin"/></Relationships>
</file>

<file path=ppt/charts/_rels/chart4.xml.rels><?xml version="1.0" encoding="UTF-8" standalone="yes"?>
<Relationships xmlns="http://schemas.openxmlformats.org/package/2006/relationships"><Relationship Id="rId1" Type="http://schemas.openxmlformats.org/officeDocument/2006/relationships/oleObject" Target="../embeddings/oleObject2.bin"/></Relationships>
</file>

<file path=ppt/charts/_rels/chart5.xml.rels><?xml version="1.0" encoding="UTF-8" standalone="yes"?>
<Relationships xmlns="http://schemas.openxmlformats.org/package/2006/relationships"><Relationship Id="rId1" Type="http://schemas.openxmlformats.org/officeDocument/2006/relationships/oleObject" Target="../embeddings/oleObject3.bin"/></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3.xml.rels><?xml version="1.0" encoding="UTF-8" standalone="yes"?>
<Relationships xmlns="http://schemas.openxmlformats.org/package/2006/relationships"><Relationship Id="rId1" Type="http://schemas.openxmlformats.org/officeDocument/2006/relationships/oleObject" Target="../embeddings/oleObject4.bin"/></Relationships>
</file>

<file path=ppt/charts/_rels/chart14.xml.rels><?xml version="1.0" encoding="UTF-8" standalone="yes"?>
<Relationships xmlns="http://schemas.openxmlformats.org/package/2006/relationships"><Relationship Id="rId1" Type="http://schemas.openxmlformats.org/officeDocument/2006/relationships/oleObject" Target="../embeddings/oleObject5.bin"/></Relationships>
</file>

<file path=ppt/charts/_rels/chart15.xml.rels><?xml version="1.0" encoding="UTF-8" standalone="yes"?>
<Relationships xmlns="http://schemas.openxmlformats.org/package/2006/relationships"><Relationship Id="rId1" Type="http://schemas.openxmlformats.org/officeDocument/2006/relationships/oleObject" Target="../embeddings/oleObject6.bin"/></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23.xml.rels><?xml version="1.0" encoding="UTF-8" standalone="yes"?>
<Relationships xmlns="http://schemas.openxmlformats.org/package/2006/relationships"><Relationship Id="rId1" Type="http://schemas.openxmlformats.org/officeDocument/2006/relationships/oleObject" Target="../embeddings/oleObject7.bin"/></Relationships>
</file>

<file path=ppt/charts/_rels/chart24.xml.rels><?xml version="1.0" encoding="UTF-8" standalone="yes"?>
<Relationships xmlns="http://schemas.openxmlformats.org/package/2006/relationships"><Relationship Id="rId1" Type="http://schemas.openxmlformats.org/officeDocument/2006/relationships/oleObject" Target="../embeddings/oleObject8.bin"/></Relationships>
</file>

<file path=ppt/charts/_rels/chart25.xml.rels><?xml version="1.0" encoding="UTF-8" standalone="yes"?>
<Relationships xmlns="http://schemas.openxmlformats.org/package/2006/relationships"><Relationship Id="rId1" Type="http://schemas.openxmlformats.org/officeDocument/2006/relationships/oleObject" Target="../embeddings/oleObject9.bin"/></Relationships>
</file>

<file path=ppt/charts/_rels/chart26.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27.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28.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_rels/chart29.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20.xml"/><Relationship Id="rId1" Type="http://schemas.microsoft.com/office/2011/relationships/chartStyle" Target="style20.xml"/></Relationships>
</file>

<file path=ppt/charts/_rels/chart30.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21.xml"/><Relationship Id="rId1" Type="http://schemas.microsoft.com/office/2011/relationships/chartStyle" Target="style21.xml"/></Relationships>
</file>

<file path=ppt/charts/_rels/chart31.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2.xml"/><Relationship Id="rId1" Type="http://schemas.microsoft.com/office/2011/relationships/chartStyle" Target="style22.xml"/></Relationships>
</file>

<file path=ppt/charts/_rels/chart32.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3.xml"/><Relationship Id="rId1" Type="http://schemas.microsoft.com/office/2011/relationships/chartStyle" Target="style23.xml"/></Relationships>
</file>

<file path=ppt/charts/_rels/chart33.xml.rels><?xml version="1.0" encoding="UTF-8" standalone="yes"?>
<Relationships xmlns="http://schemas.openxmlformats.org/package/2006/relationships"><Relationship Id="rId1" Type="http://schemas.openxmlformats.org/officeDocument/2006/relationships/oleObject" Target="../embeddings/oleObject10.bin"/></Relationships>
</file>

<file path=ppt/charts/_rels/chart34.xml.rels><?xml version="1.0" encoding="UTF-8" standalone="yes"?>
<Relationships xmlns="http://schemas.openxmlformats.org/package/2006/relationships"><Relationship Id="rId1" Type="http://schemas.openxmlformats.org/officeDocument/2006/relationships/oleObject" Target="../embeddings/oleObject11.bin"/></Relationships>
</file>

<file path=ppt/charts/_rels/chart35.xml.rels><?xml version="1.0" encoding="UTF-8" standalone="yes"?>
<Relationships xmlns="http://schemas.openxmlformats.org/package/2006/relationships"><Relationship Id="rId1" Type="http://schemas.openxmlformats.org/officeDocument/2006/relationships/oleObject" Target="../embeddings/oleObject12.bin"/></Relationships>
</file>

<file path=ppt/charts/_rels/chart36.xml.rels><?xml version="1.0" encoding="UTF-8" standalone="yes"?>
<Relationships xmlns="http://schemas.openxmlformats.org/package/2006/relationships"><Relationship Id="rId3" Type="http://schemas.openxmlformats.org/officeDocument/2006/relationships/package" Target="../embeddings/Microsoft_Excel_Worksheet23.xlsx"/><Relationship Id="rId2" Type="http://schemas.microsoft.com/office/2011/relationships/chartColorStyle" Target="colors24.xml"/><Relationship Id="rId1" Type="http://schemas.microsoft.com/office/2011/relationships/chartStyle" Target="style24.xml"/></Relationships>
</file>

<file path=ppt/charts/_rels/chart37.xml.rels><?xml version="1.0" encoding="UTF-8" standalone="yes"?>
<Relationships xmlns="http://schemas.openxmlformats.org/package/2006/relationships"><Relationship Id="rId3" Type="http://schemas.openxmlformats.org/officeDocument/2006/relationships/package" Target="../embeddings/Microsoft_Excel_Worksheet24.xlsx"/><Relationship Id="rId2" Type="http://schemas.microsoft.com/office/2011/relationships/chartColorStyle" Target="colors25.xml"/><Relationship Id="rId1" Type="http://schemas.microsoft.com/office/2011/relationships/chartStyle" Target="style25.xml"/></Relationships>
</file>

<file path=ppt/charts/_rels/chart38.xml.rels><?xml version="1.0" encoding="UTF-8" standalone="yes"?>
<Relationships xmlns="http://schemas.openxmlformats.org/package/2006/relationships"><Relationship Id="rId3" Type="http://schemas.openxmlformats.org/officeDocument/2006/relationships/package" Target="../embeddings/Microsoft_Excel_Worksheet25.xlsx"/><Relationship Id="rId2" Type="http://schemas.microsoft.com/office/2011/relationships/chartColorStyle" Target="colors26.xml"/><Relationship Id="rId1" Type="http://schemas.microsoft.com/office/2011/relationships/chartStyle" Target="style26.xml"/></Relationships>
</file>

<file path=ppt/charts/_rels/chart39.xml.rels><?xml version="1.0" encoding="UTF-8" standalone="yes"?>
<Relationships xmlns="http://schemas.openxmlformats.org/package/2006/relationships"><Relationship Id="rId3" Type="http://schemas.openxmlformats.org/officeDocument/2006/relationships/package" Target="../embeddings/Microsoft_Excel_Worksheet26.xlsx"/><Relationship Id="rId2" Type="http://schemas.microsoft.com/office/2011/relationships/chartColorStyle" Target="colors27.xml"/><Relationship Id="rId1" Type="http://schemas.microsoft.com/office/2011/relationships/chartStyle" Target="style27.xml"/></Relationships>
</file>

<file path=ppt/charts/_rels/chart40.xml.rels><?xml version="1.0" encoding="UTF-8" standalone="yes"?>
<Relationships xmlns="http://schemas.openxmlformats.org/package/2006/relationships"><Relationship Id="rId3" Type="http://schemas.openxmlformats.org/officeDocument/2006/relationships/package" Target="../embeddings/Microsoft_Excel_Worksheet27.xlsx"/><Relationship Id="rId2" Type="http://schemas.microsoft.com/office/2011/relationships/chartColorStyle" Target="colors28.xml"/><Relationship Id="rId1" Type="http://schemas.microsoft.com/office/2011/relationships/chartStyle" Target="style28.xml"/></Relationships>
</file>

<file path=ppt/charts/_rels/chart41.xml.rels><?xml version="1.0" encoding="UTF-8" standalone="yes"?>
<Relationships xmlns="http://schemas.openxmlformats.org/package/2006/relationships"><Relationship Id="rId3" Type="http://schemas.openxmlformats.org/officeDocument/2006/relationships/package" Target="../embeddings/Microsoft_Excel_Worksheet28.xlsx"/><Relationship Id="rId2" Type="http://schemas.microsoft.com/office/2011/relationships/chartColorStyle" Target="colors29.xml"/><Relationship Id="rId1" Type="http://schemas.microsoft.com/office/2011/relationships/chartStyle" Target="style29.xml"/></Relationships>
</file>

<file path=ppt/charts/_rels/chart42.xml.rels><?xml version="1.0" encoding="UTF-8" standalone="yes"?>
<Relationships xmlns="http://schemas.openxmlformats.org/package/2006/relationships"><Relationship Id="rId3" Type="http://schemas.openxmlformats.org/officeDocument/2006/relationships/package" Target="../embeddings/Microsoft_Excel_Worksheet29.xlsx"/><Relationship Id="rId2" Type="http://schemas.microsoft.com/office/2011/relationships/chartColorStyle" Target="colors30.xml"/><Relationship Id="rId1" Type="http://schemas.microsoft.com/office/2011/relationships/chartStyle" Target="style30.xml"/></Relationships>
</file>

<file path=ppt/charts/_rels/chart43.xml.rels><?xml version="1.0" encoding="UTF-8" standalone="yes"?>
<Relationships xmlns="http://schemas.openxmlformats.org/package/2006/relationships"><Relationship Id="rId1" Type="http://schemas.openxmlformats.org/officeDocument/2006/relationships/oleObject" Target="../embeddings/oleObject13.bin"/></Relationships>
</file>

<file path=ppt/charts/_rels/chart44.xml.rels><?xml version="1.0" encoding="UTF-8" standalone="yes"?>
<Relationships xmlns="http://schemas.openxmlformats.org/package/2006/relationships"><Relationship Id="rId1" Type="http://schemas.openxmlformats.org/officeDocument/2006/relationships/oleObject" Target="../embeddings/oleObject14.bin"/></Relationships>
</file>

<file path=ppt/charts/_rels/chart45.xml.rels><?xml version="1.0" encoding="UTF-8" standalone="yes"?>
<Relationships xmlns="http://schemas.openxmlformats.org/package/2006/relationships"><Relationship Id="rId1" Type="http://schemas.openxmlformats.org/officeDocument/2006/relationships/oleObject" Target="../embeddings/oleObject15.bin"/></Relationships>
</file>

<file path=ppt/charts/_rels/chart46.xml.rels><?xml version="1.0" encoding="UTF-8" standalone="yes"?>
<Relationships xmlns="http://schemas.openxmlformats.org/package/2006/relationships"><Relationship Id="rId3" Type="http://schemas.openxmlformats.org/officeDocument/2006/relationships/package" Target="../embeddings/Microsoft_Excel_Worksheet30.xlsx"/><Relationship Id="rId2" Type="http://schemas.microsoft.com/office/2011/relationships/chartColorStyle" Target="colors31.xml"/><Relationship Id="rId1" Type="http://schemas.microsoft.com/office/2011/relationships/chartStyle" Target="style31.xml"/></Relationships>
</file>

<file path=ppt/charts/_rels/chart47.xml.rels><?xml version="1.0" encoding="UTF-8" standalone="yes"?>
<Relationships xmlns="http://schemas.openxmlformats.org/package/2006/relationships"><Relationship Id="rId3" Type="http://schemas.openxmlformats.org/officeDocument/2006/relationships/package" Target="../embeddings/Microsoft_Excel_Worksheet31.xlsx"/><Relationship Id="rId2" Type="http://schemas.microsoft.com/office/2011/relationships/chartColorStyle" Target="colors32.xml"/><Relationship Id="rId1" Type="http://schemas.microsoft.com/office/2011/relationships/chartStyle" Target="style32.xml"/></Relationships>
</file>

<file path=ppt/charts/_rels/chart48.xml.rels><?xml version="1.0" encoding="UTF-8" standalone="yes"?>
<Relationships xmlns="http://schemas.openxmlformats.org/package/2006/relationships"><Relationship Id="rId3" Type="http://schemas.openxmlformats.org/officeDocument/2006/relationships/package" Target="../embeddings/Microsoft_Excel_Worksheet32.xlsx"/><Relationship Id="rId2" Type="http://schemas.microsoft.com/office/2011/relationships/chartColorStyle" Target="colors33.xml"/><Relationship Id="rId1" Type="http://schemas.microsoft.com/office/2011/relationships/chartStyle" Target="style33.xml"/></Relationships>
</file>

<file path=ppt/charts/_rels/chart49.xml.rels><?xml version="1.0" encoding="UTF-8" standalone="yes"?>
<Relationships xmlns="http://schemas.openxmlformats.org/package/2006/relationships"><Relationship Id="rId3" Type="http://schemas.openxmlformats.org/officeDocument/2006/relationships/package" Target="../embeddings/Microsoft_Excel_Worksheet33.xlsx"/><Relationship Id="rId2" Type="http://schemas.microsoft.com/office/2011/relationships/chartColorStyle" Target="colors34.xml"/><Relationship Id="rId1" Type="http://schemas.microsoft.com/office/2011/relationships/chartStyle" Target="style34.xml"/></Relationships>
</file>

<file path=ppt/charts/_rels/chart50.xml.rels><?xml version="1.0" encoding="UTF-8" standalone="yes"?>
<Relationships xmlns="http://schemas.openxmlformats.org/package/2006/relationships"><Relationship Id="rId3" Type="http://schemas.openxmlformats.org/officeDocument/2006/relationships/package" Target="../embeddings/Microsoft_Excel_Worksheet34.xlsx"/><Relationship Id="rId2" Type="http://schemas.microsoft.com/office/2011/relationships/chartColorStyle" Target="colors35.xml"/><Relationship Id="rId1" Type="http://schemas.microsoft.com/office/2011/relationships/chartStyle" Target="style3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D4B1-499D-9473-C5784141F829}"/>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4B1-499D-9473-C5784141F829}"/>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4B1-499D-9473-C5784141F829}"/>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D4B1-499D-9473-C5784141F829}"/>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4B1-499D-9473-C5784141F829}"/>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4B1-499D-9473-C5784141F829}"/>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4B1-499D-9473-C5784141F829}"/>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D4B1-499D-9473-C5784141F829}"/>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D4B1-499D-9473-C5784141F829}"/>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4B1-499D-9473-C5784141F829}"/>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4B1-499D-9473-C5784141F829}"/>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D4B1-499D-9473-C5784141F829}"/>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66B-4EFE-B06A-0C7DED66DBEB}"/>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6B-4EFE-B06A-0C7DED66DBEB}"/>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66B-4EFE-B06A-0C7DED66DBEB}"/>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766B-4EFE-B06A-0C7DED66DBEB}"/>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6B-4EFE-B06A-0C7DED66DBEB}"/>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66B-4EFE-B06A-0C7DED66DBEB}"/>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6B-4EFE-B06A-0C7DED66DBEB}"/>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766B-4EFE-B06A-0C7DED66DBEB}"/>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85F-4D00-97D7-F62718522D0F}"/>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85F-4D00-97D7-F62718522D0F}"/>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CE0-4715-89C1-5B08B32E22F6}"/>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CE0-4715-89C1-5B08B32E22F6}"/>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E1BD-4B07-BFCF-A33138F33E54}"/>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E1BD-4B07-BFCF-A33138F33E54}"/>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F8E1-4D2A-844A-157B3DA7774B}"/>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F8E1-4D2A-844A-157B3DA7774B}"/>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F8E1-4D2A-844A-157B3DA7774B}"/>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EBE1-4150-B1C4-5665F8D3D82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EBE1-4150-B1C4-5665F8D3D82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EBE1-4150-B1C4-5665F8D3D82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D4D-4894-8AB0-AE24335BFFD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D4D-4894-8AB0-AE24335BFFD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D4D-4894-8AB0-AE24335BFFD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23C-4C41-AF64-1B0B7229AD15}"/>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23C-4C41-AF64-1B0B7229AD15}"/>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B23C-4C41-AF64-1B0B7229AD15}"/>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B4B-41E7-B8AD-3A2FD2DA0E0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B4B-41E7-B8AD-3A2FD2DA0E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B4B-41E7-B8AD-3A2FD2DA0E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3901-44AB-B299-99A34917A6BE}"/>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901-44AB-B299-99A34917A6BE}"/>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901-44AB-B299-99A34917A6BE}"/>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3901-44AB-B299-99A34917A6BE}"/>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901-44AB-B299-99A34917A6BE}"/>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901-44AB-B299-99A34917A6BE}"/>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901-44AB-B299-99A34917A6BE}"/>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3901-44AB-B299-99A34917A6BE}"/>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3901-44AB-B299-99A34917A6BE}"/>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3901-44AB-B299-99A34917A6BE}"/>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3901-44AB-B299-99A34917A6BE}"/>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3901-44AB-B299-99A34917A6BE}"/>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189-4C58-937A-51A26F8EDF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189-4C58-937A-51A26F8EDF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189-4C58-937A-51A26F8EDF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D189-4C58-937A-51A26F8EDF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189-4C58-937A-51A26F8EDF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189-4C58-937A-51A26F8EDF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189-4C58-937A-51A26F8EDF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D189-4C58-937A-51A26F8EDF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D3D-4AB1-B5C0-6EBBD6CA0AA1}"/>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D3D-4AB1-B5C0-6EBBD6CA0AA1}"/>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857C-442C-ABE3-ABE2604963B3}"/>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857C-442C-ABE3-ABE2604963B3}"/>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0E87-4A1B-8ABC-A464208288D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0E87-4A1B-8ABC-A464208288D1}"/>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1D7-44B4-9DCB-0B7E107C0B4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1D7-44B4-9DCB-0B7E107C0B4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1D7-44B4-9DCB-0B7E107C0B4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C94-4E8A-A791-96331BFBB57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C94-4E8A-A791-96331BFBB57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C94-4E8A-A791-96331BFBB57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73E-47C6-8713-AA2917F8C70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73E-47C6-8713-AA2917F8C70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73E-47C6-8713-AA2917F8C70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53B-4B74-A015-D9C252FBE869}"/>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53B-4B74-A015-D9C252FBE869}"/>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553B-4B74-A015-D9C252FBE869}"/>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B28-4405-A84D-A4C19C5F4FC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B28-4405-A84D-A4C19C5F4FC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B28-4405-A84D-A4C19C5F4FC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77D0-4D9A-8A30-023D80856C50}"/>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D0-4D9A-8A30-023D80856C50}"/>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7D0-4D9A-8A30-023D80856C50}"/>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77D0-4D9A-8A30-023D80856C50}"/>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D0-4D9A-8A30-023D80856C50}"/>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7D0-4D9A-8A30-023D80856C50}"/>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D0-4D9A-8A30-023D80856C50}"/>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77D0-4D9A-8A30-023D80856C50}"/>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77D0-4D9A-8A30-023D80856C50}"/>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7D0-4D9A-8A30-023D80856C50}"/>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77D0-4D9A-8A30-023D80856C50}"/>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77D0-4D9A-8A30-023D80856C50}"/>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7C-4315-90C2-F83E4C6D72D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D7C-4315-90C2-F83E4C6D72D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D7C-4315-90C2-F83E4C6D72D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D7C-4315-90C2-F83E4C6D72D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D7C-4315-90C2-F83E4C6D72D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D7C-4315-90C2-F83E4C6D72D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D7C-4315-90C2-F83E4C6D72D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D7C-4315-90C2-F83E4C6D72D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FE6E-461B-8530-F4B1D7810510}"/>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FE6E-461B-8530-F4B1D7810510}"/>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B623-4046-8268-C44EB36BE93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B623-4046-8268-C44EB36BE931}"/>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AE98-436E-A6C7-337E9F9A6F3B}"/>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AE98-436E-A6C7-337E9F9A6F3B}"/>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3623-4C62-A7D8-F230F68DD73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3623-4C62-A7D8-F230F68DD73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3623-4C62-A7D8-F230F68DD73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904-4C4E-B800-9E56A9FC9B54}"/>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904-4C4E-B800-9E56A9FC9B54}"/>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904-4C4E-B800-9E56A9FC9B54}"/>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43E-4DC9-8CC5-210A0942E52D}"/>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43E-4DC9-8CC5-210A0942E52D}"/>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43E-4DC9-8CC5-210A0942E52D}"/>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929E-49CE-9221-1C6EF04F03E2}"/>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929E-49CE-9221-1C6EF04F03E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29E-49CE-9221-1C6EF04F03E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2FB-4AB6-A3A5-6B5EDEB36482}"/>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2FB-4AB6-A3A5-6B5EDEB3648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82FB-4AB6-A3A5-6B5EDEB3648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4A03-4D5C-AD36-1CAF6A2098C1}"/>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A03-4D5C-AD36-1CAF6A2098C1}"/>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A03-4D5C-AD36-1CAF6A2098C1}"/>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4A03-4D5C-AD36-1CAF6A2098C1}"/>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4A03-4D5C-AD36-1CAF6A2098C1}"/>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A03-4D5C-AD36-1CAF6A2098C1}"/>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A03-4D5C-AD36-1CAF6A2098C1}"/>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4A03-4D5C-AD36-1CAF6A2098C1}"/>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A03-4D5C-AD36-1CAF6A2098C1}"/>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A03-4D5C-AD36-1CAF6A2098C1}"/>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A03-4D5C-AD36-1CAF6A2098C1}"/>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4A03-4D5C-AD36-1CAF6A2098C1}"/>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E9C-47AA-82E7-50E1D95AA973}"/>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E9C-47AA-82E7-50E1D95AA973}"/>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E9C-47AA-82E7-50E1D95AA973}"/>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EE9C-47AA-82E7-50E1D95AA973}"/>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E9C-47AA-82E7-50E1D95AA973}"/>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EE9C-47AA-82E7-50E1D95AA973}"/>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EE9C-47AA-82E7-50E1D95AA973}"/>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EE9C-47AA-82E7-50E1D95AA973}"/>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A00-4F55-998A-232D7957F6D4}"/>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A00-4F55-998A-232D7957F6D4}"/>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1E7-4108-A3C9-C6702E5B963F}"/>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1E7-4108-A3C9-C6702E5B963F}"/>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C92F-4DC5-803F-22C22EB9B1F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C92F-4DC5-803F-22C22EB9B1F2}"/>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263-4EED-9ACF-11C7F554FFB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263-4EED-9ACF-11C7F554FFB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263-4EED-9ACF-11C7F554FFB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422-4C2C-A4A8-E6DAC27056D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422-4C2C-A4A8-E6DAC27056D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422-4C2C-A4A8-E6DAC27056D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5F3-43EF-8A3C-196D2DE6D6B9}"/>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5F3-43EF-8A3C-196D2DE6D6B9}"/>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5F3-43EF-8A3C-196D2DE6D6B9}"/>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BE3-4C4F-8848-85A46697FC07}"/>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BE3-4C4F-8848-85A46697FC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BE3-4C4F-8848-85A46697FC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09C-45F6-83BB-9DA921BBA94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09C-45F6-83BB-9DA921BBA94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09C-45F6-83BB-9DA921BBA94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1721-405C-9E8E-64029A62059C}"/>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721-405C-9E8E-64029A62059C}"/>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1721-405C-9E8E-64029A62059C}"/>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1721-405C-9E8E-64029A62059C}"/>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721-405C-9E8E-64029A62059C}"/>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721-405C-9E8E-64029A62059C}"/>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721-405C-9E8E-64029A62059C}"/>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1721-405C-9E8E-64029A62059C}"/>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1721-405C-9E8E-64029A62059C}"/>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1721-405C-9E8E-64029A62059C}"/>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721-405C-9E8E-64029A62059C}"/>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1721-405C-9E8E-64029A62059C}"/>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C66-4CC6-A7AA-71CBCED608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C66-4CC6-A7AA-71CBCED608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C66-4CC6-A7AA-71CBCED608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C66-4CC6-A7AA-71CBCED608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C66-4CC6-A7AA-71CBCED608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C66-4CC6-A7AA-71CBCED608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C66-4CC6-A7AA-71CBCED608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C66-4CC6-A7AA-71CBCED608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647-45CB-9E2C-A2C396DB0B19}"/>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E647-45CB-9E2C-A2C396DB0B19}"/>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D0F8-4C75-94BF-A9E4EA85097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D0F8-4C75-94BF-A9E4EA850972}"/>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5544-4B6A-A889-3034504492BA}"/>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5544-4B6A-A889-3034504492BA}"/>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1A56-4045-B7C0-0406A6D2CDA7}"/>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1A56-4045-B7C0-0406A6D2CDA7}"/>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1A56-4045-B7C0-0406A6D2CDA7}"/>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4D22-4611-9B54-FE1F53220561}"/>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4D22-4611-9B54-FE1F53220561}"/>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D22-4611-9B54-FE1F53220561}"/>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B46-4860-898B-31C759875D3E}"/>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B46-4860-898B-31C759875D3E}"/>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B46-4860-898B-31C759875D3E}"/>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EFA-4549-80DA-059ED84C391E}"/>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EFA-4549-80DA-059ED84C391E}"/>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EFA-4549-80DA-059ED84C391E}"/>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558-4179-AFC5-874636C9BF6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558-4179-AFC5-874636C9BF6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558-4179-AFC5-874636C9BF6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6D8963-CFCD-4740-AF60-049850373CDF}" type="datetimeFigureOut">
              <a:rPr lang="zh-CN" altLang="en-US" smtClean="0"/>
              <a:t>2026/3/26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E6FDB6-6D2B-46C1-9FA1-D82906A37C3A}"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5</a:t>
            </a:fld>
            <a:endParaRPr lang="zh-CN" altLang="en-US"/>
          </a:p>
        </p:txBody>
      </p:sp>
    </p:spTree>
    <p:extLst>
      <p:ext uri="{BB962C8B-B14F-4D97-AF65-F5344CB8AC3E}">
        <p14:creationId xmlns:p14="http://schemas.microsoft.com/office/powerpoint/2010/main" val="3962312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12</a:t>
            </a:fld>
            <a:endParaRPr lang="zh-CN" altLang="en-US"/>
          </a:p>
        </p:txBody>
      </p:sp>
    </p:spTree>
    <p:extLst>
      <p:ext uri="{BB962C8B-B14F-4D97-AF65-F5344CB8AC3E}">
        <p14:creationId xmlns:p14="http://schemas.microsoft.com/office/powerpoint/2010/main" val="4816853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23</a:t>
            </a:fld>
            <a:endParaRPr lang="zh-CN" altLang="en-US"/>
          </a:p>
        </p:txBody>
      </p:sp>
    </p:spTree>
    <p:extLst>
      <p:ext uri="{BB962C8B-B14F-4D97-AF65-F5344CB8AC3E}">
        <p14:creationId xmlns:p14="http://schemas.microsoft.com/office/powerpoint/2010/main" val="26173448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26</a:t>
            </a:fld>
            <a:endParaRPr lang="zh-CN" altLang="en-US"/>
          </a:p>
        </p:txBody>
      </p:sp>
    </p:spTree>
    <p:extLst>
      <p:ext uri="{BB962C8B-B14F-4D97-AF65-F5344CB8AC3E}">
        <p14:creationId xmlns:p14="http://schemas.microsoft.com/office/powerpoint/2010/main" val="3040266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30</a:t>
            </a:fld>
            <a:endParaRPr lang="zh-CN" altLang="en-US"/>
          </a:p>
        </p:txBody>
      </p:sp>
    </p:spTree>
    <p:extLst>
      <p:ext uri="{BB962C8B-B14F-4D97-AF65-F5344CB8AC3E}">
        <p14:creationId xmlns:p14="http://schemas.microsoft.com/office/powerpoint/2010/main" val="38528340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Master" Target="../slideMasters/slideMaster1.xml"/><Relationship Id="rId4" Type="http://schemas.openxmlformats.org/officeDocument/2006/relationships/chart" Target="../charts/chart5.xml"/></Relationships>
</file>

<file path=ppt/slideLayouts/_rels/slideLayout2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slideMaster" Target="../slideMasters/slideMaster2.xml"/><Relationship Id="rId4" Type="http://schemas.openxmlformats.org/officeDocument/2006/relationships/chart" Target="../charts/chart15.xml"/></Relationships>
</file>

<file path=ppt/slideLayouts/_rels/slideLayout53.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chart" Target="../charts/chart23.xml"/><Relationship Id="rId1" Type="http://schemas.openxmlformats.org/officeDocument/2006/relationships/slideMaster" Target="../slideMasters/slideMaster3.xml"/><Relationship Id="rId4" Type="http://schemas.openxmlformats.org/officeDocument/2006/relationships/chart" Target="../charts/chart25.xml"/></Relationships>
</file>

<file path=ppt/slideLayouts/_rels/slideLayout82.xml.rels><?xml version="1.0" encoding="UTF-8" standalone="yes"?>
<Relationships xmlns="http://schemas.openxmlformats.org/package/2006/relationships"><Relationship Id="rId2" Type="http://schemas.openxmlformats.org/officeDocument/2006/relationships/chart" Target="../charts/chart26.xml"/><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3" Type="http://schemas.openxmlformats.org/officeDocument/2006/relationships/chart" Target="../charts/chart28.xml"/><Relationship Id="rId2" Type="http://schemas.openxmlformats.org/officeDocument/2006/relationships/chart" Target="../charts/chart27.xml"/><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5.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9.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3" Type="http://schemas.openxmlformats.org/officeDocument/2006/relationships/chart" Target="../charts/chart34.xml"/><Relationship Id="rId2" Type="http://schemas.openxmlformats.org/officeDocument/2006/relationships/chart" Target="../charts/chart33.xml"/><Relationship Id="rId1" Type="http://schemas.openxmlformats.org/officeDocument/2006/relationships/slideMaster" Target="../slideMasters/slideMaster4.xml"/><Relationship Id="rId4" Type="http://schemas.openxmlformats.org/officeDocument/2006/relationships/chart" Target="../charts/chart35.xml"/></Relationships>
</file>

<file path=ppt/slideLayouts/_rels/slideLayout111.xml.rels><?xml version="1.0" encoding="UTF-8" standalone="yes"?>
<Relationships xmlns="http://schemas.openxmlformats.org/package/2006/relationships"><Relationship Id="rId2" Type="http://schemas.openxmlformats.org/officeDocument/2006/relationships/chart" Target="../charts/chart36.xml"/><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3" Type="http://schemas.openxmlformats.org/officeDocument/2006/relationships/chart" Target="../charts/chart38.xml"/><Relationship Id="rId2" Type="http://schemas.openxmlformats.org/officeDocument/2006/relationships/chart" Target="../charts/chart37.xml"/><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5.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2.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6.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7.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3" Type="http://schemas.openxmlformats.org/officeDocument/2006/relationships/chart" Target="../charts/chart44.xml"/><Relationship Id="rId2" Type="http://schemas.openxmlformats.org/officeDocument/2006/relationships/chart" Target="../charts/chart43.xml"/><Relationship Id="rId1" Type="http://schemas.openxmlformats.org/officeDocument/2006/relationships/slideMaster" Target="../slideMasters/slideMaster5.xml"/><Relationship Id="rId4" Type="http://schemas.openxmlformats.org/officeDocument/2006/relationships/chart" Target="../charts/chart45.xml"/></Relationships>
</file>

<file path=ppt/slideLayouts/_rels/slideLayout139.xml.rels><?xml version="1.0" encoding="UTF-8" standalone="yes"?>
<Relationships xmlns="http://schemas.openxmlformats.org/package/2006/relationships"><Relationship Id="rId2" Type="http://schemas.openxmlformats.org/officeDocument/2006/relationships/chart" Target="../charts/chart46.xml"/><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3" Type="http://schemas.openxmlformats.org/officeDocument/2006/relationships/chart" Target="../charts/chart48.xml"/><Relationship Id="rId2" Type="http://schemas.openxmlformats.org/officeDocument/2006/relationships/chart" Target="../charts/chart47.xml"/><Relationship Id="rId1" Type="http://schemas.openxmlformats.org/officeDocument/2006/relationships/slideMaster" Target="../slideMasters/slideMaster5.xml"/></Relationships>
</file>

<file path=ppt/slideLayouts/_rels/slideLayout141.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Master" Target="../slideMasters/slideMaster5.xml"/></Relationships>
</file>

<file path=ppt/slideLayouts/_rels/slideLayout1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5.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5">
                                            <p:graphicEl>
                                              <a:chart seriesIdx="-3" categoryIdx="-3" bldStep="gridLegend"/>
                                            </p:graphicEl>
                                          </p:spTgt>
                                        </p:tgtEl>
                                        <p:attrNameLst>
                                          <p:attrName>style.visibility</p:attrName>
                                        </p:attrNameLst>
                                      </p:cBhvr>
                                      <p:to>
                                        <p:strVal val="visible"/>
                                      </p:to>
                                    </p:set>
                                    <p:animEffect transition="in" filter="wipe(down)">
                                      <p:cBhvr>
                                        <p:cTn id="7" dur="500"/>
                                        <p:tgtEl>
                                          <p:spTgt spid="5">
                                            <p:graphicEl>
                                              <a:chart seriesIdx="-3" categoryIdx="-3" bldStep="gridLegend"/>
                                            </p:graphicEl>
                                          </p:spTgt>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graphicEl>
                                              <a:chart seriesIdx="-4" categoryIdx="0" bldStep="category"/>
                                            </p:graphicEl>
                                          </p:spTgt>
                                        </p:tgtEl>
                                        <p:attrNameLst>
                                          <p:attrName>style.visibility</p:attrName>
                                        </p:attrNameLst>
                                      </p:cBhvr>
                                      <p:to>
                                        <p:strVal val="visible"/>
                                      </p:to>
                                    </p:set>
                                    <p:animEffect transition="in" filter="wipe(down)">
                                      <p:cBhvr>
                                        <p:cTn id="11" dur="500"/>
                                        <p:tgtEl>
                                          <p:spTgt spid="5">
                                            <p:graphicEl>
                                              <a:chart seriesIdx="-4" categoryIdx="0" bldStep="category"/>
                                            </p:graphicEl>
                                          </p:spTgt>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5">
                                            <p:graphicEl>
                                              <a:chart seriesIdx="-4" categoryIdx="1" bldStep="category"/>
                                            </p:graphicEl>
                                          </p:spTgt>
                                        </p:tgtEl>
                                        <p:attrNameLst>
                                          <p:attrName>style.visibility</p:attrName>
                                        </p:attrNameLst>
                                      </p:cBhvr>
                                      <p:to>
                                        <p:strVal val="visible"/>
                                      </p:to>
                                    </p:set>
                                    <p:animEffect transition="in" filter="wipe(down)">
                                      <p:cBhvr>
                                        <p:cTn id="15" dur="500"/>
                                        <p:tgtEl>
                                          <p:spTgt spid="5">
                                            <p:graphicEl>
                                              <a:chart seriesIdx="-4" categoryIdx="1" bldStep="category"/>
                                            </p:graphicEl>
                                          </p:spTgt>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5">
                                            <p:graphicEl>
                                              <a:chart seriesIdx="-4" categoryIdx="2" bldStep="category"/>
                                            </p:graphicEl>
                                          </p:spTgt>
                                        </p:tgtEl>
                                        <p:attrNameLst>
                                          <p:attrName>style.visibility</p:attrName>
                                        </p:attrNameLst>
                                      </p:cBhvr>
                                      <p:to>
                                        <p:strVal val="visible"/>
                                      </p:to>
                                    </p:set>
                                    <p:animEffect transition="in" filter="wipe(down)">
                                      <p:cBhvr>
                                        <p:cTn id="19" dur="500"/>
                                        <p:tgtEl>
                                          <p:spTgt spid="5">
                                            <p:graphicEl>
                                              <a:chart seriesIdx="-4" categoryIdx="2" bldStep="category"/>
                                            </p:graphicEl>
                                          </p:spTgt>
                                        </p:tgtEl>
                                      </p:cBhvr>
                                    </p:animEffect>
                                  </p:childTnLst>
                                </p:cTn>
                              </p:par>
                            </p:childTnLst>
                          </p:cTn>
                        </p:par>
                        <p:par>
                          <p:cTn id="20" fill="hold">
                            <p:stCondLst>
                              <p:cond delay="2000"/>
                            </p:stCondLst>
                            <p:childTnLst>
                              <p:par>
                                <p:cTn id="21" presetID="22" presetClass="entr" presetSubtype="4" fill="hold" grpId="0" nodeType="afterEffect">
                                  <p:stCondLst>
                                    <p:cond delay="0"/>
                                  </p:stCondLst>
                                  <p:childTnLst>
                                    <p:set>
                                      <p:cBhvr>
                                        <p:cTn id="22" dur="1" fill="hold">
                                          <p:stCondLst>
                                            <p:cond delay="0"/>
                                          </p:stCondLst>
                                        </p:cTn>
                                        <p:tgtEl>
                                          <p:spTgt spid="5">
                                            <p:graphicEl>
                                              <a:chart seriesIdx="-4" categoryIdx="3" bldStep="category"/>
                                            </p:graphicEl>
                                          </p:spTgt>
                                        </p:tgtEl>
                                        <p:attrNameLst>
                                          <p:attrName>style.visibility</p:attrName>
                                        </p:attrNameLst>
                                      </p:cBhvr>
                                      <p:to>
                                        <p:strVal val="visible"/>
                                      </p:to>
                                    </p:set>
                                    <p:animEffect transition="in" filter="wipe(down)">
                                      <p:cBhvr>
                                        <p:cTn id="23" dur="500"/>
                                        <p:tgtEl>
                                          <p:spTgt spid="5">
                                            <p:graphicEl>
                                              <a:chart seriesIdx="-4" categoryIdx="3" bldStep="category"/>
                                            </p:graphicEl>
                                          </p:spTgt>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7">
                                            <p:graphicEl>
                                              <a:chart seriesIdx="-3" categoryIdx="-3" bldStep="gridLegend"/>
                                            </p:graphicEl>
                                          </p:spTgt>
                                        </p:tgtEl>
                                        <p:attrNameLst>
                                          <p:attrName>style.visibility</p:attrName>
                                        </p:attrNameLst>
                                      </p:cBhvr>
                                      <p:to>
                                        <p:strVal val="visible"/>
                                      </p:to>
                                    </p:set>
                                    <p:animEffect transition="in" filter="wipe(down)">
                                      <p:cBhvr>
                                        <p:cTn id="27" dur="500"/>
                                        <p:tgtEl>
                                          <p:spTgt spid="7">
                                            <p:graphicEl>
                                              <a:chart seriesIdx="-3" categoryIdx="-3" bldStep="gridLegend"/>
                                            </p:graphicEl>
                                          </p:spTgt>
                                        </p:tgtEl>
                                      </p:cBhvr>
                                    </p:animEffect>
                                  </p:childTnLst>
                                </p:cTn>
                              </p:par>
                            </p:childTnLst>
                          </p:cTn>
                        </p:par>
                        <p:par>
                          <p:cTn id="28" fill="hold">
                            <p:stCondLst>
                              <p:cond delay="3000"/>
                            </p:stCondLst>
                            <p:childTnLst>
                              <p:par>
                                <p:cTn id="29" presetID="22" presetClass="entr" presetSubtype="4" fill="hold" grpId="0" nodeType="afterEffect">
                                  <p:stCondLst>
                                    <p:cond delay="0"/>
                                  </p:stCondLst>
                                  <p:childTnLst>
                                    <p:set>
                                      <p:cBhvr>
                                        <p:cTn id="30" dur="1" fill="hold">
                                          <p:stCondLst>
                                            <p:cond delay="0"/>
                                          </p:stCondLst>
                                        </p:cTn>
                                        <p:tgtEl>
                                          <p:spTgt spid="7">
                                            <p:graphicEl>
                                              <a:chart seriesIdx="-4" categoryIdx="0" bldStep="category"/>
                                            </p:graphicEl>
                                          </p:spTgt>
                                        </p:tgtEl>
                                        <p:attrNameLst>
                                          <p:attrName>style.visibility</p:attrName>
                                        </p:attrNameLst>
                                      </p:cBhvr>
                                      <p:to>
                                        <p:strVal val="visible"/>
                                      </p:to>
                                    </p:set>
                                    <p:animEffect transition="in" filter="wipe(down)">
                                      <p:cBhvr>
                                        <p:cTn id="31" dur="500"/>
                                        <p:tgtEl>
                                          <p:spTgt spid="7">
                                            <p:graphicEl>
                                              <a:chart seriesIdx="-4" categoryIdx="0" bldStep="category"/>
                                            </p:graphicEl>
                                          </p:spTgt>
                                        </p:tgtEl>
                                      </p:cBhvr>
                                    </p:animEffect>
                                  </p:childTnLst>
                                </p:cTn>
                              </p:par>
                            </p:childTnLst>
                          </p:cTn>
                        </p:par>
                        <p:par>
                          <p:cTn id="32" fill="hold">
                            <p:stCondLst>
                              <p:cond delay="3500"/>
                            </p:stCondLst>
                            <p:childTnLst>
                              <p:par>
                                <p:cTn id="33" presetID="22" presetClass="entr" presetSubtype="4" fill="hold" grpId="0" nodeType="afterEffect">
                                  <p:stCondLst>
                                    <p:cond delay="0"/>
                                  </p:stCondLst>
                                  <p:childTnLst>
                                    <p:set>
                                      <p:cBhvr>
                                        <p:cTn id="34" dur="1" fill="hold">
                                          <p:stCondLst>
                                            <p:cond delay="0"/>
                                          </p:stCondLst>
                                        </p:cTn>
                                        <p:tgtEl>
                                          <p:spTgt spid="7">
                                            <p:graphicEl>
                                              <a:chart seriesIdx="-4" categoryIdx="1" bldStep="category"/>
                                            </p:graphicEl>
                                          </p:spTgt>
                                        </p:tgtEl>
                                        <p:attrNameLst>
                                          <p:attrName>style.visibility</p:attrName>
                                        </p:attrNameLst>
                                      </p:cBhvr>
                                      <p:to>
                                        <p:strVal val="visible"/>
                                      </p:to>
                                    </p:set>
                                    <p:animEffect transition="in" filter="wipe(down)">
                                      <p:cBhvr>
                                        <p:cTn id="35" dur="500"/>
                                        <p:tgtEl>
                                          <p:spTgt spid="7">
                                            <p:graphicEl>
                                              <a:chart seriesIdx="-4" categoryIdx="1" bldStep="category"/>
                                            </p:graphicEl>
                                          </p:spTgt>
                                        </p:tgtEl>
                                      </p:cBhvr>
                                    </p:animEffect>
                                  </p:childTnLst>
                                </p:cTn>
                              </p:par>
                            </p:childTnLst>
                          </p:cTn>
                        </p:par>
                        <p:par>
                          <p:cTn id="36" fill="hold">
                            <p:stCondLst>
                              <p:cond delay="4000"/>
                            </p:stCondLst>
                            <p:childTnLst>
                              <p:par>
                                <p:cTn id="37" presetID="22" presetClass="entr" presetSubtype="4" fill="hold" grpId="0" nodeType="afterEffect">
                                  <p:stCondLst>
                                    <p:cond delay="0"/>
                                  </p:stCondLst>
                                  <p:childTnLst>
                                    <p:set>
                                      <p:cBhvr>
                                        <p:cTn id="38" dur="1" fill="hold">
                                          <p:stCondLst>
                                            <p:cond delay="0"/>
                                          </p:stCondLst>
                                        </p:cTn>
                                        <p:tgtEl>
                                          <p:spTgt spid="7">
                                            <p:graphicEl>
                                              <a:chart seriesIdx="-4" categoryIdx="2" bldStep="category"/>
                                            </p:graphicEl>
                                          </p:spTgt>
                                        </p:tgtEl>
                                        <p:attrNameLst>
                                          <p:attrName>style.visibility</p:attrName>
                                        </p:attrNameLst>
                                      </p:cBhvr>
                                      <p:to>
                                        <p:strVal val="visible"/>
                                      </p:to>
                                    </p:set>
                                    <p:animEffect transition="in" filter="wipe(down)">
                                      <p:cBhvr>
                                        <p:cTn id="39" dur="500"/>
                                        <p:tgtEl>
                                          <p:spTgt spid="7">
                                            <p:graphicEl>
                                              <a:chart seriesIdx="-4" categoryIdx="2" bldStep="category"/>
                                            </p:graphicEl>
                                          </p:spTgt>
                                        </p:tgtEl>
                                      </p:cBhvr>
                                    </p:animEffect>
                                  </p:childTnLst>
                                </p:cTn>
                              </p:par>
                            </p:childTnLst>
                          </p:cTn>
                        </p:par>
                        <p:par>
                          <p:cTn id="40" fill="hold">
                            <p:stCondLst>
                              <p:cond delay="4500"/>
                            </p:stCondLst>
                            <p:childTnLst>
                              <p:par>
                                <p:cTn id="41" presetID="22" presetClass="entr" presetSubtype="4" fill="hold" grpId="0" nodeType="afterEffect">
                                  <p:stCondLst>
                                    <p:cond delay="0"/>
                                  </p:stCondLst>
                                  <p:childTnLst>
                                    <p:set>
                                      <p:cBhvr>
                                        <p:cTn id="42" dur="1" fill="hold">
                                          <p:stCondLst>
                                            <p:cond delay="0"/>
                                          </p:stCondLst>
                                        </p:cTn>
                                        <p:tgtEl>
                                          <p:spTgt spid="7">
                                            <p:graphicEl>
                                              <a:chart seriesIdx="-4" categoryIdx="3" bldStep="category"/>
                                            </p:graphicEl>
                                          </p:spTgt>
                                        </p:tgtEl>
                                        <p:attrNameLst>
                                          <p:attrName>style.visibility</p:attrName>
                                        </p:attrNameLst>
                                      </p:cBhvr>
                                      <p:to>
                                        <p:strVal val="visible"/>
                                      </p:to>
                                    </p:set>
                                    <p:animEffect transition="in" filter="wipe(down)">
                                      <p:cBhvr>
                                        <p:cTn id="43" dur="500"/>
                                        <p:tgtEl>
                                          <p:spTgt spid="7">
                                            <p:graphicEl>
                                              <a:chart seriesIdx="-4" categoryIdx="3" bldStep="category"/>
                                            </p:graphicEl>
                                          </p:spTgt>
                                        </p:tgtEl>
                                      </p:cBhvr>
                                    </p:animEffect>
                                  </p:childTnLst>
                                </p:cTn>
                              </p:par>
                            </p:childTnLst>
                          </p:cTn>
                        </p:par>
                        <p:par>
                          <p:cTn id="44" fill="hold">
                            <p:stCondLst>
                              <p:cond delay="5000"/>
                            </p:stCondLst>
                            <p:childTnLst>
                              <p:par>
                                <p:cTn id="45" presetID="22" presetClass="entr" presetSubtype="4" fill="hold" grpId="0" nodeType="afterEffect">
                                  <p:stCondLst>
                                    <p:cond delay="0"/>
                                  </p:stCondLst>
                                  <p:childTnLst>
                                    <p:set>
                                      <p:cBhvr>
                                        <p:cTn id="46" dur="1" fill="hold">
                                          <p:stCondLst>
                                            <p:cond delay="0"/>
                                          </p:stCondLst>
                                        </p:cTn>
                                        <p:tgtEl>
                                          <p:spTgt spid="8">
                                            <p:graphicEl>
                                              <a:chart seriesIdx="-3" categoryIdx="-3" bldStep="gridLegend"/>
                                            </p:graphicEl>
                                          </p:spTgt>
                                        </p:tgtEl>
                                        <p:attrNameLst>
                                          <p:attrName>style.visibility</p:attrName>
                                        </p:attrNameLst>
                                      </p:cBhvr>
                                      <p:to>
                                        <p:strVal val="visible"/>
                                      </p:to>
                                    </p:set>
                                    <p:animEffect transition="in" filter="wipe(down)">
                                      <p:cBhvr>
                                        <p:cTn id="47" dur="500"/>
                                        <p:tgtEl>
                                          <p:spTgt spid="8">
                                            <p:graphicEl>
                                              <a:chart seriesIdx="-3" categoryIdx="-3" bldStep="gridLegend"/>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4" fill="hold" grpId="0" nodeType="clickEffect">
                                  <p:stCondLst>
                                    <p:cond delay="0"/>
                                  </p:stCondLst>
                                  <p:childTnLst>
                                    <p:set>
                                      <p:cBhvr>
                                        <p:cTn id="51" dur="1" fill="hold">
                                          <p:stCondLst>
                                            <p:cond delay="0"/>
                                          </p:stCondLst>
                                        </p:cTn>
                                        <p:tgtEl>
                                          <p:spTgt spid="8">
                                            <p:graphicEl>
                                              <a:chart seriesIdx="-4" categoryIdx="0" bldStep="category"/>
                                            </p:graphicEl>
                                          </p:spTgt>
                                        </p:tgtEl>
                                        <p:attrNameLst>
                                          <p:attrName>style.visibility</p:attrName>
                                        </p:attrNameLst>
                                      </p:cBhvr>
                                      <p:to>
                                        <p:strVal val="visible"/>
                                      </p:to>
                                    </p:set>
                                    <p:animEffect transition="in" filter="wipe(down)">
                                      <p:cBhvr>
                                        <p:cTn id="52" dur="500"/>
                                        <p:tgtEl>
                                          <p:spTgt spid="8">
                                            <p:graphicEl>
                                              <a:chart seriesIdx="-4" categoryIdx="0" bldStep="category"/>
                                            </p:graphic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4" fill="hold" grpId="0" nodeType="clickEffect">
                                  <p:stCondLst>
                                    <p:cond delay="0"/>
                                  </p:stCondLst>
                                  <p:childTnLst>
                                    <p:set>
                                      <p:cBhvr>
                                        <p:cTn id="56" dur="1" fill="hold">
                                          <p:stCondLst>
                                            <p:cond delay="0"/>
                                          </p:stCondLst>
                                        </p:cTn>
                                        <p:tgtEl>
                                          <p:spTgt spid="8">
                                            <p:graphicEl>
                                              <a:chart seriesIdx="-4" categoryIdx="1" bldStep="category"/>
                                            </p:graphicEl>
                                          </p:spTgt>
                                        </p:tgtEl>
                                        <p:attrNameLst>
                                          <p:attrName>style.visibility</p:attrName>
                                        </p:attrNameLst>
                                      </p:cBhvr>
                                      <p:to>
                                        <p:strVal val="visible"/>
                                      </p:to>
                                    </p:set>
                                    <p:animEffect transition="in" filter="wipe(down)">
                                      <p:cBhvr>
                                        <p:cTn id="57" dur="500"/>
                                        <p:tgtEl>
                                          <p:spTgt spid="8">
                                            <p:graphicEl>
                                              <a:chart seriesIdx="-4" categoryIdx="1" bldStep="category"/>
                                            </p:graphic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4" fill="hold" grpId="0" nodeType="clickEffect">
                                  <p:stCondLst>
                                    <p:cond delay="0"/>
                                  </p:stCondLst>
                                  <p:childTnLst>
                                    <p:set>
                                      <p:cBhvr>
                                        <p:cTn id="61" dur="1" fill="hold">
                                          <p:stCondLst>
                                            <p:cond delay="0"/>
                                          </p:stCondLst>
                                        </p:cTn>
                                        <p:tgtEl>
                                          <p:spTgt spid="8">
                                            <p:graphicEl>
                                              <a:chart seriesIdx="-4" categoryIdx="2" bldStep="category"/>
                                            </p:graphicEl>
                                          </p:spTgt>
                                        </p:tgtEl>
                                        <p:attrNameLst>
                                          <p:attrName>style.visibility</p:attrName>
                                        </p:attrNameLst>
                                      </p:cBhvr>
                                      <p:to>
                                        <p:strVal val="visible"/>
                                      </p:to>
                                    </p:set>
                                    <p:animEffect transition="in" filter="wipe(down)">
                                      <p:cBhvr>
                                        <p:cTn id="62" dur="500"/>
                                        <p:tgtEl>
                                          <p:spTgt spid="8">
                                            <p:graphicEl>
                                              <a:chart seriesIdx="-4" categoryIdx="2" bldStep="category"/>
                                            </p:graphic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4" fill="hold" grpId="0" nodeType="clickEffect">
                                  <p:stCondLst>
                                    <p:cond delay="0"/>
                                  </p:stCondLst>
                                  <p:childTnLst>
                                    <p:set>
                                      <p:cBhvr>
                                        <p:cTn id="66" dur="1" fill="hold">
                                          <p:stCondLst>
                                            <p:cond delay="0"/>
                                          </p:stCondLst>
                                        </p:cTn>
                                        <p:tgtEl>
                                          <p:spTgt spid="8">
                                            <p:graphicEl>
                                              <a:chart seriesIdx="-4" categoryIdx="3" bldStep="category"/>
                                            </p:graphicEl>
                                          </p:spTgt>
                                        </p:tgtEl>
                                        <p:attrNameLst>
                                          <p:attrName>style.visibility</p:attrName>
                                        </p:attrNameLst>
                                      </p:cBhvr>
                                      <p:to>
                                        <p:strVal val="visible"/>
                                      </p:to>
                                    </p:set>
                                    <p:animEffect transition="in" filter="wipe(down)">
                                      <p:cBhvr>
                                        <p:cTn id="67" dur="500"/>
                                        <p:tgtEl>
                                          <p:spTgt spid="8">
                                            <p:graphicEl>
                                              <a:chart seriesIdx="-4" categoryIdx="3" bldStep="category"/>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Chart bld="category"/>
        </p:bldSub>
      </p:bldGraphic>
      <p:bldGraphic spid="7" grpId="0">
        <p:bldSub>
          <a:bldChart bld="category"/>
        </p:bldSub>
      </p:bldGraphic>
      <p:bldGraphic spid="8" grpId="0">
        <p:bldSub>
          <a:bldChart bld="category"/>
        </p:bldSub>
      </p:bldGraphic>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pic>
        <p:nvPicPr>
          <p:cNvPr id="2" name="图形 1">
            <a:extLst>
              <a:ext uri="{FF2B5EF4-FFF2-40B4-BE49-F238E27FC236}">
                <a16:creationId xmlns:a16="http://schemas.microsoft.com/office/drawing/2014/main" id="{1639C0C3-8009-FF59-E0F4-46CB7E9AAC3E}"/>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323420" y="4047801"/>
            <a:ext cx="5783523" cy="278054"/>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5.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4.sv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41.xml"/><Relationship Id="rId18" Type="http://schemas.openxmlformats.org/officeDocument/2006/relationships/slideLayout" Target="../slideLayouts/slideLayout46.xml"/><Relationship Id="rId26" Type="http://schemas.openxmlformats.org/officeDocument/2006/relationships/slideLayout" Target="../slideLayouts/slideLayout54.xml"/><Relationship Id="rId3" Type="http://schemas.openxmlformats.org/officeDocument/2006/relationships/slideLayout" Target="../slideLayouts/slideLayout31.xml"/><Relationship Id="rId21" Type="http://schemas.openxmlformats.org/officeDocument/2006/relationships/slideLayout" Target="../slideLayouts/slideLayout49.xml"/><Relationship Id="rId34" Type="http://schemas.openxmlformats.org/officeDocument/2006/relationships/image" Target="../media/image4.svg"/><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slideLayout" Target="../slideLayouts/slideLayout45.xml"/><Relationship Id="rId25" Type="http://schemas.openxmlformats.org/officeDocument/2006/relationships/slideLayout" Target="../slideLayouts/slideLayout53.xml"/><Relationship Id="rId33" Type="http://schemas.openxmlformats.org/officeDocument/2006/relationships/image" Target="../media/image3.png"/><Relationship Id="rId2" Type="http://schemas.openxmlformats.org/officeDocument/2006/relationships/slideLayout" Target="../slideLayouts/slideLayout30.xml"/><Relationship Id="rId16" Type="http://schemas.openxmlformats.org/officeDocument/2006/relationships/slideLayout" Target="../slideLayouts/slideLayout44.xml"/><Relationship Id="rId20" Type="http://schemas.openxmlformats.org/officeDocument/2006/relationships/slideLayout" Target="../slideLayouts/slideLayout48.xml"/><Relationship Id="rId29" Type="http://schemas.openxmlformats.org/officeDocument/2006/relationships/slideLayout" Target="../slideLayouts/slideLayout57.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24" Type="http://schemas.openxmlformats.org/officeDocument/2006/relationships/slideLayout" Target="../slideLayouts/slideLayout52.xml"/><Relationship Id="rId32" Type="http://schemas.openxmlformats.org/officeDocument/2006/relationships/image" Target="../media/image2.png"/><Relationship Id="rId5" Type="http://schemas.openxmlformats.org/officeDocument/2006/relationships/slideLayout" Target="../slideLayouts/slideLayout33.xml"/><Relationship Id="rId15" Type="http://schemas.openxmlformats.org/officeDocument/2006/relationships/slideLayout" Target="../slideLayouts/slideLayout43.xml"/><Relationship Id="rId23" Type="http://schemas.openxmlformats.org/officeDocument/2006/relationships/slideLayout" Target="../slideLayouts/slideLayout51.xml"/><Relationship Id="rId28" Type="http://schemas.openxmlformats.org/officeDocument/2006/relationships/slideLayout" Target="../slideLayouts/slideLayout56.xml"/><Relationship Id="rId36" Type="http://schemas.openxmlformats.org/officeDocument/2006/relationships/image" Target="../media/image6.svg"/><Relationship Id="rId10" Type="http://schemas.openxmlformats.org/officeDocument/2006/relationships/slideLayout" Target="../slideLayouts/slideLayout38.xml"/><Relationship Id="rId19" Type="http://schemas.openxmlformats.org/officeDocument/2006/relationships/slideLayout" Target="../slideLayouts/slideLayout47.xml"/><Relationship Id="rId31" Type="http://schemas.openxmlformats.org/officeDocument/2006/relationships/image" Target="../media/image1.png"/><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 Id="rId22" Type="http://schemas.openxmlformats.org/officeDocument/2006/relationships/slideLayout" Target="../slideLayouts/slideLayout50.xml"/><Relationship Id="rId27" Type="http://schemas.openxmlformats.org/officeDocument/2006/relationships/slideLayout" Target="../slideLayouts/slideLayout55.xml"/><Relationship Id="rId30" Type="http://schemas.openxmlformats.org/officeDocument/2006/relationships/theme" Target="../theme/theme2.xml"/><Relationship Id="rId35" Type="http://schemas.openxmlformats.org/officeDocument/2006/relationships/image" Target="../media/image5.png"/><Relationship Id="rId8" Type="http://schemas.openxmlformats.org/officeDocument/2006/relationships/slideLayout" Target="../slideLayouts/slideLayout36.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70.xml"/><Relationship Id="rId18" Type="http://schemas.openxmlformats.org/officeDocument/2006/relationships/slideLayout" Target="../slideLayouts/slideLayout75.xml"/><Relationship Id="rId26" Type="http://schemas.openxmlformats.org/officeDocument/2006/relationships/slideLayout" Target="../slideLayouts/slideLayout83.xml"/><Relationship Id="rId3" Type="http://schemas.openxmlformats.org/officeDocument/2006/relationships/slideLayout" Target="../slideLayouts/slideLayout60.xml"/><Relationship Id="rId21" Type="http://schemas.openxmlformats.org/officeDocument/2006/relationships/slideLayout" Target="../slideLayouts/slideLayout78.xml"/><Relationship Id="rId34" Type="http://schemas.openxmlformats.org/officeDocument/2006/relationships/image" Target="../media/image4.svg"/><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5" Type="http://schemas.openxmlformats.org/officeDocument/2006/relationships/slideLayout" Target="../slideLayouts/slideLayout82.xml"/><Relationship Id="rId33" Type="http://schemas.openxmlformats.org/officeDocument/2006/relationships/image" Target="../media/image3.png"/><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slideLayout" Target="../slideLayouts/slideLayout77.xml"/><Relationship Id="rId29" Type="http://schemas.openxmlformats.org/officeDocument/2006/relationships/slideLayout" Target="../slideLayouts/slideLayout86.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24" Type="http://schemas.openxmlformats.org/officeDocument/2006/relationships/slideLayout" Target="../slideLayouts/slideLayout81.xml"/><Relationship Id="rId32" Type="http://schemas.openxmlformats.org/officeDocument/2006/relationships/image" Target="../media/image2.png"/><Relationship Id="rId5" Type="http://schemas.openxmlformats.org/officeDocument/2006/relationships/slideLayout" Target="../slideLayouts/slideLayout62.xml"/><Relationship Id="rId15" Type="http://schemas.openxmlformats.org/officeDocument/2006/relationships/slideLayout" Target="../slideLayouts/slideLayout72.xml"/><Relationship Id="rId23" Type="http://schemas.openxmlformats.org/officeDocument/2006/relationships/slideLayout" Target="../slideLayouts/slideLayout80.xml"/><Relationship Id="rId28" Type="http://schemas.openxmlformats.org/officeDocument/2006/relationships/slideLayout" Target="../slideLayouts/slideLayout85.xml"/><Relationship Id="rId36" Type="http://schemas.openxmlformats.org/officeDocument/2006/relationships/image" Target="../media/image6.svg"/><Relationship Id="rId10" Type="http://schemas.openxmlformats.org/officeDocument/2006/relationships/slideLayout" Target="../slideLayouts/slideLayout67.xml"/><Relationship Id="rId19" Type="http://schemas.openxmlformats.org/officeDocument/2006/relationships/slideLayout" Target="../slideLayouts/slideLayout76.xml"/><Relationship Id="rId31" Type="http://schemas.openxmlformats.org/officeDocument/2006/relationships/image" Target="../media/image1.png"/><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 Id="rId22" Type="http://schemas.openxmlformats.org/officeDocument/2006/relationships/slideLayout" Target="../slideLayouts/slideLayout79.xml"/><Relationship Id="rId27" Type="http://schemas.openxmlformats.org/officeDocument/2006/relationships/slideLayout" Target="../slideLayouts/slideLayout84.xml"/><Relationship Id="rId30" Type="http://schemas.openxmlformats.org/officeDocument/2006/relationships/theme" Target="../theme/theme3.xml"/><Relationship Id="rId35" Type="http://schemas.openxmlformats.org/officeDocument/2006/relationships/image" Target="../media/image5.png"/><Relationship Id="rId8" Type="http://schemas.openxmlformats.org/officeDocument/2006/relationships/slideLayout" Target="../slideLayouts/slideLayout65.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99.xml"/><Relationship Id="rId18" Type="http://schemas.openxmlformats.org/officeDocument/2006/relationships/slideLayout" Target="../slideLayouts/slideLayout104.xml"/><Relationship Id="rId26" Type="http://schemas.openxmlformats.org/officeDocument/2006/relationships/slideLayout" Target="../slideLayouts/slideLayout112.xml"/><Relationship Id="rId3" Type="http://schemas.openxmlformats.org/officeDocument/2006/relationships/slideLayout" Target="../slideLayouts/slideLayout89.xml"/><Relationship Id="rId21" Type="http://schemas.openxmlformats.org/officeDocument/2006/relationships/slideLayout" Target="../slideLayouts/slideLayout107.xml"/><Relationship Id="rId34" Type="http://schemas.openxmlformats.org/officeDocument/2006/relationships/image" Target="../media/image4.svg"/><Relationship Id="rId7" Type="http://schemas.openxmlformats.org/officeDocument/2006/relationships/slideLayout" Target="../slideLayouts/slideLayout93.xml"/><Relationship Id="rId12" Type="http://schemas.openxmlformats.org/officeDocument/2006/relationships/slideLayout" Target="../slideLayouts/slideLayout98.xml"/><Relationship Id="rId17" Type="http://schemas.openxmlformats.org/officeDocument/2006/relationships/slideLayout" Target="../slideLayouts/slideLayout103.xml"/><Relationship Id="rId25" Type="http://schemas.openxmlformats.org/officeDocument/2006/relationships/slideLayout" Target="../slideLayouts/slideLayout111.xml"/><Relationship Id="rId33" Type="http://schemas.openxmlformats.org/officeDocument/2006/relationships/image" Target="../media/image3.png"/><Relationship Id="rId2" Type="http://schemas.openxmlformats.org/officeDocument/2006/relationships/slideLayout" Target="../slideLayouts/slideLayout88.xml"/><Relationship Id="rId16" Type="http://schemas.openxmlformats.org/officeDocument/2006/relationships/slideLayout" Target="../slideLayouts/slideLayout102.xml"/><Relationship Id="rId20" Type="http://schemas.openxmlformats.org/officeDocument/2006/relationships/slideLayout" Target="../slideLayouts/slideLayout106.xml"/><Relationship Id="rId29" Type="http://schemas.openxmlformats.org/officeDocument/2006/relationships/slideLayout" Target="../slideLayouts/slideLayout115.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24" Type="http://schemas.openxmlformats.org/officeDocument/2006/relationships/slideLayout" Target="../slideLayouts/slideLayout110.xml"/><Relationship Id="rId32" Type="http://schemas.openxmlformats.org/officeDocument/2006/relationships/image" Target="../media/image2.png"/><Relationship Id="rId5" Type="http://schemas.openxmlformats.org/officeDocument/2006/relationships/slideLayout" Target="../slideLayouts/slideLayout91.xml"/><Relationship Id="rId15" Type="http://schemas.openxmlformats.org/officeDocument/2006/relationships/slideLayout" Target="../slideLayouts/slideLayout101.xml"/><Relationship Id="rId23" Type="http://schemas.openxmlformats.org/officeDocument/2006/relationships/slideLayout" Target="../slideLayouts/slideLayout109.xml"/><Relationship Id="rId28" Type="http://schemas.openxmlformats.org/officeDocument/2006/relationships/slideLayout" Target="../slideLayouts/slideLayout114.xml"/><Relationship Id="rId36" Type="http://schemas.openxmlformats.org/officeDocument/2006/relationships/image" Target="../media/image6.svg"/><Relationship Id="rId10" Type="http://schemas.openxmlformats.org/officeDocument/2006/relationships/slideLayout" Target="../slideLayouts/slideLayout96.xml"/><Relationship Id="rId19" Type="http://schemas.openxmlformats.org/officeDocument/2006/relationships/slideLayout" Target="../slideLayouts/slideLayout105.xml"/><Relationship Id="rId31" Type="http://schemas.openxmlformats.org/officeDocument/2006/relationships/image" Target="../media/image1.png"/><Relationship Id="rId4" Type="http://schemas.openxmlformats.org/officeDocument/2006/relationships/slideLayout" Target="../slideLayouts/slideLayout90.xml"/><Relationship Id="rId9" Type="http://schemas.openxmlformats.org/officeDocument/2006/relationships/slideLayout" Target="../slideLayouts/slideLayout95.xml"/><Relationship Id="rId14" Type="http://schemas.openxmlformats.org/officeDocument/2006/relationships/slideLayout" Target="../slideLayouts/slideLayout100.xml"/><Relationship Id="rId22" Type="http://schemas.openxmlformats.org/officeDocument/2006/relationships/slideLayout" Target="../slideLayouts/slideLayout108.xml"/><Relationship Id="rId27" Type="http://schemas.openxmlformats.org/officeDocument/2006/relationships/slideLayout" Target="../slideLayouts/slideLayout113.xml"/><Relationship Id="rId30" Type="http://schemas.openxmlformats.org/officeDocument/2006/relationships/theme" Target="../theme/theme4.xml"/><Relationship Id="rId35" Type="http://schemas.openxmlformats.org/officeDocument/2006/relationships/image" Target="../media/image5.png"/><Relationship Id="rId8" Type="http://schemas.openxmlformats.org/officeDocument/2006/relationships/slideLayout" Target="../slideLayouts/slideLayout94.xml"/></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128.xml"/><Relationship Id="rId18" Type="http://schemas.openxmlformats.org/officeDocument/2006/relationships/slideLayout" Target="../slideLayouts/slideLayout133.xml"/><Relationship Id="rId26" Type="http://schemas.openxmlformats.org/officeDocument/2006/relationships/slideLayout" Target="../slideLayouts/slideLayout141.xml"/><Relationship Id="rId3" Type="http://schemas.openxmlformats.org/officeDocument/2006/relationships/slideLayout" Target="../slideLayouts/slideLayout118.xml"/><Relationship Id="rId21" Type="http://schemas.openxmlformats.org/officeDocument/2006/relationships/slideLayout" Target="../slideLayouts/slideLayout136.xml"/><Relationship Id="rId34" Type="http://schemas.openxmlformats.org/officeDocument/2006/relationships/image" Target="../media/image5.png"/><Relationship Id="rId7" Type="http://schemas.openxmlformats.org/officeDocument/2006/relationships/slideLayout" Target="../slideLayouts/slideLayout122.xml"/><Relationship Id="rId12" Type="http://schemas.openxmlformats.org/officeDocument/2006/relationships/slideLayout" Target="../slideLayouts/slideLayout127.xml"/><Relationship Id="rId17" Type="http://schemas.openxmlformats.org/officeDocument/2006/relationships/slideLayout" Target="../slideLayouts/slideLayout132.xml"/><Relationship Id="rId25" Type="http://schemas.openxmlformats.org/officeDocument/2006/relationships/slideLayout" Target="../slideLayouts/slideLayout140.xml"/><Relationship Id="rId33" Type="http://schemas.openxmlformats.org/officeDocument/2006/relationships/image" Target="../media/image4.svg"/><Relationship Id="rId2" Type="http://schemas.openxmlformats.org/officeDocument/2006/relationships/slideLayout" Target="../slideLayouts/slideLayout117.xml"/><Relationship Id="rId16" Type="http://schemas.openxmlformats.org/officeDocument/2006/relationships/slideLayout" Target="../slideLayouts/slideLayout131.xml"/><Relationship Id="rId20" Type="http://schemas.openxmlformats.org/officeDocument/2006/relationships/slideLayout" Target="../slideLayouts/slideLayout135.xml"/><Relationship Id="rId29" Type="http://schemas.openxmlformats.org/officeDocument/2006/relationships/theme" Target="../theme/theme5.xml"/><Relationship Id="rId1" Type="http://schemas.openxmlformats.org/officeDocument/2006/relationships/slideLayout" Target="../slideLayouts/slideLayout116.xml"/><Relationship Id="rId6" Type="http://schemas.openxmlformats.org/officeDocument/2006/relationships/slideLayout" Target="../slideLayouts/slideLayout121.xml"/><Relationship Id="rId11" Type="http://schemas.openxmlformats.org/officeDocument/2006/relationships/slideLayout" Target="../slideLayouts/slideLayout126.xml"/><Relationship Id="rId24" Type="http://schemas.openxmlformats.org/officeDocument/2006/relationships/slideLayout" Target="../slideLayouts/slideLayout139.xml"/><Relationship Id="rId32" Type="http://schemas.openxmlformats.org/officeDocument/2006/relationships/image" Target="../media/image3.png"/><Relationship Id="rId5" Type="http://schemas.openxmlformats.org/officeDocument/2006/relationships/slideLayout" Target="../slideLayouts/slideLayout120.xml"/><Relationship Id="rId15" Type="http://schemas.openxmlformats.org/officeDocument/2006/relationships/slideLayout" Target="../slideLayouts/slideLayout130.xml"/><Relationship Id="rId23" Type="http://schemas.openxmlformats.org/officeDocument/2006/relationships/slideLayout" Target="../slideLayouts/slideLayout138.xml"/><Relationship Id="rId28" Type="http://schemas.openxmlformats.org/officeDocument/2006/relationships/slideLayout" Target="../slideLayouts/slideLayout143.xml"/><Relationship Id="rId10" Type="http://schemas.openxmlformats.org/officeDocument/2006/relationships/slideLayout" Target="../slideLayouts/slideLayout125.xml"/><Relationship Id="rId19" Type="http://schemas.openxmlformats.org/officeDocument/2006/relationships/slideLayout" Target="../slideLayouts/slideLayout134.xml"/><Relationship Id="rId31" Type="http://schemas.openxmlformats.org/officeDocument/2006/relationships/image" Target="../media/image2.png"/><Relationship Id="rId4" Type="http://schemas.openxmlformats.org/officeDocument/2006/relationships/slideLayout" Target="../slideLayouts/slideLayout119.xml"/><Relationship Id="rId9" Type="http://schemas.openxmlformats.org/officeDocument/2006/relationships/slideLayout" Target="../slideLayouts/slideLayout124.xml"/><Relationship Id="rId14" Type="http://schemas.openxmlformats.org/officeDocument/2006/relationships/slideLayout" Target="../slideLayouts/slideLayout129.xml"/><Relationship Id="rId22" Type="http://schemas.openxmlformats.org/officeDocument/2006/relationships/slideLayout" Target="../slideLayouts/slideLayout137.xml"/><Relationship Id="rId27" Type="http://schemas.openxmlformats.org/officeDocument/2006/relationships/slideLayout" Target="../slideLayouts/slideLayout142.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1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1EE5598D-4247-D88A-4EF7-CF7C3F783AE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3D25BD65-FCEC-4006-81F1-BAD1E21B8222}"/>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646D1913-F208-4140-D71C-180ACB4EBF5F}"/>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D10211D1-423D-CBD7-1BD8-B9EB8B51D98D}"/>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 id="2147483756" r:id="rId18"/>
    <p:sldLayoutId id="2147483757" r:id="rId19"/>
    <p:sldLayoutId id="2147483758" r:id="rId20"/>
    <p:sldLayoutId id="2147483759" r:id="rId21"/>
    <p:sldLayoutId id="2147483760" r:id="rId22"/>
    <p:sldLayoutId id="2147483761" r:id="rId23"/>
    <p:sldLayoutId id="2147483762" r:id="rId24"/>
    <p:sldLayoutId id="2147483763" r:id="rId25"/>
    <p:sldLayoutId id="2147483764" r:id="rId26"/>
    <p:sldLayoutId id="2147483765" r:id="rId27"/>
    <p:sldLayoutId id="2147483766" r:id="rId28"/>
    <p:sldLayoutId id="214748376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E9E1C71C-7FE8-FA39-610C-A63F5CE3989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69"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 id="2147483782" r:id="rId13"/>
    <p:sldLayoutId id="2147483783" r:id="rId14"/>
    <p:sldLayoutId id="2147483784" r:id="rId15"/>
    <p:sldLayoutId id="2147483785" r:id="rId16"/>
    <p:sldLayoutId id="2147483786" r:id="rId17"/>
    <p:sldLayoutId id="2147483787" r:id="rId18"/>
    <p:sldLayoutId id="2147483788" r:id="rId19"/>
    <p:sldLayoutId id="2147483789" r:id="rId20"/>
    <p:sldLayoutId id="2147483790" r:id="rId21"/>
    <p:sldLayoutId id="2147483791" r:id="rId22"/>
    <p:sldLayoutId id="2147483792" r:id="rId23"/>
    <p:sldLayoutId id="2147483793" r:id="rId24"/>
    <p:sldLayoutId id="2147483794" r:id="rId25"/>
    <p:sldLayoutId id="2147483795" r:id="rId26"/>
    <p:sldLayoutId id="2147483796" r:id="rId27"/>
    <p:sldLayoutId id="214748379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0.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0.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0.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60.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6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7.xml"/></Relationships>
</file>

<file path=ppt/slides/_rels/slide31.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6"/>
          </p:nvPr>
        </p:nvSpPr>
        <p:spPr>
          <a:xfrm>
            <a:off x="3386408" y="2737367"/>
            <a:ext cx="5419184" cy="691633"/>
          </a:xfrm>
        </p:spPr>
        <p:txBody>
          <a:bodyPr vert="horz" lIns="91440" tIns="45720" rIns="91440" bIns="45720" rtlCol="0" anchor="ctr">
            <a:noAutofit/>
          </a:bodyPr>
          <a:lstStyle/>
          <a:p>
            <a:pPr algn="ctr" defTabSz="914400">
              <a:lnSpc>
                <a:spcPct val="90000"/>
              </a:lnSpc>
              <a:spcBef>
                <a:spcPct val="0"/>
              </a:spcBef>
            </a:pPr>
            <a:r>
              <a:rPr lang="zh-CN" altLang="en-US" sz="4000" b="1" dirty="0">
                <a:cs typeface="+mj-cs"/>
              </a:rPr>
              <a:t>任职资格评审汇报</a:t>
            </a:r>
          </a:p>
          <a:p>
            <a:pPr defTabSz="914400">
              <a:lnSpc>
                <a:spcPct val="90000"/>
              </a:lnSpc>
              <a:spcBef>
                <a:spcPct val="0"/>
              </a:spcBef>
            </a:pPr>
            <a:endParaRPr lang="zh-CN" altLang="en-US" sz="4000" b="1" dirty="0">
              <a:cs typeface="+mj-cs"/>
            </a:endParaRPr>
          </a:p>
        </p:txBody>
      </p:sp>
      <p:sp>
        <p:nvSpPr>
          <p:cNvPr id="5" name="文本占位符 4"/>
          <p:cNvSpPr>
            <a:spLocks noGrp="1"/>
          </p:cNvSpPr>
          <p:nvPr>
            <p:ph type="body" sz="quarter" idx="17"/>
          </p:nvPr>
        </p:nvSpPr>
        <p:spPr>
          <a:xfrm>
            <a:off x="3521703" y="3748527"/>
            <a:ext cx="5419184" cy="531846"/>
          </a:xfrm>
        </p:spPr>
        <p:txBody>
          <a:bodyPr/>
          <a:lstStyle/>
          <a:p>
            <a:pPr algn="ctr"/>
            <a:r>
              <a:rPr lang="zh-CN" altLang="en-US" dirty="0">
                <a:latin typeface="微软雅黑 Light" panose="020B0502040204020203" pitchFamily="34" charset="-122"/>
                <a:ea typeface="微软雅黑 Light" panose="020B0502040204020203" pitchFamily="34" charset="-122"/>
              </a:rPr>
              <a:t>李世龙</a:t>
            </a:r>
            <a:endParaRPr lang="en-US" altLang="zh-CN" dirty="0">
              <a:latin typeface="微软雅黑 Light" panose="020B0502040204020203" pitchFamily="34" charset="-122"/>
              <a:ea typeface="微软雅黑 Light" panose="020B0502040204020203" pitchFamily="34" charset="-122"/>
            </a:endParaRPr>
          </a:p>
          <a:p>
            <a:pPr algn="ctr"/>
            <a:r>
              <a:rPr lang="zh-CN" altLang="en-US" dirty="0">
                <a:latin typeface="微软雅黑 Light" panose="020B0502040204020203" pitchFamily="34" charset="-122"/>
                <a:ea typeface="微软雅黑 Light" panose="020B0502040204020203" pitchFamily="34" charset="-122"/>
              </a:rPr>
              <a:t>研发三部  </a:t>
            </a:r>
            <a:r>
              <a:rPr lang="en-US" altLang="zh-CN" dirty="0">
                <a:latin typeface="微软雅黑 Light" panose="020B0502040204020203" pitchFamily="34" charset="-122"/>
                <a:ea typeface="微软雅黑 Light" panose="020B0502040204020203" pitchFamily="34" charset="-122"/>
              </a:rPr>
              <a:t>Java</a:t>
            </a:r>
            <a:r>
              <a:rPr lang="zh-CN" altLang="en-US" dirty="0">
                <a:latin typeface="微软雅黑 Light" panose="020B0502040204020203" pitchFamily="34" charset="-122"/>
                <a:ea typeface="微软雅黑 Light" panose="020B0502040204020203" pitchFamily="34" charset="-122"/>
              </a:rPr>
              <a:t>研发工程师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文本占位符 17"/>
          <p:cNvSpPr>
            <a:spLocks noGrp="1"/>
          </p:cNvSpPr>
          <p:nvPr>
            <p:ph type="body" sz="quarter" idx="4294967295"/>
          </p:nvPr>
        </p:nvSpPr>
        <p:spPr>
          <a:xfrm>
            <a:off x="6377734" y="4759325"/>
            <a:ext cx="4008755" cy="398145"/>
          </a:xfrm>
        </p:spPr>
        <p:txBody>
          <a:body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后续工作的规划/展望</a:t>
            </a:r>
          </a:p>
        </p:txBody>
      </p:sp>
      <p:sp>
        <p:nvSpPr>
          <p:cNvPr id="8" name="文本占位符 17"/>
          <p:cNvSpPr>
            <a:spLocks noGrp="1"/>
          </p:cNvSpPr>
          <p:nvPr/>
        </p:nvSpPr>
        <p:spPr>
          <a:xfrm>
            <a:off x="6377099" y="6157191"/>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zh-CN" altLang="en-US" sz="2000">
              <a:ea typeface="宋体" panose="02010600030101010101" pitchFamily="2" charset="-122"/>
            </a:endParaRPr>
          </a:p>
        </p:txBody>
      </p:sp>
      <p:sp>
        <p:nvSpPr>
          <p:cNvPr id="9" name="文本占位符 17"/>
          <p:cNvSpPr>
            <a:spLocks noGrp="1"/>
          </p:cNvSpPr>
          <p:nvPr/>
        </p:nvSpPr>
        <p:spPr>
          <a:xfrm>
            <a:off x="6376911" y="5987415"/>
            <a:ext cx="4008943" cy="39751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FontTx/>
            </a:pPr>
            <a:r>
              <a:rPr lang="zh-CN" altLang="en-US" sz="2200" dirty="0">
                <a:cs typeface="+mj-cs"/>
              </a:rPr>
              <a:t>对公司和部门的意见和建议</a:t>
            </a:r>
          </a:p>
          <a:p>
            <a:endParaRPr lang="zh-CN" altLang="en-US" sz="1400" dirty="0">
              <a:ea typeface="宋体" panose="02010600030101010101" pitchFamily="2" charset="-122"/>
            </a:endParaRPr>
          </a:p>
        </p:txBody>
      </p:sp>
      <p:cxnSp>
        <p:nvCxnSpPr>
          <p:cNvPr id="2"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9" name="文本占位符 30"/>
          <p:cNvSpPr>
            <a:spLocks noGrp="1"/>
          </p:cNvSpPr>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grpSp>
        <p:nvGrpSpPr>
          <p:cNvPr id="46" name="组合 45"/>
          <p:cNvGrpSpPr/>
          <p:nvPr/>
        </p:nvGrpSpPr>
        <p:grpSpPr>
          <a:xfrm>
            <a:off x="5177790" y="843915"/>
            <a:ext cx="814070" cy="814070"/>
            <a:chOff x="6984" y="1839"/>
            <a:chExt cx="1282" cy="1282"/>
          </a:xfrm>
        </p:grpSpPr>
        <p:sp>
          <p:nvSpPr>
            <p:cNvPr id="10" name="iṣ1idé"/>
            <p:cNvSpPr/>
            <p:nvPr userDrawn="1"/>
          </p:nvSpPr>
          <p:spPr bwMode="auto">
            <a:xfrm>
              <a:off x="6984" y="1839"/>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8" name="文本占位符 30"/>
            <p:cNvSpPr>
              <a:spLocks noGrp="1"/>
            </p:cNvSpPr>
            <p:nvPr/>
          </p:nvSpPr>
          <p:spPr>
            <a:xfrm>
              <a:off x="7371" y="2255"/>
              <a:ext cx="510" cy="47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grpSp>
      <p:grpSp>
        <p:nvGrpSpPr>
          <p:cNvPr id="47" name="组合 46"/>
          <p:cNvGrpSpPr/>
          <p:nvPr/>
        </p:nvGrpSpPr>
        <p:grpSpPr>
          <a:xfrm>
            <a:off x="5196205" y="2084070"/>
            <a:ext cx="814070" cy="814070"/>
            <a:chOff x="7013" y="3748"/>
            <a:chExt cx="1282" cy="1282"/>
          </a:xfrm>
        </p:grpSpPr>
        <p:sp>
          <p:nvSpPr>
            <p:cNvPr id="25" name="ïṣlídé"/>
            <p:cNvSpPr/>
            <p:nvPr userDrawn="1"/>
          </p:nvSpPr>
          <p:spPr bwMode="auto">
            <a:xfrm>
              <a:off x="7013" y="3748"/>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9" name="文本占位符 30"/>
            <p:cNvSpPr>
              <a:spLocks noGrp="1"/>
            </p:cNvSpPr>
            <p:nvPr/>
          </p:nvSpPr>
          <p:spPr>
            <a:xfrm>
              <a:off x="7407" y="4192"/>
              <a:ext cx="510" cy="5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grpSp>
      <p:grpSp>
        <p:nvGrpSpPr>
          <p:cNvPr id="48" name="组合 47"/>
          <p:cNvGrpSpPr/>
          <p:nvPr/>
        </p:nvGrpSpPr>
        <p:grpSpPr>
          <a:xfrm>
            <a:off x="5196205" y="3324225"/>
            <a:ext cx="814070" cy="814070"/>
            <a:chOff x="7013" y="5657"/>
            <a:chExt cx="1282" cy="1282"/>
          </a:xfrm>
        </p:grpSpPr>
        <p:sp>
          <p:nvSpPr>
            <p:cNvPr id="27" name="ïṥlíḋe"/>
            <p:cNvSpPr/>
            <p:nvPr userDrawn="1"/>
          </p:nvSpPr>
          <p:spPr bwMode="auto">
            <a:xfrm>
              <a:off x="7013" y="5657"/>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0" name="文本占位符 30"/>
            <p:cNvSpPr>
              <a:spLocks noGrp="1"/>
            </p:cNvSpPr>
            <p:nvPr/>
          </p:nvSpPr>
          <p:spPr>
            <a:xfrm>
              <a:off x="7393" y="6055"/>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grpSp>
      <p:grpSp>
        <p:nvGrpSpPr>
          <p:cNvPr id="49" name="组合 48"/>
          <p:cNvGrpSpPr/>
          <p:nvPr/>
        </p:nvGrpSpPr>
        <p:grpSpPr>
          <a:xfrm>
            <a:off x="5177790" y="4564380"/>
            <a:ext cx="814070" cy="814070"/>
            <a:chOff x="6984" y="7483"/>
            <a:chExt cx="1282" cy="1282"/>
          </a:xfrm>
        </p:grpSpPr>
        <p:sp>
          <p:nvSpPr>
            <p:cNvPr id="24" name="îslïdè"/>
            <p:cNvSpPr/>
            <p:nvPr userDrawn="1"/>
          </p:nvSpPr>
          <p:spPr bwMode="auto">
            <a:xfrm>
              <a:off x="6984" y="7483"/>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31" name="文本占位符 30"/>
            <p:cNvSpPr>
              <a:spLocks noGrp="1"/>
            </p:cNvSpPr>
            <p:nvPr/>
          </p:nvSpPr>
          <p:spPr>
            <a:xfrm>
              <a:off x="7373" y="7905"/>
              <a:ext cx="510" cy="51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grpSp>
      <p:grpSp>
        <p:nvGrpSpPr>
          <p:cNvPr id="50" name="组合 49"/>
          <p:cNvGrpSpPr/>
          <p:nvPr/>
        </p:nvGrpSpPr>
        <p:grpSpPr>
          <a:xfrm>
            <a:off x="5201285" y="5804535"/>
            <a:ext cx="814070" cy="814070"/>
            <a:chOff x="7021" y="9081"/>
            <a:chExt cx="1282" cy="1282"/>
          </a:xfrm>
        </p:grpSpPr>
        <p:sp>
          <p:nvSpPr>
            <p:cNvPr id="34" name="ïṥlíḋe"/>
            <p:cNvSpPr/>
            <p:nvPr userDrawn="1"/>
          </p:nvSpPr>
          <p:spPr bwMode="auto">
            <a:xfrm>
              <a:off x="7021" y="9081"/>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5" name="文本占位符 30"/>
            <p:cNvSpPr>
              <a:spLocks noGrp="1"/>
            </p:cNvSpPr>
            <p:nvPr/>
          </p:nvSpPr>
          <p:spPr>
            <a:xfrm>
              <a:off x="7401" y="9479"/>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5</a:t>
              </a:r>
              <a:endParaRPr kumimoji="1" lang="zh-CN" altLang="en-US" dirty="0"/>
            </a:p>
          </p:txBody>
        </p:sp>
      </p:grpSp>
      <p:sp>
        <p:nvSpPr>
          <p:cNvPr id="38" name="文本占位符 15"/>
          <p:cNvSpPr>
            <a:spLocks noGrp="1"/>
          </p:cNvSpPr>
          <p:nvPr/>
        </p:nvSpPr>
        <p:spPr>
          <a:xfrm>
            <a:off x="6377099" y="3600370"/>
            <a:ext cx="4008755" cy="397510"/>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入职后的工作内容</a:t>
            </a:r>
          </a:p>
        </p:txBody>
      </p:sp>
      <p:sp>
        <p:nvSpPr>
          <p:cNvPr id="40" name="标题 10"/>
          <p:cNvSpPr>
            <a:spLocks noGrp="1"/>
          </p:cNvSpPr>
          <p:nvPr/>
        </p:nvSpPr>
        <p:spPr>
          <a:xfrm>
            <a:off x="6377099" y="1066482"/>
            <a:ext cx="4009390" cy="36893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a:lstStyle>
          <a:p>
            <a:pPr algn="l">
              <a:buClrTx/>
              <a:buSzTx/>
              <a:buFontTx/>
            </a:pPr>
            <a:r>
              <a:rPr lang="zh-CN" altLang="en-US" sz="2200" b="1" dirty="0"/>
              <a:t>自我介绍</a:t>
            </a:r>
          </a:p>
        </p:txBody>
      </p:sp>
      <p:sp>
        <p:nvSpPr>
          <p:cNvPr id="41" name="文本占位符 13"/>
          <p:cNvSpPr>
            <a:spLocks noGrp="1"/>
          </p:cNvSpPr>
          <p:nvPr/>
        </p:nvSpPr>
        <p:spPr>
          <a:xfrm>
            <a:off x="6260465" y="2384266"/>
            <a:ext cx="4008755" cy="398145"/>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入职前的工作经历</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1</a:t>
            </a:r>
            <a:r>
              <a:rPr lang="zh-CN" altLang="en-US" dirty="0">
                <a:sym typeface="+mn-ea"/>
              </a:rPr>
              <a:t>、自我介绍</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a:t>
            </a:fld>
            <a:endParaRPr lang="zh-CN" altLang="en-US"/>
          </a:p>
        </p:txBody>
      </p:sp>
      <p:sp>
        <p:nvSpPr>
          <p:cNvPr id="6" name="文本框 5">
            <a:extLst>
              <a:ext uri="{FF2B5EF4-FFF2-40B4-BE49-F238E27FC236}">
                <a16:creationId xmlns:a16="http://schemas.microsoft.com/office/drawing/2014/main" id="{0842C924-2B2F-43AC-B37E-A95A47E575A2}"/>
              </a:ext>
            </a:extLst>
          </p:cNvPr>
          <p:cNvSpPr txBox="1"/>
          <p:nvPr/>
        </p:nvSpPr>
        <p:spPr>
          <a:xfrm>
            <a:off x="1962118" y="1174799"/>
            <a:ext cx="7703977" cy="4524315"/>
          </a:xfrm>
          <a:prstGeom prst="rect">
            <a:avLst/>
          </a:prstGeom>
          <a:noFill/>
        </p:spPr>
        <p:txBody>
          <a:bodyPr wrap="square">
            <a:spAutoFit/>
          </a:bodyPr>
          <a:lstStyle/>
          <a:p>
            <a:r>
              <a:rPr lang="zh-CN" altLang="en-US" sz="1800" b="1" dirty="0"/>
              <a:t>李世龙                         </a:t>
            </a:r>
            <a:r>
              <a:rPr lang="en-US" altLang="zh-CN" sz="1800" b="1" dirty="0"/>
              <a:t>26</a:t>
            </a:r>
            <a:r>
              <a:rPr lang="zh-CN" altLang="en-US" sz="1800" b="1" dirty="0"/>
              <a:t>岁                   本科              湖南农业大学（</a:t>
            </a:r>
            <a:r>
              <a:rPr lang="en-US" altLang="zh-CN" sz="1800" b="1" dirty="0"/>
              <a:t>2017-2021</a:t>
            </a:r>
            <a:r>
              <a:rPr lang="zh-CN" altLang="en-US" sz="1800" b="1" dirty="0"/>
              <a:t>）</a:t>
            </a:r>
            <a:endParaRPr lang="en-US" altLang="zh-CN" sz="1800" b="1" dirty="0"/>
          </a:p>
          <a:p>
            <a:endParaRPr lang="en-US" altLang="zh-CN" b="1" dirty="0"/>
          </a:p>
          <a:p>
            <a:r>
              <a:rPr lang="en-US" altLang="zh-CN" sz="1600" b="1" dirty="0"/>
              <a:t>Java</a:t>
            </a:r>
            <a:r>
              <a:rPr lang="zh-CN" altLang="en-US" sz="1600" b="1" dirty="0"/>
              <a:t>基础</a:t>
            </a:r>
            <a:r>
              <a:rPr lang="zh-CN" altLang="en-US" sz="1800" b="1" dirty="0"/>
              <a:t>：</a:t>
            </a:r>
            <a:endParaRPr lang="en-US" altLang="zh-CN" sz="1800" b="1" dirty="0"/>
          </a:p>
          <a:p>
            <a:r>
              <a:rPr lang="en-US" altLang="zh-CN" sz="1400" b="1" dirty="0"/>
              <a:t>	</a:t>
            </a:r>
            <a:r>
              <a:rPr lang="zh-CN" altLang="en-US" sz="1400" dirty="0"/>
              <a:t>精通</a:t>
            </a:r>
            <a:r>
              <a:rPr lang="en-US" altLang="zh-CN" sz="1400" dirty="0"/>
              <a:t>Java</a:t>
            </a:r>
            <a:r>
              <a:rPr lang="zh-CN" altLang="en-US" sz="1400" dirty="0"/>
              <a:t>基础，包括但不限于基础语法、集合框架、反射、代理及多线程等。</a:t>
            </a:r>
            <a:endParaRPr lang="en-US" altLang="zh-CN" sz="1400" dirty="0"/>
          </a:p>
          <a:p>
            <a:r>
              <a:rPr lang="en-US" altLang="zh-CN" sz="1400" dirty="0"/>
              <a:t>	</a:t>
            </a:r>
            <a:r>
              <a:rPr lang="zh-CN" altLang="en-US" sz="1400" dirty="0"/>
              <a:t>深度掌握</a:t>
            </a:r>
            <a:r>
              <a:rPr lang="en-US" altLang="zh-CN" sz="1400" dirty="0"/>
              <a:t>JVM</a:t>
            </a:r>
            <a:r>
              <a:rPr lang="zh-CN" altLang="en-US" sz="1400" dirty="0"/>
              <a:t>内部机制，具体涉及内存管理、垃圾收集策略以及类加载流程等。</a:t>
            </a:r>
            <a:endParaRPr lang="en-US" altLang="zh-CN" sz="1400" dirty="0"/>
          </a:p>
          <a:p>
            <a:r>
              <a:rPr lang="en-US" altLang="zh-CN" sz="1400" dirty="0"/>
              <a:t>	</a:t>
            </a:r>
            <a:r>
              <a:rPr lang="zh-CN" altLang="en-US" sz="1400" dirty="0"/>
              <a:t>对相关设计模式有丰富的使用经验，如策略模式，责任链模式等。</a:t>
            </a:r>
            <a:endParaRPr lang="en-US" altLang="zh-CN" sz="1400" dirty="0"/>
          </a:p>
          <a:p>
            <a:r>
              <a:rPr lang="en-US" altLang="zh-CN" sz="1400" b="1" dirty="0"/>
              <a:t>	</a:t>
            </a:r>
            <a:r>
              <a:rPr lang="zh-CN" altLang="en-US" sz="1400" dirty="0"/>
              <a:t>对 </a:t>
            </a:r>
            <a:r>
              <a:rPr lang="en-US" altLang="zh-CN" sz="1400" dirty="0"/>
              <a:t>SpringBoot</a:t>
            </a:r>
            <a:r>
              <a:rPr lang="zh-CN" altLang="en-US" sz="1400" dirty="0"/>
              <a:t>、</a:t>
            </a:r>
            <a:r>
              <a:rPr lang="en-US" altLang="zh-CN" sz="1400" dirty="0"/>
              <a:t>Mybatis</a:t>
            </a:r>
            <a:r>
              <a:rPr lang="zh-CN" altLang="en-US" sz="1400" dirty="0"/>
              <a:t>有深刻理解。熟练使用</a:t>
            </a:r>
            <a:r>
              <a:rPr lang="en-US" altLang="zh-CN" sz="1400" dirty="0"/>
              <a:t>SpringCloud</a:t>
            </a:r>
            <a:r>
              <a:rPr lang="zh-CN" altLang="en-US" sz="1400" dirty="0"/>
              <a:t>及其相关组件。</a:t>
            </a:r>
            <a:endParaRPr lang="en-US" altLang="zh-CN" sz="1400" dirty="0"/>
          </a:p>
          <a:p>
            <a:endParaRPr lang="en-US" altLang="zh-CN" sz="1600" dirty="0"/>
          </a:p>
          <a:p>
            <a:r>
              <a:rPr lang="zh-CN" altLang="en-US" sz="1600" b="1" dirty="0"/>
              <a:t>数据库：</a:t>
            </a:r>
            <a:endParaRPr lang="en-US" altLang="zh-CN" sz="1600" b="1" dirty="0"/>
          </a:p>
          <a:p>
            <a:r>
              <a:rPr lang="en-US" altLang="zh-CN" sz="1600" b="1" dirty="0"/>
              <a:t>	</a:t>
            </a:r>
            <a:r>
              <a:rPr lang="zh-CN" altLang="en-US" sz="1400" dirty="0"/>
              <a:t>深入理解</a:t>
            </a:r>
            <a:r>
              <a:rPr lang="en-US" altLang="zh-CN" sz="1400" dirty="0"/>
              <a:t>Mysql</a:t>
            </a:r>
            <a:r>
              <a:rPr lang="zh-CN" altLang="en-US" sz="1400" dirty="0"/>
              <a:t>及其原理、包括索引优化、锁机制管理及事务处理等。</a:t>
            </a:r>
            <a:endParaRPr lang="en-US" altLang="zh-CN" sz="1400" dirty="0"/>
          </a:p>
          <a:p>
            <a:r>
              <a:rPr lang="en-US" altLang="zh-CN" sz="1400" b="1" dirty="0"/>
              <a:t>	</a:t>
            </a:r>
            <a:r>
              <a:rPr lang="zh-CN" altLang="en-US" sz="1400" dirty="0"/>
              <a:t>拥有丰富的</a:t>
            </a:r>
            <a:r>
              <a:rPr lang="en-US" altLang="zh-CN" sz="1400" dirty="0"/>
              <a:t>SQL </a:t>
            </a:r>
            <a:r>
              <a:rPr lang="zh-CN" altLang="en-US" sz="1400" dirty="0"/>
              <a:t>优化经验</a:t>
            </a:r>
            <a:endParaRPr lang="en-US" altLang="zh-CN" sz="1400" dirty="0"/>
          </a:p>
          <a:p>
            <a:endParaRPr lang="en-US" altLang="zh-CN" dirty="0"/>
          </a:p>
          <a:p>
            <a:r>
              <a:rPr lang="zh-CN" altLang="en-US" sz="1600" b="1" dirty="0"/>
              <a:t>中间件：</a:t>
            </a:r>
            <a:endParaRPr lang="en-US" altLang="zh-CN" sz="1600" b="1" dirty="0"/>
          </a:p>
          <a:p>
            <a:r>
              <a:rPr lang="en-US" altLang="zh-CN" sz="1600" b="1" dirty="0"/>
              <a:t>	</a:t>
            </a:r>
            <a:r>
              <a:rPr lang="en-US" altLang="zh-CN" sz="1600" dirty="0"/>
              <a:t>Redis: </a:t>
            </a:r>
            <a:r>
              <a:rPr lang="zh-CN" altLang="en-US" sz="1400" dirty="0"/>
              <a:t>熟练使用</a:t>
            </a:r>
            <a:r>
              <a:rPr lang="en-US" altLang="zh-CN" sz="1400" dirty="0"/>
              <a:t>Redis</a:t>
            </a:r>
            <a:r>
              <a:rPr lang="zh-CN" altLang="en-US" sz="1400" dirty="0"/>
              <a:t>并且理解工作原理，包括持久化策略、内存优化机制，以及针对缓存穿透、雪崩等问题的解决方案，以及集群模式。</a:t>
            </a:r>
            <a:endParaRPr lang="en-US" altLang="zh-CN" sz="1400" dirty="0"/>
          </a:p>
          <a:p>
            <a:r>
              <a:rPr lang="en-US" altLang="zh-CN" sz="1400" dirty="0"/>
              <a:t>	</a:t>
            </a:r>
            <a:r>
              <a:rPr lang="en-US" altLang="zh-CN" sz="1600" dirty="0"/>
              <a:t>RabbitMQ:</a:t>
            </a:r>
            <a:r>
              <a:rPr lang="zh-CN" altLang="en-US" sz="1400" dirty="0"/>
              <a:t>掌握</a:t>
            </a:r>
            <a:r>
              <a:rPr lang="en-US" altLang="zh-CN" sz="1400" dirty="0"/>
              <a:t>rabbitMQ</a:t>
            </a:r>
            <a:r>
              <a:rPr lang="zh-CN" altLang="en-US" sz="1400" dirty="0"/>
              <a:t>的使用，具备处理消息丢失和重复消费问题的实战经验。</a:t>
            </a:r>
            <a:endParaRPr lang="en-US" altLang="zh-CN" sz="1400" dirty="0"/>
          </a:p>
          <a:p>
            <a:endParaRPr lang="en-US" altLang="zh-CN" sz="1800" dirty="0"/>
          </a:p>
          <a:p>
            <a:endParaRPr lang="zh-CN" altLang="en-US" sz="1800" dirty="0"/>
          </a:p>
        </p:txBody>
      </p:sp>
    </p:spTree>
    <p:extLst>
      <p:ext uri="{BB962C8B-B14F-4D97-AF65-F5344CB8AC3E}">
        <p14:creationId xmlns:p14="http://schemas.microsoft.com/office/powerpoint/2010/main" val="1845244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2</a:t>
            </a:r>
            <a:r>
              <a:rPr lang="zh-CN" altLang="en-US" dirty="0">
                <a:sym typeface="+mn-ea"/>
              </a:rPr>
              <a:t>、工作经历</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4</a:t>
            </a:fld>
            <a:endParaRPr lang="zh-CN" altLang="en-US"/>
          </a:p>
        </p:txBody>
      </p:sp>
      <p:sp>
        <p:nvSpPr>
          <p:cNvPr id="6" name="文本框 5">
            <a:extLst>
              <a:ext uri="{FF2B5EF4-FFF2-40B4-BE49-F238E27FC236}">
                <a16:creationId xmlns:a16="http://schemas.microsoft.com/office/drawing/2014/main" id="{EC205609-58E4-4249-8F4E-6C679E684BF2}"/>
              </a:ext>
            </a:extLst>
          </p:cNvPr>
          <p:cNvSpPr txBox="1"/>
          <p:nvPr/>
        </p:nvSpPr>
        <p:spPr>
          <a:xfrm>
            <a:off x="1458294" y="1006125"/>
            <a:ext cx="9004040" cy="5170646"/>
          </a:xfrm>
          <a:prstGeom prst="rect">
            <a:avLst/>
          </a:prstGeom>
          <a:noFill/>
        </p:spPr>
        <p:txBody>
          <a:bodyPr wrap="square">
            <a:spAutoFit/>
          </a:bodyPr>
          <a:lstStyle/>
          <a:p>
            <a:r>
              <a:rPr lang="en-US" altLang="zh-CN" b="1" dirty="0"/>
              <a:t>1</a:t>
            </a:r>
            <a:r>
              <a:rPr lang="zh-CN" altLang="en-US" b="1" dirty="0"/>
              <a:t>、深圳中软国际科技服务有限公司        </a:t>
            </a:r>
            <a:r>
              <a:rPr lang="en-US" altLang="zh-CN" b="1" dirty="0"/>
              <a:t>Java</a:t>
            </a:r>
            <a:r>
              <a:rPr lang="zh-CN" altLang="en-US" b="1" dirty="0"/>
              <a:t>后端开发工程师                      </a:t>
            </a:r>
            <a:r>
              <a:rPr lang="en-US" altLang="zh-CN" b="1" dirty="0"/>
              <a:t>2024.07-2025.07</a:t>
            </a:r>
          </a:p>
          <a:p>
            <a:endParaRPr lang="en-US" altLang="zh-CN" dirty="0"/>
          </a:p>
          <a:p>
            <a:r>
              <a:rPr lang="en-US" altLang="zh-CN" sz="2000" b="1" dirty="0"/>
              <a:t>	</a:t>
            </a:r>
            <a:r>
              <a:rPr lang="zh-CN" altLang="en-US" sz="1600" b="1" dirty="0"/>
              <a:t>华为知识能力中心</a:t>
            </a:r>
            <a:r>
              <a:rPr lang="en-US" altLang="zh-CN" sz="1600" b="1" dirty="0"/>
              <a:t>——</a:t>
            </a:r>
            <a:r>
              <a:rPr lang="zh-CN" altLang="en-US" sz="1600" b="1" dirty="0"/>
              <a:t>知识库：</a:t>
            </a:r>
            <a:r>
              <a:rPr lang="zh-CN" altLang="en-US" sz="1400" dirty="0"/>
              <a:t>为全球一线服务人员、消费者、提供终端产品信息、服务、维修指导等领域知 识。一线服务人员可通过知识库快速定位并解决消费者问题。</a:t>
            </a:r>
            <a:endParaRPr lang="en-US" altLang="zh-CN" sz="1400" dirty="0"/>
          </a:p>
          <a:p>
            <a:r>
              <a:rPr lang="en-US" altLang="zh-CN" b="1" dirty="0"/>
              <a:t>	</a:t>
            </a:r>
            <a:r>
              <a:rPr lang="zh-CN" altLang="en-US" sz="1600" b="1" dirty="0"/>
              <a:t>工作内容：</a:t>
            </a:r>
            <a:r>
              <a:rPr lang="zh-CN" altLang="en-US" dirty="0"/>
              <a:t> </a:t>
            </a:r>
            <a:r>
              <a:rPr lang="zh-CN" altLang="en-US" sz="1400" dirty="0"/>
              <a:t>优化项目架构，使之符合</a:t>
            </a:r>
            <a:r>
              <a:rPr lang="en-US" altLang="zh-CN" sz="1400" dirty="0"/>
              <a:t>COLA</a:t>
            </a:r>
            <a:r>
              <a:rPr lang="zh-CN" altLang="en-US" sz="1400" dirty="0"/>
              <a:t>架构风格。文件上传安全校验整合及使用责任链模式优化。使用</a:t>
            </a:r>
            <a:r>
              <a:rPr lang="en-US" altLang="zh-CN" sz="1400" dirty="0"/>
              <a:t>Redis</a:t>
            </a:r>
            <a:r>
              <a:rPr lang="zh-CN" altLang="en-US" sz="1400" dirty="0"/>
              <a:t>。自定义分布式锁注解。慢</a:t>
            </a:r>
            <a:r>
              <a:rPr lang="en-US" altLang="zh-CN" sz="1400" dirty="0"/>
              <a:t>SQL</a:t>
            </a:r>
            <a:r>
              <a:rPr lang="zh-CN" altLang="en-US" sz="1400" dirty="0"/>
              <a:t>优化，平均优化</a:t>
            </a:r>
            <a:r>
              <a:rPr lang="en-US" altLang="zh-CN" sz="1400" dirty="0"/>
              <a:t>3-5</a:t>
            </a:r>
            <a:r>
              <a:rPr lang="zh-CN" altLang="en-US" sz="1400" dirty="0"/>
              <a:t>倍。</a:t>
            </a:r>
            <a:endParaRPr lang="en-US" altLang="zh-CN" sz="1400" b="1" dirty="0"/>
          </a:p>
          <a:p>
            <a:endParaRPr lang="en-US" altLang="zh-CN" sz="1400" b="1" dirty="0"/>
          </a:p>
          <a:p>
            <a:endParaRPr lang="en-US" altLang="zh-CN" b="1" dirty="0"/>
          </a:p>
          <a:p>
            <a:r>
              <a:rPr lang="en-US" altLang="zh-CN" b="1" dirty="0"/>
              <a:t>2</a:t>
            </a:r>
            <a:r>
              <a:rPr lang="zh-CN" altLang="en-US" sz="1800" b="1" dirty="0"/>
              <a:t>、 深圳觉行科技有限公司                       </a:t>
            </a:r>
            <a:r>
              <a:rPr lang="en-US" altLang="zh-CN" sz="1800" b="1" dirty="0"/>
              <a:t>Java</a:t>
            </a:r>
            <a:r>
              <a:rPr lang="zh-CN" altLang="en-US" b="1" dirty="0"/>
              <a:t>后端开发工程师                       </a:t>
            </a:r>
            <a:r>
              <a:rPr lang="en-US" altLang="zh-CN" b="1" dirty="0"/>
              <a:t>2021.09-2024.05 </a:t>
            </a:r>
            <a:endParaRPr lang="en-US" altLang="zh-CN" sz="1800" b="1" dirty="0"/>
          </a:p>
          <a:p>
            <a:r>
              <a:rPr lang="en-US" altLang="zh-CN" b="1" dirty="0"/>
              <a:t>	</a:t>
            </a:r>
          </a:p>
          <a:p>
            <a:r>
              <a:rPr lang="en-US" altLang="zh-CN" b="1" dirty="0"/>
              <a:t>	</a:t>
            </a:r>
            <a:r>
              <a:rPr lang="zh-CN" altLang="en-US" sz="1600" b="1" dirty="0"/>
              <a:t>医保智能审核系统：</a:t>
            </a:r>
            <a:r>
              <a:rPr lang="zh-CN" altLang="en-US" sz="1400" dirty="0"/>
              <a:t>为医院使用医保的病人病案提供预检服务，帮助医院顺利完成医保局归档，具体包括：为医生 提供可自主配置的审核规则，对病例中的收费信息及用药规范等，进行审核判断是否存在违规用药及违规收费的情况</a:t>
            </a:r>
            <a:r>
              <a:rPr lang="zh-CN" altLang="en-US" sz="1600" dirty="0"/>
              <a:t>。</a:t>
            </a:r>
            <a:endParaRPr lang="en-US" altLang="zh-CN" sz="1600" dirty="0"/>
          </a:p>
          <a:p>
            <a:r>
              <a:rPr lang="en-US" altLang="zh-CN" sz="1400" dirty="0"/>
              <a:t>	</a:t>
            </a:r>
            <a:r>
              <a:rPr lang="zh-CN" altLang="en-US" sz="1600" b="1" dirty="0"/>
              <a:t>工作内容</a:t>
            </a:r>
            <a:r>
              <a:rPr lang="zh-CN" altLang="en-US" sz="1400" dirty="0"/>
              <a:t>： 重构该系统、优化规则整体审核流程，优化所有具体审核校验规则，使整体审核速度优化五倍以上。重新设计数据库表。</a:t>
            </a:r>
            <a:endParaRPr lang="en-US" altLang="zh-CN" sz="1400" dirty="0"/>
          </a:p>
          <a:p>
            <a:endParaRPr lang="en-US" altLang="zh-CN" dirty="0"/>
          </a:p>
          <a:p>
            <a:r>
              <a:rPr lang="en-US" altLang="zh-CN" sz="1800" b="1" dirty="0"/>
              <a:t>	</a:t>
            </a:r>
            <a:r>
              <a:rPr lang="en-US" altLang="zh-CN" sz="1600" b="1" dirty="0"/>
              <a:t>DIP </a:t>
            </a:r>
            <a:r>
              <a:rPr lang="zh-CN" altLang="en-US" sz="1600" b="1" dirty="0"/>
              <a:t>精细化管理系统</a:t>
            </a:r>
            <a:r>
              <a:rPr lang="zh-CN" altLang="en-US" b="1" dirty="0"/>
              <a:t>：</a:t>
            </a:r>
            <a:r>
              <a:rPr lang="zh-CN" altLang="en-US" dirty="0"/>
              <a:t>为</a:t>
            </a:r>
            <a:r>
              <a:rPr lang="zh-CN" altLang="en-US" sz="1400" dirty="0"/>
              <a:t>医院医保病例提供 </a:t>
            </a:r>
            <a:r>
              <a:rPr lang="en-US" altLang="zh-CN" sz="1400" dirty="0"/>
              <a:t>DIP </a:t>
            </a:r>
            <a:r>
              <a:rPr lang="zh-CN" altLang="en-US" sz="1400" dirty="0"/>
              <a:t>预分组功能，并通过预测的分组，为医院提供盈亏预测、病案评分等功能。</a:t>
            </a:r>
            <a:endParaRPr lang="en-US" altLang="zh-CN" sz="1400" dirty="0"/>
          </a:p>
          <a:p>
            <a:r>
              <a:rPr lang="en-US" altLang="zh-CN" sz="1800" b="1" dirty="0"/>
              <a:t>	</a:t>
            </a:r>
            <a:r>
              <a:rPr lang="zh-CN" altLang="en-US" sz="1600" b="1" dirty="0"/>
              <a:t>工作内容</a:t>
            </a:r>
            <a:r>
              <a:rPr lang="zh-CN" altLang="en-US" dirty="0"/>
              <a:t>： </a:t>
            </a:r>
            <a:r>
              <a:rPr lang="zh-CN" altLang="en-US" sz="1400" dirty="0"/>
              <a:t>主导医保结算清单功能的设计及上线，引入</a:t>
            </a:r>
            <a:r>
              <a:rPr lang="en-US" altLang="zh-CN" sz="1400" dirty="0"/>
              <a:t>Redis </a:t>
            </a:r>
            <a:r>
              <a:rPr lang="zh-CN" altLang="en-US" sz="1400" dirty="0"/>
              <a:t>提升查询速度，引入</a:t>
            </a:r>
            <a:r>
              <a:rPr lang="en-US" altLang="zh-CN" sz="1400" dirty="0" err="1"/>
              <a:t>MyBatisPlus</a:t>
            </a:r>
            <a:r>
              <a:rPr lang="zh-CN" altLang="en-US" sz="1400" dirty="0"/>
              <a:t>，提升开发效率等。</a:t>
            </a:r>
            <a:endParaRPr lang="en-US" altLang="zh-CN"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a:t>
            </a:r>
            <a:r>
              <a:rPr lang="zh-CN" altLang="en-US" dirty="0"/>
              <a:t>入职后的主要工作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5</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247970" y="802183"/>
            <a:ext cx="10067730" cy="5386090"/>
          </a:xfrm>
          <a:prstGeom prst="rect">
            <a:avLst/>
          </a:prstGeom>
          <a:noFill/>
        </p:spPr>
        <p:txBody>
          <a:bodyPr wrap="square">
            <a:spAutoFit/>
          </a:bodyPr>
          <a:lstStyle/>
          <a:p>
            <a:endParaRPr lang="en-US" altLang="zh-CN" sz="1800" b="1" dirty="0"/>
          </a:p>
          <a:p>
            <a:r>
              <a:rPr lang="zh-CN" altLang="en-US" sz="1800" b="1" dirty="0"/>
              <a:t>入职时间</a:t>
            </a:r>
            <a:r>
              <a:rPr lang="zh-CN" altLang="en-US" sz="1800" dirty="0"/>
              <a:t>：</a:t>
            </a:r>
            <a:r>
              <a:rPr lang="en-US" altLang="zh-CN" sz="1600" dirty="0"/>
              <a:t>2025</a:t>
            </a:r>
            <a:r>
              <a:rPr lang="zh-CN" altLang="en-US" sz="1600" dirty="0"/>
              <a:t>年</a:t>
            </a:r>
            <a:r>
              <a:rPr lang="en-US" altLang="zh-CN" sz="1600" dirty="0"/>
              <a:t>10</a:t>
            </a:r>
            <a:r>
              <a:rPr lang="zh-CN" altLang="en-US" sz="1600" dirty="0"/>
              <a:t>月</a:t>
            </a:r>
            <a:r>
              <a:rPr lang="en-US" altLang="zh-CN" sz="1600" dirty="0"/>
              <a:t>20</a:t>
            </a:r>
            <a:r>
              <a:rPr lang="zh-CN" altLang="en-US" sz="1600" dirty="0"/>
              <a:t>日。</a:t>
            </a:r>
            <a:endParaRPr lang="en-US" altLang="zh-CN" sz="1600" dirty="0"/>
          </a:p>
          <a:p>
            <a:endParaRPr lang="en-US" altLang="zh-CN" b="1" dirty="0"/>
          </a:p>
          <a:p>
            <a:r>
              <a:rPr lang="zh-CN" altLang="en-US" b="1" dirty="0"/>
              <a:t>岗位</a:t>
            </a:r>
            <a:r>
              <a:rPr lang="zh-CN" altLang="en-US" dirty="0"/>
              <a:t>：</a:t>
            </a:r>
            <a:r>
              <a:rPr lang="en-US" altLang="zh-CN" sz="1600" dirty="0"/>
              <a:t>Java </a:t>
            </a:r>
            <a:r>
              <a:rPr lang="zh-CN" altLang="en-US" sz="1600" dirty="0"/>
              <a:t>高级开发工程师</a:t>
            </a:r>
            <a:endParaRPr lang="en-US" altLang="zh-CN" sz="1600" dirty="0"/>
          </a:p>
          <a:p>
            <a:endParaRPr lang="en-US" altLang="zh-CN" dirty="0"/>
          </a:p>
          <a:p>
            <a:r>
              <a:rPr lang="zh-CN" altLang="en-US" b="1" dirty="0"/>
              <a:t>工作内容</a:t>
            </a:r>
            <a:r>
              <a:rPr lang="zh-CN" altLang="en-US" dirty="0"/>
              <a:t>：</a:t>
            </a:r>
            <a:r>
              <a:rPr lang="zh-CN" altLang="en-US" sz="1600" dirty="0">
                <a:latin typeface="仿宋" panose="02010609060101010101" pitchFamily="49" charset="-122"/>
                <a:ea typeface="仿宋" panose="02010609060101010101" pitchFamily="49" charset="-122"/>
              </a:rPr>
              <a:t>主要负责</a:t>
            </a:r>
            <a:r>
              <a:rPr lang="en-US" altLang="zh-CN" sz="1600" dirty="0">
                <a:latin typeface="仿宋" panose="02010609060101010101" pitchFamily="49" charset="-122"/>
                <a:ea typeface="仿宋" panose="02010609060101010101" pitchFamily="49" charset="-122"/>
              </a:rPr>
              <a:t> AppServer</a:t>
            </a:r>
            <a:r>
              <a:rPr lang="zh-CN" altLang="en-US" sz="1600" dirty="0">
                <a:latin typeface="仿宋" panose="02010609060101010101" pitchFamily="49" charset="-122"/>
                <a:ea typeface="仿宋" panose="02010609060101010101" pitchFamily="49" charset="-122"/>
              </a:rPr>
              <a:t>（应用服务器）的开发工作。包括标准版、企业版、轻量版、</a:t>
            </a:r>
            <a:r>
              <a:rPr lang="en-US" altLang="zh-CN" sz="1600" dirty="0">
                <a:latin typeface="仿宋" panose="02010609060101010101" pitchFamily="49" charset="-122"/>
                <a:ea typeface="仿宋" panose="02010609060101010101" pitchFamily="49" charset="-122"/>
              </a:rPr>
              <a:t>SpringBoot</a:t>
            </a:r>
            <a:r>
              <a:rPr lang="zh-CN" altLang="en-US" sz="1600" dirty="0">
                <a:latin typeface="仿宋" panose="02010609060101010101" pitchFamily="49" charset="-122"/>
                <a:ea typeface="仿宋" panose="02010609060101010101" pitchFamily="49" charset="-122"/>
              </a:rPr>
              <a:t>版的各个版本的应用服务器的需求开发、</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修复、现场问题处理等。以及相关依赖插件的研发工作，如 </a:t>
            </a: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等。</a:t>
            </a:r>
            <a:endParaRPr lang="en-US" altLang="zh-CN" sz="1600" dirty="0">
              <a:latin typeface="仿宋" panose="02010609060101010101" pitchFamily="49" charset="-122"/>
              <a:ea typeface="仿宋" panose="02010609060101010101" pitchFamily="49" charset="-122"/>
            </a:endParaRPr>
          </a:p>
          <a:p>
            <a:endParaRPr lang="en-US" altLang="zh-CN" dirty="0"/>
          </a:p>
          <a:p>
            <a:r>
              <a:rPr lang="zh-CN" altLang="en-US" b="1" dirty="0"/>
              <a:t>具体内容</a:t>
            </a:r>
            <a:r>
              <a:rPr lang="zh-CN" altLang="en-US" dirty="0"/>
              <a:t>：</a:t>
            </a:r>
            <a:endParaRPr lang="en-US" altLang="zh-CN" dirty="0"/>
          </a:p>
          <a:p>
            <a:r>
              <a:rPr lang="en-US" altLang="zh-CN" dirty="0"/>
              <a:t>	1.</a:t>
            </a:r>
            <a:r>
              <a:rPr lang="zh-CN" altLang="en-US" dirty="0"/>
              <a:t> </a:t>
            </a:r>
            <a:r>
              <a:rPr lang="zh-CN" altLang="en-US" b="1" dirty="0"/>
              <a:t>需求开发</a:t>
            </a:r>
            <a:r>
              <a:rPr lang="zh-CN" altLang="en-US" sz="1600" dirty="0"/>
              <a:t>（</a:t>
            </a:r>
            <a:r>
              <a:rPr lang="en-US" altLang="zh-CN" sz="1600" dirty="0"/>
              <a:t>12</a:t>
            </a:r>
            <a:r>
              <a:rPr lang="zh-CN" altLang="en-US" sz="1600" dirty="0"/>
              <a:t>个）</a:t>
            </a:r>
            <a:endParaRPr lang="en-US" altLang="zh-CN" sz="1600" dirty="0"/>
          </a:p>
          <a:p>
            <a:r>
              <a:rPr lang="en-US" altLang="zh-CN" sz="1600" dirty="0"/>
              <a:t>		</a:t>
            </a:r>
            <a:r>
              <a:rPr lang="zh-CN" altLang="en-US" sz="1600" dirty="0">
                <a:latin typeface="仿宋" panose="02010609060101010101" pitchFamily="49" charset="-122"/>
                <a:ea typeface="仿宋" panose="02010609060101010101" pitchFamily="49" charset="-122"/>
              </a:rPr>
              <a:t>包括</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新增实例健康度、部署应用时新增附加类库参数、连接器应用支持编辑自定义属性和资源适配器属性、新增</a:t>
            </a:r>
            <a:r>
              <a:rPr lang="en-US" altLang="zh-CN" sz="1600" dirty="0">
                <a:latin typeface="仿宋" panose="02010609060101010101" pitchFamily="49" charset="-122"/>
                <a:ea typeface="仿宋" panose="02010609060101010101" pitchFamily="49" charset="-122"/>
              </a:rPr>
              <a:t>DMS</a:t>
            </a:r>
            <a:r>
              <a:rPr lang="zh-CN" altLang="en-US" sz="1600" dirty="0">
                <a:latin typeface="仿宋" panose="02010609060101010101" pitchFamily="49" charset="-122"/>
                <a:ea typeface="仿宋" panose="02010609060101010101" pitchFamily="49" charset="-122"/>
              </a:rPr>
              <a:t>与节点补丁版本校验提示、</a:t>
            </a: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使用</a:t>
            </a:r>
            <a:r>
              <a:rPr lang="en-US" altLang="zh-CN" sz="1600" dirty="0">
                <a:latin typeface="仿宋" panose="02010609060101010101" pitchFamily="49" charset="-122"/>
                <a:ea typeface="仿宋" panose="02010609060101010101" pitchFamily="49" charset="-122"/>
              </a:rPr>
              <a:t>logback</a:t>
            </a:r>
            <a:r>
              <a:rPr lang="zh-CN" altLang="en-US" sz="1600" dirty="0">
                <a:latin typeface="仿宋" panose="02010609060101010101" pitchFamily="49" charset="-122"/>
                <a:ea typeface="仿宋" panose="02010609060101010101" pitchFamily="49" charset="-122"/>
              </a:rPr>
              <a:t>替换</a:t>
            </a:r>
            <a:r>
              <a:rPr lang="en-US" altLang="zh-CN" sz="1600" dirty="0">
                <a:latin typeface="仿宋" panose="02010609060101010101" pitchFamily="49" charset="-122"/>
                <a:ea typeface="仿宋" panose="02010609060101010101" pitchFamily="49" charset="-122"/>
              </a:rPr>
              <a:t>log4j</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ASM </a:t>
            </a:r>
            <a:r>
              <a:rPr lang="zh-CN" altLang="en-US" sz="1600" dirty="0">
                <a:latin typeface="仿宋" panose="02010609060101010101" pitchFamily="49" charset="-122"/>
                <a:ea typeface="仿宋" panose="02010609060101010101" pitchFamily="49" charset="-122"/>
              </a:rPr>
              <a:t>字节码升级等。</a:t>
            </a:r>
            <a:endParaRPr lang="en-US" altLang="zh-CN" sz="1600" dirty="0">
              <a:latin typeface="仿宋" panose="02010609060101010101" pitchFamily="49" charset="-122"/>
              <a:ea typeface="仿宋" panose="02010609060101010101" pitchFamily="49" charset="-122"/>
            </a:endParaRPr>
          </a:p>
          <a:p>
            <a:endParaRPr lang="en-US" altLang="zh-CN" sz="1600" dirty="0"/>
          </a:p>
          <a:p>
            <a:r>
              <a:rPr lang="en-US" altLang="zh-CN" sz="1600" dirty="0"/>
              <a:t>	2.</a:t>
            </a:r>
            <a:r>
              <a:rPr lang="en-US" altLang="zh-CN" b="1" dirty="0"/>
              <a:t>Bug</a:t>
            </a:r>
            <a:r>
              <a:rPr lang="zh-CN" altLang="en-US" b="1" dirty="0"/>
              <a:t>修复</a:t>
            </a:r>
            <a:r>
              <a:rPr lang="en-US" altLang="zh-CN" dirty="0"/>
              <a:t> </a:t>
            </a:r>
            <a:r>
              <a:rPr lang="zh-CN" altLang="en-US" dirty="0"/>
              <a:t>（</a:t>
            </a:r>
            <a:r>
              <a:rPr lang="en-US" altLang="zh-CN" dirty="0"/>
              <a:t>98</a:t>
            </a:r>
            <a:r>
              <a:rPr lang="zh-CN" altLang="en-US" dirty="0"/>
              <a:t>个）</a:t>
            </a:r>
            <a:endParaRPr lang="en-US" altLang="zh-CN" dirty="0"/>
          </a:p>
          <a:p>
            <a:r>
              <a:rPr lang="en-US" altLang="zh-CN" b="1" dirty="0"/>
              <a:t>		</a:t>
            </a:r>
            <a:r>
              <a:rPr lang="zh-CN" altLang="en-US" sz="1600" dirty="0">
                <a:latin typeface="仿宋" panose="02010609060101010101" pitchFamily="49" charset="-122"/>
                <a:ea typeface="仿宋" panose="02010609060101010101" pitchFamily="49" charset="-122"/>
              </a:rPr>
              <a:t>包括 同步</a:t>
            </a:r>
            <a:r>
              <a:rPr lang="en-US" altLang="zh-CN" sz="1600" dirty="0">
                <a:latin typeface="仿宋" panose="02010609060101010101" pitchFamily="49" charset="-122"/>
                <a:ea typeface="仿宋" panose="02010609060101010101" pitchFamily="49" charset="-122"/>
              </a:rPr>
              <a:t>Tomcat</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Myfaces</a:t>
            </a:r>
            <a:r>
              <a:rPr lang="zh-CN" altLang="en-US" sz="1600" dirty="0">
                <a:latin typeface="仿宋" panose="02010609060101010101" pitchFamily="49" charset="-122"/>
                <a:ea typeface="仿宋" panose="02010609060101010101" pitchFamily="49" charset="-122"/>
              </a:rPr>
              <a:t>等相关漏洞修复、也包括 </a:t>
            </a:r>
            <a:r>
              <a:rPr lang="en-US" altLang="zh-CN" sz="1600" dirty="0">
                <a:latin typeface="仿宋" panose="02010609060101010101" pitchFamily="49" charset="-122"/>
                <a:ea typeface="仿宋" panose="02010609060101010101" pitchFamily="49" charset="-122"/>
              </a:rPr>
              <a:t>CLI </a:t>
            </a:r>
            <a:r>
              <a:rPr lang="zh-CN" altLang="en-US" sz="1600" dirty="0">
                <a:latin typeface="仿宋" panose="02010609060101010101" pitchFamily="49" charset="-122"/>
                <a:ea typeface="仿宋" panose="02010609060101010101" pitchFamily="49" charset="-122"/>
              </a:rPr>
              <a:t>命令行模块、控制台、</a:t>
            </a:r>
            <a:r>
              <a:rPr lang="en-US" altLang="zh-CN" sz="1600" dirty="0" err="1">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模块、</a:t>
            </a:r>
            <a:r>
              <a:rPr lang="en-US" altLang="zh-CN" sz="1600" dirty="0" err="1">
                <a:latin typeface="仿宋" panose="02010609060101010101" pitchFamily="49" charset="-122"/>
                <a:ea typeface="仿宋" panose="02010609060101010101" pitchFamily="49" charset="-122"/>
              </a:rPr>
              <a:t>jmx</a:t>
            </a:r>
            <a:r>
              <a:rPr lang="zh-CN" altLang="en-US" sz="1600" dirty="0">
                <a:latin typeface="仿宋" panose="02010609060101010101" pitchFamily="49" charset="-122"/>
                <a:ea typeface="仿宋" panose="02010609060101010101" pitchFamily="49" charset="-122"/>
              </a:rPr>
              <a:t>注册等相关模块的</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a:t>
            </a:r>
            <a:endParaRPr lang="en-US" altLang="zh-CN" sz="1600" dirty="0">
              <a:latin typeface="仿宋" panose="02010609060101010101" pitchFamily="49" charset="-122"/>
              <a:ea typeface="仿宋" panose="02010609060101010101" pitchFamily="49" charset="-122"/>
            </a:endParaRPr>
          </a:p>
          <a:p>
            <a:endParaRPr lang="en-US" altLang="zh-CN" sz="1600" b="1" dirty="0"/>
          </a:p>
          <a:p>
            <a:r>
              <a:rPr lang="en-US" altLang="zh-CN" sz="1600" b="1" dirty="0"/>
              <a:t>	3.</a:t>
            </a:r>
            <a:r>
              <a:rPr lang="zh-CN" altLang="en-US" sz="1600" b="1" dirty="0"/>
              <a:t>现场问题处理</a:t>
            </a:r>
            <a:r>
              <a:rPr lang="zh-CN" altLang="en-US" sz="1600" dirty="0"/>
              <a:t>（</a:t>
            </a:r>
            <a:r>
              <a:rPr lang="en-US" altLang="zh-CN" sz="1600" dirty="0"/>
              <a:t>2</a:t>
            </a:r>
            <a:r>
              <a:rPr lang="zh-CN" altLang="en-US" sz="1600" dirty="0"/>
              <a:t>个）</a:t>
            </a:r>
            <a:endParaRPr lang="en-US" altLang="zh-CN" sz="1600" b="1" dirty="0"/>
          </a:p>
          <a:p>
            <a:r>
              <a:rPr lang="en-US" altLang="zh-CN" dirty="0"/>
              <a:t>		</a:t>
            </a:r>
            <a:r>
              <a:rPr lang="zh-CN" altLang="en-US" sz="1600" dirty="0">
                <a:latin typeface="仿宋" panose="02010609060101010101" pitchFamily="49" charset="-122"/>
                <a:ea typeface="仿宋" panose="02010609060101010101" pitchFamily="49" charset="-122"/>
              </a:rPr>
              <a:t>包括</a:t>
            </a:r>
            <a:r>
              <a:rPr lang="en-US" altLang="zh-CN" sz="1600" dirty="0">
                <a:latin typeface="仿宋" panose="02010609060101010101" pitchFamily="49" charset="-122"/>
                <a:ea typeface="仿宋" panose="02010609060101010101" pitchFamily="49" charset="-122"/>
              </a:rPr>
              <a:t>License</a:t>
            </a:r>
            <a:r>
              <a:rPr lang="zh-CN" altLang="en-US" sz="1600" dirty="0">
                <a:latin typeface="仿宋" panose="02010609060101010101" pitchFamily="49" charset="-122"/>
                <a:ea typeface="仿宋" panose="02010609060101010101" pitchFamily="49" charset="-122"/>
              </a:rPr>
              <a:t>输出信息不正确等等。</a:t>
            </a:r>
            <a:r>
              <a:rPr lang="en-US" altLang="zh-CN" dirty="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60DAD-5B75-1E5E-CF1D-5217E6C876D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45B26D5-3613-FC8B-AF79-EAD28C69FFDE}"/>
              </a:ext>
            </a:extLst>
          </p:cNvPr>
          <p:cNvSpPr>
            <a:spLocks noGrp="1"/>
          </p:cNvSpPr>
          <p:nvPr>
            <p:ph type="title"/>
          </p:nvPr>
        </p:nvSpPr>
        <p:spPr/>
        <p:txBody>
          <a:bodyPr/>
          <a:lstStyle/>
          <a:p>
            <a:r>
              <a:rPr lang="en-US" altLang="zh-CN" dirty="0"/>
              <a:t>3</a:t>
            </a:r>
            <a:r>
              <a:rPr lang="zh-CN" altLang="en-US" dirty="0"/>
              <a:t>入职后的主要工作 </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DEDF3D0D-EECF-6881-A0EC-F8169D11442B}"/>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6</a:t>
            </a:fld>
            <a:endParaRPr lang="zh-CN" altLang="en-US"/>
          </a:p>
        </p:txBody>
      </p:sp>
      <p:sp>
        <p:nvSpPr>
          <p:cNvPr id="6" name="文本框 5">
            <a:extLst>
              <a:ext uri="{FF2B5EF4-FFF2-40B4-BE49-F238E27FC236}">
                <a16:creationId xmlns:a16="http://schemas.microsoft.com/office/drawing/2014/main" id="{B38EDE5F-CEDE-7A90-6C52-98D2FB5DD371}"/>
              </a:ext>
            </a:extLst>
          </p:cNvPr>
          <p:cNvSpPr txBox="1"/>
          <p:nvPr/>
        </p:nvSpPr>
        <p:spPr>
          <a:xfrm>
            <a:off x="1452650" y="908470"/>
            <a:ext cx="8589994" cy="3816429"/>
          </a:xfrm>
          <a:prstGeom prst="rect">
            <a:avLst/>
          </a:prstGeom>
          <a:noFill/>
        </p:spPr>
        <p:txBody>
          <a:bodyPr wrap="square">
            <a:spAutoFit/>
          </a:bodyPr>
          <a:lstStyle/>
          <a:p>
            <a:r>
              <a:rPr lang="zh-CN" altLang="en-US" b="1" dirty="0"/>
              <a:t>一、新增实例健康度功能</a:t>
            </a:r>
            <a:endParaRPr lang="en-US" altLang="zh-CN" b="1" dirty="0"/>
          </a:p>
          <a:p>
            <a:r>
              <a:rPr lang="en-US" altLang="zh-CN" b="1" dirty="0"/>
              <a:t>	</a:t>
            </a:r>
          </a:p>
          <a:p>
            <a:r>
              <a:rPr lang="en-US" altLang="zh-CN" dirty="0"/>
              <a:t>	</a:t>
            </a:r>
            <a:r>
              <a:rPr lang="en-US" altLang="zh-CN" b="1" dirty="0"/>
              <a:t>1. </a:t>
            </a:r>
            <a:r>
              <a:rPr lang="zh-CN" altLang="en-US" b="1" dirty="0"/>
              <a:t>功能概述</a:t>
            </a:r>
            <a:endParaRPr lang="en-US" altLang="zh-CN" b="1" dirty="0"/>
          </a:p>
          <a:p>
            <a:r>
              <a:rPr lang="en-US" altLang="zh-CN" dirty="0"/>
              <a:t>		</a:t>
            </a:r>
            <a:r>
              <a:rPr lang="zh-CN" altLang="en-US" sz="1600" dirty="0">
                <a:latin typeface="仿宋" panose="02010609060101010101" pitchFamily="49" charset="-122"/>
                <a:ea typeface="仿宋" panose="02010609060101010101" pitchFamily="49" charset="-122"/>
              </a:rPr>
              <a:t>可以实时监控实例的健康状态，从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使用率、内存使用率、</a:t>
            </a:r>
            <a:r>
              <a:rPr lang="en-US" altLang="zh-CN" sz="1600" dirty="0">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次数、</a:t>
            </a:r>
            <a:r>
              <a:rPr lang="en-US" altLang="zh-CN" sz="1600" dirty="0">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超时时间、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等待任务数、</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错误数、</a:t>
            </a:r>
            <a:r>
              <a:rPr lang="en-US" altLang="zh-CN" sz="1600" dirty="0">
                <a:latin typeface="仿宋" panose="02010609060101010101" pitchFamily="49" charset="-122"/>
                <a:ea typeface="仿宋" panose="02010609060101010101" pitchFamily="49" charset="-122"/>
              </a:rPr>
              <a:t>JDBC </a:t>
            </a:r>
            <a:r>
              <a:rPr lang="zh-CN" altLang="en-US" sz="1600" dirty="0">
                <a:latin typeface="仿宋" panose="02010609060101010101" pitchFamily="49" charset="-122"/>
                <a:ea typeface="仿宋" panose="02010609060101010101" pitchFamily="49" charset="-122"/>
              </a:rPr>
              <a:t>等待请求数、</a:t>
            </a:r>
            <a:r>
              <a:rPr lang="en-US" altLang="zh-CN" sz="1600" dirty="0">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泄露连接数、回滚事务。多个维度评分，按照评分将实例分为 </a:t>
            </a:r>
            <a:r>
              <a:rPr lang="en-US" altLang="zh-CN" sz="1600" dirty="0">
                <a:latin typeface="仿宋" panose="02010609060101010101" pitchFamily="49" charset="-122"/>
                <a:ea typeface="仿宋" panose="02010609060101010101" pitchFamily="49" charset="-122"/>
              </a:rPr>
              <a:t>Health</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Warning</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Fault </a:t>
            </a:r>
            <a:r>
              <a:rPr lang="zh-CN" altLang="en-US" sz="1600" dirty="0">
                <a:latin typeface="仿宋" panose="02010609060101010101" pitchFamily="49" charset="-122"/>
                <a:ea typeface="仿宋" panose="02010609060101010101" pitchFamily="49" charset="-122"/>
              </a:rPr>
              <a:t>三种健康度、并给出一个综合健康度。</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en-US" altLang="zh-CN" sz="1600" dirty="0">
                <a:latin typeface="仿宋" panose="02010609060101010101" pitchFamily="49" charset="-122"/>
                <a:ea typeface="仿宋" panose="02010609060101010101" pitchFamily="49" charset="-122"/>
              </a:rPr>
              <a:t>	</a:t>
            </a:r>
            <a:r>
              <a:rPr lang="en-US" altLang="zh-CN" b="1" dirty="0"/>
              <a:t>2.</a:t>
            </a:r>
            <a:r>
              <a:rPr lang="en-US" altLang="zh-CN" b="1" dirty="0">
                <a:latin typeface="+mn-ea"/>
              </a:rPr>
              <a:t> </a:t>
            </a:r>
            <a:r>
              <a:rPr lang="zh-CN" altLang="en-US" b="1" dirty="0">
                <a:latin typeface="+mn-ea"/>
              </a:rPr>
              <a:t>功能详细说明</a:t>
            </a:r>
            <a:endParaRPr lang="en-US" altLang="zh-CN" b="1" dirty="0">
              <a:latin typeface="+mn-ea"/>
            </a:endParaRPr>
          </a:p>
          <a:p>
            <a:r>
              <a:rPr lang="en-US" altLang="zh-CN" b="1" dirty="0">
                <a:latin typeface="+mn-ea"/>
              </a:rPr>
              <a:t>		</a:t>
            </a:r>
            <a:r>
              <a:rPr lang="zh-CN" altLang="en-US" sz="1600" dirty="0">
                <a:latin typeface="仿宋" panose="02010609060101010101" pitchFamily="49" charset="-122"/>
                <a:ea typeface="仿宋" panose="02010609060101010101" pitchFamily="49" charset="-122"/>
              </a:rPr>
              <a:t>用户可以在监控配置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实例状态配置中配置监控规则，并开启、在实例信息详情页中会展示当前实例的总体健康状态，点击可展示其详细信息。</a:t>
            </a:r>
            <a:endParaRPr lang="en-US" altLang="zh-CN" sz="1600" dirty="0">
              <a:latin typeface="仿宋" panose="02010609060101010101" pitchFamily="49" charset="-122"/>
              <a:ea typeface="仿宋" panose="02010609060101010101" pitchFamily="49" charset="-122"/>
            </a:endParaRPr>
          </a:p>
          <a:p>
            <a:endParaRPr lang="zh-CN" altLang="en-US" b="1" dirty="0">
              <a:latin typeface="+mn-ea"/>
            </a:endParaRPr>
          </a:p>
          <a:p>
            <a:endParaRPr lang="en-US" altLang="zh-CN" dirty="0"/>
          </a:p>
          <a:p>
            <a:endParaRPr lang="zh-CN" altLang="en-US" sz="1800" dirty="0"/>
          </a:p>
        </p:txBody>
      </p:sp>
      <p:pic>
        <p:nvPicPr>
          <p:cNvPr id="3" name="图片 2">
            <a:extLst>
              <a:ext uri="{FF2B5EF4-FFF2-40B4-BE49-F238E27FC236}">
                <a16:creationId xmlns:a16="http://schemas.microsoft.com/office/drawing/2014/main" id="{11E6A0A8-A23D-BD7C-A5AA-57A883813893}"/>
              </a:ext>
            </a:extLst>
          </p:cNvPr>
          <p:cNvPicPr>
            <a:picLocks noChangeAspect="1"/>
          </p:cNvPicPr>
          <p:nvPr/>
        </p:nvPicPr>
        <p:blipFill>
          <a:blip r:embed="rId2"/>
          <a:stretch>
            <a:fillRect/>
          </a:stretch>
        </p:blipFill>
        <p:spPr>
          <a:xfrm>
            <a:off x="838686" y="3989803"/>
            <a:ext cx="3424711" cy="2366545"/>
          </a:xfrm>
          <a:prstGeom prst="rect">
            <a:avLst/>
          </a:prstGeom>
        </p:spPr>
      </p:pic>
      <p:pic>
        <p:nvPicPr>
          <p:cNvPr id="8" name="图片 7">
            <a:extLst>
              <a:ext uri="{FF2B5EF4-FFF2-40B4-BE49-F238E27FC236}">
                <a16:creationId xmlns:a16="http://schemas.microsoft.com/office/drawing/2014/main" id="{40BDB382-AAC8-9836-C581-E79B6959F98C}"/>
              </a:ext>
            </a:extLst>
          </p:cNvPr>
          <p:cNvPicPr>
            <a:picLocks noChangeAspect="1"/>
          </p:cNvPicPr>
          <p:nvPr/>
        </p:nvPicPr>
        <p:blipFill>
          <a:blip r:embed="rId3"/>
          <a:stretch>
            <a:fillRect/>
          </a:stretch>
        </p:blipFill>
        <p:spPr>
          <a:xfrm>
            <a:off x="4602079" y="3989803"/>
            <a:ext cx="3549316" cy="2366545"/>
          </a:xfrm>
          <a:prstGeom prst="rect">
            <a:avLst/>
          </a:prstGeom>
        </p:spPr>
      </p:pic>
      <p:pic>
        <p:nvPicPr>
          <p:cNvPr id="10" name="图片 9">
            <a:extLst>
              <a:ext uri="{FF2B5EF4-FFF2-40B4-BE49-F238E27FC236}">
                <a16:creationId xmlns:a16="http://schemas.microsoft.com/office/drawing/2014/main" id="{13665F87-C4C8-52F6-D9D7-5C7CB558C3A2}"/>
              </a:ext>
            </a:extLst>
          </p:cNvPr>
          <p:cNvPicPr>
            <a:picLocks noChangeAspect="1"/>
          </p:cNvPicPr>
          <p:nvPr/>
        </p:nvPicPr>
        <p:blipFill>
          <a:blip r:embed="rId4"/>
          <a:stretch>
            <a:fillRect/>
          </a:stretch>
        </p:blipFill>
        <p:spPr>
          <a:xfrm>
            <a:off x="8405856" y="3989804"/>
            <a:ext cx="2538870" cy="2310807"/>
          </a:xfrm>
          <a:prstGeom prst="rect">
            <a:avLst/>
          </a:prstGeom>
        </p:spPr>
      </p:pic>
    </p:spTree>
    <p:extLst>
      <p:ext uri="{BB962C8B-B14F-4D97-AF65-F5344CB8AC3E}">
        <p14:creationId xmlns:p14="http://schemas.microsoft.com/office/powerpoint/2010/main" val="20357826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BF7DC-1368-EC98-1B16-E6B4E522C19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8C4131C-5020-788F-74A6-5A02EA8138F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7031568-4251-1653-9687-57D5EE99B4D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7</a:t>
            </a:fld>
            <a:endParaRPr lang="zh-CN" altLang="en-US"/>
          </a:p>
        </p:txBody>
      </p:sp>
      <p:sp>
        <p:nvSpPr>
          <p:cNvPr id="6" name="文本框 5">
            <a:extLst>
              <a:ext uri="{FF2B5EF4-FFF2-40B4-BE49-F238E27FC236}">
                <a16:creationId xmlns:a16="http://schemas.microsoft.com/office/drawing/2014/main" id="{65814FB2-13B6-16F4-1FDE-A89C47A132CD}"/>
              </a:ext>
            </a:extLst>
          </p:cNvPr>
          <p:cNvSpPr txBox="1"/>
          <p:nvPr/>
        </p:nvSpPr>
        <p:spPr>
          <a:xfrm>
            <a:off x="1123931" y="954608"/>
            <a:ext cx="4707374" cy="2954655"/>
          </a:xfrm>
          <a:prstGeom prst="rect">
            <a:avLst/>
          </a:prstGeom>
          <a:noFill/>
        </p:spPr>
        <p:txBody>
          <a:bodyPr wrap="square">
            <a:spAutoFit/>
          </a:bodyPr>
          <a:lstStyle/>
          <a:p>
            <a:r>
              <a:rPr lang="zh-CN" altLang="en-US" b="1" dirty="0"/>
              <a:t>一、新增实例健康度功能</a:t>
            </a:r>
            <a:endParaRPr lang="en-US" altLang="zh-CN" b="1" dirty="0"/>
          </a:p>
          <a:p>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sz="1600" b="1" dirty="0">
                <a:latin typeface="+mn-ea"/>
              </a:rPr>
              <a:t>核心亮点：</a:t>
            </a:r>
            <a:endParaRPr lang="en-US" altLang="zh-CN" sz="1600" b="1" dirty="0">
              <a:latin typeface="+mn-ea"/>
            </a:endParaRPr>
          </a:p>
          <a:p>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使用</a:t>
            </a:r>
            <a:r>
              <a:rPr lang="zh-CN" altLang="en-US" sz="1600" b="1" dirty="0">
                <a:latin typeface="华文中宋" panose="02010600040101010101" pitchFamily="2" charset="-122"/>
                <a:ea typeface="华文中宋" panose="02010600040101010101" pitchFamily="2" charset="-122"/>
              </a:rPr>
              <a:t>工厂模式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建造者模式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责任链模式</a:t>
            </a:r>
            <a:r>
              <a:rPr lang="en-US" altLang="zh-CN" sz="1600" b="1"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模板方法模式</a:t>
            </a:r>
            <a:r>
              <a:rPr lang="zh-CN" altLang="en-US" sz="1600" dirty="0">
                <a:latin typeface="仿宋" panose="02010609060101010101" pitchFamily="49" charset="-122"/>
                <a:ea typeface="仿宋" panose="02010609060101010101" pitchFamily="49" charset="-122"/>
              </a:rPr>
              <a:t>完成，整体架构符合</a:t>
            </a:r>
            <a:r>
              <a:rPr lang="zh-CN" altLang="en-US" sz="1600" b="1" dirty="0">
                <a:latin typeface="华文中宋" panose="02010600040101010101" pitchFamily="2" charset="-122"/>
                <a:ea typeface="华文中宋" panose="02010600040101010101" pitchFamily="2" charset="-122"/>
              </a:rPr>
              <a:t>高内聚低耦合</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易扩展，易维护，可配置性强。符合</a:t>
            </a:r>
            <a:r>
              <a:rPr lang="zh-CN" altLang="en-US" sz="1600" b="1" dirty="0">
                <a:latin typeface="华文中宋" panose="02010600040101010101" pitchFamily="2" charset="-122"/>
                <a:ea typeface="华文中宋" panose="02010600040101010101" pitchFamily="2" charset="-122"/>
              </a:rPr>
              <a:t>开闭原则</a:t>
            </a:r>
            <a:r>
              <a:rPr lang="zh-CN" altLang="en-US"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单一职责原则</a:t>
            </a:r>
            <a:r>
              <a:rPr lang="zh-CN" altLang="en-US" sz="1600" dirty="0">
                <a:latin typeface="仿宋" panose="02010609060101010101" pitchFamily="49" charset="-122"/>
                <a:ea typeface="仿宋" panose="02010609060101010101" pitchFamily="49" charset="-122"/>
              </a:rPr>
              <a:t>等软件设计原则。</a:t>
            </a:r>
            <a:endParaRPr lang="en-US" altLang="zh-CN" sz="1600" dirty="0">
              <a:latin typeface="仿宋" panose="02010609060101010101" pitchFamily="49" charset="-122"/>
              <a:ea typeface="仿宋" panose="02010609060101010101" pitchFamily="49" charset="-122"/>
            </a:endParaRPr>
          </a:p>
          <a:p>
            <a:endParaRPr lang="en-US" altLang="zh-CN" sz="1600" b="1" dirty="0">
              <a:latin typeface="+mn-ea"/>
            </a:endParaRPr>
          </a:p>
          <a:p>
            <a:endParaRPr lang="zh-CN" altLang="en-US" sz="1800" dirty="0"/>
          </a:p>
        </p:txBody>
      </p:sp>
      <p:pic>
        <p:nvPicPr>
          <p:cNvPr id="3" name="图片 2">
            <a:extLst>
              <a:ext uri="{FF2B5EF4-FFF2-40B4-BE49-F238E27FC236}">
                <a16:creationId xmlns:a16="http://schemas.microsoft.com/office/drawing/2014/main" id="{4EEC0CB6-445D-AE5E-B5E9-EE4CFE26ED85}"/>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1658344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7E5C8-BBCD-89E0-8307-CFD19CDF97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4620580-786E-D944-C9A8-5D257AAEA508}"/>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F430838-08B2-E9F9-ED8D-0C45E63B70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8</a:t>
            </a:fld>
            <a:endParaRPr lang="zh-CN" altLang="en-US"/>
          </a:p>
        </p:txBody>
      </p:sp>
      <p:sp>
        <p:nvSpPr>
          <p:cNvPr id="6" name="文本框 5">
            <a:extLst>
              <a:ext uri="{FF2B5EF4-FFF2-40B4-BE49-F238E27FC236}">
                <a16:creationId xmlns:a16="http://schemas.microsoft.com/office/drawing/2014/main" id="{42FE3491-1665-EA27-DF24-B6D0B4FC73C9}"/>
              </a:ext>
            </a:extLst>
          </p:cNvPr>
          <p:cNvSpPr txBox="1"/>
          <p:nvPr/>
        </p:nvSpPr>
        <p:spPr>
          <a:xfrm>
            <a:off x="550426" y="908470"/>
            <a:ext cx="5260826" cy="5355312"/>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sz="1600" b="1" dirty="0">
                <a:latin typeface="+mn-ea"/>
              </a:rPr>
              <a:t>1</a:t>
            </a:r>
            <a:r>
              <a:rPr lang="zh-CN" altLang="en-US" sz="1600" b="1" dirty="0">
                <a:latin typeface="+mn-ea"/>
              </a:rPr>
              <a:t>）服务管理层：</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HealthCheckMonitorService</a:t>
            </a:r>
            <a:r>
              <a:rPr lang="zh-CN" altLang="en-US" sz="1600" dirty="0">
                <a:latin typeface="仿宋" panose="02010609060101010101" pitchFamily="49" charset="-122"/>
                <a:ea typeface="仿宋" panose="02010609060101010101" pitchFamily="49" charset="-122"/>
              </a:rPr>
              <a:t> 负责健康检查的核心状态管理（启动、停止、重置、获取匹配结果），内部维护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 存储检测结果。</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HealthCheckMonitorFactory</a:t>
            </a:r>
            <a:r>
              <a:rPr lang="zh-CN" altLang="en-US" sz="1600" dirty="0">
                <a:latin typeface="仿宋" panose="02010609060101010101" pitchFamily="49" charset="-122"/>
                <a:ea typeface="仿宋" panose="02010609060101010101" pitchFamily="49" charset="-122"/>
              </a:rPr>
              <a:t> 作为服务工厂，统一管理服务的生命周期（刷新、启动、停止）和健康状态获取，并提供获取特定规则链（如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内存规则链、异常规则链）的方法。</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p>
          <a:p>
            <a:pPr lvl="1"/>
            <a:r>
              <a:rPr lang="zh-CN" altLang="en-US" sz="1600" b="1" dirty="0">
                <a:latin typeface="仿宋" panose="02010609060101010101" pitchFamily="49" charset="-122"/>
                <a:ea typeface="仿宋" panose="02010609060101010101" pitchFamily="49" charset="-122"/>
              </a:rPr>
              <a:t>单一职责</a:t>
            </a:r>
            <a:r>
              <a:rPr lang="zh-CN" altLang="en-US" sz="1600" dirty="0">
                <a:latin typeface="仿宋" panose="02010609060101010101" pitchFamily="49" charset="-122"/>
                <a:ea typeface="仿宋" panose="02010609060101010101" pitchFamily="49" charset="-122"/>
              </a:rPr>
              <a:t>：服务与工厂分离，服务专注状态与执行，工厂负责创建与生命周期管理。</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：通过工厂统一控制服务实例，便于全局配置与资源控制。</a:t>
            </a:r>
          </a:p>
          <a:p>
            <a:pPr lvl="1"/>
            <a:r>
              <a:rPr lang="zh-CN" altLang="en-US" sz="1600" b="1" dirty="0">
                <a:latin typeface="仿宋" panose="02010609060101010101" pitchFamily="49" charset="-122"/>
                <a:ea typeface="仿宋" panose="02010609060101010101" pitchFamily="49" charset="-122"/>
              </a:rPr>
              <a:t>扩展性</a:t>
            </a:r>
            <a:r>
              <a:rPr lang="zh-CN" altLang="en-US" sz="1600" dirty="0">
                <a:latin typeface="仿宋" panose="02010609060101010101" pitchFamily="49" charset="-122"/>
                <a:ea typeface="仿宋" panose="02010609060101010101" pitchFamily="49" charset="-122"/>
              </a:rPr>
              <a:t>：新增健康检查维度只需扩展工厂方法，不影响核心服务逻辑。</a:t>
            </a:r>
          </a:p>
        </p:txBody>
      </p:sp>
      <p:pic>
        <p:nvPicPr>
          <p:cNvPr id="3" name="图片 2">
            <a:extLst>
              <a:ext uri="{FF2B5EF4-FFF2-40B4-BE49-F238E27FC236}">
                <a16:creationId xmlns:a16="http://schemas.microsoft.com/office/drawing/2014/main" id="{D5083A5A-6E9F-8D24-B304-909C88ADABC6}"/>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282279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920BD-CC5D-D819-A522-FA9B57FC36F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4748926-2604-C348-BAE0-52F6936B169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88013F6B-347A-50C3-198C-EEC399F20F9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9</a:t>
            </a:fld>
            <a:endParaRPr lang="zh-CN" altLang="en-US"/>
          </a:p>
        </p:txBody>
      </p:sp>
      <p:sp>
        <p:nvSpPr>
          <p:cNvPr id="6" name="文本框 5">
            <a:extLst>
              <a:ext uri="{FF2B5EF4-FFF2-40B4-BE49-F238E27FC236}">
                <a16:creationId xmlns:a16="http://schemas.microsoft.com/office/drawing/2014/main" id="{D5B81426-0FAA-49EE-3955-929F305F6C56}"/>
              </a:ext>
            </a:extLst>
          </p:cNvPr>
          <p:cNvSpPr txBox="1"/>
          <p:nvPr/>
        </p:nvSpPr>
        <p:spPr>
          <a:xfrm>
            <a:off x="550426" y="908470"/>
            <a:ext cx="5260826" cy="5386090"/>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b="1" dirty="0"/>
              <a:t>2</a:t>
            </a:r>
            <a:r>
              <a:rPr lang="zh-CN" altLang="en-US" b="1" dirty="0"/>
              <a:t>）规则链与任务执行层</a:t>
            </a:r>
            <a:r>
              <a:rPr lang="zh-CN" altLang="en-US" sz="1600" b="1" dirty="0">
                <a:latin typeface="+mn-ea"/>
              </a:rPr>
              <a:t>：</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CheckHealthTask</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继承 </a:t>
            </a:r>
            <a:r>
              <a:rPr lang="en-US" altLang="zh-CN" sz="1600" dirty="0">
                <a:latin typeface="仿宋" panose="02010609060101010101" pitchFamily="49" charset="-122"/>
                <a:ea typeface="仿宋" panose="02010609060101010101" pitchFamily="49" charset="-122"/>
              </a:rPr>
              <a:t>Thread</a:t>
            </a:r>
            <a:r>
              <a:rPr lang="zh-CN" altLang="en-US" sz="1600" dirty="0">
                <a:latin typeface="仿宋" panose="02010609060101010101" pitchFamily="49" charset="-122"/>
                <a:ea typeface="仿宋" panose="02010609060101010101" pitchFamily="49" charset="-122"/>
              </a:rPr>
              <a:t>，作为独立执行单元，通过 </a:t>
            </a:r>
            <a:r>
              <a:rPr lang="en-US" altLang="zh-CN" sz="1600" dirty="0">
                <a:latin typeface="仿宋" panose="02010609060101010101" pitchFamily="49" charset="-122"/>
                <a:ea typeface="仿宋" panose="02010609060101010101" pitchFamily="49" charset="-122"/>
              </a:rPr>
              <a:t>setChain </a:t>
            </a:r>
            <a:r>
              <a:rPr lang="zh-CN" altLang="en-US" sz="1600" dirty="0">
                <a:latin typeface="仿宋" panose="02010609060101010101" pitchFamily="49" charset="-122"/>
                <a:ea typeface="仿宋" panose="02010609060101010101" pitchFamily="49" charset="-122"/>
              </a:rPr>
              <a:t>注入 </a:t>
            </a: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并在 </a:t>
            </a:r>
            <a:r>
              <a:rPr lang="en-US" altLang="zh-CN" sz="1600" dirty="0">
                <a:latin typeface="仿宋" panose="02010609060101010101" pitchFamily="49" charset="-122"/>
                <a:ea typeface="仿宋" panose="02010609060101010101" pitchFamily="49" charset="-122"/>
              </a:rPr>
              <a:t>run </a:t>
            </a:r>
            <a:r>
              <a:rPr lang="zh-CN" altLang="en-US" sz="1600" dirty="0">
                <a:latin typeface="仿宋" panose="02010609060101010101" pitchFamily="49" charset="-122"/>
                <a:ea typeface="仿宋" panose="02010609060101010101" pitchFamily="49" charset="-122"/>
              </a:rPr>
              <a:t>中执行检查。</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是责任链接口，定义 </a:t>
            </a:r>
            <a:r>
              <a:rPr lang="en-US" altLang="zh-CN" sz="1600" dirty="0">
                <a:latin typeface="仿宋" panose="02010609060101010101" pitchFamily="49" charset="-122"/>
                <a:ea typeface="仿宋" panose="02010609060101010101" pitchFamily="49" charset="-122"/>
              </a:rPr>
              <a:t>check() </a:t>
            </a:r>
            <a:r>
              <a:rPr lang="zh-CN" altLang="en-US" sz="1600" dirty="0">
                <a:latin typeface="仿宋" panose="02010609060101010101" pitchFamily="49" charset="-122"/>
                <a:ea typeface="仿宋" panose="02010609060101010101" pitchFamily="49" charset="-122"/>
              </a:rPr>
              <a:t>和 </a:t>
            </a:r>
            <a:r>
              <a:rPr lang="en-US" altLang="zh-CN" sz="1600" dirty="0">
                <a:latin typeface="仿宋" panose="02010609060101010101" pitchFamily="49" charset="-122"/>
                <a:ea typeface="仿宋" panose="02010609060101010101" pitchFamily="49" charset="-122"/>
              </a:rPr>
              <a:t>getMatches()</a:t>
            </a:r>
            <a:r>
              <a:rPr lang="zh-CN" altLang="en-US" sz="1600" dirty="0">
                <a:latin typeface="仿宋" panose="02010609060101010101" pitchFamily="49" charset="-122"/>
                <a:ea typeface="仿宋" panose="02010609060101010101" pitchFamily="49" charset="-122"/>
              </a:rPr>
              <a:t>。</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HealthCheckMonitorChain</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是其实现，内部维护一组 </a:t>
            </a:r>
            <a:r>
              <a:rPr lang="en-US" altLang="zh-CN" sz="1600" dirty="0">
                <a:latin typeface="仿宋" panose="02010609060101010101" pitchFamily="49" charset="-122"/>
                <a:ea typeface="仿宋" panose="02010609060101010101" pitchFamily="49" charset="-122"/>
              </a:rPr>
              <a:t>Rule </a:t>
            </a:r>
            <a:r>
              <a:rPr lang="zh-CN" altLang="en-US" sz="1600" dirty="0">
                <a:latin typeface="仿宋" panose="02010609060101010101" pitchFamily="49" charset="-122"/>
                <a:ea typeface="仿宋" panose="02010609060101010101" pitchFamily="49" charset="-122"/>
              </a:rPr>
              <a:t>规则，按顺序执行，并将各规则匹配结果汇总到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endParaRPr lang="zh-CN" altLang="en-US" sz="1600" dirty="0">
              <a:latin typeface="+mn-ea"/>
            </a:endParaRPr>
          </a:p>
          <a:p>
            <a:pPr lvl="1"/>
            <a:r>
              <a:rPr lang="zh-CN" altLang="en-US" sz="1600" b="1" dirty="0">
                <a:latin typeface="仿宋" panose="02010609060101010101" pitchFamily="49" charset="-122"/>
                <a:ea typeface="仿宋" panose="02010609060101010101" pitchFamily="49" charset="-122"/>
              </a:rPr>
              <a:t>异步执行</a:t>
            </a:r>
            <a:r>
              <a:rPr lang="zh-CN" altLang="en-US" sz="1600" dirty="0">
                <a:latin typeface="仿宋" panose="02010609060101010101" pitchFamily="49" charset="-122"/>
                <a:ea typeface="仿宋" panose="02010609060101010101" pitchFamily="49" charset="-122"/>
              </a:rPr>
              <a:t>：检查任务独立线程运行，避免阻塞主流程。</a:t>
            </a:r>
          </a:p>
          <a:p>
            <a:pPr lvl="1"/>
            <a:r>
              <a:rPr lang="zh-CN" altLang="en-US" sz="1600" b="1" dirty="0">
                <a:latin typeface="仿宋" panose="02010609060101010101" pitchFamily="49" charset="-122"/>
                <a:ea typeface="仿宋" panose="02010609060101010101" pitchFamily="49" charset="-122"/>
              </a:rPr>
              <a:t>责任链模式</a:t>
            </a:r>
            <a:r>
              <a:rPr lang="zh-CN" altLang="en-US" sz="1600" dirty="0">
                <a:latin typeface="仿宋" panose="02010609060101010101" pitchFamily="49" charset="-122"/>
                <a:ea typeface="仿宋" panose="02010609060101010101" pitchFamily="49" charset="-122"/>
              </a:rPr>
              <a:t>：规则按链式顺序执行，解耦规则之间的依赖，新增</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删除规则不影响整体结构。</a:t>
            </a:r>
          </a:p>
          <a:p>
            <a:pPr lvl="1"/>
            <a:r>
              <a:rPr lang="zh-CN" altLang="en-US" sz="1600" b="1" dirty="0">
                <a:latin typeface="仿宋" panose="02010609060101010101" pitchFamily="49" charset="-122"/>
                <a:ea typeface="仿宋" panose="02010609060101010101" pitchFamily="49" charset="-122"/>
              </a:rPr>
              <a:t>结果聚合</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HealthCheckMonitorChain </a:t>
            </a:r>
            <a:r>
              <a:rPr lang="zh-CN" altLang="en-US" sz="1600" dirty="0">
                <a:latin typeface="仿宋" panose="02010609060101010101" pitchFamily="49" charset="-122"/>
                <a:ea typeface="仿宋" panose="02010609060101010101" pitchFamily="49" charset="-122"/>
              </a:rPr>
              <a:t>统一收集所有规则匹配结果，便于上层一次性获取完整健康状态。</a:t>
            </a:r>
          </a:p>
        </p:txBody>
      </p:sp>
      <p:pic>
        <p:nvPicPr>
          <p:cNvPr id="3" name="图片 2">
            <a:extLst>
              <a:ext uri="{FF2B5EF4-FFF2-40B4-BE49-F238E27FC236}">
                <a16:creationId xmlns:a16="http://schemas.microsoft.com/office/drawing/2014/main" id="{EDA73110-2D67-3888-F178-A75E8094283A}"/>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93152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61EB5-48F0-765D-86C1-43C35B18A4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3D3E6AE-3BEA-7F90-AC3F-27D2F2D0AE0A}"/>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CD627507-9A2D-9B62-F06F-47A0B626BC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10</a:t>
            </a:fld>
            <a:endParaRPr lang="zh-CN" altLang="en-US"/>
          </a:p>
        </p:txBody>
      </p:sp>
      <p:sp>
        <p:nvSpPr>
          <p:cNvPr id="6" name="文本框 5">
            <a:extLst>
              <a:ext uri="{FF2B5EF4-FFF2-40B4-BE49-F238E27FC236}">
                <a16:creationId xmlns:a16="http://schemas.microsoft.com/office/drawing/2014/main" id="{A835E654-F499-709D-515F-7C1CF89CD3AF}"/>
              </a:ext>
            </a:extLst>
          </p:cNvPr>
          <p:cNvSpPr txBox="1"/>
          <p:nvPr/>
        </p:nvSpPr>
        <p:spPr>
          <a:xfrm>
            <a:off x="550426" y="908470"/>
            <a:ext cx="5260826" cy="4955203"/>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3</a:t>
            </a:r>
            <a:r>
              <a:rPr lang="zh-CN" altLang="en-US" b="1" dirty="0"/>
              <a:t>）规则抽象与构建层：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400" b="1"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AbstractRule</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为模板方法基类，封装了规则共有的属性（队列、</a:t>
            </a:r>
            <a:r>
              <a:rPr lang="en-US" altLang="zh-CN" sz="1400" dirty="0">
                <a:latin typeface="仿宋" panose="02010609060101010101" pitchFamily="49" charset="-122"/>
                <a:ea typeface="仿宋" panose="02010609060101010101" pitchFamily="49" charset="-122"/>
              </a:rPr>
              <a:t>MBean</a:t>
            </a:r>
            <a:r>
              <a:rPr lang="zh-CN" altLang="en-US" sz="1400" dirty="0">
                <a:latin typeface="仿宋" panose="02010609060101010101" pitchFamily="49" charset="-122"/>
                <a:ea typeface="仿宋" panose="02010609060101010101" pitchFamily="49" charset="-122"/>
              </a:rPr>
              <a:t>、属性、阈值、间隔等）和抽象方法（</a:t>
            </a:r>
            <a:r>
              <a:rPr lang="en-US" altLang="zh-CN" sz="1400" dirty="0">
                <a:latin typeface="仿宋" panose="02010609060101010101" pitchFamily="49" charset="-122"/>
                <a:ea typeface="仿宋" panose="02010609060101010101" pitchFamily="49" charset="-122"/>
              </a:rPr>
              <a:t>checkData</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formatValue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getValue</a:t>
            </a:r>
            <a:r>
              <a:rPr lang="zh-CN" altLang="en-US" sz="1400" dirty="0">
                <a:latin typeface="仿宋" panose="02010609060101010101" pitchFamily="49" charset="-122"/>
                <a:ea typeface="仿宋" panose="02010609060101010101" pitchFamily="49" charset="-122"/>
              </a:rPr>
              <a:t>）。</a:t>
            </a:r>
            <a:br>
              <a:rPr lang="en-US" altLang="zh-CN"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RuleFactory</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接口定义规则链与规则列表的构建方法，</a:t>
            </a:r>
            <a:r>
              <a:rPr lang="en-US" altLang="zh-CN" sz="1400" dirty="0">
                <a:latin typeface="仿宋" panose="02010609060101010101" pitchFamily="49" charset="-122"/>
                <a:ea typeface="仿宋" panose="02010609060101010101" pitchFamily="49" charset="-122"/>
              </a:rPr>
              <a:t>RuleFactoryImpl </a:t>
            </a:r>
            <a:r>
              <a:rPr lang="zh-CN" altLang="en-US" sz="1400" dirty="0">
                <a:latin typeface="仿宋" panose="02010609060101010101" pitchFamily="49" charset="-122"/>
                <a:ea typeface="仿宋" panose="02010609060101010101" pitchFamily="49" charset="-122"/>
              </a:rPr>
              <a:t>通过组合多个 </a:t>
            </a:r>
            <a:r>
              <a:rPr lang="en-US" altLang="zh-CN" sz="1400" dirty="0">
                <a:latin typeface="仿宋" panose="02010609060101010101" pitchFamily="49" charset="-122"/>
                <a:ea typeface="仿宋" panose="02010609060101010101" pitchFamily="49" charset="-122"/>
              </a:rPr>
              <a:t>RuleBuilder </a:t>
            </a:r>
            <a:r>
              <a:rPr lang="zh-CN" altLang="en-US" sz="1400" dirty="0">
                <a:latin typeface="仿宋" panose="02010609060101010101" pitchFamily="49" charset="-122"/>
                <a:ea typeface="仿宋" panose="02010609060101010101" pitchFamily="49" charset="-122"/>
              </a:rPr>
              <a:t>来动态构建规则链。</a:t>
            </a:r>
            <a:br>
              <a:rPr lang="zh-CN" altLang="en-US"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BaseRuleBuilder</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及其子类（如 </a:t>
            </a:r>
            <a:r>
              <a:rPr lang="en-US" altLang="zh-CN" sz="1400" dirty="0">
                <a:latin typeface="仿宋" panose="02010609060101010101" pitchFamily="49" charset="-122"/>
                <a:ea typeface="仿宋" panose="02010609060101010101" pitchFamily="49" charset="-122"/>
              </a:rPr>
              <a:t>LongTypeRuleBuilder</a:t>
            </a:r>
            <a:r>
              <a:rPr lang="zh-CN" altLang="en-US" sz="1400" dirty="0">
                <a:latin typeface="仿宋" panose="02010609060101010101" pitchFamily="49" charset="-122"/>
                <a:ea typeface="仿宋" panose="02010609060101010101" pitchFamily="49" charset="-122"/>
              </a:rPr>
              <a:t>）采用建造者模式，逐步构建具体规则（如 </a:t>
            </a:r>
            <a:r>
              <a:rPr lang="en-US" altLang="zh-CN" sz="1400" dirty="0">
                <a:latin typeface="仿宋" panose="02010609060101010101" pitchFamily="49" charset="-122"/>
                <a:ea typeface="仿宋" panose="02010609060101010101" pitchFamily="49" charset="-122"/>
              </a:rPr>
              <a:t>CpuRule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MemoryUsageRule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FullGcRule </a:t>
            </a:r>
            <a:r>
              <a:rPr lang="zh-CN" altLang="en-US" sz="1400" dirty="0">
                <a:latin typeface="仿宋" panose="02010609060101010101" pitchFamily="49" charset="-122"/>
                <a:ea typeface="仿宋" panose="02010609060101010101" pitchFamily="49" charset="-122"/>
              </a:rPr>
              <a:t>等）。</a:t>
            </a:r>
            <a:endParaRPr lang="en-US" altLang="zh-CN" sz="14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模板方法模式</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AbstractRule</a:t>
            </a:r>
            <a:r>
              <a:rPr lang="zh-CN" altLang="en-US" sz="1400" dirty="0">
                <a:latin typeface="仿宋" panose="02010609060101010101" pitchFamily="49" charset="-122"/>
                <a:ea typeface="仿宋" panose="02010609060101010101" pitchFamily="49" charset="-122"/>
              </a:rPr>
              <a:t> 将通用逻辑（如数据获取、阈值比较、连续次数判断）固化，子类只需实现特定类型的格式化与检查，减少重复代码。</a:t>
            </a: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a:t>
            </a:r>
            <a:r>
              <a:rPr lang="en-US" altLang="zh-CN" sz="1400" b="1" dirty="0">
                <a:latin typeface="仿宋" panose="02010609060101010101" pitchFamily="49" charset="-122"/>
                <a:ea typeface="仿宋" panose="02010609060101010101" pitchFamily="49" charset="-122"/>
              </a:rPr>
              <a:t>+</a:t>
            </a:r>
            <a:r>
              <a:rPr lang="zh-CN" altLang="en-US" sz="1400" b="1" dirty="0">
                <a:latin typeface="仿宋" panose="02010609060101010101" pitchFamily="49" charset="-122"/>
                <a:ea typeface="仿宋" panose="02010609060101010101" pitchFamily="49" charset="-122"/>
              </a:rPr>
              <a:t>建造者结合</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RuleFactory</a:t>
            </a:r>
            <a:r>
              <a:rPr lang="zh-CN" altLang="en-US" sz="1400" dirty="0">
                <a:latin typeface="仿宋" panose="02010609060101010101" pitchFamily="49" charset="-122"/>
                <a:ea typeface="仿宋" panose="02010609060101010101" pitchFamily="49" charset="-122"/>
              </a:rPr>
              <a:t> 屏蔽规则链的复杂构建过程，</a:t>
            </a:r>
            <a:r>
              <a:rPr lang="en-US" altLang="zh-CN" sz="1400" dirty="0">
                <a:latin typeface="仿宋" panose="02010609060101010101" pitchFamily="49" charset="-122"/>
                <a:ea typeface="仿宋" panose="02010609060101010101" pitchFamily="49" charset="-122"/>
              </a:rPr>
              <a:t>RuleBuilder</a:t>
            </a:r>
            <a:r>
              <a:rPr lang="zh-CN" altLang="en-US" sz="1400" dirty="0">
                <a:latin typeface="仿宋" panose="02010609060101010101" pitchFamily="49" charset="-122"/>
                <a:ea typeface="仿宋" panose="02010609060101010101" pitchFamily="49" charset="-122"/>
              </a:rPr>
              <a:t> 支持灵活配置不同规则，便于扩展新规则类型。</a:t>
            </a:r>
          </a:p>
        </p:txBody>
      </p:sp>
      <p:pic>
        <p:nvPicPr>
          <p:cNvPr id="3" name="图片 2">
            <a:extLst>
              <a:ext uri="{FF2B5EF4-FFF2-40B4-BE49-F238E27FC236}">
                <a16:creationId xmlns:a16="http://schemas.microsoft.com/office/drawing/2014/main" id="{841E55A1-1840-5E42-3DF2-BFD112FA411E}"/>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45274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BEB45-48C6-41AD-CC36-3FCC78727EA8}"/>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F92C1CE-EE15-B8C3-EF78-A447AECDC7FD}"/>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4D6CE410-68B0-5FF2-6393-BFD8EB9CB33F}"/>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11</a:t>
            </a:fld>
            <a:endParaRPr lang="zh-CN" altLang="en-US"/>
          </a:p>
        </p:txBody>
      </p:sp>
      <p:sp>
        <p:nvSpPr>
          <p:cNvPr id="6" name="文本框 5">
            <a:extLst>
              <a:ext uri="{FF2B5EF4-FFF2-40B4-BE49-F238E27FC236}">
                <a16:creationId xmlns:a16="http://schemas.microsoft.com/office/drawing/2014/main" id="{E3AC8466-ADEF-2CF8-FC36-7A1162C16D46}"/>
              </a:ext>
            </a:extLst>
          </p:cNvPr>
          <p:cNvSpPr txBox="1"/>
          <p:nvPr/>
        </p:nvSpPr>
        <p:spPr>
          <a:xfrm>
            <a:off x="550426" y="908470"/>
            <a:ext cx="5260826" cy="4616648"/>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4</a:t>
            </a:r>
            <a:r>
              <a:rPr lang="zh-CN" altLang="en-US" b="1" dirty="0"/>
              <a:t>）具体规则实现层：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600" b="1"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各具体规则继承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，实现特定资源类型的数据采集与健康判断逻辑。例如 </a:t>
            </a:r>
            <a:r>
              <a:rPr lang="en-US" altLang="zh-CN" sz="1600" dirty="0">
                <a:latin typeface="仿宋" panose="02010609060101010101" pitchFamily="49" charset="-122"/>
                <a:ea typeface="仿宋" panose="02010609060101010101" pitchFamily="49" charset="-122"/>
              </a:rPr>
              <a:t>CpuRule</a:t>
            </a:r>
            <a:r>
              <a:rPr lang="zh-CN" altLang="en-US" sz="1600" dirty="0">
                <a:latin typeface="仿宋" panose="02010609060101010101" pitchFamily="49" charset="-122"/>
                <a:ea typeface="仿宋" panose="02010609060101010101" pitchFamily="49" charset="-122"/>
              </a:rPr>
              <a:t> 获取 </a:t>
            </a:r>
            <a:r>
              <a:rPr lang="en-US" altLang="zh-CN" sz="1600" dirty="0">
                <a:latin typeface="仿宋" panose="02010609060101010101" pitchFamily="49" charset="-122"/>
                <a:ea typeface="仿宋" panose="02010609060101010101" pitchFamily="49" charset="-122"/>
              </a:rPr>
              <a:t>CPU </a:t>
            </a:r>
            <a:r>
              <a:rPr lang="zh-CN" altLang="en-US" sz="1600" dirty="0">
                <a:latin typeface="仿宋" panose="02010609060101010101" pitchFamily="49" charset="-122"/>
                <a:ea typeface="仿宋" panose="02010609060101010101" pitchFamily="49" charset="-122"/>
              </a:rPr>
              <a:t>使用率，</a:t>
            </a:r>
            <a:r>
              <a:rPr lang="en-US" altLang="zh-CN" sz="1600" dirty="0">
                <a:latin typeface="仿宋" panose="02010609060101010101" pitchFamily="49" charset="-122"/>
                <a:ea typeface="仿宋" panose="02010609060101010101" pitchFamily="49" charset="-122"/>
              </a:rPr>
              <a:t>FullGcRule</a:t>
            </a:r>
            <a:r>
              <a:rPr lang="zh-CN" altLang="en-US" sz="1600" dirty="0">
                <a:latin typeface="仿宋" panose="02010609060101010101" pitchFamily="49" charset="-122"/>
                <a:ea typeface="仿宋" panose="02010609060101010101" pitchFamily="49" charset="-122"/>
              </a:rPr>
              <a:t> 检测 </a:t>
            </a:r>
            <a:r>
              <a:rPr lang="en-US" altLang="zh-CN" sz="1600" dirty="0">
                <a:latin typeface="仿宋" panose="02010609060101010101" pitchFamily="49" charset="-122"/>
                <a:ea typeface="仿宋" panose="02010609060101010101" pitchFamily="49" charset="-122"/>
              </a:rPr>
              <a:t>Full GC </a:t>
            </a:r>
            <a:r>
              <a:rPr lang="zh-CN" altLang="en-US" sz="1600" dirty="0">
                <a:latin typeface="仿宋" panose="02010609060101010101" pitchFamily="49" charset="-122"/>
                <a:ea typeface="仿宋" panose="02010609060101010101" pitchFamily="49" charset="-122"/>
              </a:rPr>
              <a:t>频率。</a:t>
            </a:r>
            <a:endParaRPr lang="en-US" altLang="zh-CN" sz="16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开闭原则</a:t>
            </a:r>
            <a:r>
              <a:rPr lang="zh-CN" altLang="en-US" sz="1600" dirty="0">
                <a:latin typeface="仿宋" panose="02010609060101010101" pitchFamily="49" charset="-122"/>
                <a:ea typeface="仿宋" panose="02010609060101010101" pitchFamily="49" charset="-122"/>
              </a:rPr>
              <a:t>：新增健康检查指标（如磁盘使用率、网络延迟）只需新增一个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子类及对应 </a:t>
            </a:r>
            <a:r>
              <a:rPr lang="en-US" altLang="zh-CN" sz="1600" dirty="0">
                <a:latin typeface="仿宋" panose="02010609060101010101" pitchFamily="49" charset="-122"/>
                <a:ea typeface="仿宋" panose="02010609060101010101" pitchFamily="49" charset="-122"/>
              </a:rPr>
              <a:t>Builder</a:t>
            </a:r>
            <a:r>
              <a:rPr lang="zh-CN" altLang="en-US" sz="1600" dirty="0">
                <a:latin typeface="仿宋" panose="02010609060101010101" pitchFamily="49" charset="-122"/>
                <a:ea typeface="仿宋" panose="02010609060101010101" pitchFamily="49" charset="-122"/>
              </a:rPr>
              <a:t>，无需修改现有规则链与调度逻辑。</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类型安全</a:t>
            </a:r>
            <a:r>
              <a:rPr lang="zh-CN" altLang="en-US" sz="1600" dirty="0">
                <a:latin typeface="仿宋" panose="02010609060101010101" pitchFamily="49" charset="-122"/>
                <a:ea typeface="仿宋" panose="02010609060101010101" pitchFamily="49" charset="-122"/>
              </a:rPr>
              <a:t>：通过泛型 </a:t>
            </a:r>
            <a:r>
              <a:rPr lang="en-US" altLang="zh-CN" sz="1600" dirty="0">
                <a:latin typeface="仿宋" panose="02010609060101010101" pitchFamily="49" charset="-122"/>
                <a:ea typeface="仿宋" panose="02010609060101010101" pitchFamily="49" charset="-122"/>
              </a:rPr>
              <a:t>AbstractRule&lt;T&gt;</a:t>
            </a:r>
            <a:r>
              <a:rPr lang="zh-CN" altLang="en-US" sz="1600" dirty="0">
                <a:latin typeface="仿宋" panose="02010609060101010101" pitchFamily="49" charset="-122"/>
                <a:ea typeface="仿宋" panose="02010609060101010101" pitchFamily="49" charset="-122"/>
              </a:rPr>
              <a:t> 明确规则处理的数据类型（如 </a:t>
            </a:r>
            <a:r>
              <a:rPr lang="en-US" altLang="zh-CN" sz="1600" dirty="0">
                <a:latin typeface="仿宋" panose="02010609060101010101" pitchFamily="49" charset="-122"/>
                <a:ea typeface="仿宋" panose="02010609060101010101" pitchFamily="49" charset="-122"/>
              </a:rPr>
              <a:t>Double</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Long</a:t>
            </a:r>
            <a:r>
              <a:rPr lang="zh-CN" altLang="en-US" sz="1600" dirty="0">
                <a:latin typeface="仿宋" panose="02010609060101010101" pitchFamily="49" charset="-122"/>
                <a:ea typeface="仿宋" panose="02010609060101010101" pitchFamily="49" charset="-122"/>
              </a:rPr>
              <a:t>），避免类型转换错误。</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复用性</a:t>
            </a:r>
            <a:r>
              <a:rPr lang="zh-CN" altLang="en-US" sz="1600" dirty="0">
                <a:latin typeface="仿宋" panose="02010609060101010101" pitchFamily="49" charset="-122"/>
                <a:ea typeface="仿宋" panose="02010609060101010101" pitchFamily="49" charset="-122"/>
              </a:rPr>
              <a:t>：同一类规则（如所有数值阈值型规则）可复用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的通用算法逻辑。</a:t>
            </a:r>
          </a:p>
        </p:txBody>
      </p:sp>
      <p:pic>
        <p:nvPicPr>
          <p:cNvPr id="3" name="图片 2">
            <a:extLst>
              <a:ext uri="{FF2B5EF4-FFF2-40B4-BE49-F238E27FC236}">
                <a16:creationId xmlns:a16="http://schemas.microsoft.com/office/drawing/2014/main" id="{4FAD3C82-94B5-DABF-58A3-E234C70E3A62}"/>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935494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3.1</a:t>
            </a:r>
            <a:r>
              <a:rPr lang="zh-CN" altLang="en-US" dirty="0"/>
              <a:t> 主要工作成果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12</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12334" y="827907"/>
            <a:ext cx="9367035" cy="5201424"/>
          </a:xfrm>
          <a:prstGeom prst="rect">
            <a:avLst/>
          </a:prstGeom>
          <a:noFill/>
        </p:spPr>
        <p:txBody>
          <a:bodyPr wrap="square">
            <a:spAutoFit/>
          </a:bodyPr>
          <a:lstStyle/>
          <a:p>
            <a:r>
              <a:rPr lang="zh-CN" altLang="en-US" sz="1800" b="1" dirty="0">
                <a:latin typeface="+mn-ea"/>
              </a:rPr>
              <a:t>一、主要工作成绩</a:t>
            </a:r>
            <a:endParaRPr lang="en-US" altLang="zh-CN" sz="1800" b="1" dirty="0">
              <a:latin typeface="+mn-ea"/>
            </a:endParaRPr>
          </a:p>
          <a:p>
            <a:endParaRPr lang="en-US" altLang="zh-CN" sz="1800" dirty="0"/>
          </a:p>
          <a:p>
            <a:pPr marL="342900" indent="-342900">
              <a:buAutoNum type="arabicPeriod"/>
            </a:pPr>
            <a:r>
              <a:rPr lang="zh-CN" altLang="en-US" sz="1600" dirty="0">
                <a:latin typeface="仿宋" panose="02010609060101010101" pitchFamily="49" charset="-122"/>
                <a:ea typeface="仿宋" panose="02010609060101010101" pitchFamily="49" charset="-122"/>
              </a:rPr>
              <a:t>各个版本各个模块及子组件的需求均有所涉及，对于各模块都有一定的熟悉程度。</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dirty="0">
                <a:latin typeface="仿宋" panose="02010609060101010101" pitchFamily="49" charset="-122"/>
                <a:ea typeface="仿宋" panose="02010609060101010101" pitchFamily="49" charset="-122"/>
              </a:rPr>
              <a:t>独立承担了部署应用增加附加类库属性，从需求到测试的相关工作。对于核心应用部署，及其类加载流程有一定的了解。</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日志模块，切换日志框架后，对功能做了优化，后续如需要切换其他日志框架只需要替换</a:t>
            </a:r>
            <a:r>
              <a:rPr lang="en-US" altLang="zh-CN" sz="1600" dirty="0">
                <a:latin typeface="仿宋" panose="02010609060101010101" pitchFamily="49" charset="-122"/>
                <a:ea typeface="仿宋" panose="02010609060101010101" pitchFamily="49" charset="-122"/>
              </a:rPr>
              <a:t>pom</a:t>
            </a:r>
            <a:r>
              <a:rPr lang="zh-CN" altLang="en-US" sz="1600" dirty="0">
                <a:latin typeface="仿宋" panose="02010609060101010101" pitchFamily="49" charset="-122"/>
                <a:ea typeface="仿宋" panose="02010609060101010101" pitchFamily="49" charset="-122"/>
              </a:rPr>
              <a:t>依赖即可</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800" dirty="0">
              <a:latin typeface="仿宋" panose="02010609060101010101" pitchFamily="49" charset="-122"/>
              <a:ea typeface="仿宋" panose="02010609060101010101" pitchFamily="49" charset="-122"/>
            </a:endParaRPr>
          </a:p>
          <a:p>
            <a:r>
              <a:rPr lang="zh-CN" altLang="en-US" b="1" dirty="0">
                <a:latin typeface="+mn-ea"/>
              </a:rPr>
              <a:t>二、工作改进总结</a:t>
            </a:r>
            <a:endParaRPr lang="en-US" altLang="zh-CN" b="1" dirty="0">
              <a:latin typeface="+mn-ea"/>
            </a:endParaRPr>
          </a:p>
          <a:p>
            <a:endParaRPr lang="en-US" altLang="zh-CN" b="1" dirty="0">
              <a:latin typeface="+mn-ea"/>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加深产品宏观理解</a:t>
            </a:r>
            <a:r>
              <a:rPr lang="zh-CN" altLang="en-US" sz="1600" dirty="0">
                <a:latin typeface="仿宋" panose="02010609060101010101" pitchFamily="49" charset="-122"/>
                <a:ea typeface="仿宋" panose="02010609060101010101" pitchFamily="49" charset="-122"/>
              </a:rPr>
              <a:t>：对于产品的整体熟悉程度还不够，导致在工作中出现重复造轮子的情况。实际上产品上已经有相关的工具类。</a:t>
            </a:r>
            <a:endParaRPr lang="en-US" altLang="zh-CN" sz="1600" dirty="0">
              <a:latin typeface="仿宋" panose="02010609060101010101" pitchFamily="49" charset="-122"/>
              <a:ea typeface="仿宋" panose="02010609060101010101" pitchFamily="49" charset="-122"/>
            </a:endParaRPr>
          </a:p>
          <a:p>
            <a:pPr lvl="1"/>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保持严谨、注意细节</a:t>
            </a:r>
            <a:r>
              <a:rPr lang="zh-CN" altLang="en-US" sz="1600" dirty="0">
                <a:latin typeface="仿宋" panose="02010609060101010101" pitchFamily="49" charset="-122"/>
                <a:ea typeface="仿宋" panose="02010609060101010101" pitchFamily="49" charset="-122"/>
              </a:rPr>
              <a:t>：对于工作产出需要保持高度的严谨，细节可能注意的不到位。工作中出现过，代码规范不符合原有风格，修改相关</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问题后没有注意修改代码引起的其他场景可能会出现问题等。</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pPr marL="342900" indent="-342900">
              <a:buAutoNum type="arabicPeriod" startAt="3"/>
            </a:pPr>
            <a:r>
              <a:rPr lang="zh-CN" altLang="en-US" sz="1600" b="1" dirty="0">
                <a:latin typeface="华文中宋" panose="02010600040101010101" pitchFamily="2" charset="-122"/>
                <a:ea typeface="华文中宋" panose="02010600040101010101" pitchFamily="2" charset="-122"/>
              </a:rPr>
              <a:t>充分沟通、充分理解需求</a:t>
            </a:r>
            <a:r>
              <a:rPr lang="zh-CN" altLang="en-US"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对于相关需求一定要进行充分的沟通，把每一个细节都理解透。否则会导致出现，工作产出与需求不符合的情况。</a:t>
            </a:r>
            <a:endParaRPr lang="en-US" altLang="zh-CN" sz="1600" dirty="0">
              <a:latin typeface="仿宋" panose="02010609060101010101" pitchFamily="49" charset="-122"/>
              <a:ea typeface="仿宋" panose="02010609060101010101" pitchFamily="49" charset="-122"/>
            </a:endParaRPr>
          </a:p>
        </p:txBody>
      </p:sp>
    </p:spTree>
    <p:extLst>
      <p:ext uri="{BB962C8B-B14F-4D97-AF65-F5344CB8AC3E}">
        <p14:creationId xmlns:p14="http://schemas.microsoft.com/office/powerpoint/2010/main" val="9586199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13</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600436" y="1061198"/>
            <a:ext cx="4991472" cy="5047536"/>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latin typeface="+mn-ea"/>
              </a:rPr>
              <a:t>概述</a:t>
            </a:r>
            <a:r>
              <a:rPr lang="en-US" altLang="zh-CN" b="1" dirty="0">
                <a:latin typeface="+mn-ea"/>
              </a:rPr>
              <a:t>: </a:t>
            </a:r>
          </a:p>
          <a:p>
            <a:r>
              <a:rPr lang="en-US" altLang="zh-CN" sz="1800" b="1" dirty="0">
                <a:latin typeface="+mn-ea"/>
              </a:rPr>
              <a:t>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模块是指提供命令交互方式来管理和操作系统。一个良好的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框架能够显著降低运维复杂度，提升系统的可控性。</a:t>
            </a:r>
            <a:endParaRPr lang="en-US" altLang="zh-CN" sz="14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zh-CN" altLang="en-US" b="1" dirty="0">
                <a:latin typeface="+mn-ea"/>
              </a:rPr>
              <a:t>整体框架说明：</a:t>
            </a:r>
            <a:endParaRPr lang="en-US" altLang="zh-CN" b="1" dirty="0">
              <a:latin typeface="+mn-ea"/>
            </a:endParaRPr>
          </a:p>
          <a:p>
            <a:r>
              <a:rPr lang="en-US" altLang="zh-CN" b="1" dirty="0">
                <a:latin typeface="+mn-ea"/>
              </a:rPr>
              <a:t>	</a:t>
            </a:r>
            <a:r>
              <a:rPr lang="zh-CN" altLang="en-US" sz="1400" dirty="0">
                <a:latin typeface="仿宋" panose="02010609060101010101" pitchFamily="49" charset="-122"/>
                <a:ea typeface="仿宋" panose="02010609060101010101" pitchFamily="49" charset="-122"/>
              </a:rPr>
              <a:t>该框架分为：入口与对象创建层、命令抽象与远程适配层、核心业务逻辑骨架层、具体命令与处理器编排层、具体处理器实现层。</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仿宋" panose="02010609060101010101" pitchFamily="49" charset="-122"/>
                <a:ea typeface="仿宋" panose="02010609060101010101" pitchFamily="49" charset="-122"/>
              </a:rPr>
              <a:t>整体上，该设计通过 </a:t>
            </a:r>
            <a:r>
              <a:rPr lang="zh-CN" altLang="en-US" sz="1400" b="1" dirty="0">
                <a:latin typeface="仿宋" panose="02010609060101010101" pitchFamily="49" charset="-122"/>
                <a:ea typeface="仿宋" panose="02010609060101010101" pitchFamily="49" charset="-122"/>
              </a:rPr>
              <a:t>分层抽象 </a:t>
            </a:r>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工厂解耦</a:t>
            </a:r>
            <a:r>
              <a:rPr lang="zh-CN" altLang="en-US" sz="1400" dirty="0">
                <a:latin typeface="仿宋" panose="02010609060101010101" pitchFamily="49" charset="-122"/>
                <a:ea typeface="仿宋" panose="02010609060101010101" pitchFamily="49" charset="-122"/>
              </a:rPr>
              <a:t> </a:t>
            </a:r>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责任链拆分</a:t>
            </a:r>
            <a:r>
              <a:rPr lang="zh-CN" altLang="en-US" sz="1400" dirty="0">
                <a:latin typeface="仿宋" panose="02010609060101010101" pitchFamily="49" charset="-122"/>
                <a:ea typeface="仿宋" panose="02010609060101010101" pitchFamily="49" charset="-122"/>
              </a:rPr>
              <a:t>，实现了：</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高扩展性</a:t>
            </a:r>
            <a:r>
              <a:rPr lang="zh-CN" altLang="en-US" sz="1400" dirty="0">
                <a:latin typeface="仿宋" panose="02010609060101010101" pitchFamily="49" charset="-122"/>
                <a:ea typeface="仿宋" panose="02010609060101010101" pitchFamily="49" charset="-122"/>
              </a:rPr>
              <a:t>：新增命令、新增处理步骤几乎不修改原有代码。</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高可维护性</a:t>
            </a:r>
            <a:r>
              <a:rPr lang="zh-CN" altLang="en-US" sz="1400" dirty="0">
                <a:latin typeface="仿宋" panose="02010609060101010101" pitchFamily="49" charset="-122"/>
                <a:ea typeface="仿宋" panose="02010609060101010101" pitchFamily="49" charset="-122"/>
              </a:rPr>
              <a:t>：每个类职责清晰，流程统一。</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统一管理</a:t>
            </a:r>
            <a:r>
              <a:rPr lang="zh-CN" altLang="en-US" sz="1400" dirty="0">
                <a:latin typeface="仿宋" panose="02010609060101010101" pitchFamily="49" charset="-122"/>
                <a:ea typeface="仿宋" panose="02010609060101010101" pitchFamily="49" charset="-122"/>
              </a:rPr>
              <a:t>：本地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与远程管理共享相同的命令模型，便于统一监控与控制。</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灵活的执行顺序控制</a:t>
            </a:r>
            <a:r>
              <a:rPr lang="zh-CN" altLang="en-US" sz="1400" dirty="0">
                <a:latin typeface="仿宋" panose="02010609060101010101" pitchFamily="49" charset="-122"/>
                <a:ea typeface="仿宋" panose="02010609060101010101" pitchFamily="49" charset="-122"/>
              </a:rPr>
              <a:t>：通过优先级队列，命令内部步骤可动态排序，无需硬编码</a:t>
            </a:r>
            <a:r>
              <a:rPr lang="zh-CN" altLang="en-US" sz="1600" dirty="0">
                <a:latin typeface="仿宋" panose="02010609060101010101" pitchFamily="49" charset="-122"/>
                <a:ea typeface="仿宋" panose="02010609060101010101" pitchFamily="49" charset="-122"/>
              </a:rPr>
              <a:t>。</a:t>
            </a:r>
          </a:p>
        </p:txBody>
      </p:sp>
      <p:pic>
        <p:nvPicPr>
          <p:cNvPr id="10" name="图片 9">
            <a:extLst>
              <a:ext uri="{FF2B5EF4-FFF2-40B4-BE49-F238E27FC236}">
                <a16:creationId xmlns:a16="http://schemas.microsoft.com/office/drawing/2014/main" id="{3C62BCA2-B7F8-2DAE-E0B0-7946FED66C4A}"/>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266211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0D6E8-500B-9603-8576-E091083F7F2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1FC6A792-2E5D-7BCE-A016-F1739FD9C45F}"/>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CC74D79D-C449-2B3C-7198-64F6C8CF58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14</a:t>
            </a:fld>
            <a:endParaRPr lang="zh-CN" altLang="en-US"/>
          </a:p>
        </p:txBody>
      </p:sp>
      <p:sp>
        <p:nvSpPr>
          <p:cNvPr id="6" name="文本框 5">
            <a:extLst>
              <a:ext uri="{FF2B5EF4-FFF2-40B4-BE49-F238E27FC236}">
                <a16:creationId xmlns:a16="http://schemas.microsoft.com/office/drawing/2014/main" id="{0BEB0D6C-5A41-C748-FB45-9C392F6AC7C5}"/>
              </a:ext>
            </a:extLst>
          </p:cNvPr>
          <p:cNvSpPr txBox="1"/>
          <p:nvPr/>
        </p:nvSpPr>
        <p:spPr>
          <a:xfrm>
            <a:off x="398213" y="908470"/>
            <a:ext cx="4991472" cy="5478423"/>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第一层：入口与对象创建层 </a:t>
            </a:r>
            <a:r>
              <a:rPr lang="en-US" altLang="zh-CN" b="1" dirty="0"/>
              <a:t>(CLI / Main &amp; CommandFactory)</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统一入口</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CLI / Main</a:t>
            </a:r>
            <a:r>
              <a:rPr lang="zh-CN" altLang="en-US" sz="1600" dirty="0">
                <a:latin typeface="仿宋" panose="02010609060101010101" pitchFamily="49" charset="-122"/>
                <a:ea typeface="仿宋" panose="02010609060101010101" pitchFamily="49" charset="-122"/>
              </a:rPr>
              <a:t> 是程序的唯一入口点。</a:t>
            </a:r>
          </a:p>
          <a:p>
            <a:pPr lvl="1"/>
            <a:r>
              <a:rPr lang="zh-CN" altLang="en-US" sz="1600" b="1" dirty="0">
                <a:latin typeface="仿宋" panose="02010609060101010101" pitchFamily="49" charset="-122"/>
                <a:ea typeface="仿宋" panose="02010609060101010101" pitchFamily="49" charset="-122"/>
              </a:rPr>
              <a:t>工厂模式</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CommandFactory</a:t>
            </a:r>
            <a:r>
              <a:rPr lang="zh-CN" altLang="en-US" sz="1600" dirty="0">
                <a:latin typeface="仿宋" panose="02010609060101010101" pitchFamily="49" charset="-122"/>
                <a:ea typeface="仿宋" panose="02010609060101010101" pitchFamily="49" charset="-122"/>
              </a:rPr>
              <a:t> 负责根据 </a:t>
            </a:r>
            <a:r>
              <a:rPr lang="en-US" altLang="zh-CN" sz="1600" dirty="0">
                <a:latin typeface="仿宋" panose="02010609060101010101" pitchFamily="49" charset="-122"/>
                <a:ea typeface="仿宋" panose="02010609060101010101" pitchFamily="49" charset="-122"/>
              </a:rPr>
              <a:t>CommandDescriptor</a:t>
            </a:r>
            <a:r>
              <a:rPr lang="zh-CN" altLang="en-US" sz="1600" dirty="0">
                <a:latin typeface="仿宋" panose="02010609060101010101" pitchFamily="49" charset="-122"/>
                <a:ea typeface="仿宋" panose="02010609060101010101" pitchFamily="49" charset="-122"/>
              </a:rPr>
              <a:t>（配置文件）来创建具体的命令对象。它维护了一个 </a:t>
            </a:r>
            <a:r>
              <a:rPr lang="en-US" altLang="zh-CN" sz="1600" dirty="0">
                <a:latin typeface="仿宋" panose="02010609060101010101" pitchFamily="49" charset="-122"/>
                <a:ea typeface="仿宋" panose="02010609060101010101" pitchFamily="49" charset="-122"/>
              </a:rPr>
              <a:t>Map</a:t>
            </a:r>
            <a:r>
              <a:rPr lang="zh-CN" altLang="en-US" sz="1600" dirty="0">
                <a:latin typeface="仿宋" panose="02010609060101010101" pitchFamily="49" charset="-122"/>
                <a:ea typeface="仿宋" panose="02010609060101010101" pitchFamily="49" charset="-122"/>
              </a:rPr>
              <a:t>，将命令字符串映射到具体的类描述符。</a:t>
            </a:r>
            <a:endParaRPr lang="en-US" altLang="zh-CN" sz="1600" dirty="0">
              <a:latin typeface="仿宋" panose="02010609060101010101" pitchFamily="49" charset="-122"/>
              <a:ea typeface="仿宋" panose="02010609060101010101" pitchFamily="49" charset="-122"/>
            </a:endParaRPr>
          </a:p>
          <a:p>
            <a:pPr lvl="1"/>
            <a:endParaRPr lang="zh-CN" altLang="en-US"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解耦</a:t>
            </a:r>
            <a:r>
              <a:rPr lang="zh-CN" altLang="en-US" sz="1600" dirty="0">
                <a:latin typeface="仿宋" panose="02010609060101010101" pitchFamily="49" charset="-122"/>
                <a:ea typeface="仿宋" panose="02010609060101010101" pitchFamily="49" charset="-122"/>
              </a:rPr>
              <a:t>：主程序不需要知道具体有哪些命令类，只需要通过工厂获取。</a:t>
            </a:r>
          </a:p>
          <a:p>
            <a:pPr lvl="1"/>
            <a:r>
              <a:rPr lang="zh-CN" altLang="en-US" sz="1600" b="1" dirty="0">
                <a:latin typeface="仿宋" panose="02010609060101010101" pitchFamily="49" charset="-122"/>
                <a:ea typeface="仿宋" panose="02010609060101010101" pitchFamily="49" charset="-122"/>
              </a:rPr>
              <a:t>配置驱动</a:t>
            </a:r>
            <a:r>
              <a:rPr lang="zh-CN" altLang="en-US" sz="1600" dirty="0">
                <a:latin typeface="仿宋" panose="02010609060101010101" pitchFamily="49" charset="-122"/>
                <a:ea typeface="仿宋" panose="02010609060101010101" pitchFamily="49" charset="-122"/>
              </a:rPr>
              <a:t>：通过外部配置文件（</a:t>
            </a:r>
            <a:r>
              <a:rPr lang="en-US" altLang="zh-CN" sz="1600" dirty="0">
                <a:latin typeface="仿宋" panose="02010609060101010101" pitchFamily="49" charset="-122"/>
                <a:ea typeface="仿宋" panose="02010609060101010101" pitchFamily="49" charset="-122"/>
              </a:rPr>
              <a:t>CommandDescriptor</a:t>
            </a:r>
            <a:r>
              <a:rPr lang="zh-CN" altLang="en-US" sz="1600" dirty="0">
                <a:latin typeface="仿宋" panose="02010609060101010101" pitchFamily="49" charset="-122"/>
                <a:ea typeface="仿宋" panose="02010609060101010101" pitchFamily="49" charset="-122"/>
              </a:rPr>
              <a:t>）管理命令，意味着增加新命令可能只需要修改配置或注册，而不需要修改核心启动代码，符合开闭原则。</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：所有的命令创建逻辑集中在一处，便于维护。</a:t>
            </a:r>
          </a:p>
        </p:txBody>
      </p:sp>
      <p:pic>
        <p:nvPicPr>
          <p:cNvPr id="10" name="图片 9">
            <a:extLst>
              <a:ext uri="{FF2B5EF4-FFF2-40B4-BE49-F238E27FC236}">
                <a16:creationId xmlns:a16="http://schemas.microsoft.com/office/drawing/2014/main" id="{0A1E263F-3827-0B8F-B501-F5A3D48F9B65}"/>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241599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74299-FD54-5FD8-6CCE-8BEC9784F4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4C03DF33-8436-61D5-0E82-33A70E57136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0AC9EAE-F576-1F59-6A9C-683E08ABA0E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15</a:t>
            </a:fld>
            <a:endParaRPr lang="zh-CN" altLang="en-US"/>
          </a:p>
        </p:txBody>
      </p:sp>
      <p:sp>
        <p:nvSpPr>
          <p:cNvPr id="6" name="文本框 5">
            <a:extLst>
              <a:ext uri="{FF2B5EF4-FFF2-40B4-BE49-F238E27FC236}">
                <a16:creationId xmlns:a16="http://schemas.microsoft.com/office/drawing/2014/main" id="{64823D12-16C7-AF2B-D755-6CEA1B101941}"/>
              </a:ext>
            </a:extLst>
          </p:cNvPr>
          <p:cNvSpPr txBox="1"/>
          <p:nvPr/>
        </p:nvSpPr>
        <p:spPr>
          <a:xfrm>
            <a:off x="615461" y="1012954"/>
            <a:ext cx="5345723" cy="4832092"/>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第二层：命令抽象与远程适配层 </a:t>
            </a:r>
            <a:r>
              <a:rPr lang="en-US" altLang="zh-CN" b="1" dirty="0"/>
              <a:t>(Abstract CliCommand &amp; CliRemoteCommand)</a:t>
            </a:r>
          </a:p>
          <a:p>
            <a:endParaRPr lang="en-US" altLang="zh-CN" b="1" dirty="0"/>
          </a:p>
          <a:p>
            <a:r>
              <a:rPr lang="zh-CN" altLang="en-US" b="1" dirty="0"/>
              <a:t>设计总结：</a:t>
            </a:r>
          </a:p>
          <a:p>
            <a:pPr lvl="1"/>
            <a:r>
              <a:rPr lang="zh-CN" altLang="en-US" sz="1400" b="1" dirty="0">
                <a:latin typeface="仿宋" panose="02010609060101010101" pitchFamily="49" charset="-122"/>
                <a:ea typeface="仿宋" panose="02010609060101010101" pitchFamily="49" charset="-122"/>
              </a:rPr>
              <a:t>模版方法模式 </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 CliCommand </a:t>
            </a:r>
            <a:r>
              <a:rPr lang="zh-CN" altLang="en-US" sz="1400" dirty="0">
                <a:latin typeface="仿宋" panose="02010609060101010101" pitchFamily="49" charset="-122"/>
                <a:ea typeface="仿宋" panose="02010609060101010101" pitchFamily="49" charset="-122"/>
              </a:rPr>
              <a:t>定义了所有命令的标准接口（</a:t>
            </a:r>
            <a:r>
              <a:rPr lang="en-US" altLang="zh-CN" sz="1400" dirty="0">
                <a:latin typeface="仿宋" panose="02010609060101010101" pitchFamily="49" charset="-122"/>
                <a:ea typeface="仿宋" panose="02010609060101010101" pitchFamily="49" charset="-122"/>
              </a:rPr>
              <a:t>execute, initialize, prepare</a:t>
            </a:r>
            <a:r>
              <a:rPr lang="zh-CN" altLang="en-US" sz="1400" dirty="0">
                <a:latin typeface="仿宋" panose="02010609060101010101" pitchFamily="49" charset="-122"/>
                <a:ea typeface="仿宋" panose="02010609060101010101" pitchFamily="49" charset="-122"/>
              </a:rPr>
              <a:t>），及执行流程。</a:t>
            </a:r>
          </a:p>
          <a:p>
            <a:pPr lvl="1"/>
            <a:r>
              <a:rPr lang="zh-CN" altLang="en-US" sz="1400" b="1" dirty="0">
                <a:latin typeface="仿宋" panose="02010609060101010101" pitchFamily="49" charset="-122"/>
                <a:ea typeface="仿宋" panose="02010609060101010101" pitchFamily="49" charset="-122"/>
              </a:rPr>
              <a:t>本地与远程分离</a:t>
            </a:r>
            <a:r>
              <a:rPr lang="zh-CN" altLang="en-US" sz="1400" dirty="0">
                <a:latin typeface="仿宋" panose="02010609060101010101" pitchFamily="49" charset="-122"/>
                <a:ea typeface="仿宋" panose="02010609060101010101" pitchFamily="49" charset="-122"/>
              </a:rPr>
              <a:t>：设计了具体的命令如 </a:t>
            </a:r>
            <a:r>
              <a:rPr lang="en-US" altLang="zh-CN" sz="1400" dirty="0">
                <a:latin typeface="仿宋" panose="02010609060101010101" pitchFamily="49" charset="-122"/>
                <a:ea typeface="仿宋" panose="02010609060101010101" pitchFamily="49" charset="-122"/>
              </a:rPr>
              <a:t>StartServerCommand</a:t>
            </a:r>
            <a:r>
              <a:rPr lang="zh-CN" altLang="en-US" sz="1400" dirty="0">
                <a:latin typeface="仿宋" panose="02010609060101010101" pitchFamily="49" charset="-122"/>
                <a:ea typeface="仿宋" panose="02010609060101010101" pitchFamily="49" charset="-122"/>
              </a:rPr>
              <a:t>（本地执行）和 </a:t>
            </a:r>
            <a:r>
              <a:rPr lang="en-US" altLang="zh-CN" sz="1400" dirty="0">
                <a:latin typeface="仿宋" panose="02010609060101010101" pitchFamily="49" charset="-122"/>
                <a:ea typeface="仿宋" panose="02010609060101010101" pitchFamily="49" charset="-122"/>
              </a:rPr>
              <a:t>CliRemoteCommand</a:t>
            </a:r>
            <a:r>
              <a:rPr lang="zh-CN" altLang="en-US" sz="1400" dirty="0">
                <a:latin typeface="仿宋" panose="02010609060101010101" pitchFamily="49" charset="-122"/>
                <a:ea typeface="仿宋" panose="02010609060101010101" pitchFamily="49" charset="-122"/>
              </a:rPr>
              <a:t>（远程执行）。</a:t>
            </a:r>
          </a:p>
          <a:p>
            <a:pPr lvl="1"/>
            <a:r>
              <a:rPr lang="zh-CN" altLang="en-US" sz="1400" b="1" dirty="0">
                <a:latin typeface="仿宋" panose="02010609060101010101" pitchFamily="49" charset="-122"/>
                <a:ea typeface="仿宋" panose="02010609060101010101" pitchFamily="49" charset="-122"/>
              </a:rPr>
              <a:t>远程桥接</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CliRemoteCommand </a:t>
            </a:r>
            <a:r>
              <a:rPr lang="zh-CN" altLang="en-US" sz="1400" dirty="0">
                <a:latin typeface="仿宋" panose="02010609060101010101" pitchFamily="49" charset="-122"/>
                <a:ea typeface="仿宋" panose="02010609060101010101" pitchFamily="49" charset="-122"/>
              </a:rPr>
              <a:t>通过 </a:t>
            </a:r>
            <a:r>
              <a:rPr lang="en-US" altLang="zh-CN" sz="1400" dirty="0">
                <a:latin typeface="仿宋" panose="02010609060101010101" pitchFamily="49" charset="-122"/>
                <a:ea typeface="仿宋" panose="02010609060101010101" pitchFamily="49" charset="-122"/>
              </a:rPr>
              <a:t>sendRemoteCommand() </a:t>
            </a:r>
            <a:r>
              <a:rPr lang="zh-CN" altLang="en-US" sz="1400" dirty="0">
                <a:latin typeface="仿宋" panose="02010609060101010101" pitchFamily="49" charset="-122"/>
                <a:ea typeface="仿宋" panose="02010609060101010101" pitchFamily="49" charset="-122"/>
              </a:rPr>
              <a:t>将请求发送给 </a:t>
            </a:r>
            <a:r>
              <a:rPr lang="en-US" altLang="zh-CN" sz="1400" dirty="0">
                <a:latin typeface="仿宋" panose="02010609060101010101" pitchFamily="49" charset="-122"/>
                <a:ea typeface="仿宋" panose="02010609060101010101" pitchFamily="49" charset="-122"/>
              </a:rPr>
              <a:t>AdminCommandServlet</a:t>
            </a:r>
            <a:r>
              <a:rPr lang="zh-CN" altLang="en-US" sz="1400" dirty="0">
                <a:latin typeface="仿宋" panose="02010609060101010101" pitchFamily="49" charset="-122"/>
                <a:ea typeface="仿宋" panose="02010609060101010101" pitchFamily="49" charset="-122"/>
              </a:rPr>
              <a:t>，实现了本地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到远程服务器的通信。</a:t>
            </a:r>
            <a:endParaRPr lang="en-US" altLang="zh-CN" sz="1400" dirty="0">
              <a:latin typeface="仿宋" panose="02010609060101010101" pitchFamily="49" charset="-122"/>
              <a:ea typeface="仿宋" panose="02010609060101010101" pitchFamily="49" charset="-122"/>
            </a:endParaRPr>
          </a:p>
          <a:p>
            <a:pPr lvl="1"/>
            <a:endParaRPr lang="zh-CN" altLang="en-US" sz="14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400" b="1" dirty="0">
                <a:latin typeface="仿宋" panose="02010609060101010101" pitchFamily="49" charset="-122"/>
                <a:ea typeface="仿宋" panose="02010609060101010101" pitchFamily="49" charset="-122"/>
              </a:rPr>
              <a:t>统一接口</a:t>
            </a:r>
            <a:r>
              <a:rPr lang="zh-CN" altLang="en-US" sz="1400" dirty="0">
                <a:latin typeface="仿宋" panose="02010609060101010101" pitchFamily="49" charset="-122"/>
                <a:ea typeface="仿宋" panose="02010609060101010101" pitchFamily="49" charset="-122"/>
              </a:rPr>
              <a:t>：无论本地执行还是远程执行，上层调用者看到的都是统一的 </a:t>
            </a:r>
            <a:r>
              <a:rPr lang="en-US" altLang="zh-CN" sz="1400" dirty="0">
                <a:latin typeface="仿宋" panose="02010609060101010101" pitchFamily="49" charset="-122"/>
                <a:ea typeface="仿宋" panose="02010609060101010101" pitchFamily="49" charset="-122"/>
              </a:rPr>
              <a:t>execute() </a:t>
            </a:r>
            <a:r>
              <a:rPr lang="zh-CN" altLang="en-US" sz="1400" dirty="0">
                <a:latin typeface="仿宋" panose="02010609060101010101" pitchFamily="49" charset="-122"/>
                <a:ea typeface="仿宋" panose="02010609060101010101" pitchFamily="49" charset="-122"/>
              </a:rPr>
              <a:t>接口，屏蔽了底层实现的复杂性。</a:t>
            </a:r>
          </a:p>
          <a:p>
            <a:pPr lvl="1"/>
            <a:r>
              <a:rPr lang="zh-CN" altLang="en-US" sz="1400" b="1" dirty="0">
                <a:latin typeface="仿宋" panose="02010609060101010101" pitchFamily="49" charset="-122"/>
                <a:ea typeface="仿宋" panose="02010609060101010101" pitchFamily="49" charset="-122"/>
              </a:rPr>
              <a:t>分布式能力</a:t>
            </a:r>
            <a:r>
              <a:rPr lang="zh-CN" altLang="en-US" sz="1400" dirty="0">
                <a:latin typeface="仿宋" panose="02010609060101010101" pitchFamily="49" charset="-122"/>
                <a:ea typeface="仿宋" panose="02010609060101010101" pitchFamily="49" charset="-122"/>
              </a:rPr>
              <a:t>：系统天然支持远程管理。本地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可以作为一个代理，将繁重的管理任务转发给服务器端的 </a:t>
            </a:r>
            <a:r>
              <a:rPr lang="en-US" altLang="zh-CN" sz="1400" dirty="0">
                <a:latin typeface="仿宋" panose="02010609060101010101" pitchFamily="49" charset="-122"/>
                <a:ea typeface="仿宋" panose="02010609060101010101" pitchFamily="49" charset="-122"/>
              </a:rPr>
              <a:t>Servlet </a:t>
            </a:r>
            <a:r>
              <a:rPr lang="zh-CN" altLang="en-US" sz="1400" dirty="0">
                <a:latin typeface="仿宋" panose="02010609060101010101" pitchFamily="49" charset="-122"/>
                <a:ea typeface="仿宋" panose="02010609060101010101" pitchFamily="49" charset="-122"/>
              </a:rPr>
              <a:t>处理。</a:t>
            </a:r>
          </a:p>
        </p:txBody>
      </p:sp>
      <p:pic>
        <p:nvPicPr>
          <p:cNvPr id="10" name="图片 9">
            <a:extLst>
              <a:ext uri="{FF2B5EF4-FFF2-40B4-BE49-F238E27FC236}">
                <a16:creationId xmlns:a16="http://schemas.microsoft.com/office/drawing/2014/main" id="{9A69543F-8D72-DEDC-5C56-023310B8981F}"/>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3120128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8BC9-8C52-74BD-79EE-0669FD135B14}"/>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61BF9C2-A5E8-EAA1-2069-9B2DA15568AD}"/>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8EC91EBC-61CE-31A3-7D12-FF9E6052A28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16</a:t>
            </a:fld>
            <a:endParaRPr lang="zh-CN" altLang="en-US"/>
          </a:p>
        </p:txBody>
      </p:sp>
      <p:sp>
        <p:nvSpPr>
          <p:cNvPr id="6" name="文本框 5">
            <a:extLst>
              <a:ext uri="{FF2B5EF4-FFF2-40B4-BE49-F238E27FC236}">
                <a16:creationId xmlns:a16="http://schemas.microsoft.com/office/drawing/2014/main" id="{41F33873-5564-0576-B22A-D4CC31598175}"/>
              </a:ext>
            </a:extLst>
          </p:cNvPr>
          <p:cNvSpPr txBox="1"/>
          <p:nvPr/>
        </p:nvSpPr>
        <p:spPr>
          <a:xfrm>
            <a:off x="442175" y="908470"/>
            <a:ext cx="5123356" cy="5232202"/>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第三层：核心业务逻辑骨架层 </a:t>
            </a:r>
            <a:r>
              <a:rPr lang="en-US" altLang="zh-CN" b="1" dirty="0"/>
              <a:t>(Abstract BaseAdminCommand)</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模板方法模式 </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Abstract BaseAdminCommand</a:t>
            </a:r>
            <a:r>
              <a:rPr lang="zh-CN" altLang="en-US" sz="1600" dirty="0">
                <a:latin typeface="仿宋" panose="02010609060101010101" pitchFamily="49" charset="-122"/>
                <a:ea typeface="仿宋" panose="02010609060101010101" pitchFamily="49" charset="-122"/>
              </a:rPr>
              <a:t> 定义了执行一个管理任务的标准流程：</a:t>
            </a:r>
          </a:p>
          <a:p>
            <a:pPr lvl="2"/>
            <a:r>
              <a:rPr lang="en-US" altLang="zh-CN" sz="1600" dirty="0">
                <a:latin typeface="仿宋" panose="02010609060101010101" pitchFamily="49" charset="-122"/>
                <a:ea typeface="仿宋" panose="02010609060101010101" pitchFamily="49" charset="-122"/>
              </a:rPr>
              <a:t>lock()</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加锁，防止并发冲突</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validate()</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参数校验</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prepareHandlers()</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准备处理器</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doExecute()</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执行具体业务逻辑，由子类实现</a:t>
            </a:r>
            <a:r>
              <a:rPr lang="en-US" altLang="zh-CN" sz="1600" dirty="0">
                <a:latin typeface="仿宋" panose="02010609060101010101" pitchFamily="49" charset="-122"/>
                <a:ea typeface="仿宋" panose="02010609060101010101" pitchFamily="49" charset="-122"/>
              </a:rPr>
              <a:t>)</a:t>
            </a:r>
          </a:p>
          <a:p>
            <a:pPr lvl="2"/>
            <a:endParaRPr lang="en-US" altLang="zh-CN"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流程标准化</a:t>
            </a:r>
            <a:r>
              <a:rPr lang="zh-CN" altLang="en-US" sz="1600" dirty="0">
                <a:latin typeface="仿宋" panose="02010609060101010101" pitchFamily="49" charset="-122"/>
                <a:ea typeface="仿宋" panose="02010609060101010101" pitchFamily="49" charset="-122"/>
              </a:rPr>
              <a:t>：强制所有管理命令都必须经过“校验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准备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执行”的过程，避免了代码重复，保证了系统的安全性（如校验和锁）。</a:t>
            </a:r>
          </a:p>
          <a:p>
            <a:pPr lvl="1"/>
            <a:r>
              <a:rPr lang="zh-CN" altLang="en-US" sz="1600" b="1" dirty="0">
                <a:latin typeface="仿宋" panose="02010609060101010101" pitchFamily="49" charset="-122"/>
                <a:ea typeface="仿宋" panose="02010609060101010101" pitchFamily="49" charset="-122"/>
              </a:rPr>
              <a:t>逻辑复用</a:t>
            </a:r>
            <a:r>
              <a:rPr lang="zh-CN" altLang="en-US" sz="1600" dirty="0">
                <a:latin typeface="仿宋" panose="02010609060101010101" pitchFamily="49" charset="-122"/>
                <a:ea typeface="仿宋" panose="02010609060101010101" pitchFamily="49" charset="-122"/>
              </a:rPr>
              <a:t>：通用的逻辑（如加锁、校验）在父类实现，子类只需关注具体的业务逻辑 </a:t>
            </a:r>
            <a:r>
              <a:rPr lang="en-US" altLang="zh-CN" sz="1600" dirty="0">
                <a:latin typeface="仿宋" panose="02010609060101010101" pitchFamily="49" charset="-122"/>
                <a:ea typeface="仿宋" panose="02010609060101010101" pitchFamily="49" charset="-122"/>
              </a:rPr>
              <a:t>(doExecute)</a:t>
            </a:r>
            <a:r>
              <a:rPr lang="zh-CN" altLang="en-US" sz="1600" dirty="0">
                <a:latin typeface="仿宋" panose="02010609060101010101" pitchFamily="49" charset="-122"/>
                <a:ea typeface="仿宋" panose="02010609060101010101" pitchFamily="49" charset="-122"/>
              </a:rPr>
              <a:t>。</a:t>
            </a:r>
          </a:p>
        </p:txBody>
      </p:sp>
      <p:pic>
        <p:nvPicPr>
          <p:cNvPr id="10" name="图片 9">
            <a:extLst>
              <a:ext uri="{FF2B5EF4-FFF2-40B4-BE49-F238E27FC236}">
                <a16:creationId xmlns:a16="http://schemas.microsoft.com/office/drawing/2014/main" id="{9DBDE767-CA65-5D3B-0604-0C5D8069EE6D}"/>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4869019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1121C-654D-51A2-2BC6-9A64105039E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A8301E2-5E98-47EE-F4EE-13C7C89E6112}"/>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C32C3DDC-D5FA-B755-67CB-9A738863E069}"/>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17</a:t>
            </a:fld>
            <a:endParaRPr lang="zh-CN" altLang="en-US"/>
          </a:p>
        </p:txBody>
      </p:sp>
      <p:sp>
        <p:nvSpPr>
          <p:cNvPr id="6" name="文本框 5">
            <a:extLst>
              <a:ext uri="{FF2B5EF4-FFF2-40B4-BE49-F238E27FC236}">
                <a16:creationId xmlns:a16="http://schemas.microsoft.com/office/drawing/2014/main" id="{7F161CCD-12D3-AE24-36BE-002A87387BC8}"/>
              </a:ext>
            </a:extLst>
          </p:cNvPr>
          <p:cNvSpPr txBox="1"/>
          <p:nvPr/>
        </p:nvSpPr>
        <p:spPr>
          <a:xfrm>
            <a:off x="336666" y="923976"/>
            <a:ext cx="5562971" cy="5478423"/>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第四层：具体命令与处理器编排层 </a:t>
            </a:r>
            <a:r>
              <a:rPr lang="en-US" altLang="zh-CN" b="1" dirty="0"/>
              <a:t>(DeployApplicationCommand </a:t>
            </a:r>
            <a:r>
              <a:rPr lang="zh-CN" altLang="en-US" b="1" dirty="0"/>
              <a:t>等</a:t>
            </a:r>
            <a:r>
              <a:rPr lang="en-US" altLang="zh-CN" b="1" dirty="0"/>
              <a:t>)</a:t>
            </a:r>
          </a:p>
          <a:p>
            <a:endParaRPr lang="en-US" altLang="zh-CN" b="1" dirty="0"/>
          </a:p>
          <a:p>
            <a:r>
              <a:rPr lang="zh-CN" altLang="en-US" dirty="0"/>
              <a:t>设计总结：</a:t>
            </a:r>
          </a:p>
          <a:p>
            <a:pPr lvl="1"/>
            <a:r>
              <a:rPr lang="zh-CN" altLang="en-US" sz="1400" b="1" dirty="0">
                <a:latin typeface="仿宋" panose="02010609060101010101" pitchFamily="49" charset="-122"/>
                <a:ea typeface="仿宋" panose="02010609060101010101" pitchFamily="49" charset="-122"/>
              </a:rPr>
              <a:t>责任链模式</a:t>
            </a:r>
            <a:r>
              <a:rPr lang="zh-CN" altLang="en-US" sz="1400" dirty="0">
                <a:latin typeface="仿宋" panose="02010609060101010101" pitchFamily="49" charset="-122"/>
                <a:ea typeface="仿宋" panose="02010609060101010101" pitchFamily="49" charset="-122"/>
              </a:rPr>
              <a:t>：具体的命令类（如 </a:t>
            </a:r>
            <a:r>
              <a:rPr lang="en-US" altLang="zh-CN" sz="1400" dirty="0">
                <a:latin typeface="仿宋" panose="02010609060101010101" pitchFamily="49" charset="-122"/>
                <a:ea typeface="仿宋" panose="02010609060101010101" pitchFamily="49" charset="-122"/>
              </a:rPr>
              <a:t>DeployApplicationCommand</a:t>
            </a:r>
            <a:r>
              <a:rPr lang="zh-CN" altLang="en-US" sz="1400" dirty="0">
                <a:latin typeface="仿宋" panose="02010609060101010101" pitchFamily="49" charset="-122"/>
                <a:ea typeface="仿宋" panose="02010609060101010101" pitchFamily="49" charset="-122"/>
              </a:rPr>
              <a:t>）内部持有一个 </a:t>
            </a:r>
            <a:r>
              <a:rPr lang="en-US" altLang="zh-CN" sz="1400" dirty="0">
                <a:latin typeface="仿宋" panose="02010609060101010101" pitchFamily="49" charset="-122"/>
                <a:ea typeface="仿宋" panose="02010609060101010101" pitchFamily="49" charset="-122"/>
              </a:rPr>
              <a:t>PriorityQueue&lt;RemoteCommandHandler&gt;</a:t>
            </a:r>
            <a:r>
              <a:rPr lang="zh-CN" altLang="en-US" sz="1400" dirty="0">
                <a:latin typeface="仿宋" panose="02010609060101010101" pitchFamily="49" charset="-122"/>
                <a:ea typeface="仿宋" panose="02010609060101010101" pitchFamily="49" charset="-122"/>
              </a:rPr>
              <a:t>（优先级队列）。</a:t>
            </a:r>
          </a:p>
          <a:p>
            <a:pPr lvl="1"/>
            <a:r>
              <a:rPr lang="zh-CN" altLang="en-US" sz="1400" b="1" dirty="0">
                <a:latin typeface="仿宋" panose="02010609060101010101" pitchFamily="49" charset="-122"/>
                <a:ea typeface="仿宋" panose="02010609060101010101" pitchFamily="49" charset="-122"/>
              </a:rPr>
              <a:t>任务分解</a:t>
            </a:r>
            <a:r>
              <a:rPr lang="zh-CN" altLang="en-US" sz="1400" dirty="0">
                <a:latin typeface="仿宋" panose="02010609060101010101" pitchFamily="49" charset="-122"/>
                <a:ea typeface="仿宋" panose="02010609060101010101" pitchFamily="49" charset="-122"/>
              </a:rPr>
              <a:t>：复杂的命令（如部署应用）被分解为多个小的处理步骤（</a:t>
            </a:r>
            <a:r>
              <a:rPr lang="en-US" altLang="zh-CN" sz="1400" dirty="0">
                <a:latin typeface="仿宋" panose="02010609060101010101" pitchFamily="49" charset="-122"/>
                <a:ea typeface="仿宋" panose="02010609060101010101" pitchFamily="49" charset="-122"/>
              </a:rPr>
              <a:t>Handlers</a:t>
            </a:r>
            <a:r>
              <a:rPr lang="zh-CN" altLang="en-US" sz="1400" dirty="0">
                <a:latin typeface="仿宋" panose="02010609060101010101" pitchFamily="49" charset="-122"/>
                <a:ea typeface="仿宋" panose="02010609060101010101" pitchFamily="49" charset="-122"/>
              </a:rPr>
              <a:t>）。</a:t>
            </a:r>
          </a:p>
          <a:p>
            <a:pPr lvl="1"/>
            <a:r>
              <a:rPr lang="zh-CN" altLang="en-US" sz="1400" b="1" dirty="0">
                <a:latin typeface="仿宋" panose="02010609060101010101" pitchFamily="49" charset="-122"/>
                <a:ea typeface="仿宋" panose="02010609060101010101" pitchFamily="49" charset="-122"/>
              </a:rPr>
              <a:t>执行流程</a:t>
            </a:r>
            <a:r>
              <a:rPr lang="zh-CN" altLang="en-US" sz="1400" dirty="0">
                <a:latin typeface="仿宋" panose="02010609060101010101" pitchFamily="49" charset="-122"/>
                <a:ea typeface="仿宋" panose="02010609060101010101" pitchFamily="49" charset="-122"/>
              </a:rPr>
              <a:t>：在 </a:t>
            </a:r>
            <a:r>
              <a:rPr lang="en-US" altLang="zh-CN" sz="1400" dirty="0">
                <a:latin typeface="仿宋" panose="02010609060101010101" pitchFamily="49" charset="-122"/>
                <a:ea typeface="仿宋" panose="02010609060101010101" pitchFamily="49" charset="-122"/>
              </a:rPr>
              <a:t>doExecute()</a:t>
            </a:r>
            <a:r>
              <a:rPr lang="zh-CN" altLang="en-US" sz="1400" dirty="0">
                <a:latin typeface="仿宋" panose="02010609060101010101" pitchFamily="49" charset="-122"/>
                <a:ea typeface="仿宋" panose="02010609060101010101" pitchFamily="49" charset="-122"/>
              </a:rPr>
              <a:t> 中，命令会遍历这个处理器队列，依次调用它们的 </a:t>
            </a:r>
            <a:r>
              <a:rPr lang="en-US" altLang="zh-CN" sz="1400" dirty="0">
                <a:latin typeface="仿宋" panose="02010609060101010101" pitchFamily="49" charset="-122"/>
                <a:ea typeface="仿宋" panose="02010609060101010101" pitchFamily="49" charset="-122"/>
              </a:rPr>
              <a:t>handle()</a:t>
            </a:r>
            <a:r>
              <a:rPr lang="zh-CN" altLang="en-US" sz="1400" dirty="0">
                <a:latin typeface="仿宋" panose="02010609060101010101" pitchFamily="49" charset="-122"/>
                <a:ea typeface="仿宋" panose="02010609060101010101" pitchFamily="49" charset="-122"/>
              </a:rPr>
              <a:t> 方法。</a:t>
            </a:r>
            <a:endParaRPr lang="en-US" altLang="zh-CN" sz="1400" dirty="0">
              <a:latin typeface="仿宋" panose="02010609060101010101" pitchFamily="49" charset="-122"/>
              <a:ea typeface="仿宋" panose="02010609060101010101" pitchFamily="49" charset="-122"/>
            </a:endParaRPr>
          </a:p>
          <a:p>
            <a:pPr lvl="1"/>
            <a:endParaRPr lang="zh-CN" altLang="en-US" sz="1400" dirty="0">
              <a:latin typeface="仿宋" panose="02010609060101010101" pitchFamily="49" charset="-122"/>
              <a:ea typeface="仿宋" panose="02010609060101010101" pitchFamily="49" charset="-122"/>
            </a:endParaRPr>
          </a:p>
          <a:p>
            <a:r>
              <a:rPr lang="zh-CN" altLang="en-US" dirty="0"/>
              <a:t>设计好处：</a:t>
            </a:r>
          </a:p>
          <a:p>
            <a:pPr lvl="1"/>
            <a:r>
              <a:rPr lang="zh-CN" altLang="en-US" sz="1400" b="1" dirty="0">
                <a:latin typeface="仿宋" panose="02010609060101010101" pitchFamily="49" charset="-122"/>
                <a:ea typeface="仿宋" panose="02010609060101010101" pitchFamily="49" charset="-122"/>
              </a:rPr>
              <a:t>高内聚低耦合</a:t>
            </a:r>
            <a:r>
              <a:rPr lang="zh-CN" altLang="en-US" sz="1400" dirty="0">
                <a:latin typeface="仿宋" panose="02010609060101010101" pitchFamily="49" charset="-122"/>
                <a:ea typeface="仿宋" panose="02010609060101010101" pitchFamily="49" charset="-122"/>
              </a:rPr>
              <a:t>：将一个庞大的部署逻辑拆分成多个小的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（如登录、校验属性、上传文件等），每个 </a:t>
            </a:r>
            <a:r>
              <a:rPr lang="en-US" altLang="zh-CN" sz="1400" dirty="0">
                <a:latin typeface="仿宋" panose="02010609060101010101" pitchFamily="49" charset="-122"/>
                <a:ea typeface="仿宋" panose="02010609060101010101" pitchFamily="49" charset="-122"/>
              </a:rPr>
              <a:t>Handler </a:t>
            </a:r>
            <a:r>
              <a:rPr lang="zh-CN" altLang="en-US" sz="1400" dirty="0">
                <a:latin typeface="仿宋" panose="02010609060101010101" pitchFamily="49" charset="-122"/>
                <a:ea typeface="仿宋" panose="02010609060101010101" pitchFamily="49" charset="-122"/>
              </a:rPr>
              <a:t>只负责一件事。</a:t>
            </a:r>
          </a:p>
          <a:p>
            <a:pPr lvl="1"/>
            <a:r>
              <a:rPr lang="zh-CN" altLang="en-US" sz="1400" b="1" dirty="0">
                <a:latin typeface="仿宋" panose="02010609060101010101" pitchFamily="49" charset="-122"/>
                <a:ea typeface="仿宋" panose="02010609060101010101" pitchFamily="49" charset="-122"/>
              </a:rPr>
              <a:t>灵活编排</a:t>
            </a:r>
            <a:r>
              <a:rPr lang="zh-CN" altLang="en-US" sz="1400" dirty="0">
                <a:latin typeface="仿宋" panose="02010609060101010101" pitchFamily="49" charset="-122"/>
                <a:ea typeface="仿宋" panose="02010609060101010101" pitchFamily="49" charset="-122"/>
              </a:rPr>
              <a:t>：使用 </a:t>
            </a:r>
            <a:r>
              <a:rPr lang="en-US" altLang="zh-CN" sz="1400" dirty="0">
                <a:latin typeface="仿宋" panose="02010609060101010101" pitchFamily="49" charset="-122"/>
                <a:ea typeface="仿宋" panose="02010609060101010101" pitchFamily="49" charset="-122"/>
              </a:rPr>
              <a:t>PriorityQueue</a:t>
            </a:r>
            <a:r>
              <a:rPr lang="zh-CN" altLang="en-US" sz="1400" dirty="0">
                <a:latin typeface="仿宋" panose="02010609060101010101" pitchFamily="49" charset="-122"/>
                <a:ea typeface="仿宋" panose="02010609060101010101" pitchFamily="49" charset="-122"/>
              </a:rPr>
              <a:t> 意味着可以通过 </a:t>
            </a:r>
            <a:r>
              <a:rPr lang="en-US" altLang="zh-CN" sz="1400" dirty="0">
                <a:latin typeface="仿宋" panose="02010609060101010101" pitchFamily="49" charset="-122"/>
                <a:ea typeface="仿宋" panose="02010609060101010101" pitchFamily="49" charset="-122"/>
              </a:rPr>
              <a:t>getIndex()</a:t>
            </a:r>
            <a:r>
              <a:rPr lang="zh-CN" altLang="en-US" sz="1400" dirty="0">
                <a:latin typeface="仿宋" panose="02010609060101010101" pitchFamily="49" charset="-122"/>
                <a:ea typeface="仿宋" panose="02010609060101010101" pitchFamily="49" charset="-122"/>
              </a:rPr>
              <a:t> 控制处理器的执行顺序。如果需要调整流程，只需调整 </a:t>
            </a:r>
            <a:r>
              <a:rPr lang="en-US" altLang="zh-CN" sz="1400" dirty="0">
                <a:latin typeface="仿宋" panose="02010609060101010101" pitchFamily="49" charset="-122"/>
                <a:ea typeface="仿宋" panose="02010609060101010101" pitchFamily="49" charset="-122"/>
              </a:rPr>
              <a:t>Handler </a:t>
            </a:r>
            <a:r>
              <a:rPr lang="zh-CN" altLang="en-US" sz="1400" dirty="0">
                <a:latin typeface="仿宋" panose="02010609060101010101" pitchFamily="49" charset="-122"/>
                <a:ea typeface="仿宋" panose="02010609060101010101" pitchFamily="49" charset="-122"/>
              </a:rPr>
              <a:t>的优先级或增删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，而不需要重写整个命令类。</a:t>
            </a:r>
          </a:p>
          <a:p>
            <a:pPr lvl="1"/>
            <a:r>
              <a:rPr lang="zh-CN" altLang="en-US" sz="1400" b="1" dirty="0">
                <a:latin typeface="仿宋" panose="02010609060101010101" pitchFamily="49" charset="-122"/>
                <a:ea typeface="仿宋" panose="02010609060101010101" pitchFamily="49" charset="-122"/>
              </a:rPr>
              <a:t>易于测试</a:t>
            </a:r>
            <a:r>
              <a:rPr lang="zh-CN" altLang="en-US" sz="1400" dirty="0">
                <a:latin typeface="仿宋" panose="02010609060101010101" pitchFamily="49" charset="-122"/>
                <a:ea typeface="仿宋" panose="02010609060101010101" pitchFamily="49" charset="-122"/>
              </a:rPr>
              <a:t>：每个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 都是独立的单元，非常容易进行单元测试。</a:t>
            </a:r>
          </a:p>
        </p:txBody>
      </p:sp>
      <p:pic>
        <p:nvPicPr>
          <p:cNvPr id="10" name="图片 9">
            <a:extLst>
              <a:ext uri="{FF2B5EF4-FFF2-40B4-BE49-F238E27FC236}">
                <a16:creationId xmlns:a16="http://schemas.microsoft.com/office/drawing/2014/main" id="{4F65852E-D1FA-5428-250F-AA58A8D73769}"/>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37425102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9F21A-E28C-288D-3AE5-6D1FEAAA6284}"/>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DCEC6E6-243C-41F0-9445-CFB1E34ADEA5}"/>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46200F60-466D-E481-1594-B3CDD68A8759}"/>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18</a:t>
            </a:fld>
            <a:endParaRPr lang="zh-CN" altLang="en-US"/>
          </a:p>
        </p:txBody>
      </p:sp>
      <p:sp>
        <p:nvSpPr>
          <p:cNvPr id="6" name="文本框 5">
            <a:extLst>
              <a:ext uri="{FF2B5EF4-FFF2-40B4-BE49-F238E27FC236}">
                <a16:creationId xmlns:a16="http://schemas.microsoft.com/office/drawing/2014/main" id="{29DC1FA8-5BBB-F362-AFA3-787E1B2082E5}"/>
              </a:ext>
            </a:extLst>
          </p:cNvPr>
          <p:cNvSpPr txBox="1"/>
          <p:nvPr/>
        </p:nvSpPr>
        <p:spPr>
          <a:xfrm>
            <a:off x="600436" y="1061198"/>
            <a:ext cx="4991472" cy="4985980"/>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第五层：具体处理器实现层 </a:t>
            </a:r>
            <a:r>
              <a:rPr lang="en-US" altLang="zh-CN" b="1" dirty="0"/>
              <a:t>(RemoteCommandHandler)</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接口定义</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RemoteCommandHandler</a:t>
            </a:r>
            <a:r>
              <a:rPr lang="zh-CN" altLang="en-US" sz="1600" dirty="0">
                <a:latin typeface="仿宋" panose="02010609060101010101" pitchFamily="49" charset="-122"/>
                <a:ea typeface="仿宋" panose="02010609060101010101" pitchFamily="49" charset="-122"/>
              </a:rPr>
              <a:t> 定义了处理器的标准行为 </a:t>
            </a:r>
            <a:r>
              <a:rPr lang="en-US" altLang="zh-CN" sz="1600" dirty="0">
                <a:latin typeface="仿宋" panose="02010609060101010101" pitchFamily="49" charset="-122"/>
                <a:ea typeface="仿宋" panose="02010609060101010101" pitchFamily="49" charset="-122"/>
              </a:rPr>
              <a:t>handle()</a:t>
            </a:r>
            <a:r>
              <a:rPr lang="zh-CN" altLang="en-US" sz="1600" dirty="0">
                <a:latin typeface="仿宋" panose="02010609060101010101" pitchFamily="49" charset="-122"/>
                <a:ea typeface="仿宋" panose="02010609060101010101" pitchFamily="49" charset="-122"/>
              </a:rPr>
              <a:t>。</a:t>
            </a:r>
          </a:p>
          <a:p>
            <a:pPr lvl="1"/>
            <a:r>
              <a:rPr lang="zh-CN" altLang="en-US" sz="1600" b="1" dirty="0">
                <a:latin typeface="仿宋" panose="02010609060101010101" pitchFamily="49" charset="-122"/>
                <a:ea typeface="仿宋" panose="02010609060101010101" pitchFamily="49" charset="-122"/>
              </a:rPr>
              <a:t>具体实现</a:t>
            </a:r>
            <a:r>
              <a:rPr lang="zh-CN" altLang="en-US" sz="1600" dirty="0">
                <a:latin typeface="仿宋" panose="02010609060101010101" pitchFamily="49" charset="-122"/>
                <a:ea typeface="仿宋" panose="02010609060101010101" pitchFamily="49" charset="-122"/>
              </a:rPr>
              <a:t>：如 </a:t>
            </a:r>
            <a:r>
              <a:rPr lang="en-US" altLang="zh-CN" sz="1600" dirty="0">
                <a:latin typeface="仿宋" panose="02010609060101010101" pitchFamily="49" charset="-122"/>
                <a:ea typeface="仿宋" panose="02010609060101010101" pitchFamily="49" charset="-122"/>
              </a:rPr>
              <a:t>LoginHandler</a:t>
            </a:r>
            <a:r>
              <a:rPr lang="zh-CN" altLang="en-US" sz="1600" dirty="0">
                <a:latin typeface="仿宋" panose="02010609060101010101" pitchFamily="49" charset="-122"/>
                <a:ea typeface="仿宋" panose="02010609060101010101" pitchFamily="49" charset="-122"/>
              </a:rPr>
              <a:t>（处理登录逻辑）、</a:t>
            </a:r>
            <a:r>
              <a:rPr lang="en-US" altLang="zh-CN" sz="1600" dirty="0">
                <a:latin typeface="仿宋" panose="02010609060101010101" pitchFamily="49" charset="-122"/>
                <a:ea typeface="仿宋" panose="02010609060101010101" pitchFamily="49" charset="-122"/>
              </a:rPr>
              <a:t>ValidPropertiesHandler</a:t>
            </a:r>
            <a:r>
              <a:rPr lang="zh-CN" altLang="en-US" sz="1600" dirty="0">
                <a:latin typeface="仿宋" panose="02010609060101010101" pitchFamily="49" charset="-122"/>
                <a:ea typeface="仿宋" panose="02010609060101010101" pitchFamily="49" charset="-122"/>
              </a:rPr>
              <a:t>（处理属性校验）。</a:t>
            </a:r>
            <a:endParaRPr lang="en-US" altLang="zh-CN" sz="1600" dirty="0">
              <a:latin typeface="仿宋" panose="02010609060101010101" pitchFamily="49" charset="-122"/>
              <a:ea typeface="仿宋" panose="02010609060101010101" pitchFamily="49" charset="-122"/>
            </a:endParaRPr>
          </a:p>
          <a:p>
            <a:pPr lvl="1"/>
            <a:endParaRPr lang="zh-CN" altLang="en-US"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极致复用</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LoginHandler</a:t>
            </a:r>
            <a:r>
              <a:rPr lang="zh-CN" altLang="en-US" sz="1600" dirty="0">
                <a:latin typeface="仿宋" panose="02010609060101010101" pitchFamily="49" charset="-122"/>
                <a:ea typeface="仿宋" panose="02010609060101010101" pitchFamily="49" charset="-122"/>
              </a:rPr>
              <a:t> 可以被多个不同的命令（如部署命令、启动命令）复用，因为它们都需要先登录。</a:t>
            </a:r>
          </a:p>
          <a:p>
            <a:pPr lvl="1"/>
            <a:r>
              <a:rPr lang="zh-CN" altLang="en-US" sz="1600" b="1" dirty="0">
                <a:latin typeface="仿宋" panose="02010609060101010101" pitchFamily="49" charset="-122"/>
                <a:ea typeface="仿宋" panose="02010609060101010101" pitchFamily="49" charset="-122"/>
              </a:rPr>
              <a:t>扩展性强</a:t>
            </a:r>
            <a:r>
              <a:rPr lang="zh-CN" altLang="en-US" sz="1600" dirty="0">
                <a:latin typeface="仿宋" panose="02010609060101010101" pitchFamily="49" charset="-122"/>
                <a:ea typeface="仿宋" panose="02010609060101010101" pitchFamily="49" charset="-122"/>
              </a:rPr>
              <a:t>：如果需要在所有命令执行前增加一个“审计日志”功能，只需编写一个新的 </a:t>
            </a:r>
            <a:r>
              <a:rPr lang="en-US" altLang="zh-CN" sz="1600" dirty="0">
                <a:latin typeface="仿宋" panose="02010609060101010101" pitchFamily="49" charset="-122"/>
                <a:ea typeface="仿宋" panose="02010609060101010101" pitchFamily="49" charset="-122"/>
              </a:rPr>
              <a:t>AuditHandler</a:t>
            </a:r>
            <a:r>
              <a:rPr lang="zh-CN" altLang="en-US" sz="1600" dirty="0">
                <a:latin typeface="仿宋" panose="02010609060101010101" pitchFamily="49" charset="-122"/>
                <a:ea typeface="仿宋" panose="02010609060101010101" pitchFamily="49" charset="-122"/>
              </a:rPr>
              <a:t> 并将其加入队列即可，无需修改现有命令代码。</a:t>
            </a:r>
          </a:p>
        </p:txBody>
      </p:sp>
      <p:pic>
        <p:nvPicPr>
          <p:cNvPr id="10" name="图片 9">
            <a:extLst>
              <a:ext uri="{FF2B5EF4-FFF2-40B4-BE49-F238E27FC236}">
                <a16:creationId xmlns:a16="http://schemas.microsoft.com/office/drawing/2014/main" id="{D1647FCF-56AF-9C5B-4ED8-2FDE97E1C20D}"/>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3353831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E58B6-0184-881D-4214-687548498F2E}"/>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618930B-E672-9A2E-E124-679B50BBED3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7712FE2B-7756-3A55-D266-BC361CAA7F03}"/>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19</a:t>
            </a:fld>
            <a:endParaRPr lang="zh-CN" altLang="en-US"/>
          </a:p>
        </p:txBody>
      </p:sp>
      <p:sp>
        <p:nvSpPr>
          <p:cNvPr id="6" name="文本框 5">
            <a:extLst>
              <a:ext uri="{FF2B5EF4-FFF2-40B4-BE49-F238E27FC236}">
                <a16:creationId xmlns:a16="http://schemas.microsoft.com/office/drawing/2014/main" id="{4F3D5B82-4889-3729-016F-D9E1E6B1AC85}"/>
              </a:ext>
            </a:extLst>
          </p:cNvPr>
          <p:cNvSpPr txBox="1"/>
          <p:nvPr/>
        </p:nvSpPr>
        <p:spPr>
          <a:xfrm>
            <a:off x="600436" y="1061198"/>
            <a:ext cx="4991472" cy="5047536"/>
          </a:xfrm>
          <a:prstGeom prst="rect">
            <a:avLst/>
          </a:prstGeom>
          <a:noFill/>
        </p:spPr>
        <p:txBody>
          <a:bodyPr wrap="square">
            <a:spAutoFit/>
          </a:bodyPr>
          <a:lstStyle/>
          <a:p>
            <a:r>
              <a:rPr lang="zh-CN" altLang="en-US" sz="1800" b="1" dirty="0">
                <a:latin typeface="+mn-ea"/>
              </a:rPr>
              <a:t>二、监控模块</a:t>
            </a:r>
            <a:endParaRPr lang="en-US" altLang="zh-CN" sz="1800" b="1" dirty="0">
              <a:latin typeface="+mn-ea"/>
            </a:endParaRPr>
          </a:p>
          <a:p>
            <a:endParaRPr lang="en-US" altLang="zh-CN" b="1" dirty="0">
              <a:latin typeface="+mn-ea"/>
            </a:endParaRPr>
          </a:p>
          <a:p>
            <a:r>
              <a:rPr lang="zh-CN" altLang="en-US" b="1" dirty="0">
                <a:latin typeface="+mn-ea"/>
              </a:rPr>
              <a:t>概述</a:t>
            </a:r>
            <a:r>
              <a:rPr lang="en-US" altLang="zh-CN" b="1" dirty="0">
                <a:latin typeface="+mn-ea"/>
              </a:rPr>
              <a:t>: </a:t>
            </a:r>
          </a:p>
          <a:p>
            <a:r>
              <a:rPr lang="en-US" altLang="zh-CN" sz="1800" b="1" dirty="0">
                <a:latin typeface="+mn-ea"/>
              </a:rPr>
              <a:t>	</a:t>
            </a:r>
            <a:r>
              <a:rPr lang="zh-CN" altLang="en-US" sz="1400" dirty="0">
                <a:latin typeface="仿宋" panose="02010609060101010101" pitchFamily="49" charset="-122"/>
                <a:ea typeface="仿宋" panose="02010609060101010101" pitchFamily="49" charset="-122"/>
              </a:rPr>
              <a:t>监控模块是 </a:t>
            </a:r>
            <a:r>
              <a:rPr lang="en-US" altLang="zh-CN" sz="1400" dirty="0">
                <a:latin typeface="仿宋" panose="02010609060101010101" pitchFamily="49" charset="-122"/>
                <a:ea typeface="仿宋" panose="02010609060101010101" pitchFamily="49" charset="-122"/>
              </a:rPr>
              <a:t>BESAPP Server </a:t>
            </a:r>
            <a:r>
              <a:rPr lang="zh-CN" altLang="en-US" sz="1400" dirty="0">
                <a:latin typeface="仿宋" panose="02010609060101010101" pitchFamily="49" charset="-122"/>
                <a:ea typeface="仿宋" panose="02010609060101010101" pitchFamily="49" charset="-122"/>
              </a:rPr>
              <a:t>应用服务器中负责采集、聚合、存储应用运行指标的子模块，通过 </a:t>
            </a:r>
            <a:r>
              <a:rPr lang="en-US" altLang="zh-CN" sz="1400" dirty="0">
                <a:latin typeface="仿宋" panose="02010609060101010101" pitchFamily="49" charset="-122"/>
                <a:ea typeface="仿宋" panose="02010609060101010101" pitchFamily="49" charset="-122"/>
              </a:rPr>
              <a:t>JMX </a:t>
            </a:r>
            <a:r>
              <a:rPr lang="zh-CN" altLang="en-US" sz="1400" dirty="0">
                <a:latin typeface="仿宋" panose="02010609060101010101" pitchFamily="49" charset="-122"/>
                <a:ea typeface="仿宋" panose="02010609060101010101" pitchFamily="49" charset="-122"/>
              </a:rPr>
              <a:t>技术获取目标 </a:t>
            </a:r>
            <a:r>
              <a:rPr lang="en-US" altLang="zh-CN" sz="1400" dirty="0">
                <a:latin typeface="仿宋" panose="02010609060101010101" pitchFamily="49" charset="-122"/>
                <a:ea typeface="仿宋" panose="02010609060101010101" pitchFamily="49" charset="-122"/>
              </a:rPr>
              <a:t>JVM </a:t>
            </a:r>
            <a:r>
              <a:rPr lang="zh-CN" altLang="en-US" sz="1400" dirty="0">
                <a:latin typeface="仿宋" panose="02010609060101010101" pitchFamily="49" charset="-122"/>
                <a:ea typeface="仿宋" panose="02010609060101010101" pitchFamily="49" charset="-122"/>
              </a:rPr>
              <a:t>内部数据，并以插件化方式扩展指标类型，最终将指标按类型分组写入本地文件，支持文件轮转与压缩。</a:t>
            </a:r>
            <a:endParaRPr lang="en-US" altLang="zh-CN" sz="14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zh-CN" altLang="en-US" b="1" dirty="0">
                <a:latin typeface="+mn-ea"/>
              </a:rPr>
              <a:t>整体框架说明：</a:t>
            </a:r>
            <a:endParaRPr lang="en-US" altLang="zh-CN" b="1" dirty="0">
              <a:latin typeface="+mn-ea"/>
            </a:endParaRPr>
          </a:p>
          <a:p>
            <a:r>
              <a:rPr lang="en-US" altLang="zh-CN" b="1" dirty="0">
                <a:latin typeface="+mn-ea"/>
              </a:rPr>
              <a:t>	</a:t>
            </a:r>
            <a:r>
              <a:rPr lang="zh-CN" altLang="en-US" sz="1400" dirty="0">
                <a:latin typeface="仿宋" panose="02010609060101010101" pitchFamily="49" charset="-122"/>
                <a:ea typeface="仿宋" panose="02010609060101010101" pitchFamily="49" charset="-122"/>
              </a:rPr>
              <a:t>该框架分为：入口层、配置层、连接层、采集层、数据模型层、写入层、服务层。</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仿宋" panose="02010609060101010101" pitchFamily="49" charset="-122"/>
                <a:ea typeface="仿宋" panose="02010609060101010101" pitchFamily="49" charset="-122"/>
              </a:rPr>
              <a:t>优势：</a:t>
            </a:r>
            <a:endParaRPr lang="en-US" altLang="zh-CN" sz="1400" dirty="0">
              <a:latin typeface="仿宋" panose="02010609060101010101" pitchFamily="49" charset="-122"/>
              <a:ea typeface="仿宋" panose="02010609060101010101" pitchFamily="49" charset="-122"/>
            </a:endParaRP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分层清晰</a:t>
            </a:r>
            <a:r>
              <a:rPr lang="zh-CN" altLang="en-US" sz="1400" dirty="0">
                <a:latin typeface="仿宋" panose="02010609060101010101" pitchFamily="49" charset="-122"/>
                <a:ea typeface="仿宋" panose="02010609060101010101" pitchFamily="49" charset="-122"/>
              </a:rPr>
              <a:t>：配置、调度、连接、采集、输出各层职责明确，降低耦合度</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高可扩展性</a:t>
            </a:r>
            <a:r>
              <a:rPr lang="zh-CN" altLang="en-US" sz="1400" dirty="0">
                <a:latin typeface="仿宋" panose="02010609060101010101" pitchFamily="49" charset="-122"/>
                <a:ea typeface="仿宋" panose="02010609060101010101" pitchFamily="49" charset="-122"/>
              </a:rPr>
              <a:t>：通过接口和工厂模式，新增采集器或输出器无需修改核心代码。</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易测试</a:t>
            </a:r>
            <a:r>
              <a:rPr lang="zh-CN" altLang="en-US" sz="1400" dirty="0">
                <a:latin typeface="仿宋" panose="02010609060101010101" pitchFamily="49" charset="-122"/>
                <a:ea typeface="仿宋" panose="02010609060101010101" pitchFamily="49" charset="-122"/>
              </a:rPr>
              <a:t>：各组件依赖接口，可方便地使用 </a:t>
            </a:r>
            <a:r>
              <a:rPr lang="en-US" altLang="zh-CN" sz="1400" dirty="0">
                <a:latin typeface="仿宋" panose="02010609060101010101" pitchFamily="49" charset="-122"/>
                <a:ea typeface="仿宋" panose="02010609060101010101" pitchFamily="49" charset="-122"/>
              </a:rPr>
              <a:t>Mock </a:t>
            </a:r>
            <a:r>
              <a:rPr lang="zh-CN" altLang="en-US" sz="1400" dirty="0">
                <a:latin typeface="仿宋" panose="02010609060101010101" pitchFamily="49" charset="-122"/>
                <a:ea typeface="仿宋" panose="02010609060101010101" pitchFamily="49" charset="-122"/>
              </a:rPr>
              <a:t>进行单元测试。</a:t>
            </a:r>
            <a:endParaRPr lang="en-US" altLang="zh-CN" sz="1400" dirty="0">
              <a:latin typeface="仿宋" panose="02010609060101010101" pitchFamily="49" charset="-122"/>
              <a:ea typeface="仿宋" panose="02010609060101010101" pitchFamily="49" charset="-122"/>
            </a:endParaRP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灵活组装</a:t>
            </a:r>
            <a:r>
              <a:rPr lang="zh-CN" altLang="en-US" sz="1400" dirty="0">
                <a:latin typeface="仿宋" panose="02010609060101010101" pitchFamily="49" charset="-122"/>
                <a:ea typeface="仿宋" panose="02010609060101010101" pitchFamily="49" charset="-122"/>
              </a:rPr>
              <a:t>：通过 </a:t>
            </a:r>
            <a:r>
              <a:rPr lang="en-US" altLang="zh-CN" sz="1400" dirty="0">
                <a:latin typeface="仿宋" panose="02010609060101010101" pitchFamily="49" charset="-122"/>
                <a:ea typeface="仿宋" panose="02010609060101010101" pitchFamily="49" charset="-122"/>
              </a:rPr>
              <a:t>GroupedMetricWriter </a:t>
            </a:r>
            <a:r>
              <a:rPr lang="zh-CN" altLang="en-US" sz="1400" dirty="0">
                <a:latin typeface="仿宋" panose="02010609060101010101" pitchFamily="49" charset="-122"/>
                <a:ea typeface="仿宋" panose="02010609060101010101" pitchFamily="49" charset="-122"/>
              </a:rPr>
              <a:t>等组合模式，支持复杂输出路由需求。</a:t>
            </a:r>
            <a:endParaRPr lang="zh-CN" altLang="en-US" sz="1600" dirty="0">
              <a:latin typeface="仿宋" panose="02010609060101010101" pitchFamily="49" charset="-122"/>
              <a:ea typeface="仿宋" panose="02010609060101010101" pitchFamily="49" charset="-122"/>
            </a:endParaRPr>
          </a:p>
        </p:txBody>
      </p:sp>
      <p:pic>
        <p:nvPicPr>
          <p:cNvPr id="13" name="图片 12">
            <a:extLst>
              <a:ext uri="{FF2B5EF4-FFF2-40B4-BE49-F238E27FC236}">
                <a16:creationId xmlns:a16="http://schemas.microsoft.com/office/drawing/2014/main" id="{026C29E6-6AC9-DF76-4BBB-35A5EE0673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3294210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9D37C-3D8B-A390-2CE6-92C0A943BB31}"/>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9B0F75B-C156-6975-8A76-B564C0B8F36C}"/>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4702F129-8BA8-3034-7DB7-B0EB9361C8B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20</a:t>
            </a:fld>
            <a:endParaRPr lang="zh-CN" altLang="en-US"/>
          </a:p>
        </p:txBody>
      </p:sp>
      <p:sp>
        <p:nvSpPr>
          <p:cNvPr id="6" name="文本框 5">
            <a:extLst>
              <a:ext uri="{FF2B5EF4-FFF2-40B4-BE49-F238E27FC236}">
                <a16:creationId xmlns:a16="http://schemas.microsoft.com/office/drawing/2014/main" id="{E90EE6E2-8901-0862-A145-E302F4E03214}"/>
              </a:ext>
            </a:extLst>
          </p:cNvPr>
          <p:cNvSpPr txBox="1"/>
          <p:nvPr/>
        </p:nvSpPr>
        <p:spPr>
          <a:xfrm>
            <a:off x="477343" y="908470"/>
            <a:ext cx="4991472" cy="4985980"/>
          </a:xfrm>
          <a:prstGeom prst="rect">
            <a:avLst/>
          </a:prstGeom>
          <a:noFill/>
        </p:spPr>
        <p:txBody>
          <a:bodyPr wrap="square">
            <a:spAutoFit/>
          </a:bodyPr>
          <a:lstStyle/>
          <a:p>
            <a:r>
              <a:rPr lang="zh-CN" altLang="en-US" sz="1800" b="1" dirty="0">
                <a:latin typeface="+mn-ea"/>
              </a:rPr>
              <a:t>二、监控模块</a:t>
            </a:r>
            <a:endParaRPr lang="en-US" altLang="zh-CN" sz="1800" b="1" dirty="0">
              <a:latin typeface="+mn-ea"/>
            </a:endParaRPr>
          </a:p>
          <a:p>
            <a:endParaRPr lang="en-US" altLang="zh-CN" b="1" dirty="0">
              <a:latin typeface="+mn-ea"/>
            </a:endParaRPr>
          </a:p>
          <a:p>
            <a:r>
              <a:rPr lang="zh-CN" altLang="en-US" b="1" dirty="0"/>
              <a:t>第一层：入口层</a:t>
            </a:r>
          </a:p>
          <a:p>
            <a:endParaRPr lang="en-US" altLang="zh-CN" b="1" dirty="0"/>
          </a:p>
          <a:p>
            <a:r>
              <a:rPr lang="en-US" altLang="zh-CN" b="1" dirty="0">
                <a:sym typeface="+mn-ea"/>
              </a:rPr>
              <a:t>MonitorToolsMain</a:t>
            </a:r>
          </a:p>
          <a:p>
            <a:endParaRPr lang="en-US" altLang="zh-CN" dirty="0">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系统主入口，解析命令行参数并启动监控服务</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负责初始化整个监控系统，读取配置并创建核心服务组件</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支持不同的监控模式和参数设置，如监控间隔、输出路径等</a:t>
            </a:r>
            <a:endParaRPr lang="en-US" altLang="zh-CN" sz="1600" dirty="0">
              <a:latin typeface="仿宋" panose="02010609060101010101" pitchFamily="49" charset="-122"/>
              <a:ea typeface="仿宋" panose="02010609060101010101" pitchFamily="49" charset="-122"/>
              <a:sym typeface="+mn-ea"/>
            </a:endParaRPr>
          </a:p>
          <a:p>
            <a:endParaRPr lang="zh-CN" altLang="en-US" sz="1600" dirty="0">
              <a:latin typeface="仿宋" panose="02010609060101010101" pitchFamily="49" charset="-122"/>
              <a:ea typeface="仿宋" panose="02010609060101010101" pitchFamily="49" charset="-122"/>
              <a:sym typeface="+mn-ea"/>
            </a:endParaRPr>
          </a:p>
          <a:p>
            <a:r>
              <a:rPr lang="en-US" altLang="zh-CN" b="1" dirty="0">
                <a:sym typeface="+mn-ea"/>
              </a:rPr>
              <a:t>CommandParser</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命令行参数解析器</a:t>
            </a:r>
          </a:p>
          <a:p>
            <a:r>
              <a:rPr lang="zh-CN" altLang="en-US" b="1" dirty="0">
                <a:sym typeface="+mn-ea"/>
              </a:rPr>
              <a:t>作用</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解析用户输入的命令行参数，转换为系统配置</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支持多种参数格式，提供参数验证和默认值处理</a:t>
            </a:r>
          </a:p>
        </p:txBody>
      </p:sp>
      <p:pic>
        <p:nvPicPr>
          <p:cNvPr id="13" name="图片 12">
            <a:extLst>
              <a:ext uri="{FF2B5EF4-FFF2-40B4-BE49-F238E27FC236}">
                <a16:creationId xmlns:a16="http://schemas.microsoft.com/office/drawing/2014/main" id="{5A8C81CB-5A65-1967-27EF-406F17A14C5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32213581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62EBC-C314-C455-F1E8-3A4F0024473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3C0F5638-76A3-5831-5665-393CB6DC701E}"/>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8435316-88E8-933A-4800-67D792A9AEE5}"/>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21</a:t>
            </a:fld>
            <a:endParaRPr lang="zh-CN" altLang="en-US"/>
          </a:p>
        </p:txBody>
      </p:sp>
      <p:sp>
        <p:nvSpPr>
          <p:cNvPr id="6" name="文本框 5">
            <a:extLst>
              <a:ext uri="{FF2B5EF4-FFF2-40B4-BE49-F238E27FC236}">
                <a16:creationId xmlns:a16="http://schemas.microsoft.com/office/drawing/2014/main" id="{37FB024E-9506-BBE7-BEF2-6E960EFE5EB1}"/>
              </a:ext>
            </a:extLst>
          </p:cNvPr>
          <p:cNvSpPr txBox="1"/>
          <p:nvPr/>
        </p:nvSpPr>
        <p:spPr>
          <a:xfrm>
            <a:off x="433381" y="834725"/>
            <a:ext cx="5246449" cy="4801314"/>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第二层：配置层</a:t>
            </a:r>
          </a:p>
          <a:p>
            <a:endParaRPr lang="en-US" altLang="zh-CN" dirty="0">
              <a:sym typeface="+mn-ea"/>
            </a:endParaRPr>
          </a:p>
          <a:p>
            <a:r>
              <a:rPr lang="en-US" altLang="zh-CN" b="1" dirty="0">
                <a:latin typeface="+mn-ea"/>
                <a:sym typeface="+mn-ea"/>
              </a:rPr>
              <a:t>MonitorConfig</a:t>
            </a:r>
          </a:p>
          <a:p>
            <a:endParaRPr lang="en-US" altLang="zh-CN" b="1" dirty="0">
              <a:latin typeface="+mn-ea"/>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监控系统配置模型</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存储和提供系统各组件所需的配置信息</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包含监控目标、间隔、输出路径、轮转策略等配置参数</a:t>
            </a:r>
            <a:endParaRPr lang="en-US" altLang="zh-CN" sz="1600" dirty="0">
              <a:latin typeface="仿宋" panose="02010609060101010101" pitchFamily="49" charset="-122"/>
              <a:ea typeface="仿宋" panose="02010609060101010101" pitchFamily="49" charset="-122"/>
              <a:sym typeface="+mn-ea"/>
            </a:endParaRPr>
          </a:p>
          <a:p>
            <a:endParaRPr lang="zh-CN" altLang="en-US" b="1" dirty="0">
              <a:latin typeface="+mn-ea"/>
              <a:sym typeface="+mn-ea"/>
            </a:endParaRPr>
          </a:p>
          <a:p>
            <a:r>
              <a:rPr lang="en-US" altLang="zh-CN" b="1" dirty="0">
                <a:latin typeface="+mn-ea"/>
                <a:sym typeface="+mn-ea"/>
              </a:rPr>
              <a:t>CollectorFactory</a:t>
            </a:r>
          </a:p>
          <a:p>
            <a:endParaRPr lang="en-US" altLang="zh-CN" b="1" dirty="0">
              <a:latin typeface="+mn-ea"/>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采集器工厂</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根据配置创建和管理不同类型的指标采集器</a:t>
            </a:r>
          </a:p>
          <a:p>
            <a:r>
              <a:rPr lang="zh-CN" altLang="en-US" b="1" dirty="0">
                <a:latin typeface="+mn-ea"/>
                <a:sym typeface="+mn-ea"/>
              </a:rPr>
              <a:t>特点</a:t>
            </a:r>
            <a:r>
              <a:rPr lang="en-US" altLang="zh-CN" b="1" dirty="0">
                <a:latin typeface="+mn-ea"/>
                <a:sym typeface="+mn-ea"/>
              </a:rPr>
              <a:t>: </a:t>
            </a:r>
            <a:r>
              <a:rPr lang="zh-CN" altLang="en-US" sz="1400" dirty="0">
                <a:latin typeface="仿宋" panose="02010609060101010101" pitchFamily="49" charset="-122"/>
                <a:ea typeface="仿宋" panose="02010609060101010101" pitchFamily="49" charset="-122"/>
                <a:sym typeface="+mn-ea"/>
              </a:rPr>
              <a:t>支持动态创建采集器，根据配置的监控范围选择适当的采集器</a:t>
            </a:r>
            <a:endParaRPr lang="zh-CN" altLang="en-US" dirty="0">
              <a:latin typeface="仿宋" panose="02010609060101010101" pitchFamily="49" charset="-122"/>
              <a:ea typeface="仿宋" panose="02010609060101010101" pitchFamily="49" charset="-122"/>
              <a:sym typeface="+mn-ea"/>
            </a:endParaRPr>
          </a:p>
        </p:txBody>
      </p:sp>
      <p:pic>
        <p:nvPicPr>
          <p:cNvPr id="13" name="图片 12">
            <a:extLst>
              <a:ext uri="{FF2B5EF4-FFF2-40B4-BE49-F238E27FC236}">
                <a16:creationId xmlns:a16="http://schemas.microsoft.com/office/drawing/2014/main" id="{B6EDA095-7ED4-6B88-589C-E0C99E3729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7708361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5F6B8-30DA-9B68-F112-8A8600E37B4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CD5EEB26-EB1A-4015-7BBD-564E961FC524}"/>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94EC6869-94C4-3EB4-00CD-B0BE4B6E237C}"/>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22</a:t>
            </a:fld>
            <a:endParaRPr lang="zh-CN" altLang="en-US"/>
          </a:p>
        </p:txBody>
      </p:sp>
      <p:sp>
        <p:nvSpPr>
          <p:cNvPr id="6" name="文本框 5">
            <a:extLst>
              <a:ext uri="{FF2B5EF4-FFF2-40B4-BE49-F238E27FC236}">
                <a16:creationId xmlns:a16="http://schemas.microsoft.com/office/drawing/2014/main" id="{92B5BE77-BA3D-4A96-7580-E395AF1DF410}"/>
              </a:ext>
            </a:extLst>
          </p:cNvPr>
          <p:cNvSpPr txBox="1"/>
          <p:nvPr/>
        </p:nvSpPr>
        <p:spPr>
          <a:xfrm>
            <a:off x="433381" y="834725"/>
            <a:ext cx="5246449" cy="5109091"/>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第三层：连接层</a:t>
            </a:r>
          </a:p>
          <a:p>
            <a:endParaRPr lang="en-US" altLang="zh-CN" dirty="0">
              <a:sym typeface="+mn-ea"/>
            </a:endParaRPr>
          </a:p>
          <a:p>
            <a:r>
              <a:rPr lang="en-US" altLang="zh-CN" b="1" dirty="0">
                <a:sym typeface="+mn-ea"/>
              </a:rPr>
              <a:t>JMX</a:t>
            </a:r>
            <a:r>
              <a:rPr lang="zh-CN" altLang="en-US" b="1" dirty="0">
                <a:sym typeface="+mn-ea"/>
              </a:rPr>
              <a:t>连接工厂</a:t>
            </a:r>
            <a:r>
              <a:rPr lang="en-US" altLang="zh-CN" b="1" dirty="0">
                <a:sym typeface="+mn-ea"/>
              </a:rPr>
              <a:t> (BESMBeanServerConnectionFactory)</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连接创建和管理</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创建和维护与目标</a:t>
            </a:r>
            <a:r>
              <a:rPr lang="en-US" altLang="zh-CN" sz="1600" dirty="0">
                <a:latin typeface="仿宋" panose="02010609060101010101" pitchFamily="49" charset="-122"/>
                <a:ea typeface="仿宋" panose="02010609060101010101" pitchFamily="49" charset="-122"/>
                <a:sym typeface="+mn-ea"/>
              </a:rPr>
              <a:t>Java</a:t>
            </a:r>
            <a:r>
              <a:rPr lang="zh-CN" altLang="en-US" sz="1600" dirty="0">
                <a:latin typeface="仿宋" panose="02010609060101010101" pitchFamily="49" charset="-122"/>
                <a:ea typeface="仿宋" panose="02010609060101010101" pitchFamily="49" charset="-122"/>
                <a:sym typeface="+mn-ea"/>
              </a:rPr>
              <a:t>应用的</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支持连接重试、自动重连和连接池管理</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JMXConnector</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连接器</a:t>
            </a:r>
          </a:p>
          <a:p>
            <a:r>
              <a:rPr lang="zh-CN" altLang="en-US" b="1" dirty="0">
                <a:sym typeface="+mn-ea"/>
              </a:rPr>
              <a:t>作用</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提供与远程</a:t>
            </a:r>
            <a:r>
              <a:rPr lang="en-US" altLang="zh-CN" sz="1600" dirty="0">
                <a:latin typeface="仿宋" panose="02010609060101010101" pitchFamily="49" charset="-122"/>
                <a:ea typeface="仿宋" panose="02010609060101010101" pitchFamily="49" charset="-122"/>
                <a:sym typeface="+mn-ea"/>
              </a:rPr>
              <a:t>JVM</a:t>
            </a:r>
            <a:r>
              <a:rPr lang="zh-CN" altLang="en-US" sz="1600" dirty="0">
                <a:latin typeface="仿宋" panose="02010609060101010101" pitchFamily="49" charset="-122"/>
                <a:ea typeface="仿宋" panose="02010609060101010101" pitchFamily="49" charset="-122"/>
                <a:sym typeface="+mn-ea"/>
              </a:rPr>
              <a:t>通信的能力</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封装底层</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连接细节，处理连接异常</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MBeanServerConnection</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MBean</a:t>
            </a:r>
            <a:r>
              <a:rPr lang="zh-CN" altLang="en-US" sz="1600" dirty="0">
                <a:latin typeface="仿宋" panose="02010609060101010101" pitchFamily="49" charset="-122"/>
                <a:ea typeface="仿宋" panose="02010609060101010101" pitchFamily="49" charset="-122"/>
                <a:sym typeface="+mn-ea"/>
              </a:rPr>
              <a:t>服务连接</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提供访问远程</a:t>
            </a:r>
            <a:r>
              <a:rPr lang="en-US" altLang="zh-CN" sz="1600" dirty="0">
                <a:latin typeface="仿宋" panose="02010609060101010101" pitchFamily="49" charset="-122"/>
                <a:ea typeface="仿宋" panose="02010609060101010101" pitchFamily="49" charset="-122"/>
                <a:sym typeface="+mn-ea"/>
              </a:rPr>
              <a:t>MBean</a:t>
            </a:r>
            <a:r>
              <a:rPr lang="zh-CN" altLang="en-US" sz="1600" dirty="0">
                <a:latin typeface="仿宋" panose="02010609060101010101" pitchFamily="49" charset="-122"/>
                <a:ea typeface="仿宋" panose="02010609060101010101" pitchFamily="49" charset="-122"/>
                <a:sym typeface="+mn-ea"/>
              </a:rPr>
              <a:t>属性和操作的能力</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是所有采集器获取指标数据的基础</a:t>
            </a:r>
          </a:p>
        </p:txBody>
      </p:sp>
      <p:pic>
        <p:nvPicPr>
          <p:cNvPr id="13" name="图片 12">
            <a:extLst>
              <a:ext uri="{FF2B5EF4-FFF2-40B4-BE49-F238E27FC236}">
                <a16:creationId xmlns:a16="http://schemas.microsoft.com/office/drawing/2014/main" id="{DE5A20B9-24E0-7E34-087B-F6CB986C159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2131561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FDC1-875B-8DE4-D7A4-3F8D745A52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FBDC43B0-627D-50C5-C169-4DA087A39F0E}"/>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1C11080-532E-178B-0754-499457BE7C1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23</a:t>
            </a:fld>
            <a:endParaRPr lang="zh-CN" altLang="en-US"/>
          </a:p>
        </p:txBody>
      </p:sp>
      <p:sp>
        <p:nvSpPr>
          <p:cNvPr id="6" name="文本框 5">
            <a:extLst>
              <a:ext uri="{FF2B5EF4-FFF2-40B4-BE49-F238E27FC236}">
                <a16:creationId xmlns:a16="http://schemas.microsoft.com/office/drawing/2014/main" id="{4DCE1AC9-C01E-A8D4-126D-D48E4F6124D6}"/>
              </a:ext>
            </a:extLst>
          </p:cNvPr>
          <p:cNvSpPr txBox="1"/>
          <p:nvPr/>
        </p:nvSpPr>
        <p:spPr>
          <a:xfrm>
            <a:off x="433381" y="834725"/>
            <a:ext cx="5246449" cy="5570756"/>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第四层：采集层</a:t>
            </a:r>
            <a:endParaRPr lang="en-US" altLang="zh-CN" dirty="0">
              <a:sym typeface="+mn-ea"/>
            </a:endParaRPr>
          </a:p>
          <a:p>
            <a:r>
              <a:rPr lang="en-US" altLang="zh-CN" b="1" dirty="0">
                <a:latin typeface="+mn-ea"/>
                <a:sym typeface="+mn-ea"/>
              </a:rPr>
              <a:t>MetricCollector (</a:t>
            </a:r>
            <a:r>
              <a:rPr lang="zh-CN" altLang="en-US" b="1" dirty="0">
                <a:latin typeface="+mn-ea"/>
                <a:sym typeface="+mn-ea"/>
              </a:rPr>
              <a:t>接口</a:t>
            </a:r>
            <a:r>
              <a:rPr lang="en-US" altLang="zh-CN" b="1" dirty="0">
                <a:latin typeface="+mn-ea"/>
                <a:sym typeface="+mn-ea"/>
              </a:rPr>
              <a:t>)</a:t>
            </a: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采集器接口规范</a:t>
            </a:r>
            <a:endParaRPr lang="zh-CN" altLang="en-US" dirty="0">
              <a:latin typeface="仿宋" panose="02010609060101010101" pitchFamily="49" charset="-122"/>
              <a:ea typeface="仿宋" panose="02010609060101010101" pitchFamily="49" charset="-122"/>
              <a:sym typeface="+mn-ea"/>
            </a:endParaRP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定义所有采集器必须实现的方法</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包含采集、分组和格式化等核心功能</a:t>
            </a:r>
            <a:endParaRPr lang="en-US" altLang="zh-CN" sz="1600" dirty="0">
              <a:latin typeface="仿宋" panose="02010609060101010101" pitchFamily="49" charset="-122"/>
              <a:ea typeface="仿宋" panose="02010609060101010101" pitchFamily="49" charset="-122"/>
              <a:sym typeface="+mn-ea"/>
            </a:endParaRPr>
          </a:p>
          <a:p>
            <a:endParaRPr lang="zh-CN" altLang="en-US" b="1" dirty="0">
              <a:latin typeface="+mn-ea"/>
              <a:sym typeface="+mn-ea"/>
            </a:endParaRPr>
          </a:p>
          <a:p>
            <a:r>
              <a:rPr lang="en-US" altLang="zh-CN" b="1" dirty="0">
                <a:latin typeface="+mn-ea"/>
                <a:sym typeface="+mn-ea"/>
              </a:rPr>
              <a:t>SessionCollector</a:t>
            </a: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会话指标采集器</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a:t>
            </a:r>
            <a:r>
              <a:rPr lang="en-US" altLang="zh-CN" sz="1600" dirty="0">
                <a:latin typeface="仿宋" panose="02010609060101010101" pitchFamily="49" charset="-122"/>
                <a:ea typeface="仿宋" panose="02010609060101010101" pitchFamily="49" charset="-122"/>
                <a:sym typeface="+mn-ea"/>
              </a:rPr>
              <a:t>Tomcat</a:t>
            </a:r>
            <a:r>
              <a:rPr lang="zh-CN" altLang="en-US" sz="1600" dirty="0">
                <a:latin typeface="仿宋" panose="02010609060101010101" pitchFamily="49" charset="-122"/>
                <a:ea typeface="仿宋" panose="02010609060101010101" pitchFamily="49" charset="-122"/>
                <a:sym typeface="+mn-ea"/>
              </a:rPr>
              <a:t>等容器的会话相关指标</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监控活跃会话数、过期会话数等关键指标</a:t>
            </a:r>
            <a:endParaRPr lang="en-US" altLang="zh-CN" sz="1600" dirty="0">
              <a:latin typeface="仿宋" panose="02010609060101010101" pitchFamily="49" charset="-122"/>
              <a:ea typeface="仿宋" panose="02010609060101010101" pitchFamily="49" charset="-122"/>
              <a:sym typeface="+mn-ea"/>
            </a:endParaRPr>
          </a:p>
          <a:p>
            <a:endParaRPr lang="en-US" altLang="zh-CN" sz="1600" dirty="0">
              <a:latin typeface="仿宋" panose="02010609060101010101" pitchFamily="49" charset="-122"/>
              <a:ea typeface="仿宋" panose="02010609060101010101" pitchFamily="49" charset="-122"/>
              <a:sym typeface="+mn-ea"/>
            </a:endParaRPr>
          </a:p>
          <a:p>
            <a:endParaRPr lang="en-US" altLang="zh-CN" sz="1600" dirty="0">
              <a:latin typeface="仿宋" panose="02010609060101010101" pitchFamily="49" charset="-122"/>
              <a:ea typeface="仿宋" panose="02010609060101010101" pitchFamily="49" charset="-122"/>
              <a:sym typeface="+mn-ea"/>
            </a:endParaRPr>
          </a:p>
          <a:p>
            <a:r>
              <a:rPr lang="zh-CN" altLang="en-US" b="1" dirty="0">
                <a:sym typeface="+mn-ea"/>
              </a:rPr>
              <a:t>第五层：数据模型层</a:t>
            </a:r>
          </a:p>
          <a:p>
            <a:r>
              <a:rPr lang="en-US" altLang="zh-CN" b="1" dirty="0">
                <a:sym typeface="+mn-ea"/>
              </a:rPr>
              <a:t>Metric</a:t>
            </a: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指标数据模型</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封装单个指标的名称和值</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采用</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类型</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上下文</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指标</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的命名规范，支持各种数据类型</a:t>
            </a:r>
            <a:endParaRPr lang="zh-CN" altLang="en-US" dirty="0">
              <a:latin typeface="仿宋" panose="02010609060101010101" pitchFamily="49" charset="-122"/>
              <a:ea typeface="仿宋" panose="02010609060101010101" pitchFamily="49" charset="-122"/>
              <a:sym typeface="+mn-ea"/>
            </a:endParaRPr>
          </a:p>
        </p:txBody>
      </p:sp>
      <p:pic>
        <p:nvPicPr>
          <p:cNvPr id="13" name="图片 12">
            <a:extLst>
              <a:ext uri="{FF2B5EF4-FFF2-40B4-BE49-F238E27FC236}">
                <a16:creationId xmlns:a16="http://schemas.microsoft.com/office/drawing/2014/main" id="{BBFE9E9D-01CB-9FF9-4946-4DB654A55D9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2271615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12022-A30F-B709-2B91-7E75765AB11D}"/>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CB05D944-F600-AC80-8F3E-80E5B3DB9694}"/>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055EB454-EE73-D7B7-834C-F52BAB1F7CEC}"/>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24</a:t>
            </a:fld>
            <a:endParaRPr lang="zh-CN" altLang="en-US"/>
          </a:p>
        </p:txBody>
      </p:sp>
      <p:sp>
        <p:nvSpPr>
          <p:cNvPr id="6" name="文本框 5">
            <a:extLst>
              <a:ext uri="{FF2B5EF4-FFF2-40B4-BE49-F238E27FC236}">
                <a16:creationId xmlns:a16="http://schemas.microsoft.com/office/drawing/2014/main" id="{6D11E010-51F0-4AAC-4AD1-DA9BD742B6E4}"/>
              </a:ext>
            </a:extLst>
          </p:cNvPr>
          <p:cNvSpPr txBox="1"/>
          <p:nvPr/>
        </p:nvSpPr>
        <p:spPr>
          <a:xfrm>
            <a:off x="433381" y="834725"/>
            <a:ext cx="5246449" cy="5262979"/>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第六层：写入层</a:t>
            </a:r>
            <a:endParaRPr lang="en-US" altLang="zh-CN" b="1" dirty="0"/>
          </a:p>
          <a:p>
            <a:endParaRPr lang="en-US" altLang="zh-CN" sz="1400" b="1" dirty="0">
              <a:sym typeface="+mn-ea"/>
            </a:endParaRPr>
          </a:p>
          <a:p>
            <a:r>
              <a:rPr lang="en-US" altLang="zh-CN" sz="1400" b="1" dirty="0">
                <a:sym typeface="+mn-ea"/>
              </a:rPr>
              <a:t>MetricWriter (</a:t>
            </a:r>
            <a:r>
              <a:rPr lang="zh-CN" altLang="en-US" sz="1400" b="1" dirty="0">
                <a:sym typeface="+mn-ea"/>
              </a:rPr>
              <a:t>接口</a:t>
            </a:r>
            <a:r>
              <a:rPr lang="en-US" altLang="zh-CN" sz="1400" b="1" dirty="0">
                <a:sym typeface="+mn-ea"/>
              </a:rPr>
              <a:t>)</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写入器接口规范</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定义所有写入器必须实现的方法</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提供数据持久化的统一接口</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GroupedMetricWriter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分组写入器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根据指标前缀将指标分组，并交给不同的写入器处理</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支持动态创建和注册写入器，实现指标分类存储</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TextMetricWriter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文本写入器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将指标以文本格式写入文件</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支持多种文本格式，处理文件创建和写入操作</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RotatingTextWriter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轮转文本写入器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在文本写入器基础上增加文件轮转功能</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根据文件大小或时间自动轮转文件，支持压缩和保留策略</a:t>
            </a:r>
          </a:p>
        </p:txBody>
      </p:sp>
      <p:pic>
        <p:nvPicPr>
          <p:cNvPr id="13" name="图片 12">
            <a:extLst>
              <a:ext uri="{FF2B5EF4-FFF2-40B4-BE49-F238E27FC236}">
                <a16:creationId xmlns:a16="http://schemas.microsoft.com/office/drawing/2014/main" id="{FBCF74BF-6D52-8C5F-7691-A626DF576E7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3197674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F8B75-26B0-3A70-3827-CB4C85A62A2B}"/>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2B51AEE-3C7C-2ADA-DA64-189DD109F05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9B444967-BA98-0DB3-E074-5F549588297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25</a:t>
            </a:fld>
            <a:endParaRPr lang="zh-CN" altLang="en-US"/>
          </a:p>
        </p:txBody>
      </p:sp>
      <p:sp>
        <p:nvSpPr>
          <p:cNvPr id="6" name="文本框 5">
            <a:extLst>
              <a:ext uri="{FF2B5EF4-FFF2-40B4-BE49-F238E27FC236}">
                <a16:creationId xmlns:a16="http://schemas.microsoft.com/office/drawing/2014/main" id="{0B091749-CDC6-7BF7-8AE7-46938807080C}"/>
              </a:ext>
            </a:extLst>
          </p:cNvPr>
          <p:cNvSpPr txBox="1"/>
          <p:nvPr/>
        </p:nvSpPr>
        <p:spPr>
          <a:xfrm>
            <a:off x="345459" y="908470"/>
            <a:ext cx="5246449" cy="4278094"/>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第七层：服务层</a:t>
            </a:r>
          </a:p>
          <a:p>
            <a:endParaRPr lang="en-US" altLang="zh-CN" dirty="0">
              <a:sym typeface="+mn-ea"/>
            </a:endParaRPr>
          </a:p>
          <a:p>
            <a:r>
              <a:rPr lang="en-US" altLang="zh-CN" b="1" dirty="0">
                <a:sym typeface="+mn-ea"/>
              </a:rPr>
              <a:t>MonitorService</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监控核心服务</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协调整个监控流程，是系统的中枢</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管理采集器和写入器生命周期，调度定期采集任务</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ScheduledExecutor</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任务调度器</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按指定间隔调度采集任务</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支持定时任务、延迟执行和异常处理</a:t>
            </a:r>
          </a:p>
        </p:txBody>
      </p:sp>
      <p:pic>
        <p:nvPicPr>
          <p:cNvPr id="13" name="图片 12">
            <a:extLst>
              <a:ext uri="{FF2B5EF4-FFF2-40B4-BE49-F238E27FC236}">
                <a16:creationId xmlns:a16="http://schemas.microsoft.com/office/drawing/2014/main" id="{7D47B4B6-5230-74A4-C410-B7D718DC6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788672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A765-5CAC-53D9-0AE3-F84580C3245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09977AA-858E-F879-E604-1BB49C7C7F49}"/>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2AD7560E-643E-5FA7-90D9-3F3269F1C8D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26</a:t>
            </a:fld>
            <a:endParaRPr lang="zh-CN" altLang="en-US"/>
          </a:p>
        </p:txBody>
      </p:sp>
      <p:sp>
        <p:nvSpPr>
          <p:cNvPr id="6" name="文本框 5">
            <a:extLst>
              <a:ext uri="{FF2B5EF4-FFF2-40B4-BE49-F238E27FC236}">
                <a16:creationId xmlns:a16="http://schemas.microsoft.com/office/drawing/2014/main" id="{B4989A74-E291-3859-2B2E-A43B6060E171}"/>
              </a:ext>
            </a:extLst>
          </p:cNvPr>
          <p:cNvSpPr txBox="1"/>
          <p:nvPr/>
        </p:nvSpPr>
        <p:spPr>
          <a:xfrm>
            <a:off x="345459" y="908470"/>
            <a:ext cx="5246449" cy="5078313"/>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流程说明：</a:t>
            </a:r>
            <a:endParaRPr lang="en-US" altLang="zh-CN" b="1" dirty="0"/>
          </a:p>
          <a:p>
            <a:endParaRPr lang="en-US" altLang="zh-CN" b="1" dirty="0"/>
          </a:p>
          <a:p>
            <a:r>
              <a:rPr lang="zh-CN" altLang="en-US" b="1" dirty="0"/>
              <a:t>初始化阶段</a:t>
            </a:r>
            <a:r>
              <a:rPr lang="zh-CN" altLang="en-US" dirty="0"/>
              <a:t>：</a:t>
            </a:r>
            <a:r>
              <a:rPr lang="en-US" altLang="zh-CN" sz="1600" dirty="0">
                <a:latin typeface="仿宋" panose="02010609060101010101" pitchFamily="49" charset="-122"/>
                <a:ea typeface="仿宋" panose="02010609060101010101" pitchFamily="49" charset="-122"/>
              </a:rPr>
              <a:t>MonitorToolsMain </a:t>
            </a:r>
            <a:r>
              <a:rPr lang="zh-CN" altLang="en-US" sz="1600" dirty="0">
                <a:latin typeface="仿宋" panose="02010609060101010101" pitchFamily="49" charset="-122"/>
                <a:ea typeface="仿宋" panose="02010609060101010101" pitchFamily="49" charset="-122"/>
              </a:rPr>
              <a:t>创建 </a:t>
            </a:r>
            <a:r>
              <a:rPr lang="en-US" altLang="zh-CN" sz="1600" dirty="0">
                <a:latin typeface="仿宋" panose="02010609060101010101" pitchFamily="49" charset="-122"/>
                <a:ea typeface="仿宋" panose="02010609060101010101" pitchFamily="49" charset="-122"/>
              </a:rPr>
              <a:t>MonitorService</a:t>
            </a:r>
            <a:r>
              <a:rPr lang="zh-CN" altLang="en-US" sz="1600" dirty="0">
                <a:latin typeface="仿宋" panose="02010609060101010101" pitchFamily="49" charset="-122"/>
                <a:ea typeface="仿宋" panose="02010609060101010101" pitchFamily="49" charset="-122"/>
              </a:rPr>
              <a:t>，后者建立 </a:t>
            </a:r>
            <a:r>
              <a:rPr lang="en-US" altLang="zh-CN" sz="1600" dirty="0">
                <a:latin typeface="仿宋" panose="02010609060101010101" pitchFamily="49" charset="-122"/>
                <a:ea typeface="仿宋" panose="02010609060101010101" pitchFamily="49" charset="-122"/>
              </a:rPr>
              <a:t>JMX </a:t>
            </a:r>
            <a:r>
              <a:rPr lang="zh-CN" altLang="en-US" sz="1600" dirty="0">
                <a:latin typeface="仿宋" panose="02010609060101010101" pitchFamily="49" charset="-122"/>
                <a:ea typeface="仿宋" panose="02010609060101010101" pitchFamily="49" charset="-122"/>
              </a:rPr>
              <a:t>连接、创建采集器、初始化写入器，并启动调度器。</a:t>
            </a:r>
            <a:endParaRPr lang="en-US" altLang="zh-CN" sz="1600" dirty="0">
              <a:latin typeface="仿宋" panose="02010609060101010101" pitchFamily="49" charset="-122"/>
              <a:ea typeface="仿宋" panose="02010609060101010101" pitchFamily="49" charset="-122"/>
            </a:endParaRPr>
          </a:p>
          <a:p>
            <a:endParaRPr lang="zh-CN" altLang="en-US" dirty="0"/>
          </a:p>
          <a:p>
            <a:r>
              <a:rPr lang="zh-CN" altLang="en-US" b="1" dirty="0"/>
              <a:t>采集阶段</a:t>
            </a:r>
            <a:r>
              <a:rPr lang="zh-CN" altLang="en-US" dirty="0"/>
              <a:t>：</a:t>
            </a:r>
            <a:r>
              <a:rPr lang="zh-CN" altLang="en-US" sz="1600" dirty="0">
                <a:latin typeface="仿宋" panose="02010609060101010101" pitchFamily="49" charset="-122"/>
                <a:ea typeface="仿宋" panose="02010609060101010101" pitchFamily="49" charset="-122"/>
              </a:rPr>
              <a:t>调度器周期性调用 </a:t>
            </a:r>
            <a:r>
              <a:rPr lang="en-US" altLang="zh-CN" sz="1600" dirty="0">
                <a:latin typeface="仿宋" panose="02010609060101010101" pitchFamily="49" charset="-122"/>
                <a:ea typeface="仿宋" panose="02010609060101010101" pitchFamily="49" charset="-122"/>
              </a:rPr>
              <a:t>collect</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MonitorService </a:t>
            </a:r>
            <a:r>
              <a:rPr lang="zh-CN" altLang="en-US" sz="1600" dirty="0">
                <a:latin typeface="仿宋" panose="02010609060101010101" pitchFamily="49" charset="-122"/>
                <a:ea typeface="仿宋" panose="02010609060101010101" pitchFamily="49" charset="-122"/>
              </a:rPr>
              <a:t>依次调用每个采集器，通过 </a:t>
            </a:r>
            <a:r>
              <a:rPr lang="en-US" altLang="zh-CN" sz="1600" dirty="0">
                <a:latin typeface="仿宋" panose="02010609060101010101" pitchFamily="49" charset="-122"/>
                <a:ea typeface="仿宋" panose="02010609060101010101" pitchFamily="49" charset="-122"/>
              </a:rPr>
              <a:t>MBeanServerConnection </a:t>
            </a:r>
            <a:r>
              <a:rPr lang="zh-CN" altLang="en-US" sz="1600" dirty="0">
                <a:latin typeface="仿宋" panose="02010609060101010101" pitchFamily="49" charset="-122"/>
                <a:ea typeface="仿宋" panose="02010609060101010101" pitchFamily="49" charset="-122"/>
              </a:rPr>
              <a:t>获取指标并转换为 </a:t>
            </a:r>
            <a:r>
              <a:rPr lang="en-US" altLang="zh-CN" sz="1600" dirty="0">
                <a:latin typeface="仿宋" panose="02010609060101010101" pitchFamily="49" charset="-122"/>
                <a:ea typeface="仿宋" panose="02010609060101010101" pitchFamily="49" charset="-122"/>
              </a:rPr>
              <a:t>Metric </a:t>
            </a:r>
            <a:r>
              <a:rPr lang="zh-CN" altLang="en-US" sz="1600" dirty="0">
                <a:latin typeface="仿宋" panose="02010609060101010101" pitchFamily="49" charset="-122"/>
                <a:ea typeface="仿宋" panose="02010609060101010101" pitchFamily="49" charset="-122"/>
              </a:rPr>
              <a:t>列表。</a:t>
            </a:r>
            <a:endParaRPr lang="en-US" altLang="zh-CN" sz="1600" dirty="0">
              <a:latin typeface="仿宋" panose="02010609060101010101" pitchFamily="49" charset="-122"/>
              <a:ea typeface="仿宋" panose="02010609060101010101" pitchFamily="49" charset="-122"/>
            </a:endParaRPr>
          </a:p>
          <a:p>
            <a:endParaRPr lang="zh-CN" altLang="en-US" dirty="0"/>
          </a:p>
          <a:p>
            <a:r>
              <a:rPr lang="zh-CN" altLang="en-US" b="1" dirty="0"/>
              <a:t>写入阶段</a:t>
            </a:r>
            <a:r>
              <a:rPr lang="zh-CN" altLang="en-US" dirty="0"/>
              <a:t>：</a:t>
            </a:r>
            <a:r>
              <a:rPr lang="zh-CN" altLang="en-US" sz="1600" dirty="0">
                <a:latin typeface="仿宋" panose="02010609060101010101" pitchFamily="49" charset="-122"/>
                <a:ea typeface="仿宋" panose="02010609060101010101" pitchFamily="49" charset="-122"/>
              </a:rPr>
              <a:t>所有 </a:t>
            </a:r>
            <a:r>
              <a:rPr lang="en-US" altLang="zh-CN" sz="1600" dirty="0">
                <a:latin typeface="仿宋" panose="02010609060101010101" pitchFamily="49" charset="-122"/>
                <a:ea typeface="仿宋" panose="02010609060101010101" pitchFamily="49" charset="-122"/>
              </a:rPr>
              <a:t>Metric </a:t>
            </a:r>
            <a:r>
              <a:rPr lang="zh-CN" altLang="en-US" sz="1600" dirty="0">
                <a:latin typeface="仿宋" panose="02010609060101010101" pitchFamily="49" charset="-122"/>
                <a:ea typeface="仿宋" panose="02010609060101010101" pitchFamily="49" charset="-122"/>
              </a:rPr>
              <a:t>传给 </a:t>
            </a:r>
            <a:r>
              <a:rPr lang="en-US" altLang="zh-CN" sz="1600" dirty="0">
                <a:latin typeface="仿宋" panose="02010609060101010101" pitchFamily="49" charset="-122"/>
                <a:ea typeface="仿宋" panose="02010609060101010101" pitchFamily="49" charset="-122"/>
              </a:rPr>
              <a:t>GroupedMetricWriter</a:t>
            </a:r>
            <a:r>
              <a:rPr lang="zh-CN" altLang="en-US" sz="1600" dirty="0">
                <a:latin typeface="仿宋" panose="02010609060101010101" pitchFamily="49" charset="-122"/>
                <a:ea typeface="仿宋" panose="02010609060101010101" pitchFamily="49" charset="-122"/>
              </a:rPr>
              <a:t>，分组后由对应的 </a:t>
            </a:r>
            <a:r>
              <a:rPr lang="en-US" altLang="zh-CN" sz="1600" dirty="0">
                <a:latin typeface="仿宋" panose="02010609060101010101" pitchFamily="49" charset="-122"/>
                <a:ea typeface="仿宋" panose="02010609060101010101" pitchFamily="49" charset="-122"/>
              </a:rPr>
              <a:t>RotatingTextWriter </a:t>
            </a:r>
            <a:r>
              <a:rPr lang="zh-CN" altLang="en-US" sz="1600" dirty="0">
                <a:latin typeface="仿宋" panose="02010609060101010101" pitchFamily="49" charset="-122"/>
                <a:ea typeface="仿宋" panose="02010609060101010101" pitchFamily="49" charset="-122"/>
              </a:rPr>
              <a:t>写入文件，必要时执行轮转压缩。</a:t>
            </a:r>
            <a:endParaRPr lang="en-US" altLang="zh-CN" sz="1600" dirty="0">
              <a:latin typeface="仿宋" panose="02010609060101010101" pitchFamily="49" charset="-122"/>
              <a:ea typeface="仿宋" panose="02010609060101010101" pitchFamily="49" charset="-122"/>
            </a:endParaRPr>
          </a:p>
          <a:p>
            <a:endParaRPr lang="zh-CN" altLang="en-US" sz="1600" dirty="0">
              <a:latin typeface="仿宋" panose="02010609060101010101" pitchFamily="49" charset="-122"/>
              <a:ea typeface="仿宋" panose="02010609060101010101" pitchFamily="49" charset="-122"/>
            </a:endParaRPr>
          </a:p>
          <a:p>
            <a:r>
              <a:rPr lang="zh-CN" altLang="en-US" sz="1600" dirty="0">
                <a:latin typeface="仿宋" panose="02010609060101010101" pitchFamily="49" charset="-122"/>
                <a:ea typeface="仿宋" panose="02010609060101010101" pitchFamily="49" charset="-122"/>
              </a:rPr>
              <a:t>循环持续直到服务停止。</a:t>
            </a:r>
          </a:p>
          <a:p>
            <a:endParaRPr lang="zh-CN" altLang="en-US" sz="1600" dirty="0">
              <a:latin typeface="仿宋" panose="02010609060101010101" pitchFamily="49" charset="-122"/>
              <a:ea typeface="仿宋" panose="02010609060101010101" pitchFamily="49" charset="-122"/>
              <a:sym typeface="+mn-ea"/>
            </a:endParaRPr>
          </a:p>
        </p:txBody>
      </p:sp>
      <p:pic>
        <p:nvPicPr>
          <p:cNvPr id="8" name="图片 7">
            <a:extLst>
              <a:ext uri="{FF2B5EF4-FFF2-40B4-BE49-F238E27FC236}">
                <a16:creationId xmlns:a16="http://schemas.microsoft.com/office/drawing/2014/main" id="{F8279893-FFF0-77C1-408E-157C0528385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71039" y="738065"/>
            <a:ext cx="6459415" cy="5618285"/>
          </a:xfrm>
          <a:prstGeom prst="rect">
            <a:avLst/>
          </a:prstGeom>
        </p:spPr>
      </p:pic>
    </p:spTree>
    <p:extLst>
      <p:ext uri="{BB962C8B-B14F-4D97-AF65-F5344CB8AC3E}">
        <p14:creationId xmlns:p14="http://schemas.microsoft.com/office/powerpoint/2010/main" val="23068874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3B8C1-CCDF-DE6F-DD85-720AEF0D44E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CE1E9D0-3A0F-AB49-F546-A0E6B79B13BD}"/>
              </a:ext>
            </a:extLst>
          </p:cNvPr>
          <p:cNvSpPr>
            <a:spLocks noGrp="1"/>
          </p:cNvSpPr>
          <p:nvPr>
            <p:ph type="title"/>
          </p:nvPr>
        </p:nvSpPr>
        <p:spPr/>
        <p:txBody>
          <a:bodyPr/>
          <a:lstStyle/>
          <a:p>
            <a:r>
              <a:rPr lang="en-US" altLang="zh-CN" dirty="0"/>
              <a:t>3.2</a:t>
            </a:r>
            <a:r>
              <a:rPr lang="zh-CN" altLang="en-US" dirty="0"/>
              <a:t> 产品知识掌握情况</a:t>
            </a:r>
            <a:r>
              <a:rPr lang="en-US" altLang="zh-CN" dirty="0"/>
              <a:t>——</a:t>
            </a:r>
            <a:r>
              <a:rPr lang="zh-CN" altLang="en-US" dirty="0"/>
              <a:t>其他产品</a:t>
            </a:r>
            <a:endParaRPr lang="en-US" altLang="zh-CN" dirty="0"/>
          </a:p>
        </p:txBody>
      </p:sp>
      <p:sp>
        <p:nvSpPr>
          <p:cNvPr id="4" name="灯片编号占位符 3">
            <a:extLst>
              <a:ext uri="{FF2B5EF4-FFF2-40B4-BE49-F238E27FC236}">
                <a16:creationId xmlns:a16="http://schemas.microsoft.com/office/drawing/2014/main" id="{4463555E-B0C0-C03B-BEB8-8C008320CAE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27</a:t>
            </a:fld>
            <a:endParaRPr lang="zh-CN" altLang="en-US"/>
          </a:p>
        </p:txBody>
      </p:sp>
      <p:sp>
        <p:nvSpPr>
          <p:cNvPr id="6" name="文本框 5">
            <a:extLst>
              <a:ext uri="{FF2B5EF4-FFF2-40B4-BE49-F238E27FC236}">
                <a16:creationId xmlns:a16="http://schemas.microsoft.com/office/drawing/2014/main" id="{AE95B2B3-5026-C3B2-7594-0E02A47B382B}"/>
              </a:ext>
            </a:extLst>
          </p:cNvPr>
          <p:cNvSpPr txBox="1"/>
          <p:nvPr/>
        </p:nvSpPr>
        <p:spPr>
          <a:xfrm>
            <a:off x="1492898" y="908470"/>
            <a:ext cx="7558453" cy="2308324"/>
          </a:xfrm>
          <a:prstGeom prst="rect">
            <a:avLst/>
          </a:prstGeom>
          <a:noFill/>
        </p:spPr>
        <p:txBody>
          <a:bodyPr wrap="square">
            <a:spAutoFit/>
          </a:bodyPr>
          <a:lstStyle/>
          <a:p>
            <a:r>
              <a:rPr lang="zh-CN" altLang="en-US" sz="1800" dirty="0"/>
              <a:t>入职以来的用到的产品知识掌握情况，其他产品知识了解情况</a:t>
            </a:r>
            <a:endParaRPr lang="en-US" altLang="zh-CN" sz="1800" dirty="0"/>
          </a:p>
          <a:p>
            <a:endParaRPr lang="en-US" altLang="zh-CN" dirty="0"/>
          </a:p>
          <a:p>
            <a:r>
              <a:rPr lang="en-US" altLang="zh-CN" sz="1800" dirty="0">
                <a:latin typeface="仿宋" panose="02010609060101010101" pitchFamily="49" charset="-122"/>
                <a:ea typeface="仿宋" panose="02010609060101010101" pitchFamily="49" charset="-122"/>
              </a:rPr>
              <a:t>1</a:t>
            </a:r>
            <a:r>
              <a:rPr lang="zh-CN" altLang="en-US" sz="1800" dirty="0">
                <a:latin typeface="仿宋" panose="02010609060101010101" pitchFamily="49" charset="-122"/>
                <a:ea typeface="仿宋" panose="02010609060101010101" pitchFamily="49" charset="-122"/>
              </a:rPr>
              <a:t>、对</a:t>
            </a:r>
            <a:r>
              <a:rPr lang="en-US" altLang="zh-CN" sz="1800" dirty="0">
                <a:latin typeface="仿宋" panose="02010609060101010101" pitchFamily="49" charset="-122"/>
                <a:ea typeface="仿宋" panose="02010609060101010101" pitchFamily="49" charset="-122"/>
              </a:rPr>
              <a:t>BES MQ</a:t>
            </a:r>
            <a:r>
              <a:rPr lang="zh-CN" altLang="en-US" sz="1800" dirty="0">
                <a:latin typeface="仿宋" panose="02010609060101010101" pitchFamily="49" charset="-122"/>
                <a:ea typeface="仿宋" panose="02010609060101010101" pitchFamily="49" charset="-122"/>
              </a:rPr>
              <a:t>有些微了解，在修复连接器应用的相关 </a:t>
            </a:r>
            <a:r>
              <a:rPr lang="en-US" altLang="zh-CN"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中，有接触。</a:t>
            </a:r>
            <a:endParaRPr lang="en-US" altLang="zh-CN" sz="1800" dirty="0">
              <a:latin typeface="仿宋" panose="02010609060101010101" pitchFamily="49" charset="-122"/>
              <a:ea typeface="仿宋" panose="02010609060101010101" pitchFamily="49" charset="-122"/>
            </a:endParaRPr>
          </a:p>
          <a:p>
            <a:endParaRPr lang="en-US" altLang="zh-CN" dirty="0">
              <a:latin typeface="仿宋" panose="02010609060101010101" pitchFamily="49" charset="-122"/>
              <a:ea typeface="仿宋" panose="02010609060101010101" pitchFamily="49" charset="-122"/>
            </a:endParaRPr>
          </a:p>
          <a:p>
            <a:r>
              <a:rPr lang="en-US" altLang="zh-CN" sz="1800" dirty="0">
                <a:latin typeface="仿宋" panose="02010609060101010101" pitchFamily="49" charset="-122"/>
                <a:ea typeface="仿宋" panose="02010609060101010101" pitchFamily="49" charset="-122"/>
              </a:rPr>
              <a:t>2</a:t>
            </a:r>
            <a:r>
              <a:rPr lang="zh-CN" altLang="en-US" sz="1800" dirty="0">
                <a:latin typeface="仿宋" panose="02010609060101010101" pitchFamily="49" charset="-122"/>
                <a:ea typeface="仿宋" panose="02010609060101010101" pitchFamily="49" charset="-122"/>
              </a:rPr>
              <a:t>、对于 </a:t>
            </a:r>
            <a:r>
              <a:rPr lang="en-US" altLang="zh-CN" sz="1800" dirty="0">
                <a:latin typeface="仿宋" panose="02010609060101010101" pitchFamily="49" charset="-122"/>
                <a:ea typeface="仿宋" panose="02010609060101010101" pitchFamily="49" charset="-122"/>
              </a:rPr>
              <a:t>License Manager </a:t>
            </a:r>
            <a:r>
              <a:rPr lang="zh-CN" altLang="en-US" sz="1800" dirty="0">
                <a:latin typeface="仿宋" panose="02010609060101010101" pitchFamily="49" charset="-122"/>
                <a:ea typeface="仿宋" panose="02010609060101010101" pitchFamily="49" charset="-122"/>
              </a:rPr>
              <a:t>有些微了解，在修复 </a:t>
            </a:r>
            <a:r>
              <a:rPr lang="en-US" altLang="zh-CN" sz="1800" dirty="0">
                <a:latin typeface="仿宋" panose="02010609060101010101" pitchFamily="49" charset="-122"/>
                <a:ea typeface="仿宋" panose="02010609060101010101" pitchFamily="49" charset="-122"/>
              </a:rPr>
              <a:t>License </a:t>
            </a:r>
            <a:r>
              <a:rPr lang="zh-CN" altLang="en-US" sz="1800" dirty="0">
                <a:latin typeface="仿宋" panose="02010609060101010101" pitchFamily="49" charset="-122"/>
                <a:ea typeface="仿宋" panose="02010609060101010101" pitchFamily="49" charset="-122"/>
              </a:rPr>
              <a:t>相关 </a:t>
            </a:r>
            <a:r>
              <a:rPr lang="en-US" altLang="zh-CN" sz="1800"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中对接过。</a:t>
            </a:r>
            <a:endParaRPr lang="en-US" altLang="zh-CN" sz="1800" dirty="0">
              <a:latin typeface="仿宋" panose="02010609060101010101" pitchFamily="49" charset="-122"/>
              <a:ea typeface="仿宋" panose="02010609060101010101" pitchFamily="49" charset="-122"/>
            </a:endParaRPr>
          </a:p>
          <a:p>
            <a:endParaRPr lang="en-US" altLang="zh-CN" dirty="0"/>
          </a:p>
          <a:p>
            <a:endParaRPr lang="zh-CN" altLang="en-US" sz="1800" dirty="0"/>
          </a:p>
        </p:txBody>
      </p:sp>
    </p:spTree>
    <p:extLst>
      <p:ext uri="{BB962C8B-B14F-4D97-AF65-F5344CB8AC3E}">
        <p14:creationId xmlns:p14="http://schemas.microsoft.com/office/powerpoint/2010/main" val="19402054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3.3</a:t>
            </a:r>
            <a:r>
              <a:rPr lang="zh-CN" altLang="en-US" dirty="0"/>
              <a:t> 制度遵守</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28</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8" y="908470"/>
            <a:ext cx="8649477" cy="2862322"/>
          </a:xfrm>
          <a:prstGeom prst="rect">
            <a:avLst/>
          </a:prstGeom>
          <a:noFill/>
        </p:spPr>
        <p:txBody>
          <a:bodyPr wrap="square">
            <a:spAutoFit/>
          </a:bodyPr>
          <a:lstStyle/>
          <a:p>
            <a:r>
              <a:rPr lang="zh-CN" altLang="en-US" dirty="0"/>
              <a:t>对内部协作组织架构的了解情况，工作规范要求的执行情况，工作流程执行的情况</a:t>
            </a:r>
          </a:p>
          <a:p>
            <a:endParaRPr lang="en-US" altLang="zh-CN" dirty="0"/>
          </a:p>
          <a:p>
            <a:r>
              <a:rPr lang="en-US" altLang="zh-CN" dirty="0">
                <a:latin typeface="仿宋" panose="02010609060101010101" pitchFamily="49" charset="-122"/>
                <a:ea typeface="仿宋" panose="02010609060101010101" pitchFamily="49" charset="-122"/>
              </a:rPr>
              <a:t>1. </a:t>
            </a:r>
            <a:r>
              <a:rPr lang="zh-CN" altLang="en-US" dirty="0">
                <a:latin typeface="仿宋" panose="02010609060101010101" pitchFamily="49" charset="-122"/>
                <a:ea typeface="仿宋" panose="02010609060101010101" pitchFamily="49" charset="-122"/>
              </a:rPr>
              <a:t>了解公司现有产品、研发和测试团队的协同开发流程；</a:t>
            </a: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2. </a:t>
            </a:r>
            <a:r>
              <a:rPr lang="zh-CN" altLang="en-US" dirty="0">
                <a:latin typeface="仿宋" panose="02010609060101010101" pitchFamily="49" charset="-122"/>
                <a:ea typeface="仿宋" panose="02010609060101010101" pitchFamily="49" charset="-122"/>
              </a:rPr>
              <a:t>平时都是严格遵守公司考勤制度，没有补卡、缺勤过。</a:t>
            </a:r>
            <a:endParaRPr lang="zh-CN" altLang="zh-CN" dirty="0">
              <a:latin typeface="仿宋" panose="02010609060101010101" pitchFamily="49" charset="-122"/>
              <a:ea typeface="仿宋" panose="02010609060101010101" pitchFamily="49" charset="-122"/>
            </a:endParaRP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3. </a:t>
            </a:r>
            <a:r>
              <a:rPr lang="zh-CN" altLang="en-US" dirty="0">
                <a:latin typeface="仿宋" panose="02010609060101010101" pitchFamily="49" charset="-122"/>
                <a:ea typeface="仿宋" panose="02010609060101010101" pitchFamily="49" charset="-122"/>
              </a:rPr>
              <a:t>严格遵守公司研发制度，包括</a:t>
            </a:r>
            <a:r>
              <a:rPr lang="en-US" altLang="zh-CN" dirty="0">
                <a:latin typeface="仿宋" panose="02010609060101010101" pitchFamily="49" charset="-122"/>
                <a:ea typeface="仿宋" panose="02010609060101010101" pitchFamily="49" charset="-122"/>
              </a:rPr>
              <a:t> Git </a:t>
            </a:r>
            <a:r>
              <a:rPr lang="zh-CN" altLang="en-US" dirty="0">
                <a:latin typeface="仿宋" panose="02010609060101010101" pitchFamily="49" charset="-122"/>
                <a:ea typeface="仿宋" panose="02010609060101010101" pitchFamily="49" charset="-122"/>
              </a:rPr>
              <a:t>分支规范、代码规范、工时制度以及日报和周报制度。</a:t>
            </a:r>
          </a:p>
          <a:p>
            <a:endParaRPr lang="zh-CN" altLang="en-US" dirty="0"/>
          </a:p>
          <a:p>
            <a:endParaRPr lang="zh-CN" altLang="en-US" dirty="0"/>
          </a:p>
        </p:txBody>
      </p:sp>
    </p:spTree>
    <p:extLst>
      <p:ext uri="{BB962C8B-B14F-4D97-AF65-F5344CB8AC3E}">
        <p14:creationId xmlns:p14="http://schemas.microsoft.com/office/powerpoint/2010/main" val="3784672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4</a:t>
            </a:r>
            <a:r>
              <a:rPr lang="zh-CN" altLang="en-US" dirty="0">
                <a:sym typeface="+mn-ea"/>
              </a:rPr>
              <a:t>、工作的规划</a:t>
            </a:r>
            <a:r>
              <a:rPr lang="en-US" altLang="zh-CN" dirty="0">
                <a:sym typeface="+mn-ea"/>
              </a:rPr>
              <a:t>/</a:t>
            </a:r>
            <a:r>
              <a:rPr lang="zh-CN" altLang="en-US" dirty="0">
                <a:ea typeface="宋体" panose="02010600030101010101" pitchFamily="2" charset="-122"/>
                <a:sym typeface="+mn-ea"/>
              </a:rPr>
              <a:t>展望</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29</a:t>
            </a:fld>
            <a:endParaRPr lang="zh-CN" altLang="en-US"/>
          </a:p>
        </p:txBody>
      </p:sp>
      <p:sp>
        <p:nvSpPr>
          <p:cNvPr id="6" name="文本框 5">
            <a:extLst>
              <a:ext uri="{FF2B5EF4-FFF2-40B4-BE49-F238E27FC236}">
                <a16:creationId xmlns:a16="http://schemas.microsoft.com/office/drawing/2014/main" id="{603B0BE6-45D4-49E9-BE50-F7C6D79E2571}"/>
              </a:ext>
            </a:extLst>
          </p:cNvPr>
          <p:cNvSpPr txBox="1"/>
          <p:nvPr/>
        </p:nvSpPr>
        <p:spPr>
          <a:xfrm>
            <a:off x="1474237" y="908470"/>
            <a:ext cx="9171992" cy="4524315"/>
          </a:xfrm>
          <a:prstGeom prst="rect">
            <a:avLst/>
          </a:prstGeom>
          <a:noFill/>
        </p:spPr>
        <p:txBody>
          <a:bodyPr wrap="square">
            <a:spAutoFit/>
          </a:bodyPr>
          <a:lstStyle/>
          <a:p>
            <a:r>
              <a:rPr lang="zh-CN" altLang="en-US" dirty="0"/>
              <a:t>后面</a:t>
            </a:r>
            <a:r>
              <a:rPr lang="en-US" altLang="zh-CN" dirty="0"/>
              <a:t>3-6</a:t>
            </a:r>
            <a:r>
              <a:rPr lang="zh-CN" altLang="en-US" dirty="0"/>
              <a:t>个月的工作计划，对后续个人发展的规划</a:t>
            </a:r>
          </a:p>
          <a:p>
            <a:endParaRPr lang="zh-CN" altLang="en-US" dirty="0"/>
          </a:p>
          <a:p>
            <a:r>
              <a:rPr lang="en-US" altLang="zh-CN" dirty="0"/>
              <a:t>1</a:t>
            </a:r>
            <a:r>
              <a:rPr lang="en-US" altLang="zh-CN" b="1" dirty="0"/>
              <a:t>.</a:t>
            </a:r>
            <a:r>
              <a:rPr lang="zh-CN" altLang="en-US" b="1" dirty="0"/>
              <a:t>产品方面</a:t>
            </a:r>
            <a:r>
              <a:rPr lang="zh-CN" altLang="en-US" dirty="0"/>
              <a:t>：</a:t>
            </a:r>
            <a:r>
              <a:rPr lang="zh-CN" altLang="en-US" dirty="0">
                <a:latin typeface="仿宋" panose="02010609060101010101" pitchFamily="49" charset="-122"/>
                <a:ea typeface="仿宋" panose="02010609060101010101" pitchFamily="49" charset="-122"/>
              </a:rPr>
              <a:t>继续深入使用并理解公司</a:t>
            </a:r>
            <a:r>
              <a:rPr lang="en-US" altLang="zh-CN" dirty="0">
                <a:latin typeface="仿宋" panose="02010609060101010101" pitchFamily="49" charset="-122"/>
                <a:ea typeface="仿宋" panose="02010609060101010101" pitchFamily="49" charset="-122"/>
              </a:rPr>
              <a:t> BES </a:t>
            </a:r>
            <a:r>
              <a:rPr lang="zh-CN" altLang="en-US" dirty="0">
                <a:latin typeface="仿宋" panose="02010609060101010101" pitchFamily="49" charset="-122"/>
                <a:ea typeface="仿宋" panose="02010609060101010101" pitchFamily="49" charset="-122"/>
              </a:rPr>
              <a:t>产品，同时完成领导安排的其他产品学习任务，确保熟练掌握产品的各项功能</a:t>
            </a:r>
            <a:r>
              <a:rPr lang="zh-CN" altLang="en-US" dirty="0"/>
              <a:t>。</a:t>
            </a:r>
          </a:p>
          <a:p>
            <a:endParaRPr lang="zh-CN" altLang="en-US" dirty="0"/>
          </a:p>
          <a:p>
            <a:r>
              <a:rPr lang="en-US" altLang="zh-CN" dirty="0"/>
              <a:t>2.</a:t>
            </a:r>
            <a:r>
              <a:rPr lang="zh-CN" altLang="en-US" b="1" dirty="0"/>
              <a:t>技术方面</a:t>
            </a:r>
            <a:r>
              <a:rPr lang="zh-CN" altLang="en-US" dirty="0"/>
              <a:t>：</a:t>
            </a:r>
            <a:r>
              <a:rPr lang="zh-CN" altLang="en-US" dirty="0">
                <a:latin typeface="仿宋" panose="02010609060101010101" pitchFamily="49" charset="-122"/>
                <a:ea typeface="仿宋" panose="02010609060101010101" pitchFamily="49" charset="-122"/>
              </a:rPr>
              <a:t>围绕公司产品，深入钻研技术，理解其底层技术原理与细节，力求将产品做到极致。参与技术创新，提出可能的优化方案或新功能。</a:t>
            </a:r>
          </a:p>
          <a:p>
            <a:endParaRPr lang="zh-CN" altLang="en-US" dirty="0"/>
          </a:p>
          <a:p>
            <a:r>
              <a:rPr lang="en-US" altLang="zh-CN" b="1" dirty="0"/>
              <a:t>3.</a:t>
            </a:r>
            <a:r>
              <a:rPr lang="zh-CN" altLang="en-US" b="1" dirty="0"/>
              <a:t>项目与协作方面</a:t>
            </a:r>
            <a:r>
              <a:rPr lang="zh-CN" altLang="en-US" dirty="0"/>
              <a:t>：</a:t>
            </a:r>
            <a:r>
              <a:rPr lang="zh-CN" altLang="en-US" dirty="0">
                <a:latin typeface="仿宋" panose="02010609060101010101" pitchFamily="49" charset="-122"/>
                <a:ea typeface="仿宋" panose="02010609060101010101" pitchFamily="49" charset="-122"/>
              </a:rPr>
              <a:t>加强与其他部门（如测试、产品等）的协作，确保项目顺利推进，提升团队的整体工作效率。</a:t>
            </a:r>
          </a:p>
          <a:p>
            <a:endParaRPr lang="zh-CN" altLang="en-US" dirty="0"/>
          </a:p>
          <a:p>
            <a:r>
              <a:rPr lang="en-US" altLang="zh-CN" b="1" dirty="0"/>
              <a:t>4.</a:t>
            </a:r>
            <a:r>
              <a:rPr lang="zh-CN" altLang="en-US" b="1" dirty="0"/>
              <a:t>自我提升</a:t>
            </a:r>
            <a:r>
              <a:rPr lang="zh-CN" altLang="en-US" dirty="0"/>
              <a:t>：</a:t>
            </a:r>
            <a:r>
              <a:rPr lang="zh-CN" altLang="en-US" dirty="0">
                <a:latin typeface="仿宋" panose="02010609060101010101" pitchFamily="49" charset="-122"/>
                <a:ea typeface="仿宋" panose="02010609060101010101" pitchFamily="49" charset="-122"/>
              </a:rPr>
              <a:t>积极参与</a:t>
            </a:r>
            <a:r>
              <a:rPr lang="en-US" altLang="zh-CN" dirty="0">
                <a:latin typeface="仿宋" panose="02010609060101010101" pitchFamily="49" charset="-122"/>
                <a:ea typeface="仿宋" panose="02010609060101010101" pitchFamily="49" charset="-122"/>
              </a:rPr>
              <a:t>AI</a:t>
            </a:r>
            <a:r>
              <a:rPr lang="zh-CN" altLang="en-US" dirty="0">
                <a:latin typeface="仿宋" panose="02010609060101010101" pitchFamily="49" charset="-122"/>
                <a:ea typeface="仿宋" panose="02010609060101010101" pitchFamily="49" charset="-122"/>
              </a:rPr>
              <a:t>相关技术的学习与应用，提升自己的技术深度与广度，同时也关注软技能的发展，提升沟通与项目管理能力。</a:t>
            </a:r>
          </a:p>
          <a:p>
            <a:endParaRPr lang="zh-CN" altLang="en-US" dirty="0"/>
          </a:p>
          <a:p>
            <a:endParaRPr lang="zh-CN" altLang="en-US" dirty="0"/>
          </a:p>
          <a:p>
            <a:endParaRPr lang="zh-CN" alt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30</a:t>
            </a:fld>
            <a:endParaRPr lang="zh-CN" altLang="en-US"/>
          </a:p>
        </p:txBody>
      </p:sp>
      <p:sp>
        <p:nvSpPr>
          <p:cNvPr id="7" name="标题 6">
            <a:extLst>
              <a:ext uri="{FF2B5EF4-FFF2-40B4-BE49-F238E27FC236}">
                <a16:creationId xmlns:a16="http://schemas.microsoft.com/office/drawing/2014/main" id="{E04710D3-C34A-404F-9B72-C44462861EB4}"/>
              </a:ext>
            </a:extLst>
          </p:cNvPr>
          <p:cNvSpPr>
            <a:spLocks noGrp="1"/>
          </p:cNvSpPr>
          <p:nvPr>
            <p:ph type="title"/>
          </p:nvPr>
        </p:nvSpPr>
        <p:spPr/>
        <p:txBody>
          <a:bodyPr/>
          <a:lstStyle/>
          <a:p>
            <a:r>
              <a:rPr lang="en-US" altLang="zh-CN" dirty="0"/>
              <a:t>5</a:t>
            </a:r>
            <a:r>
              <a:rPr lang="zh-CN" altLang="en-US" dirty="0"/>
              <a:t>、对公司和部门的意见和建议</a:t>
            </a:r>
          </a:p>
        </p:txBody>
      </p:sp>
      <p:sp>
        <p:nvSpPr>
          <p:cNvPr id="3" name="文本框 2">
            <a:extLst>
              <a:ext uri="{FF2B5EF4-FFF2-40B4-BE49-F238E27FC236}">
                <a16:creationId xmlns:a16="http://schemas.microsoft.com/office/drawing/2014/main" id="{ED5C519D-3BF4-35CF-118D-DCF54DBCC57F}"/>
              </a:ext>
            </a:extLst>
          </p:cNvPr>
          <p:cNvSpPr txBox="1"/>
          <p:nvPr/>
        </p:nvSpPr>
        <p:spPr>
          <a:xfrm>
            <a:off x="844325" y="919238"/>
            <a:ext cx="10608081" cy="5693866"/>
          </a:xfrm>
          <a:prstGeom prst="rect">
            <a:avLst/>
          </a:prstGeom>
          <a:noFill/>
        </p:spPr>
        <p:txBody>
          <a:bodyPr wrap="square">
            <a:spAutoFit/>
          </a:bodyPr>
          <a:lstStyle/>
          <a:p>
            <a:r>
              <a:rPr lang="zh-CN" altLang="en-US" sz="1400" dirty="0">
                <a:latin typeface="华文中宋" panose="02010600040101010101" pitchFamily="2" charset="-122"/>
                <a:ea typeface="华文中宋" panose="02010600040101010101" pitchFamily="2" charset="-122"/>
              </a:rPr>
              <a:t>非常感恩公司和领导的信任，给我提供了这个宝贵的机会。加入公司已有五个月，我对公司文化和部门团队氛围深感欣慰，并且对工作内容逐步熟悉。</a:t>
            </a:r>
          </a:p>
          <a:p>
            <a:endParaRPr lang="zh-CN" altLang="en-US" sz="1400" dirty="0">
              <a:latin typeface="华文中宋" panose="02010600040101010101" pitchFamily="2" charset="-122"/>
              <a:ea typeface="华文中宋" panose="02010600040101010101" pitchFamily="2" charset="-122"/>
            </a:endParaRPr>
          </a:p>
          <a:p>
            <a:r>
              <a:rPr lang="zh-CN" altLang="en-US" sz="1400" dirty="0">
                <a:latin typeface="华文中宋" panose="02010600040101010101" pitchFamily="2" charset="-122"/>
                <a:ea typeface="华文中宋" panose="02010600040101010101" pitchFamily="2" charset="-122"/>
              </a:rPr>
              <a:t>以下是我个人的一些小建议，提的不对，请见谅：</a:t>
            </a:r>
            <a:endParaRPr lang="en-US" altLang="zh-CN" sz="1400" dirty="0">
              <a:latin typeface="华文中宋" panose="02010600040101010101" pitchFamily="2" charset="-122"/>
              <a:ea typeface="华文中宋" panose="02010600040101010101" pitchFamily="2"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sym typeface="+mn-ea"/>
              </a:rPr>
              <a:t>（</a:t>
            </a:r>
            <a:r>
              <a:rPr lang="en-US" altLang="zh-CN" sz="1400" dirty="0">
                <a:latin typeface="华文中宋" panose="02010600040101010101" pitchFamily="2" charset="-122"/>
                <a:ea typeface="华文中宋" panose="02010600040101010101" pitchFamily="2" charset="-122"/>
                <a:sym typeface="+mn-ea"/>
              </a:rPr>
              <a:t>1</a:t>
            </a:r>
            <a:r>
              <a:rPr lang="zh-CN" altLang="en-US" sz="1400" dirty="0">
                <a:latin typeface="华文中宋" panose="02010600040101010101" pitchFamily="2" charset="-122"/>
                <a:ea typeface="华文中宋" panose="02010600040101010101" pitchFamily="2" charset="-122"/>
                <a:sym typeface="+mn-ea"/>
              </a:rPr>
              <a:t>）</a:t>
            </a:r>
            <a:r>
              <a:rPr lang="zh-CN" altLang="en-US" sz="1400" b="1" dirty="0">
                <a:latin typeface="华文中宋" panose="02010600040101010101" pitchFamily="2" charset="-122"/>
                <a:ea typeface="华文中宋" panose="02010600040101010101" pitchFamily="2" charset="-122"/>
                <a:sym typeface="+mn-ea"/>
              </a:rPr>
              <a:t>是否可以加强公司</a:t>
            </a:r>
            <a:r>
              <a:rPr lang="en-US" altLang="zh-CN" sz="1400" b="1" dirty="0">
                <a:latin typeface="华文中宋" panose="02010600040101010101" pitchFamily="2" charset="-122"/>
                <a:ea typeface="华文中宋" panose="02010600040101010101" pitchFamily="2" charset="-122"/>
                <a:sym typeface="+mn-ea"/>
              </a:rPr>
              <a:t>AI</a:t>
            </a:r>
            <a:r>
              <a:rPr lang="zh-CN" altLang="en-US" sz="1400" b="1" dirty="0">
                <a:latin typeface="华文中宋" panose="02010600040101010101" pitchFamily="2" charset="-122"/>
                <a:ea typeface="华文中宋" panose="02010600040101010101" pitchFamily="2" charset="-122"/>
                <a:sym typeface="+mn-ea"/>
              </a:rPr>
              <a:t>相关产品的建设。</a:t>
            </a:r>
          </a:p>
          <a:p>
            <a:r>
              <a:rPr lang="en-US" altLang="zh-CN" sz="1400" dirty="0"/>
              <a:t>	</a:t>
            </a:r>
          </a:p>
          <a:p>
            <a:r>
              <a:rPr lang="en-US" altLang="zh-CN" sz="1400" dirty="0"/>
              <a:t>	</a:t>
            </a:r>
            <a:r>
              <a:rPr lang="zh-CN" altLang="en-US" sz="1400" dirty="0">
                <a:latin typeface="仿宋" panose="02010609060101010101" pitchFamily="49" charset="-122"/>
                <a:ea typeface="仿宋" panose="02010609060101010101" pitchFamily="49" charset="-122"/>
              </a:rPr>
              <a:t>当前科技发展日新月异，我们目前公司内网的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产品，我个人用下来的感觉是还比较稚嫩。网络上有一个词“古法编程”比较适合形容我们目前的工作方式。但外边的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产品已经更新换代了好几轮。比如 </a:t>
            </a:r>
            <a:r>
              <a:rPr lang="en-US" altLang="zh-CN" sz="1400" dirty="0">
                <a:latin typeface="仿宋" panose="02010609060101010101" pitchFamily="49" charset="-122"/>
                <a:ea typeface="仿宋" panose="02010609060101010101" pitchFamily="49" charset="-122"/>
              </a:rPr>
              <a:t>Cursor</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Claude Code</a:t>
            </a:r>
            <a:r>
              <a:rPr lang="zh-CN" altLang="en-US" sz="1400" dirty="0">
                <a:latin typeface="仿宋" panose="02010609060101010101" pitchFamily="49" charset="-122"/>
                <a:ea typeface="仿宋" panose="02010609060101010101" pitchFamily="49" charset="-122"/>
              </a:rPr>
              <a:t>、包括最近比较火的 </a:t>
            </a:r>
            <a:r>
              <a:rPr lang="en-US" altLang="zh-CN" sz="1400" dirty="0">
                <a:latin typeface="仿宋" panose="02010609060101010101" pitchFamily="49" charset="-122"/>
                <a:ea typeface="仿宋" panose="02010609060101010101" pitchFamily="49" charset="-122"/>
              </a:rPr>
              <a:t>OpenClaw</a:t>
            </a:r>
            <a:r>
              <a:rPr lang="zh-CN" altLang="en-US" sz="1400" dirty="0">
                <a:latin typeface="仿宋" panose="02010609060101010101" pitchFamily="49" charset="-122"/>
                <a:ea typeface="仿宋" panose="02010609060101010101" pitchFamily="49" charset="-122"/>
              </a:rPr>
              <a:t>等。我平时个人用下来能很明显的能感觉到对于工作效率的提升是非常夸张的。希望公司能够加强</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相关产品的建设。</a:t>
            </a:r>
            <a:endParaRPr lang="en-US" altLang="zh-CN" sz="1400" dirty="0">
              <a:latin typeface="仿宋" panose="02010609060101010101" pitchFamily="49" charset="-122"/>
              <a:ea typeface="仿宋" panose="02010609060101010101" pitchFamily="49"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2</a:t>
            </a:r>
            <a:r>
              <a:rPr lang="zh-CN" altLang="en-US" sz="1400" dirty="0">
                <a:latin typeface="华文中宋" panose="02010600040101010101" pitchFamily="2" charset="-122"/>
                <a:ea typeface="华文中宋" panose="02010600040101010101" pitchFamily="2" charset="-122"/>
              </a:rPr>
              <a:t>）</a:t>
            </a:r>
            <a:r>
              <a:rPr lang="zh-CN" altLang="en-US" sz="1400" b="1" dirty="0">
                <a:latin typeface="华文中宋" panose="02010600040101010101" pitchFamily="2" charset="-122"/>
                <a:ea typeface="华文中宋" panose="02010600040101010101" pitchFamily="2" charset="-122"/>
              </a:rPr>
              <a:t>是否可以搭建公共测试环境</a:t>
            </a:r>
            <a:endParaRPr lang="en-US" altLang="zh-CN" sz="1400" b="1" dirty="0">
              <a:latin typeface="华文中宋" panose="02010600040101010101" pitchFamily="2" charset="-122"/>
              <a:ea typeface="华文中宋" panose="02010600040101010101" pitchFamily="2" charset="-122"/>
            </a:endParaRPr>
          </a:p>
          <a:p>
            <a:r>
              <a:rPr lang="en-US" altLang="zh-CN" sz="1400" b="1" dirty="0">
                <a:latin typeface="华文中宋" panose="02010600040101010101" pitchFamily="2" charset="-122"/>
                <a:ea typeface="华文中宋" panose="02010600040101010101" pitchFamily="2" charset="-122"/>
              </a:rPr>
              <a:t>	</a:t>
            </a:r>
          </a:p>
          <a:p>
            <a:r>
              <a:rPr lang="en-US" altLang="zh-CN" sz="1400" b="1"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在之前的公司里，基本上都有类似于开发测试环境、</a:t>
            </a:r>
            <a:r>
              <a:rPr lang="en-US" altLang="zh-CN" sz="1400" dirty="0">
                <a:latin typeface="仿宋" panose="02010609060101010101" pitchFamily="49" charset="-122"/>
                <a:ea typeface="仿宋" panose="02010609060101010101" pitchFamily="49" charset="-122"/>
              </a:rPr>
              <a:t>SIT</a:t>
            </a:r>
            <a:r>
              <a:rPr lang="zh-CN" altLang="en-US" sz="1400" dirty="0">
                <a:latin typeface="仿宋" panose="02010609060101010101" pitchFamily="49" charset="-122"/>
                <a:ea typeface="仿宋" panose="02010609060101010101" pitchFamily="49" charset="-122"/>
              </a:rPr>
              <a:t>测试环境、</a:t>
            </a:r>
            <a:r>
              <a:rPr lang="en-US" altLang="zh-CN" sz="1400" dirty="0">
                <a:latin typeface="仿宋" panose="02010609060101010101" pitchFamily="49" charset="-122"/>
                <a:ea typeface="仿宋" panose="02010609060101010101" pitchFamily="49" charset="-122"/>
              </a:rPr>
              <a:t>UAT</a:t>
            </a:r>
            <a:r>
              <a:rPr lang="zh-CN" altLang="en-US" sz="1400" dirty="0">
                <a:latin typeface="仿宋" panose="02010609060101010101" pitchFamily="49" charset="-122"/>
                <a:ea typeface="仿宋" panose="02010609060101010101" pitchFamily="49" charset="-122"/>
              </a:rPr>
              <a:t>测试环境等。目前我们公司是每个人都用自己的测试环境，这在某些方面确实提供了遍历，比如不会出现多个人测试需要排队的情况，但是相应的也有一些弊端，比如一个问题，为了在本地进行复现，需要自己搭建环境，涉及数据库的也需要自己搭建，并且构造数据。能否构建公共测试环境呢。</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3</a:t>
            </a:r>
            <a:r>
              <a:rPr lang="zh-CN" altLang="en-US" sz="1400" dirty="0">
                <a:latin typeface="华文中宋" panose="02010600040101010101" pitchFamily="2" charset="-122"/>
                <a:ea typeface="华文中宋" panose="02010600040101010101" pitchFamily="2" charset="-122"/>
              </a:rPr>
              <a:t>）对部门的工作模式相关提议</a:t>
            </a:r>
            <a:endParaRPr lang="en-US" altLang="zh-CN" sz="1400" dirty="0">
              <a:latin typeface="华文中宋" panose="02010600040101010101" pitchFamily="2" charset="-122"/>
              <a:ea typeface="华文中宋" panose="02010600040101010101" pitchFamily="2" charset="-122"/>
            </a:endParaRPr>
          </a:p>
          <a:p>
            <a:endParaRPr lang="en-US" altLang="zh-CN" sz="1400" dirty="0">
              <a:latin typeface="华文中宋" panose="02010600040101010101" pitchFamily="2" charset="-122"/>
              <a:ea typeface="华文中宋" panose="02010600040101010101" pitchFamily="2" charset="-122"/>
            </a:endParaRPr>
          </a:p>
          <a:p>
            <a:r>
              <a:rPr lang="en-US" altLang="zh-CN" sz="1400"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我们目前是没有按照模块负责的管理的。目前的工作模式基本是根据个人的工作内容量来分配任务的，比如当前某个人工作内容完成的差不多了，就会优先给他安排新的任务。是否可以根据模块划分负责人呢？工作任务优先根据模块划分，如实在模块内容比较多再进行协调，在我的感觉里这样可以大大增加工作效率。现在可能会出现可能改动比较小，但是因为不熟悉那个模块而需要花费大量的时间。</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非常感觉公司提供的这次机会、上面都是我自己个人的不成熟看法，一定会存在错误、不客观、片面的看法。请大家包容！谢谢大家。</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形 8">
            <a:extLst>
              <a:ext uri="{FF2B5EF4-FFF2-40B4-BE49-F238E27FC236}">
                <a16:creationId xmlns:a16="http://schemas.microsoft.com/office/drawing/2014/main" id="{0ABC3076-E885-D848-AAF1-6B433CED924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204238" y="4271281"/>
            <a:ext cx="5783523" cy="278054"/>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 TOOLS.GUIDESSETTING" val="{&quot;Id&quot;:&quot;2d4375ee-8516-45e0-8956-45702a61a9b6&quot;,&quot;Name&quot;:&quot;iSlide&quot;,&quot;HeaderHeight&quot;:15.0,&quot;FooterHeight&quot;:9.0000000000000036,&quot;SideMargin&quot;:5.4999999999999982,&quot;TopMargin&quot;:0.0,&quot;BottomMargin&quot;:0.0,&quot;IntervalMargin&quot;:1.3999999999999997}"/>
  <p:tag name="ISLIDE.GUIDESSETTING" val="{&quot;Id&quot;:&quot;GuidesStyle_Normal&quot;,&quot;Name&quot;:&quot;正常&quot;,&quot;HeaderHeight&quot;:15.0,&quot;FooterHeight&quot;:9.0,&quot;SideMargin&quot;:5.5,&quot;TopMargin&quot;:0.0,&quot;BottomMargin&quot;:0.0,&quot;IntervalMargin&quot;:1.5}"/>
  <p:tag name="THINKCELLUNDODONOTDELETE" val="0"/>
  <p:tag name="ISLIDE.THEME" val="e36df2c5-b229-45ee-a5b1-3c8af6566644"/>
</p:tagLst>
</file>

<file path=ppt/tags/tag2.xml><?xml version="1.0" encoding="utf-8"?>
<p:tagLst xmlns:a="http://schemas.openxmlformats.org/drawingml/2006/main" xmlns:r="http://schemas.openxmlformats.org/officeDocument/2006/relationships" xmlns:p="http://schemas.openxmlformats.org/presentationml/2006/main">
  <p:tag name="ISLIDE.DIAGRAM" val="204291"/>
</p:tagLst>
</file>

<file path=ppt/tags/tag3.xml><?xml version="1.0" encoding="utf-8"?>
<p:tagLst xmlns:a="http://schemas.openxmlformats.org/drawingml/2006/main" xmlns:r="http://schemas.openxmlformats.org/officeDocument/2006/relationships" xmlns:p="http://schemas.openxmlformats.org/presentationml/2006/main">
  <p:tag name="ISLIDE.DIAGRAM" val="204291"/>
</p:tagLst>
</file>

<file path=ppt/tags/tag4.xml><?xml version="1.0" encoding="utf-8"?>
<p:tagLst xmlns:a="http://schemas.openxmlformats.org/drawingml/2006/main" xmlns:r="http://schemas.openxmlformats.org/officeDocument/2006/relationships" xmlns:p="http://schemas.openxmlformats.org/presentationml/2006/main">
  <p:tag name="ISLIDE.DIAGRAM" val="204291"/>
</p:tagLst>
</file>

<file path=ppt/tags/tag5.xml><?xml version="1.0" encoding="utf-8"?>
<p:tagLst xmlns:a="http://schemas.openxmlformats.org/drawingml/2006/main" xmlns:r="http://schemas.openxmlformats.org/officeDocument/2006/relationships" xmlns:p="http://schemas.openxmlformats.org/presentationml/2006/main">
  <p:tag name="ISLIDE.DIAGRAM" val="204291"/>
</p:tagLst>
</file>

<file path=ppt/tags/tag6.xml><?xml version="1.0" encoding="utf-8"?>
<p:tagLst xmlns:a="http://schemas.openxmlformats.org/drawingml/2006/main" xmlns:r="http://schemas.openxmlformats.org/officeDocument/2006/relationships" xmlns:p="http://schemas.openxmlformats.org/presentationml/2006/main">
  <p:tag name="ISLIDE.DIAGRAM" val="204291"/>
</p:tagLst>
</file>

<file path=ppt/theme/theme1.xml><?xml version="1.0" encoding="utf-8"?>
<a:theme xmlns:a="http://schemas.openxmlformats.org/drawingml/2006/main" name="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1509</TotalTime>
  <Words>4412</Words>
  <Application>Microsoft Office PowerPoint</Application>
  <PresentationFormat>宽屏</PresentationFormat>
  <Paragraphs>437</Paragraphs>
  <Slides>31</Slides>
  <Notes>6</Notes>
  <HiddenSlides>0</HiddenSlides>
  <MMClips>0</MMClips>
  <ScaleCrop>false</ScaleCrop>
  <HeadingPairs>
    <vt:vector size="6" baseType="variant">
      <vt:variant>
        <vt:lpstr>已用的字体</vt:lpstr>
      </vt:variant>
      <vt:variant>
        <vt:i4>9</vt:i4>
      </vt:variant>
      <vt:variant>
        <vt:lpstr>主题</vt:lpstr>
      </vt:variant>
      <vt:variant>
        <vt:i4>5</vt:i4>
      </vt:variant>
      <vt:variant>
        <vt:lpstr>幻灯片标题</vt:lpstr>
      </vt:variant>
      <vt:variant>
        <vt:i4>31</vt:i4>
      </vt:variant>
    </vt:vector>
  </HeadingPairs>
  <TitlesOfParts>
    <vt:vector size="45" baseType="lpstr">
      <vt:lpstr>仿宋</vt:lpstr>
      <vt:lpstr>华文中宋</vt:lpstr>
      <vt:lpstr>思源黑体</vt:lpstr>
      <vt:lpstr>思源黑体 CN</vt:lpstr>
      <vt:lpstr>思源黑体 CN Normal</vt:lpstr>
      <vt:lpstr>宋体</vt:lpstr>
      <vt:lpstr>微软雅黑 Light</vt:lpstr>
      <vt:lpstr>Arial</vt:lpstr>
      <vt:lpstr>Calibri</vt:lpstr>
      <vt:lpstr>封面</vt:lpstr>
      <vt:lpstr>1_封面</vt:lpstr>
      <vt:lpstr>2_封面</vt:lpstr>
      <vt:lpstr>3_封面</vt:lpstr>
      <vt:lpstr>4_封面</vt:lpstr>
      <vt:lpstr>PowerPoint 演示文稿</vt:lpstr>
      <vt:lpstr>PowerPoint 演示文稿</vt:lpstr>
      <vt:lpstr>1、自我介绍</vt:lpstr>
      <vt:lpstr>2、工作经历</vt:lpstr>
      <vt:lpstr>3入职后的主要工作</vt:lpstr>
      <vt:lpstr>3入职后的主要工作 —— 需求详细展示 </vt:lpstr>
      <vt:lpstr>3入职后的主要工作—— 需求详细展示 </vt:lpstr>
      <vt:lpstr>3入职后的主要工作—— 需求详细展示 </vt:lpstr>
      <vt:lpstr>3入职后的主要工作—— 需求详细展示 </vt:lpstr>
      <vt:lpstr>3入职后的主要工作—— 需求详细展示 </vt:lpstr>
      <vt:lpstr>3入职后的主要工作—— 需求详细展示 </vt:lpstr>
      <vt:lpstr>3.1 主要工作成果</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产品知识掌握情况——其他产品</vt:lpstr>
      <vt:lpstr>3.3 制度遵守</vt:lpstr>
      <vt:lpstr>4、工作的规划/展望</vt:lpstr>
      <vt:lpstr>5、对公司和部门的意见和建议</vt:lpstr>
      <vt:lpstr>PowerPoint 演示文稿</vt:lpstr>
    </vt:vector>
  </TitlesOfParts>
  <Manager>iSlide</Manager>
  <Company>iSlide</Company>
  <LinksUpToDate>false</LinksUpToDate>
  <SharedDoc>false</SharedDoc>
  <HyperlinkBase>https://www.islide.cc</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iSlide</dc:creator>
  <cp:lastModifiedBy>che You</cp:lastModifiedBy>
  <cp:revision>433</cp:revision>
  <cp:lastPrinted>2018-04-12T16:00:00Z</cp:lastPrinted>
  <dcterms:created xsi:type="dcterms:W3CDTF">2018-04-12T16:00:00Z</dcterms:created>
  <dcterms:modified xsi:type="dcterms:W3CDTF">2026-03-26T06:42:48Z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48706f29-9ca0-418e-876d-de7b156ca083</vt:lpwstr>
  </property>
  <property fmtid="{D5CDD505-2E9C-101B-9397-08002B2CF9AE}" pid="3" name="KSOProductBuildVer">
    <vt:lpwstr>2052-11.1.0.10578</vt:lpwstr>
  </property>
  <property fmtid="{D5CDD505-2E9C-101B-9397-08002B2CF9AE}" pid="4" name="ICV">
    <vt:lpwstr>FCC6211B1AE34F619C95CBB8A7E3FB85</vt:lpwstr>
  </property>
</Properties>
</file>